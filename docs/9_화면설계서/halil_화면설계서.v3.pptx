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embeddedFontLst>
    <p:embeddedFont>
      <p:font typeface="Inter"/>
      <p:regular r:id="rId33"/>
    </p:embeddedFont>
    <p:embeddedFont>
      <p:font typeface="Outfit"/>
      <p:regular r:id="rId34"/>
    </p:embeddedFont>
    <p:embeddedFont>
      <p:font typeface="Manrope"/>
      <p:regular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xmlns="" Id="rId33" Type="http://schemas.openxmlformats.org/officeDocument/2006/relationships/font" Target="fonts/rId33.fntdata"/><Relationship xmlns="" Id="rId34" Type="http://schemas.openxmlformats.org/officeDocument/2006/relationships/font" Target="fonts/rId34.fntdata"/><Relationship xmlns="" Id="rId35" Type="http://schemas.openxmlformats.org/officeDocument/2006/relationships/font" Target="fonts/rId3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121456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" name="Text 1"/>
          <p:cNvSpPr/>
          <p:nvPr/>
        </p:nvSpPr>
        <p:spPr>
          <a:xfrm>
            <a:off x="248666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4" name="Shape 2"/>
          <p:cNvSpPr/>
          <p:nvPr/>
        </p:nvSpPr>
        <p:spPr>
          <a:xfrm>
            <a:off x="1237488" y="121456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654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랜딩 페이지</a:t>
            </a:r>
            <a:endParaRPr lang="en-US" sz="696" dirty="0"/>
          </a:p>
        </p:txBody>
      </p:sp>
      <p:sp>
        <p:nvSpPr>
          <p:cNvPr id="6" name="Shape 4"/>
          <p:cNvSpPr/>
          <p:nvPr/>
        </p:nvSpPr>
        <p:spPr>
          <a:xfrm>
            <a:off x="4378452" y="121456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" name="Text 5"/>
          <p:cNvSpPr/>
          <p:nvPr/>
        </p:nvSpPr>
        <p:spPr>
          <a:xfrm>
            <a:off x="4436618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8" name="Shape 6"/>
          <p:cNvSpPr/>
          <p:nvPr/>
        </p:nvSpPr>
        <p:spPr>
          <a:xfrm>
            <a:off x="5425440" y="121456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3606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R-001</a:t>
            </a:r>
            <a:endParaRPr lang="en-US" sz="696" dirty="0"/>
          </a:p>
        </p:txBody>
      </p:sp>
      <p:sp>
        <p:nvSpPr>
          <p:cNvPr id="10" name="Shape 8"/>
          <p:cNvSpPr/>
          <p:nvPr/>
        </p:nvSpPr>
        <p:spPr>
          <a:xfrm>
            <a:off x="190500" y="447186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1" name="Text 9"/>
          <p:cNvSpPr/>
          <p:nvPr/>
        </p:nvSpPr>
        <p:spPr>
          <a:xfrm>
            <a:off x="248666" y="557701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2" name="Shape 10"/>
          <p:cNvSpPr/>
          <p:nvPr/>
        </p:nvSpPr>
        <p:spPr>
          <a:xfrm>
            <a:off x="1237488" y="447186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654" y="557701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루트(비로그인 진입점)</a:t>
            </a:r>
            <a:endParaRPr lang="en-US" sz="696" dirty="0"/>
          </a:p>
        </p:txBody>
      </p:sp>
      <p:sp>
        <p:nvSpPr>
          <p:cNvPr id="14" name="Shape 12"/>
          <p:cNvSpPr/>
          <p:nvPr/>
        </p:nvSpPr>
        <p:spPr>
          <a:xfrm>
            <a:off x="4378452" y="447186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5" name="Text 13"/>
          <p:cNvSpPr/>
          <p:nvPr/>
        </p:nvSpPr>
        <p:spPr>
          <a:xfrm>
            <a:off x="4436618" y="557701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6" name="Shape 14"/>
          <p:cNvSpPr/>
          <p:nvPr/>
        </p:nvSpPr>
        <p:spPr>
          <a:xfrm>
            <a:off x="5425440" y="447186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3606" y="557701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L-1</a:t>
            </a:r>
            <a:endParaRPr lang="en-US" sz="696" dirty="0"/>
          </a:p>
        </p:txBody>
      </p:sp>
      <p:sp>
        <p:nvSpPr>
          <p:cNvPr id="18" name="Shape 16"/>
          <p:cNvSpPr/>
          <p:nvPr/>
        </p:nvSpPr>
        <p:spPr>
          <a:xfrm>
            <a:off x="290513" y="819150"/>
            <a:ext cx="5038725" cy="39295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70442" y="819150"/>
            <a:ext cx="4478867" cy="279929"/>
          </a:xfrm>
          <a:prstGeom prst="rect">
            <a:avLst/>
          </a:prstGeom>
          <a:noFill/>
          <a:ln w="332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0442" y="903129"/>
            <a:ext cx="297127" cy="111972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570442" y="903129"/>
            <a:ext cx="111972" cy="111972"/>
          </a:xfrm>
          <a:prstGeom prst="roundRect">
            <a:avLst>
              <a:gd name="adj" fmla="val 48000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04996" y="913871"/>
            <a:ext cx="42863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"/>
              </a:lnSpc>
              <a:buNone/>
            </a:pPr>
            <a:r>
              <a:rPr lang="en-US" sz="523" b="1" dirty="0">
                <a:solidFill>
                  <a:srgbClr val="FFFFFF">
                    <a:alpha val="99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</a:t>
            </a:r>
            <a:endParaRPr lang="en-US" sz="523" dirty="0"/>
          </a:p>
        </p:txBody>
      </p:sp>
      <p:sp>
        <p:nvSpPr>
          <p:cNvPr id="23" name="Text 21"/>
          <p:cNvSpPr/>
          <p:nvPr/>
        </p:nvSpPr>
        <p:spPr>
          <a:xfrm>
            <a:off x="710406" y="911490"/>
            <a:ext cx="1571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"/>
              </a:lnSpc>
              <a:buNone/>
            </a:pPr>
            <a:r>
              <a:rPr lang="en-US" sz="576" b="1" dirty="0">
                <a:solidFill>
                  <a:srgbClr val="0F172A">
                    <a:alpha val="99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halil</a:t>
            </a:r>
            <a:endParaRPr lang="en-US" sz="576" dirty="0"/>
          </a:p>
        </p:txBody>
      </p:sp>
      <p:sp>
        <p:nvSpPr>
          <p:cNvPr id="24" name="Shape 22"/>
          <p:cNvSpPr/>
          <p:nvPr/>
        </p:nvSpPr>
        <p:spPr>
          <a:xfrm>
            <a:off x="2116098" y="928158"/>
            <a:ext cx="1036002" cy="61912"/>
          </a:xfrm>
          <a:prstGeom prst="rect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2116098" y="928158"/>
            <a:ext cx="100013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"/>
              </a:lnSpc>
              <a:buNone/>
            </a:pPr>
            <a:r>
              <a:rPr lang="en-US" sz="393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기능</a:t>
            </a:r>
            <a:endParaRPr lang="en-US" sz="393" dirty="0"/>
          </a:p>
        </p:txBody>
      </p:sp>
      <p:sp>
        <p:nvSpPr>
          <p:cNvPr id="26" name="Text 24"/>
          <p:cNvSpPr/>
          <p:nvPr/>
        </p:nvSpPr>
        <p:spPr>
          <a:xfrm>
            <a:off x="2328082" y="928158"/>
            <a:ext cx="2571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"/>
              </a:lnSpc>
              <a:buNone/>
            </a:pPr>
            <a:r>
              <a:rPr lang="en-US" sz="393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연동 서비스</a:t>
            </a:r>
            <a:endParaRPr lang="en-US" sz="393" dirty="0"/>
          </a:p>
        </p:txBody>
      </p:sp>
      <p:sp>
        <p:nvSpPr>
          <p:cNvPr id="27" name="Text 25"/>
          <p:cNvSpPr/>
          <p:nvPr/>
        </p:nvSpPr>
        <p:spPr>
          <a:xfrm>
            <a:off x="2697229" y="928158"/>
            <a:ext cx="147638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"/>
              </a:lnSpc>
              <a:buNone/>
            </a:pPr>
            <a:r>
              <a:rPr lang="en-US" sz="393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요금제</a:t>
            </a:r>
            <a:endParaRPr lang="en-US" sz="393" dirty="0"/>
          </a:p>
        </p:txBody>
      </p:sp>
      <p:sp>
        <p:nvSpPr>
          <p:cNvPr id="28" name="Text 26"/>
          <p:cNvSpPr/>
          <p:nvPr/>
        </p:nvSpPr>
        <p:spPr>
          <a:xfrm>
            <a:off x="2956838" y="928158"/>
            <a:ext cx="195263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"/>
              </a:lnSpc>
              <a:buNone/>
            </a:pPr>
            <a:r>
              <a:rPr lang="en-US" sz="393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문의하기</a:t>
            </a:r>
            <a:endParaRPr lang="en-US" sz="393" dirty="0"/>
          </a:p>
        </p:txBody>
      </p:sp>
      <p:sp>
        <p:nvSpPr>
          <p:cNvPr id="29" name="Shape 27"/>
          <p:cNvSpPr/>
          <p:nvPr/>
        </p:nvSpPr>
        <p:spPr>
          <a:xfrm>
            <a:off x="4400629" y="888550"/>
            <a:ext cx="648679" cy="141129"/>
          </a:xfrm>
          <a:prstGeom prst="rect">
            <a:avLst/>
          </a:prstGeom>
          <a:noFill/>
          <a:ln/>
        </p:spPr>
      </p:sp>
      <p:sp>
        <p:nvSpPr>
          <p:cNvPr id="30" name="Text 28"/>
          <p:cNvSpPr/>
          <p:nvPr/>
        </p:nvSpPr>
        <p:spPr>
          <a:xfrm>
            <a:off x="4400629" y="930540"/>
            <a:ext cx="13811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"/>
              </a:lnSpc>
              <a:buNone/>
            </a:pPr>
            <a:r>
              <a:rPr lang="en-US" sz="366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</a:t>
            </a:r>
            <a:endParaRPr lang="en-US" sz="366" dirty="0"/>
          </a:p>
        </p:txBody>
      </p:sp>
      <p:sp>
        <p:nvSpPr>
          <p:cNvPr id="31" name="Shape 29"/>
          <p:cNvSpPr/>
          <p:nvPr/>
        </p:nvSpPr>
        <p:spPr>
          <a:xfrm>
            <a:off x="4580731" y="888550"/>
            <a:ext cx="468577" cy="141129"/>
          </a:xfrm>
          <a:prstGeom prst="roundRect">
            <a:avLst>
              <a:gd name="adj" fmla="val 38083"/>
            </a:avLst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650713" y="930540"/>
            <a:ext cx="32861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"/>
              </a:lnSpc>
              <a:buNone/>
            </a:pPr>
            <a:r>
              <a:rPr lang="en-US" sz="36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무료로 시작하기</a:t>
            </a:r>
            <a:endParaRPr lang="en-US" sz="366" dirty="0"/>
          </a:p>
        </p:txBody>
      </p:sp>
      <p:sp>
        <p:nvSpPr>
          <p:cNvPr id="33" name="Shape 31"/>
          <p:cNvSpPr/>
          <p:nvPr/>
        </p:nvSpPr>
        <p:spPr>
          <a:xfrm>
            <a:off x="570442" y="1323022"/>
            <a:ext cx="4478867" cy="2861865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2386886" y="1323022"/>
            <a:ext cx="845979" cy="99139"/>
          </a:xfrm>
          <a:prstGeom prst="roundRect">
            <a:avLst>
              <a:gd name="adj" fmla="val 135533"/>
            </a:avLst>
          </a:prstGeom>
          <a:solidFill>
            <a:srgbClr val="EFF6FF"/>
          </a:solidFill>
          <a:ln w="3324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8875" y="1344017"/>
            <a:ext cx="7620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2"/>
              </a:lnSpc>
              <a:buNone/>
            </a:pPr>
            <a:r>
              <a:rPr lang="en-US" sz="340" b="1" dirty="0">
                <a:solidFill>
                  <a:srgbClr val="3B82F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AI 기반 업무 배정 코파일럿 halil 출시</a:t>
            </a:r>
            <a:endParaRPr lang="en-US" sz="340" dirty="0"/>
          </a:p>
        </p:txBody>
      </p:sp>
      <p:sp>
        <p:nvSpPr>
          <p:cNvPr id="36" name="Shape 34"/>
          <p:cNvSpPr/>
          <p:nvPr/>
        </p:nvSpPr>
        <p:spPr>
          <a:xfrm>
            <a:off x="570442" y="1562126"/>
            <a:ext cx="4478867" cy="484611"/>
          </a:xfrm>
          <a:prstGeom prst="rect">
            <a:avLst/>
          </a:prstGeom>
          <a:noFill/>
          <a:ln/>
        </p:spPr>
      </p:sp>
      <p:sp>
        <p:nvSpPr>
          <p:cNvPr id="37" name="Text 35"/>
          <p:cNvSpPr/>
          <p:nvPr/>
        </p:nvSpPr>
        <p:spPr>
          <a:xfrm>
            <a:off x="1304925" y="1562126"/>
            <a:ext cx="300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13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흩어진 업무, AI가 정리하고 배정까지</a:t>
            </a:r>
            <a:endParaRPr lang="en-US" sz="1413" dirty="0"/>
          </a:p>
        </p:txBody>
      </p:sp>
      <p:sp>
        <p:nvSpPr>
          <p:cNvPr id="38" name="Text 36"/>
          <p:cNvSpPr/>
          <p:nvPr/>
        </p:nvSpPr>
        <p:spPr>
          <a:xfrm>
            <a:off x="1585185" y="1846712"/>
            <a:ext cx="24493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47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문서·일정·인력 데이터를 연결하면, halil이 최적의 담당자를 찾아 추천합니다. PM의 승인 한 번으로 Jira 티켓까지 스마트하게 생성하세요.</a:t>
            </a:r>
            <a:endParaRPr lang="en-US" sz="471" dirty="0"/>
          </a:p>
        </p:txBody>
      </p:sp>
      <p:sp>
        <p:nvSpPr>
          <p:cNvPr id="39" name="Shape 37"/>
          <p:cNvSpPr/>
          <p:nvPr/>
        </p:nvSpPr>
        <p:spPr>
          <a:xfrm>
            <a:off x="2260282" y="2186701"/>
            <a:ext cx="1099185" cy="178647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2260282" y="2186701"/>
            <a:ext cx="600181" cy="178647"/>
          </a:xfrm>
          <a:prstGeom prst="roundRect">
            <a:avLst>
              <a:gd name="adj" fmla="val 30085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2372254" y="2242688"/>
            <a:ext cx="37623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"/>
              </a:lnSpc>
              <a:buNone/>
            </a:pPr>
            <a:r>
              <a:rPr lang="en-US" sz="41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무료로 시작하기</a:t>
            </a:r>
            <a:endParaRPr lang="en-US" sz="419" dirty="0"/>
          </a:p>
        </p:txBody>
      </p:sp>
      <p:sp>
        <p:nvSpPr>
          <p:cNvPr id="42" name="Shape 40"/>
          <p:cNvSpPr/>
          <p:nvPr/>
        </p:nvSpPr>
        <p:spPr>
          <a:xfrm>
            <a:off x="2916449" y="2186701"/>
            <a:ext cx="443018" cy="178647"/>
          </a:xfrm>
          <a:prstGeom prst="roundRect">
            <a:avLst>
              <a:gd name="adj" fmla="val 30085"/>
            </a:avLst>
          </a:prstGeom>
          <a:solidFill>
            <a:srgbClr val="EEF2F6"/>
          </a:solidFill>
          <a:ln/>
        </p:spPr>
      </p:sp>
      <p:sp>
        <p:nvSpPr>
          <p:cNvPr id="43" name="Text 41"/>
          <p:cNvSpPr/>
          <p:nvPr/>
        </p:nvSpPr>
        <p:spPr>
          <a:xfrm>
            <a:off x="3028420" y="2242687"/>
            <a:ext cx="2190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"/>
              </a:lnSpc>
              <a:buNone/>
            </a:pPr>
            <a:r>
              <a:rPr lang="en-US" sz="419" b="1" dirty="0">
                <a:solidFill>
                  <a:srgbClr val="1E3A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데모 보기</a:t>
            </a:r>
            <a:endParaRPr lang="en-US" sz="419" dirty="0"/>
          </a:p>
        </p:txBody>
      </p:sp>
      <p:sp>
        <p:nvSpPr>
          <p:cNvPr id="44" name="Shape 42"/>
          <p:cNvSpPr/>
          <p:nvPr/>
        </p:nvSpPr>
        <p:spPr>
          <a:xfrm>
            <a:off x="1060318" y="2505313"/>
            <a:ext cx="3499115" cy="1679575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332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4296" y="2589291"/>
            <a:ext cx="3331157" cy="80380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1144296" y="2600907"/>
            <a:ext cx="571897" cy="57150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1144296" y="2608487"/>
            <a:ext cx="41989" cy="41989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8" name="Shape 46"/>
          <p:cNvSpPr/>
          <p:nvPr/>
        </p:nvSpPr>
        <p:spPr>
          <a:xfrm>
            <a:off x="1214279" y="2608487"/>
            <a:ext cx="41989" cy="41989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1284261" y="2608487"/>
            <a:ext cx="41989" cy="41989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1354243" y="2600907"/>
            <a:ext cx="36195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"/>
              </a:lnSpc>
              <a:buNone/>
            </a:pPr>
            <a:r>
              <a:rPr lang="en-US" sz="340" dirty="0">
                <a:solidFill>
                  <a:srgbClr val="94A3B8">
                    <a:alpha val="99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workspace.halil.ai</a:t>
            </a:r>
            <a:endParaRPr lang="en-US" sz="340" dirty="0"/>
          </a:p>
        </p:txBody>
      </p:sp>
      <p:sp>
        <p:nvSpPr>
          <p:cNvPr id="51" name="Shape 49"/>
          <p:cNvSpPr/>
          <p:nvPr/>
        </p:nvSpPr>
        <p:spPr>
          <a:xfrm>
            <a:off x="3957306" y="2589291"/>
            <a:ext cx="518147" cy="80380"/>
          </a:xfrm>
          <a:prstGeom prst="roundRect">
            <a:avLst>
              <a:gd name="adj" fmla="val 50149"/>
            </a:avLst>
          </a:prstGeom>
          <a:solidFill>
            <a:srgbClr val="FFFFFF"/>
          </a:solidFill>
          <a:ln w="3324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99296" y="2603288"/>
            <a:ext cx="48988" cy="48988"/>
          </a:xfrm>
          <a:prstGeom prst="rect">
            <a:avLst/>
          </a:prstGeom>
          <a:noFill/>
          <a:ln/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99296" y="2603288"/>
            <a:ext cx="48988" cy="48988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4076277" y="2603288"/>
            <a:ext cx="357188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"/>
              </a:lnSpc>
              <a:buNone/>
            </a:pPr>
            <a:r>
              <a:rPr lang="en-US" sz="314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 연결됨</a:t>
            </a:r>
            <a:endParaRPr lang="en-US" sz="314" dirty="0"/>
          </a:p>
        </p:txBody>
      </p:sp>
      <p:sp>
        <p:nvSpPr>
          <p:cNvPr id="55" name="Shape 52"/>
          <p:cNvSpPr/>
          <p:nvPr/>
        </p:nvSpPr>
        <p:spPr>
          <a:xfrm>
            <a:off x="1144297" y="2739654"/>
            <a:ext cx="3331157" cy="1361255"/>
          </a:xfrm>
          <a:prstGeom prst="rect">
            <a:avLst/>
          </a:prstGeom>
          <a:noFill/>
          <a:ln/>
        </p:spPr>
      </p:sp>
      <p:sp>
        <p:nvSpPr>
          <p:cNvPr id="56" name="Shape 53"/>
          <p:cNvSpPr/>
          <p:nvPr/>
        </p:nvSpPr>
        <p:spPr>
          <a:xfrm>
            <a:off x="1144297" y="2739654"/>
            <a:ext cx="979752" cy="1361255"/>
          </a:xfrm>
          <a:prstGeom prst="roundRect">
            <a:avLst>
              <a:gd name="adj" fmla="val 8229"/>
            </a:avLst>
          </a:prstGeom>
          <a:solidFill>
            <a:srgbClr val="FFFFFF"/>
          </a:solidFill>
          <a:ln/>
        </p:spPr>
      </p:sp>
      <p:sp>
        <p:nvSpPr>
          <p:cNvPr id="57" name="Text 54"/>
          <p:cNvSpPr/>
          <p:nvPr/>
        </p:nvSpPr>
        <p:spPr>
          <a:xfrm>
            <a:off x="1200282" y="2795640"/>
            <a:ext cx="33813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"/>
              </a:lnSpc>
              <a:buNone/>
            </a:pPr>
            <a:r>
              <a:rPr lang="en-US" sz="366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분석된 문서 목록</a:t>
            </a:r>
            <a:endParaRPr lang="en-US" sz="366" dirty="0"/>
          </a:p>
        </p:txBody>
      </p:sp>
      <p:sp>
        <p:nvSpPr>
          <p:cNvPr id="58" name="Shape 55"/>
          <p:cNvSpPr/>
          <p:nvPr/>
        </p:nvSpPr>
        <p:spPr>
          <a:xfrm>
            <a:off x="1200282" y="2894779"/>
            <a:ext cx="867780" cy="125968"/>
          </a:xfrm>
          <a:prstGeom prst="roundRect">
            <a:avLst>
              <a:gd name="adj" fmla="val 42667"/>
            </a:avLst>
          </a:prstGeom>
          <a:noFill/>
          <a:ln w="3324">
            <a:solidFill>
              <a:srgbClr val="E2E8F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235274" y="2929770"/>
            <a:ext cx="55986" cy="55986"/>
          </a:xfrm>
          <a:prstGeom prst="rect">
            <a:avLst/>
          </a:prstGeom>
          <a:noFill/>
          <a:ln/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35274" y="2929770"/>
            <a:ext cx="55986" cy="55986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1319252" y="2931570"/>
            <a:ext cx="713819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"/>
              </a:lnSpc>
              <a:buNone/>
            </a:pPr>
            <a:r>
              <a:rPr lang="en-US" sz="31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2024_Q4_마케팅_기획서.gdoc</a:t>
            </a:r>
            <a:endParaRPr lang="en-US" sz="314" dirty="0"/>
          </a:p>
        </p:txBody>
      </p:sp>
      <p:sp>
        <p:nvSpPr>
          <p:cNvPr id="62" name="Shape 58"/>
          <p:cNvSpPr/>
          <p:nvPr/>
        </p:nvSpPr>
        <p:spPr>
          <a:xfrm>
            <a:off x="1200282" y="3062737"/>
            <a:ext cx="867780" cy="125968"/>
          </a:xfrm>
          <a:prstGeom prst="roundRect">
            <a:avLst>
              <a:gd name="adj" fmla="val 42667"/>
            </a:avLst>
          </a:prstGeom>
          <a:noFill/>
          <a:ln w="3324">
            <a:solidFill>
              <a:srgbClr val="E2E8F0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235274" y="3097728"/>
            <a:ext cx="55986" cy="55986"/>
          </a:xfrm>
          <a:prstGeom prst="rect">
            <a:avLst/>
          </a:prstGeom>
          <a:noFill/>
          <a:ln/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35274" y="3097728"/>
            <a:ext cx="55986" cy="55986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1319252" y="3099527"/>
            <a:ext cx="713819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"/>
              </a:lnSpc>
              <a:buNone/>
            </a:pPr>
            <a:r>
              <a:rPr lang="en-US" sz="31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시스템_성능_개선_요구사항.pdf</a:t>
            </a:r>
            <a:endParaRPr lang="en-US" sz="314" dirty="0"/>
          </a:p>
        </p:txBody>
      </p:sp>
      <p:sp>
        <p:nvSpPr>
          <p:cNvPr id="66" name="Shape 61"/>
          <p:cNvSpPr/>
          <p:nvPr/>
        </p:nvSpPr>
        <p:spPr>
          <a:xfrm>
            <a:off x="1200282" y="3230694"/>
            <a:ext cx="867780" cy="125968"/>
          </a:xfrm>
          <a:prstGeom prst="roundRect">
            <a:avLst>
              <a:gd name="adj" fmla="val 42667"/>
            </a:avLst>
          </a:prstGeom>
          <a:noFill/>
          <a:ln w="3324">
            <a:solidFill>
              <a:srgbClr val="E2E8F0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235274" y="3265686"/>
            <a:ext cx="55986" cy="55986"/>
          </a:xfrm>
          <a:prstGeom prst="rect">
            <a:avLst/>
          </a:prstGeom>
          <a:noFill/>
          <a:ln/>
        </p:spPr>
      </p:sp>
      <p:pic>
        <p:nvPicPr>
          <p:cNvPr id="6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35274" y="3265686"/>
            <a:ext cx="55986" cy="55986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1319252" y="3267485"/>
            <a:ext cx="713819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"/>
              </a:lnSpc>
              <a:buNone/>
            </a:pPr>
            <a:r>
              <a:rPr lang="en-US" sz="31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유저_피드백_스프레드시트.gsheet</a:t>
            </a:r>
            <a:endParaRPr lang="en-US" sz="314" dirty="0"/>
          </a:p>
        </p:txBody>
      </p:sp>
      <p:sp>
        <p:nvSpPr>
          <p:cNvPr id="70" name="Shape 64"/>
          <p:cNvSpPr/>
          <p:nvPr/>
        </p:nvSpPr>
        <p:spPr>
          <a:xfrm>
            <a:off x="2194031" y="2739654"/>
            <a:ext cx="2281423" cy="1361255"/>
          </a:xfrm>
          <a:prstGeom prst="roundRect">
            <a:avLst>
              <a:gd name="adj" fmla="val 5922"/>
            </a:avLst>
          </a:prstGeom>
          <a:solidFill>
            <a:srgbClr val="FFFFFF"/>
          </a:solidFill>
          <a:ln/>
        </p:spPr>
      </p:sp>
      <p:sp>
        <p:nvSpPr>
          <p:cNvPr id="71" name="Shape 65"/>
          <p:cNvSpPr/>
          <p:nvPr/>
        </p:nvSpPr>
        <p:spPr>
          <a:xfrm>
            <a:off x="2264013" y="2809637"/>
            <a:ext cx="2141458" cy="83979"/>
          </a:xfrm>
          <a:prstGeom prst="rect">
            <a:avLst/>
          </a:prstGeom>
          <a:noFill/>
          <a:ln/>
        </p:spPr>
      </p:sp>
      <p:sp>
        <p:nvSpPr>
          <p:cNvPr id="72" name="Shape 66"/>
          <p:cNvSpPr/>
          <p:nvPr/>
        </p:nvSpPr>
        <p:spPr>
          <a:xfrm>
            <a:off x="2264013" y="2809637"/>
            <a:ext cx="407247" cy="83979"/>
          </a:xfrm>
          <a:prstGeom prst="rect">
            <a:avLst/>
          </a:prstGeom>
          <a:noFill/>
          <a:ln/>
        </p:spPr>
      </p:sp>
      <p:sp>
        <p:nvSpPr>
          <p:cNvPr id="73" name="Shape 67"/>
          <p:cNvSpPr/>
          <p:nvPr/>
        </p:nvSpPr>
        <p:spPr>
          <a:xfrm>
            <a:off x="2264013" y="2809637"/>
            <a:ext cx="83979" cy="83979"/>
          </a:xfrm>
          <a:prstGeom prst="roundRect">
            <a:avLst>
              <a:gd name="adj" fmla="val 96000"/>
            </a:avLst>
          </a:prstGeom>
          <a:solidFill>
            <a:srgbClr val="EFF6FF"/>
          </a:solidFill>
          <a:ln/>
        </p:spPr>
      </p:sp>
      <p:sp>
        <p:nvSpPr>
          <p:cNvPr id="74" name="Text 68"/>
          <p:cNvSpPr/>
          <p:nvPr/>
        </p:nvSpPr>
        <p:spPr>
          <a:xfrm>
            <a:off x="2282190" y="2825432"/>
            <a:ext cx="47625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"/>
              </a:lnSpc>
              <a:buNone/>
            </a:pPr>
            <a:r>
              <a:rPr lang="en-US" sz="314" b="1" dirty="0">
                <a:solidFill>
                  <a:srgbClr val="3B82F6">
                    <a:alpha val="99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</a:t>
            </a:r>
            <a:endParaRPr lang="en-US" sz="314" dirty="0"/>
          </a:p>
        </p:txBody>
      </p:sp>
      <p:sp>
        <p:nvSpPr>
          <p:cNvPr id="75" name="Text 69"/>
          <p:cNvSpPr/>
          <p:nvPr/>
        </p:nvSpPr>
        <p:spPr>
          <a:xfrm>
            <a:off x="2375985" y="2823051"/>
            <a:ext cx="29527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"/>
              </a:lnSpc>
              <a:buNone/>
            </a:pPr>
            <a:r>
              <a:rPr lang="en-US" sz="366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추천 배정 제안</a:t>
            </a:r>
            <a:endParaRPr lang="en-US" sz="366" dirty="0"/>
          </a:p>
        </p:txBody>
      </p:sp>
      <p:sp>
        <p:nvSpPr>
          <p:cNvPr id="76" name="Text 70"/>
          <p:cNvSpPr/>
          <p:nvPr/>
        </p:nvSpPr>
        <p:spPr>
          <a:xfrm>
            <a:off x="4186396" y="2825432"/>
            <a:ext cx="219075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"/>
              </a:lnSpc>
              <a:buNone/>
            </a:pPr>
            <a:r>
              <a:rPr lang="en-US" sz="314" b="1" dirty="0">
                <a:solidFill>
                  <a:srgbClr val="10B98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신뢰도 98%</a:t>
            </a:r>
            <a:endParaRPr lang="en-US" sz="314" dirty="0"/>
          </a:p>
        </p:txBody>
      </p:sp>
      <p:sp>
        <p:nvSpPr>
          <p:cNvPr id="77" name="Shape 71"/>
          <p:cNvSpPr/>
          <p:nvPr/>
        </p:nvSpPr>
        <p:spPr>
          <a:xfrm>
            <a:off x="2264013" y="2963598"/>
            <a:ext cx="2141458" cy="254265"/>
          </a:xfrm>
          <a:prstGeom prst="roundRect">
            <a:avLst>
              <a:gd name="adj" fmla="val 21138"/>
            </a:avLst>
          </a:prstGeom>
          <a:solidFill>
            <a:srgbClr val="EEF2F6"/>
          </a:solidFill>
          <a:ln/>
        </p:spPr>
      </p:sp>
      <p:sp>
        <p:nvSpPr>
          <p:cNvPr id="78" name="Text 72"/>
          <p:cNvSpPr/>
          <p:nvPr/>
        </p:nvSpPr>
        <p:spPr>
          <a:xfrm>
            <a:off x="2319999" y="3019584"/>
            <a:ext cx="204788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"/>
              </a:lnSpc>
              <a:buNone/>
            </a:pPr>
            <a:r>
              <a:rPr lang="en-US" sz="314" b="1" dirty="0">
                <a:solidFill>
                  <a:srgbClr val="1E3A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추출된 업무</a:t>
            </a:r>
            <a:endParaRPr lang="en-US" sz="314" dirty="0"/>
          </a:p>
        </p:txBody>
      </p:sp>
      <p:sp>
        <p:nvSpPr>
          <p:cNvPr id="79" name="Text 73"/>
          <p:cNvSpPr/>
          <p:nvPr/>
        </p:nvSpPr>
        <p:spPr>
          <a:xfrm>
            <a:off x="2319999" y="3099964"/>
            <a:ext cx="1081088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"/>
              </a:lnSpc>
              <a:buNone/>
            </a:pPr>
            <a:r>
              <a:rPr lang="en-US" sz="393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"Q4 캠페인용 성과 대시보드 UI 개발 및 API 연동"</a:t>
            </a:r>
            <a:endParaRPr lang="en-US" sz="393" dirty="0"/>
          </a:p>
        </p:txBody>
      </p:sp>
      <p:sp>
        <p:nvSpPr>
          <p:cNvPr id="80" name="Shape 74"/>
          <p:cNvSpPr/>
          <p:nvPr/>
        </p:nvSpPr>
        <p:spPr>
          <a:xfrm>
            <a:off x="2264013" y="3287845"/>
            <a:ext cx="2141458" cy="125968"/>
          </a:xfrm>
          <a:prstGeom prst="rect">
            <a:avLst/>
          </a:prstGeom>
          <a:noFill/>
          <a:ln/>
        </p:spPr>
      </p:sp>
      <p:sp>
        <p:nvSpPr>
          <p:cNvPr id="81" name="Shape 75"/>
          <p:cNvSpPr/>
          <p:nvPr/>
        </p:nvSpPr>
        <p:spPr>
          <a:xfrm>
            <a:off x="2264013" y="3287845"/>
            <a:ext cx="663257" cy="125968"/>
          </a:xfrm>
          <a:prstGeom prst="rect">
            <a:avLst/>
          </a:prstGeom>
          <a:noFill/>
          <a:ln/>
        </p:spPr>
      </p:sp>
      <p:pic>
        <p:nvPicPr>
          <p:cNvPr id="8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264013" y="3287845"/>
            <a:ext cx="125968" cy="125968"/>
          </a:xfrm>
          <a:prstGeom prst="rect">
            <a:avLst/>
          </a:prstGeom>
        </p:spPr>
      </p:pic>
      <p:sp>
        <p:nvSpPr>
          <p:cNvPr id="83" name="Shape 76"/>
          <p:cNvSpPr/>
          <p:nvPr/>
        </p:nvSpPr>
        <p:spPr>
          <a:xfrm>
            <a:off x="2431971" y="3294942"/>
            <a:ext cx="495300" cy="111773"/>
          </a:xfrm>
          <a:prstGeom prst="rect">
            <a:avLst/>
          </a:prstGeom>
          <a:noFill/>
          <a:ln/>
        </p:spPr>
      </p:sp>
      <p:sp>
        <p:nvSpPr>
          <p:cNvPr id="84" name="Text 77"/>
          <p:cNvSpPr/>
          <p:nvPr/>
        </p:nvSpPr>
        <p:spPr>
          <a:xfrm>
            <a:off x="2431971" y="3294942"/>
            <a:ext cx="4953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2"/>
              </a:lnSpc>
              <a:buNone/>
            </a:pPr>
            <a:r>
              <a:rPr lang="en-US" sz="340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김민수 (Frontend Lead)</a:t>
            </a:r>
            <a:endParaRPr lang="en-US" sz="340" dirty="0"/>
          </a:p>
        </p:txBody>
      </p:sp>
      <p:sp>
        <p:nvSpPr>
          <p:cNvPr id="85" name="Text 78"/>
          <p:cNvSpPr/>
          <p:nvPr/>
        </p:nvSpPr>
        <p:spPr>
          <a:xfrm>
            <a:off x="2431971" y="3359090"/>
            <a:ext cx="433388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"/>
              </a:lnSpc>
              <a:buNone/>
            </a:pPr>
            <a:r>
              <a:rPr lang="en-US" sz="288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워크로드: 여유 (20%)</a:t>
            </a:r>
            <a:endParaRPr lang="en-US" sz="288" dirty="0"/>
          </a:p>
        </p:txBody>
      </p:sp>
      <p:sp>
        <p:nvSpPr>
          <p:cNvPr id="86" name="Shape 79"/>
          <p:cNvSpPr/>
          <p:nvPr/>
        </p:nvSpPr>
        <p:spPr>
          <a:xfrm>
            <a:off x="3993462" y="3296642"/>
            <a:ext cx="412009" cy="108373"/>
          </a:xfrm>
          <a:prstGeom prst="roundRect">
            <a:avLst>
              <a:gd name="adj" fmla="val 37195"/>
            </a:avLst>
          </a:prstGeom>
          <a:solidFill>
            <a:srgbClr val="1E3A5F"/>
          </a:solidFill>
          <a:ln/>
        </p:spPr>
      </p:sp>
      <p:sp>
        <p:nvSpPr>
          <p:cNvPr id="87" name="Text 80"/>
          <p:cNvSpPr/>
          <p:nvPr/>
        </p:nvSpPr>
        <p:spPr>
          <a:xfrm>
            <a:off x="4049448" y="3324635"/>
            <a:ext cx="300038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"/>
              </a:lnSpc>
              <a:buNone/>
            </a:pPr>
            <a:r>
              <a:rPr lang="en-US" sz="31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승인 후 Jira 생성</a:t>
            </a:r>
            <a:endParaRPr lang="en-US" sz="314" dirty="0"/>
          </a:p>
        </p:txBody>
      </p:sp>
      <p:sp>
        <p:nvSpPr>
          <p:cNvPr id="88" name="Shape 81"/>
          <p:cNvSpPr/>
          <p:nvPr/>
        </p:nvSpPr>
        <p:spPr>
          <a:xfrm>
            <a:off x="2264013" y="3483795"/>
            <a:ext cx="2141458" cy="130532"/>
          </a:xfrm>
          <a:prstGeom prst="rect">
            <a:avLst/>
          </a:prstGeom>
          <a:noFill/>
          <a:ln/>
        </p:spPr>
      </p:sp>
      <p:sp>
        <p:nvSpPr>
          <p:cNvPr id="89" name="Text 82"/>
          <p:cNvSpPr/>
          <p:nvPr/>
        </p:nvSpPr>
        <p:spPr>
          <a:xfrm>
            <a:off x="2264013" y="3483795"/>
            <a:ext cx="200025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"/>
              </a:lnSpc>
              <a:buNone/>
            </a:pPr>
            <a:r>
              <a:rPr lang="en-US" sz="288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추천 근거</a:t>
            </a:r>
            <a:endParaRPr lang="en-US" sz="288" dirty="0"/>
          </a:p>
        </p:txBody>
      </p:sp>
      <p:sp>
        <p:nvSpPr>
          <p:cNvPr id="90" name="Text 83"/>
          <p:cNvSpPr/>
          <p:nvPr/>
        </p:nvSpPr>
        <p:spPr>
          <a:xfrm>
            <a:off x="2264013" y="3552415"/>
            <a:ext cx="213360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1"/>
              </a:lnSpc>
              <a:buNone/>
            </a:pPr>
            <a:r>
              <a:rPr lang="en-US" sz="31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김민수님은 지난 분기 '대시보드 연동 모듈' 개발을 주도하였으며, 캘린더 분석 결과 이번 주 여유 일정이 12시간 확인됩니다.</a:t>
            </a:r>
            <a:endParaRPr lang="en-US" sz="314" dirty="0"/>
          </a:p>
        </p:txBody>
      </p:sp>
      <p:sp>
        <p:nvSpPr>
          <p:cNvPr id="91" name="Shape 84"/>
          <p:cNvSpPr/>
          <p:nvPr/>
        </p:nvSpPr>
        <p:spPr>
          <a:xfrm>
            <a:off x="2166938" y="23526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2" name="Text 85"/>
          <p:cNvSpPr/>
          <p:nvPr/>
        </p:nvSpPr>
        <p:spPr>
          <a:xfrm>
            <a:off x="2166938" y="23860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93" name="Shape 86"/>
          <p:cNvSpPr/>
          <p:nvPr/>
        </p:nvSpPr>
        <p:spPr>
          <a:xfrm>
            <a:off x="4214813" y="87630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4" name="Text 87"/>
          <p:cNvSpPr/>
          <p:nvPr/>
        </p:nvSpPr>
        <p:spPr>
          <a:xfrm>
            <a:off x="4214813" y="90963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95" name="Shape 88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96" name="Text 89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97" name="Shape 90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8" name="Text 91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99" name="Text 92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상단 CTA (무료로 시작하기)</a:t>
            </a:r>
            <a:endParaRPr lang="en-US" sz="534" dirty="0"/>
          </a:p>
        </p:txBody>
      </p:sp>
      <p:sp>
        <p:nvSpPr>
          <p:cNvPr id="100" name="Text 93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회원가입(A-2)으로 이동</a:t>
            </a:r>
            <a:endParaRPr lang="en-US" sz="463" dirty="0"/>
          </a:p>
        </p:txBody>
      </p:sp>
      <p:sp>
        <p:nvSpPr>
          <p:cNvPr id="101" name="Shape 94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2" name="Text 95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103" name="Text 96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상단 네비게이션 로그인 링크</a:t>
            </a:r>
            <a:endParaRPr lang="en-US" sz="534" dirty="0"/>
          </a:p>
        </p:txBody>
      </p:sp>
      <p:sp>
        <p:nvSpPr>
          <p:cNvPr id="104" name="Text 97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로그인(A-1)으로 이동</a:t>
            </a:r>
            <a:endParaRPr lang="en-US" sz="463" dirty="0"/>
          </a:p>
        </p:txBody>
      </p:sp>
      <p:sp>
        <p:nvSpPr>
          <p:cNvPr id="105" name="Shape 98"/>
          <p:cNvSpPr/>
          <p:nvPr/>
        </p:nvSpPr>
        <p:spPr>
          <a:xfrm>
            <a:off x="5619750" y="19907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6" name="Text 99"/>
          <p:cNvSpPr/>
          <p:nvPr/>
        </p:nvSpPr>
        <p:spPr>
          <a:xfrm>
            <a:off x="5619750" y="2024062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107" name="Text 100"/>
          <p:cNvSpPr/>
          <p:nvPr/>
        </p:nvSpPr>
        <p:spPr>
          <a:xfrm>
            <a:off x="5848350" y="19812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구성 섹션</a:t>
            </a:r>
            <a:endParaRPr lang="en-US" sz="534" dirty="0"/>
          </a:p>
        </p:txBody>
      </p:sp>
      <p:sp>
        <p:nvSpPr>
          <p:cNvPr id="108" name="Text 101"/>
          <p:cNvSpPr/>
          <p:nvPr/>
        </p:nvSpPr>
        <p:spPr>
          <a:xfrm>
            <a:off x="5848350" y="21145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trust-section(고객 로고), features, how-it-works(4단계), feature-detail×2(AI 근거·워크로드), integrations, pricing, cta-banner, footer</a:t>
            </a:r>
            <a:endParaRPr lang="en-US" sz="463" dirty="0"/>
          </a:p>
        </p:txBody>
      </p:sp>
      <p:sp>
        <p:nvSpPr>
          <p:cNvPr id="109" name="Shape 102"/>
          <p:cNvSpPr/>
          <p:nvPr/>
        </p:nvSpPr>
        <p:spPr>
          <a:xfrm>
            <a:off x="5619750" y="246697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10" name="Text 103"/>
          <p:cNvSpPr/>
          <p:nvPr/>
        </p:nvSpPr>
        <p:spPr>
          <a:xfrm>
            <a:off x="5686425" y="2519363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111" name="Text 104"/>
          <p:cNvSpPr/>
          <p:nvPr/>
        </p:nvSpPr>
        <p:spPr>
          <a:xfrm>
            <a:off x="5657850" y="2786063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페이지가 매우 길어(4123px) 화면정의서엔 대표 구간만 캡처</a:t>
            </a:r>
            <a:endParaRPr lang="en-US" sz="463" dirty="0"/>
          </a:p>
        </p:txBody>
      </p:sp>
      <p:sp>
        <p:nvSpPr>
          <p:cNvPr id="112" name="Text 105"/>
          <p:cNvSpPr/>
          <p:nvPr/>
        </p:nvSpPr>
        <p:spPr>
          <a:xfrm>
            <a:off x="5657850" y="3005138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CTA 버튼 라벨은 실제 프레임 확인 후 정확한 문구로 교체 필요</a:t>
            </a:r>
            <a:endParaRPr lang="en-US" sz="46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842963"/>
            <a:ext cx="5143500" cy="3657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-52387" y="485775"/>
            <a:ext cx="1428750" cy="1428750"/>
          </a:xfrm>
          <a:prstGeom prst="ellipse">
            <a:avLst/>
          </a:prstGeom>
          <a:solidFill>
            <a:srgbClr val="1E3A5F">
              <a:alpha val="5098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0956" y="2893219"/>
            <a:ext cx="1785938" cy="1785938"/>
          </a:xfrm>
          <a:prstGeom prst="ellipse">
            <a:avLst/>
          </a:prstGeom>
          <a:solidFill>
            <a:srgbClr val="1E3A5F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90738" y="1451967"/>
            <a:ext cx="1571625" cy="2702719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090738" y="1451967"/>
            <a:ext cx="1571625" cy="23812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700338" y="1451967"/>
            <a:ext cx="352425" cy="133350"/>
          </a:xfrm>
          <a:prstGeom prst="roundRect">
            <a:avLst>
              <a:gd name="adj" fmla="val 509143"/>
            </a:avLst>
          </a:prstGeom>
          <a:solidFill>
            <a:srgbClr val="1E3A5F">
              <a:alpha val="6275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57488" y="1482923"/>
            <a:ext cx="71438" cy="714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57500" y="1480542"/>
            <a:ext cx="138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481" b="1" dirty="0">
                <a:solidFill>
                  <a:srgbClr val="1E3A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halil</a:t>
            </a:r>
            <a:endParaRPr lang="en-US" sz="481" dirty="0"/>
          </a:p>
        </p:txBody>
      </p:sp>
      <p:sp>
        <p:nvSpPr>
          <p:cNvPr id="10" name="Text 7"/>
          <p:cNvSpPr/>
          <p:nvPr/>
        </p:nvSpPr>
        <p:spPr>
          <a:xfrm>
            <a:off x="2090738" y="1628180"/>
            <a:ext cx="15716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기반 업무 배정 코파일럿</a:t>
            </a:r>
            <a:endParaRPr lang="en-US" sz="374" dirty="0"/>
          </a:p>
        </p:txBody>
      </p:sp>
      <p:sp>
        <p:nvSpPr>
          <p:cNvPr id="11" name="Shape 8"/>
          <p:cNvSpPr/>
          <p:nvPr/>
        </p:nvSpPr>
        <p:spPr>
          <a:xfrm>
            <a:off x="2090738" y="1804392"/>
            <a:ext cx="1571625" cy="2055019"/>
          </a:xfrm>
          <a:prstGeom prst="roundRect">
            <a:avLst>
              <a:gd name="adj" fmla="val 6982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33613" y="1947267"/>
            <a:ext cx="1285875" cy="188119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2233613" y="1947267"/>
            <a:ext cx="12858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</a:t>
            </a:r>
            <a:endParaRPr lang="en-US" sz="641" dirty="0"/>
          </a:p>
        </p:txBody>
      </p:sp>
      <p:sp>
        <p:nvSpPr>
          <p:cNvPr id="14" name="Text 11"/>
          <p:cNvSpPr/>
          <p:nvPr/>
        </p:nvSpPr>
        <p:spPr>
          <a:xfrm>
            <a:off x="2233613" y="2073473"/>
            <a:ext cx="12858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서비스를 이용하려면 로그인을 진행해주세요.</a:t>
            </a:r>
            <a:endParaRPr lang="en-US" sz="374" dirty="0"/>
          </a:p>
        </p:txBody>
      </p:sp>
      <p:sp>
        <p:nvSpPr>
          <p:cNvPr id="15" name="Shape 12"/>
          <p:cNvSpPr/>
          <p:nvPr/>
        </p:nvSpPr>
        <p:spPr>
          <a:xfrm>
            <a:off x="2233613" y="2221111"/>
            <a:ext cx="1285875" cy="581025"/>
          </a:xfrm>
          <a:prstGeom prst="rect">
            <a:avLst/>
          </a:prstGeom>
          <a:noFill/>
          <a:ln/>
        </p:spPr>
      </p:sp>
      <p:sp>
        <p:nvSpPr>
          <p:cNvPr id="16" name="Shape 13"/>
          <p:cNvSpPr/>
          <p:nvPr/>
        </p:nvSpPr>
        <p:spPr>
          <a:xfrm>
            <a:off x="2233613" y="2221111"/>
            <a:ext cx="1285875" cy="261937"/>
          </a:xfrm>
          <a:prstGeom prst="rect">
            <a:avLst/>
          </a:prstGeom>
          <a:noFill/>
          <a:ln/>
        </p:spPr>
      </p:sp>
      <p:sp>
        <p:nvSpPr>
          <p:cNvPr id="17" name="Text 14"/>
          <p:cNvSpPr/>
          <p:nvPr/>
        </p:nvSpPr>
        <p:spPr>
          <a:xfrm>
            <a:off x="2233613" y="2221111"/>
            <a:ext cx="12858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이메일</a:t>
            </a:r>
            <a:endParaRPr lang="en-US" sz="374" dirty="0"/>
          </a:p>
        </p:txBody>
      </p:sp>
      <p:sp>
        <p:nvSpPr>
          <p:cNvPr id="18" name="Shape 15"/>
          <p:cNvSpPr/>
          <p:nvPr/>
        </p:nvSpPr>
        <p:spPr>
          <a:xfrm>
            <a:off x="2233613" y="2311598"/>
            <a:ext cx="1285875" cy="1714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90763" y="2363986"/>
            <a:ext cx="11715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"/>
              </a:lnSpc>
              <a:buNone/>
            </a:pPr>
            <a:r>
              <a:rPr lang="en-US" sz="401" dirty="0">
                <a:solidFill>
                  <a:srgbClr val="94A3B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name@company.com</a:t>
            </a:r>
            <a:endParaRPr lang="en-US" sz="401" dirty="0"/>
          </a:p>
        </p:txBody>
      </p:sp>
      <p:sp>
        <p:nvSpPr>
          <p:cNvPr id="20" name="Shape 17"/>
          <p:cNvSpPr/>
          <p:nvPr/>
        </p:nvSpPr>
        <p:spPr>
          <a:xfrm>
            <a:off x="2233613" y="2540198"/>
            <a:ext cx="1285875" cy="261937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2233613" y="2540198"/>
            <a:ext cx="12858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비밀번호</a:t>
            </a:r>
            <a:endParaRPr lang="en-US" sz="374" dirty="0"/>
          </a:p>
        </p:txBody>
      </p:sp>
      <p:sp>
        <p:nvSpPr>
          <p:cNvPr id="22" name="Shape 19"/>
          <p:cNvSpPr/>
          <p:nvPr/>
        </p:nvSpPr>
        <p:spPr>
          <a:xfrm>
            <a:off x="2233613" y="2630686"/>
            <a:ext cx="1285875" cy="1714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90763" y="2683073"/>
            <a:ext cx="107156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"/>
              </a:lnSpc>
              <a:buNone/>
            </a:pPr>
            <a:r>
              <a:rPr lang="en-US" sz="401" dirty="0">
                <a:solidFill>
                  <a:srgbClr val="94A3B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비밀번호를 입력하세요</a:t>
            </a:r>
            <a:endParaRPr lang="en-US" sz="401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90900" y="2680692"/>
            <a:ext cx="71438" cy="7143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2233613" y="2887861"/>
            <a:ext cx="1285875" cy="171450"/>
          </a:xfrm>
          <a:prstGeom prst="roundRect">
            <a:avLst>
              <a:gd name="adj" fmla="val 32000"/>
            </a:avLst>
          </a:prstGeom>
          <a:solidFill>
            <a:srgbClr val="1E3A5F"/>
          </a:solidFill>
          <a:ln/>
        </p:spPr>
      </p:sp>
      <p:sp>
        <p:nvSpPr>
          <p:cNvPr id="26" name="Text 22"/>
          <p:cNvSpPr/>
          <p:nvPr/>
        </p:nvSpPr>
        <p:spPr>
          <a:xfrm>
            <a:off x="2795588" y="2937867"/>
            <a:ext cx="16192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</a:t>
            </a:r>
            <a:endParaRPr lang="en-US" sz="427" dirty="0"/>
          </a:p>
        </p:txBody>
      </p:sp>
      <p:sp>
        <p:nvSpPr>
          <p:cNvPr id="27" name="Shape 23"/>
          <p:cNvSpPr/>
          <p:nvPr/>
        </p:nvSpPr>
        <p:spPr>
          <a:xfrm>
            <a:off x="2233613" y="3145036"/>
            <a:ext cx="1285875" cy="57150"/>
          </a:xfrm>
          <a:prstGeom prst="rect">
            <a:avLst/>
          </a:prstGeom>
          <a:noFill/>
          <a:ln/>
        </p:spPr>
      </p:sp>
      <p:sp>
        <p:nvSpPr>
          <p:cNvPr id="28" name="Shape 24"/>
          <p:cNvSpPr/>
          <p:nvPr/>
        </p:nvSpPr>
        <p:spPr>
          <a:xfrm>
            <a:off x="2233613" y="3171825"/>
            <a:ext cx="542925" cy="3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5"/>
          <p:cNvSpPr/>
          <p:nvPr/>
        </p:nvSpPr>
        <p:spPr>
          <a:xfrm>
            <a:off x="2833688" y="3145036"/>
            <a:ext cx="8572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"/>
              </a:lnSpc>
              <a:buNone/>
            </a:pPr>
            <a:r>
              <a:rPr lang="en-US" sz="347" dirty="0">
                <a:solidFill>
                  <a:srgbClr val="94A3B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또는</a:t>
            </a:r>
            <a:endParaRPr lang="en-US" sz="347" dirty="0"/>
          </a:p>
        </p:txBody>
      </p:sp>
      <p:sp>
        <p:nvSpPr>
          <p:cNvPr id="30" name="Shape 26"/>
          <p:cNvSpPr/>
          <p:nvPr/>
        </p:nvSpPr>
        <p:spPr>
          <a:xfrm>
            <a:off x="2976563" y="3171825"/>
            <a:ext cx="542925" cy="3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7"/>
          <p:cNvSpPr/>
          <p:nvPr/>
        </p:nvSpPr>
        <p:spPr>
          <a:xfrm>
            <a:off x="2233613" y="3287911"/>
            <a:ext cx="1285875" cy="1714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564606" y="3341489"/>
            <a:ext cx="64294" cy="64294"/>
          </a:xfrm>
          <a:prstGeom prst="rect">
            <a:avLst/>
          </a:prstGeom>
          <a:noFill/>
          <a:ln/>
        </p:spPr>
      </p:sp>
      <p:sp>
        <p:nvSpPr>
          <p:cNvPr id="33" name="Shape 29"/>
          <p:cNvSpPr/>
          <p:nvPr/>
        </p:nvSpPr>
        <p:spPr>
          <a:xfrm>
            <a:off x="2564606" y="3341489"/>
            <a:ext cx="64294" cy="64294"/>
          </a:xfrm>
          <a:prstGeom prst="roundRect">
            <a:avLst/>
          </a:prstGeom>
          <a:solidFill>
            <a:srgbClr val="EA4335"/>
          </a:solidFill>
          <a:ln/>
        </p:spPr>
      </p:sp>
      <p:sp>
        <p:nvSpPr>
          <p:cNvPr id="34" name="Shape 30"/>
          <p:cNvSpPr/>
          <p:nvPr/>
        </p:nvSpPr>
        <p:spPr>
          <a:xfrm>
            <a:off x="2586038" y="3341489"/>
            <a:ext cx="64294" cy="64294"/>
          </a:xfrm>
          <a:prstGeom prst="roundRect">
            <a:avLst/>
          </a:prstGeom>
          <a:solidFill>
            <a:srgbClr val="FBBC05"/>
          </a:solidFill>
          <a:ln/>
        </p:spPr>
      </p:sp>
      <p:sp>
        <p:nvSpPr>
          <p:cNvPr id="35" name="Shape 31"/>
          <p:cNvSpPr/>
          <p:nvPr/>
        </p:nvSpPr>
        <p:spPr>
          <a:xfrm>
            <a:off x="2564606" y="3362920"/>
            <a:ext cx="64294" cy="64294"/>
          </a:xfrm>
          <a:prstGeom prst="roundRect">
            <a:avLst/>
          </a:prstGeom>
          <a:solidFill>
            <a:srgbClr val="34A853"/>
          </a:solidFill>
          <a:ln/>
        </p:spPr>
      </p:sp>
      <p:sp>
        <p:nvSpPr>
          <p:cNvPr id="36" name="Shape 32"/>
          <p:cNvSpPr/>
          <p:nvPr/>
        </p:nvSpPr>
        <p:spPr>
          <a:xfrm>
            <a:off x="2586038" y="3362920"/>
            <a:ext cx="64294" cy="64294"/>
          </a:xfrm>
          <a:prstGeom prst="roundRect">
            <a:avLst/>
          </a:prstGeom>
          <a:solidFill>
            <a:srgbClr val="4285F4"/>
          </a:solidFill>
          <a:ln/>
        </p:spPr>
      </p:sp>
      <p:sp>
        <p:nvSpPr>
          <p:cNvPr id="37" name="Text 33"/>
          <p:cNvSpPr/>
          <p:nvPr/>
        </p:nvSpPr>
        <p:spPr>
          <a:xfrm>
            <a:off x="2664619" y="3342680"/>
            <a:ext cx="5238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계정으로 로그인</a:t>
            </a:r>
            <a:endParaRPr lang="en-US" sz="374" dirty="0"/>
          </a:p>
        </p:txBody>
      </p:sp>
      <p:sp>
        <p:nvSpPr>
          <p:cNvPr id="38" name="Shape 34"/>
          <p:cNvSpPr/>
          <p:nvPr/>
        </p:nvSpPr>
        <p:spPr>
          <a:xfrm>
            <a:off x="2233613" y="3545086"/>
            <a:ext cx="1285875" cy="1714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607469" y="3598664"/>
            <a:ext cx="64294" cy="64294"/>
          </a:xfrm>
          <a:prstGeom prst="rect">
            <a:avLst/>
          </a:prstGeom>
          <a:noFill/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54881" t="0" b="34170"/>
          <a:stretch/>
        </p:blipFill>
        <p:spPr>
          <a:xfrm>
            <a:off x="2562006" y="3598664"/>
            <a:ext cx="41024" cy="59856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2707481" y="3599855"/>
            <a:ext cx="43815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계정으로 로그인</a:t>
            </a:r>
            <a:endParaRPr lang="en-US" sz="374" dirty="0"/>
          </a:p>
        </p:txBody>
      </p:sp>
      <p:sp>
        <p:nvSpPr>
          <p:cNvPr id="42" name="Shape 37"/>
          <p:cNvSpPr/>
          <p:nvPr/>
        </p:nvSpPr>
        <p:spPr>
          <a:xfrm>
            <a:off x="2090738" y="3973711"/>
            <a:ext cx="1571625" cy="180975"/>
          </a:xfrm>
          <a:prstGeom prst="rect">
            <a:avLst/>
          </a:prstGeom>
          <a:noFill/>
          <a:ln/>
        </p:spPr>
      </p:sp>
      <p:sp>
        <p:nvSpPr>
          <p:cNvPr id="43" name="Shape 38"/>
          <p:cNvSpPr/>
          <p:nvPr/>
        </p:nvSpPr>
        <p:spPr>
          <a:xfrm>
            <a:off x="2731294" y="3973711"/>
            <a:ext cx="290513" cy="61912"/>
          </a:xfrm>
          <a:prstGeom prst="rect">
            <a:avLst/>
          </a:prstGeom>
          <a:noFill/>
          <a:ln/>
        </p:spPr>
      </p:sp>
      <p:sp>
        <p:nvSpPr>
          <p:cNvPr id="44" name="Text 39"/>
          <p:cNvSpPr/>
          <p:nvPr/>
        </p:nvSpPr>
        <p:spPr>
          <a:xfrm>
            <a:off x="2731294" y="3973711"/>
            <a:ext cx="290513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비밀번호 찾기</a:t>
            </a:r>
            <a:endParaRPr lang="en-US" sz="374" dirty="0"/>
          </a:p>
        </p:txBody>
      </p:sp>
      <p:sp>
        <p:nvSpPr>
          <p:cNvPr id="45" name="Text 40"/>
          <p:cNvSpPr/>
          <p:nvPr/>
        </p:nvSpPr>
        <p:spPr>
          <a:xfrm>
            <a:off x="2090738" y="4092773"/>
            <a:ext cx="15716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계정이 없으신가요? </a:t>
            </a:r>
            <a:pPr algn="ctr" indent="0" marL="0">
              <a:lnSpc>
                <a:spcPts val="453"/>
              </a:lnSpc>
              <a:buNone/>
            </a:pPr>
            <a:r>
              <a:rPr lang="en-US" sz="374" b="1" u="sng" dirty="0">
                <a:solidFill>
                  <a:srgbClr val="1E3A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회원가입</a:t>
            </a:r>
            <a:endParaRPr lang="en-US" sz="374" dirty="0"/>
          </a:p>
        </p:txBody>
      </p:sp>
      <p:sp>
        <p:nvSpPr>
          <p:cNvPr id="46" name="Shape 41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7" name="Text 42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48" name="Shape 43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9" name="Text 44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50" name="Text 45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 버튼</a:t>
            </a:r>
            <a:endParaRPr lang="en-US" sz="534" dirty="0"/>
          </a:p>
        </p:txBody>
      </p:sp>
      <p:sp>
        <p:nvSpPr>
          <p:cNvPr id="51" name="Text 46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b="1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이메일·비밀번호 인증. 성공 시 온보딩 완료 여부로 대시보드/온보딩 분기, 실패 시 에러 표시</a:t>
            </a:r>
            <a:endParaRPr lang="en-US" sz="463" dirty="0"/>
          </a:p>
        </p:txBody>
      </p:sp>
      <p:sp>
        <p:nvSpPr>
          <p:cNvPr id="52" name="Shape 47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3" name="Text 48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54" name="Text 49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계정으로 로그인</a:t>
            </a:r>
            <a:endParaRPr lang="en-US" sz="534" dirty="0"/>
          </a:p>
        </p:txBody>
      </p:sp>
      <p:sp>
        <p:nvSpPr>
          <p:cNvPr id="55" name="Text 50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b="1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계정 인증용 OAuth 팝업(프로필·이메일 scope). 커넥터용 Drive/Calendar 권한과 별개</a:t>
            </a:r>
            <a:endParaRPr lang="en-US" sz="463" dirty="0"/>
          </a:p>
        </p:txBody>
      </p:sp>
      <p:sp>
        <p:nvSpPr>
          <p:cNvPr id="56" name="Shape 51"/>
          <p:cNvSpPr/>
          <p:nvPr/>
        </p:nvSpPr>
        <p:spPr>
          <a:xfrm>
            <a:off x="5619750" y="19907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7" name="Text 52"/>
          <p:cNvSpPr/>
          <p:nvPr/>
        </p:nvSpPr>
        <p:spPr>
          <a:xfrm>
            <a:off x="5619750" y="2024062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58" name="Text 53"/>
          <p:cNvSpPr/>
          <p:nvPr/>
        </p:nvSpPr>
        <p:spPr>
          <a:xfrm>
            <a:off x="5848350" y="2433638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비밀번호 찾기 링크</a:t>
            </a:r>
            <a:endParaRPr lang="en-US" sz="534" dirty="0"/>
          </a:p>
        </p:txBody>
      </p:sp>
      <p:sp>
        <p:nvSpPr>
          <p:cNvPr id="59" name="Text 54"/>
          <p:cNvSpPr/>
          <p:nvPr/>
        </p:nvSpPr>
        <p:spPr>
          <a:xfrm>
            <a:off x="5848350" y="2566988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b="1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비밀번호 재설정 화면(A-3)으로 이동</a:t>
            </a:r>
            <a:endParaRPr lang="en-US" sz="463" dirty="0"/>
          </a:p>
        </p:txBody>
      </p:sp>
      <p:sp>
        <p:nvSpPr>
          <p:cNvPr id="60" name="Shape 55"/>
          <p:cNvSpPr/>
          <p:nvPr/>
        </p:nvSpPr>
        <p:spPr>
          <a:xfrm>
            <a:off x="5619750" y="24288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1" name="Text 56"/>
          <p:cNvSpPr/>
          <p:nvPr/>
        </p:nvSpPr>
        <p:spPr>
          <a:xfrm>
            <a:off x="5619750" y="24622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99" dirty="0"/>
          </a:p>
        </p:txBody>
      </p:sp>
      <p:sp>
        <p:nvSpPr>
          <p:cNvPr id="62" name="Shape 57"/>
          <p:cNvSpPr/>
          <p:nvPr/>
        </p:nvSpPr>
        <p:spPr>
          <a:xfrm>
            <a:off x="5619750" y="28670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3" name="Text 58"/>
          <p:cNvSpPr/>
          <p:nvPr/>
        </p:nvSpPr>
        <p:spPr>
          <a:xfrm>
            <a:off x="5619750" y="29003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99" dirty="0"/>
          </a:p>
        </p:txBody>
      </p:sp>
      <p:sp>
        <p:nvSpPr>
          <p:cNvPr id="64" name="Text 59"/>
          <p:cNvSpPr/>
          <p:nvPr/>
        </p:nvSpPr>
        <p:spPr>
          <a:xfrm>
            <a:off x="5848350" y="2871788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회원가입 링크</a:t>
            </a:r>
            <a:endParaRPr lang="en-US" sz="534" dirty="0"/>
          </a:p>
        </p:txBody>
      </p:sp>
      <p:sp>
        <p:nvSpPr>
          <p:cNvPr id="65" name="Text 60"/>
          <p:cNvSpPr/>
          <p:nvPr/>
        </p:nvSpPr>
        <p:spPr>
          <a:xfrm>
            <a:off x="5848350" y="3005138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b="1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회원가입 화면(A-2)으로 이동</a:t>
            </a:r>
            <a:endParaRPr lang="en-US" sz="463" dirty="0"/>
          </a:p>
        </p:txBody>
      </p:sp>
      <p:sp>
        <p:nvSpPr>
          <p:cNvPr id="66" name="Shape 61"/>
          <p:cNvSpPr/>
          <p:nvPr/>
        </p:nvSpPr>
        <p:spPr>
          <a:xfrm>
            <a:off x="5619750" y="3262313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67" name="Text 62"/>
          <p:cNvSpPr/>
          <p:nvPr/>
        </p:nvSpPr>
        <p:spPr>
          <a:xfrm>
            <a:off x="5686425" y="3314700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68" name="Text 63"/>
          <p:cNvSpPr/>
          <p:nvPr/>
        </p:nvSpPr>
        <p:spPr>
          <a:xfrm>
            <a:off x="5657850" y="3529013"/>
            <a:ext cx="3257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로그인 실패 횟수 제한 및 계정 잠금 처리 (보안 항목)</a:t>
            </a:r>
            <a:endParaRPr lang="en-US" sz="463" dirty="0"/>
          </a:p>
        </p:txBody>
      </p:sp>
      <p:sp>
        <p:nvSpPr>
          <p:cNvPr id="69" name="Text 64"/>
          <p:cNvSpPr/>
          <p:nvPr/>
        </p:nvSpPr>
        <p:spPr>
          <a:xfrm>
            <a:off x="5657850" y="3671888"/>
            <a:ext cx="3257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아이디 찾기 미구현 — 이메일=ID, 역조회는 계정 존재 유출 위험</a:t>
            </a:r>
            <a:endParaRPr lang="en-US" sz="463" dirty="0"/>
          </a:p>
        </p:txBody>
      </p:sp>
      <p:sp>
        <p:nvSpPr>
          <p:cNvPr id="70" name="Text 65"/>
          <p:cNvSpPr/>
          <p:nvPr/>
        </p:nvSpPr>
        <p:spPr>
          <a:xfrm>
            <a:off x="5657850" y="3814763"/>
            <a:ext cx="3257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Google 로그인·온보딩 커넥터 scope 통합 여부 팀 결정 필요</a:t>
            </a:r>
            <a:endParaRPr lang="en-US" sz="463" dirty="0"/>
          </a:p>
        </p:txBody>
      </p:sp>
      <p:sp>
        <p:nvSpPr>
          <p:cNvPr id="71" name="Shape 66"/>
          <p:cNvSpPr/>
          <p:nvPr/>
        </p:nvSpPr>
        <p:spPr>
          <a:xfrm>
            <a:off x="2074069" y="2906448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2074069" y="293978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73" name="Shape 68"/>
          <p:cNvSpPr/>
          <p:nvPr/>
        </p:nvSpPr>
        <p:spPr>
          <a:xfrm>
            <a:off x="2074069" y="3313906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2074069" y="3347244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75" name="Shape 70"/>
          <p:cNvSpPr/>
          <p:nvPr/>
        </p:nvSpPr>
        <p:spPr>
          <a:xfrm>
            <a:off x="2076450" y="3548063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2076450" y="35814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77" name="Shape 72"/>
          <p:cNvSpPr/>
          <p:nvPr/>
        </p:nvSpPr>
        <p:spPr>
          <a:xfrm>
            <a:off x="3028950" y="3871913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3028950" y="39052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99" dirty="0"/>
          </a:p>
        </p:txBody>
      </p:sp>
      <p:sp>
        <p:nvSpPr>
          <p:cNvPr id="79" name="Shape 74"/>
          <p:cNvSpPr/>
          <p:nvPr/>
        </p:nvSpPr>
        <p:spPr>
          <a:xfrm>
            <a:off x="3167063" y="4043363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80" name="Text 75"/>
          <p:cNvSpPr/>
          <p:nvPr/>
        </p:nvSpPr>
        <p:spPr>
          <a:xfrm>
            <a:off x="3167063" y="40767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99" dirty="0"/>
          </a:p>
        </p:txBody>
      </p:sp>
      <p:sp>
        <p:nvSpPr>
          <p:cNvPr id="81" name="Text 76"/>
          <p:cNvSpPr/>
          <p:nvPr/>
        </p:nvSpPr>
        <p:spPr>
          <a:xfrm>
            <a:off x="5848350" y="1995487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계정으로 로그인</a:t>
            </a:r>
            <a:endParaRPr lang="en-US" sz="534" dirty="0"/>
          </a:p>
        </p:txBody>
      </p:sp>
      <p:sp>
        <p:nvSpPr>
          <p:cNvPr id="82" name="Text 77"/>
          <p:cNvSpPr/>
          <p:nvPr/>
        </p:nvSpPr>
        <p:spPr>
          <a:xfrm>
            <a:off x="5848350" y="2128838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b="1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계정 인증용 OAuth 팝업(프로필·이메일 scope)</a:t>
            </a:r>
            <a:endParaRPr lang="en-US" sz="463" dirty="0"/>
          </a:p>
        </p:txBody>
      </p:sp>
      <p:sp>
        <p:nvSpPr>
          <p:cNvPr id="83" name="Shape 78"/>
          <p:cNvSpPr/>
          <p:nvPr/>
        </p:nvSpPr>
        <p:spPr>
          <a:xfrm>
            <a:off x="190500" y="12382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4" name="Text 79"/>
          <p:cNvSpPr/>
          <p:nvPr/>
        </p:nvSpPr>
        <p:spPr>
          <a:xfrm>
            <a:off x="248666" y="23434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85" name="Shape 80"/>
          <p:cNvSpPr/>
          <p:nvPr/>
        </p:nvSpPr>
        <p:spPr>
          <a:xfrm>
            <a:off x="1237488" y="12382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1295653" y="234340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</a:t>
            </a:r>
            <a:endParaRPr lang="en-US" sz="696" dirty="0"/>
          </a:p>
        </p:txBody>
      </p:sp>
      <p:sp>
        <p:nvSpPr>
          <p:cNvPr id="87" name="Shape 82"/>
          <p:cNvSpPr/>
          <p:nvPr/>
        </p:nvSpPr>
        <p:spPr>
          <a:xfrm>
            <a:off x="4378451" y="12382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8" name="Text 83"/>
          <p:cNvSpPr/>
          <p:nvPr/>
        </p:nvSpPr>
        <p:spPr>
          <a:xfrm>
            <a:off x="4436618" y="23434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89" name="Shape 84"/>
          <p:cNvSpPr/>
          <p:nvPr/>
        </p:nvSpPr>
        <p:spPr>
          <a:xfrm>
            <a:off x="5425440" y="12382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5483606" y="234340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R-002</a:t>
            </a:r>
            <a:endParaRPr lang="en-US" sz="696" dirty="0"/>
          </a:p>
        </p:txBody>
      </p:sp>
      <p:sp>
        <p:nvSpPr>
          <p:cNvPr id="91" name="Shape 86"/>
          <p:cNvSpPr/>
          <p:nvPr/>
        </p:nvSpPr>
        <p:spPr>
          <a:xfrm>
            <a:off x="190500" y="44955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92" name="Text 87"/>
          <p:cNvSpPr/>
          <p:nvPr/>
        </p:nvSpPr>
        <p:spPr>
          <a:xfrm>
            <a:off x="248666" y="56007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93" name="Shape 88"/>
          <p:cNvSpPr/>
          <p:nvPr/>
        </p:nvSpPr>
        <p:spPr>
          <a:xfrm>
            <a:off x="1237488" y="44955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94" name="Text 89"/>
          <p:cNvSpPr/>
          <p:nvPr/>
        </p:nvSpPr>
        <p:spPr>
          <a:xfrm>
            <a:off x="1295653" y="560070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랜딩 페이지 → 로그인</a:t>
            </a:r>
            <a:endParaRPr lang="en-US" sz="696" dirty="0"/>
          </a:p>
        </p:txBody>
      </p:sp>
      <p:sp>
        <p:nvSpPr>
          <p:cNvPr id="95" name="Shape 90"/>
          <p:cNvSpPr/>
          <p:nvPr/>
        </p:nvSpPr>
        <p:spPr>
          <a:xfrm>
            <a:off x="4378451" y="44955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96" name="Text 91"/>
          <p:cNvSpPr/>
          <p:nvPr/>
        </p:nvSpPr>
        <p:spPr>
          <a:xfrm>
            <a:off x="4436618" y="56007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97" name="Shape 92"/>
          <p:cNvSpPr/>
          <p:nvPr/>
        </p:nvSpPr>
        <p:spPr>
          <a:xfrm>
            <a:off x="5425440" y="44955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5481638" y="557213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A-1</a:t>
            </a:r>
            <a:endParaRPr lang="en-US" sz="69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988" y="819150"/>
            <a:ext cx="5143500" cy="3657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-76200" y="461963"/>
            <a:ext cx="1428750" cy="1428750"/>
          </a:xfrm>
          <a:prstGeom prst="ellipse">
            <a:avLst/>
          </a:prstGeom>
          <a:solidFill>
            <a:srgbClr val="1E3A5F">
              <a:alpha val="5098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17144" y="2869406"/>
            <a:ext cx="1785938" cy="1785938"/>
          </a:xfrm>
          <a:prstGeom prst="ellipse">
            <a:avLst/>
          </a:prstGeom>
          <a:solidFill>
            <a:srgbClr val="1E3A5F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995487" y="1206103"/>
            <a:ext cx="1714500" cy="2883694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1995487" y="1206103"/>
            <a:ext cx="1714500" cy="23812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676525" y="1206103"/>
            <a:ext cx="352425" cy="133350"/>
          </a:xfrm>
          <a:prstGeom prst="roundRect">
            <a:avLst>
              <a:gd name="adj" fmla="val 509143"/>
            </a:avLst>
          </a:prstGeom>
          <a:solidFill>
            <a:srgbClr val="1E3A5F">
              <a:alpha val="6275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33675" y="1237059"/>
            <a:ext cx="71438" cy="714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33688" y="1234678"/>
            <a:ext cx="138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481" b="1" dirty="0">
                <a:solidFill>
                  <a:srgbClr val="1E3A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halil</a:t>
            </a:r>
            <a:endParaRPr lang="en-US" sz="481" dirty="0"/>
          </a:p>
        </p:txBody>
      </p:sp>
      <p:sp>
        <p:nvSpPr>
          <p:cNvPr id="10" name="Text 7"/>
          <p:cNvSpPr/>
          <p:nvPr/>
        </p:nvSpPr>
        <p:spPr>
          <a:xfrm>
            <a:off x="1995487" y="1382316"/>
            <a:ext cx="171450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기반 업무 배정 코파일럿</a:t>
            </a:r>
            <a:endParaRPr lang="en-US" sz="374" dirty="0"/>
          </a:p>
        </p:txBody>
      </p:sp>
      <p:sp>
        <p:nvSpPr>
          <p:cNvPr id="11" name="Shape 8"/>
          <p:cNvSpPr/>
          <p:nvPr/>
        </p:nvSpPr>
        <p:spPr>
          <a:xfrm>
            <a:off x="1995487" y="1529953"/>
            <a:ext cx="1714500" cy="241220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38363" y="1672828"/>
            <a:ext cx="1428750" cy="188119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2138363" y="1672828"/>
            <a:ext cx="1428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회원가입</a:t>
            </a:r>
            <a:endParaRPr lang="en-US" sz="641" dirty="0"/>
          </a:p>
        </p:txBody>
      </p:sp>
      <p:sp>
        <p:nvSpPr>
          <p:cNvPr id="14" name="Text 11"/>
          <p:cNvSpPr/>
          <p:nvPr/>
        </p:nvSpPr>
        <p:spPr>
          <a:xfrm>
            <a:off x="2138363" y="1799034"/>
            <a:ext cx="142875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halil과 함께 지능형 업무 배정을 경험해 보세요.</a:t>
            </a:r>
            <a:endParaRPr lang="en-US" sz="374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38363" y="1946672"/>
            <a:ext cx="1428750" cy="14763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138363" y="2180034"/>
            <a:ext cx="1428750" cy="1219200"/>
          </a:xfrm>
          <a:prstGeom prst="rect">
            <a:avLst/>
          </a:prstGeom>
          <a:noFill/>
          <a:ln/>
        </p:spPr>
      </p:sp>
      <p:sp>
        <p:nvSpPr>
          <p:cNvPr id="17" name="Shape 13"/>
          <p:cNvSpPr/>
          <p:nvPr/>
        </p:nvSpPr>
        <p:spPr>
          <a:xfrm>
            <a:off x="2138363" y="2180034"/>
            <a:ext cx="1428750" cy="261937"/>
          </a:xfrm>
          <a:prstGeom prst="rect">
            <a:avLst/>
          </a:prstGeom>
          <a:noFill/>
          <a:ln/>
        </p:spPr>
      </p:sp>
      <p:sp>
        <p:nvSpPr>
          <p:cNvPr id="18" name="Shape 14"/>
          <p:cNvSpPr/>
          <p:nvPr/>
        </p:nvSpPr>
        <p:spPr>
          <a:xfrm>
            <a:off x="2138363" y="2180034"/>
            <a:ext cx="1428750" cy="61912"/>
          </a:xfrm>
          <a:prstGeom prst="rect">
            <a:avLst/>
          </a:prstGeom>
          <a:noFill/>
          <a:ln/>
        </p:spPr>
      </p:sp>
      <p:sp>
        <p:nvSpPr>
          <p:cNvPr id="19" name="Text 15"/>
          <p:cNvSpPr/>
          <p:nvPr/>
        </p:nvSpPr>
        <p:spPr>
          <a:xfrm>
            <a:off x="2138363" y="2180034"/>
            <a:ext cx="9525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</a:t>
            </a:r>
            <a:endParaRPr lang="en-US" sz="374" dirty="0"/>
          </a:p>
        </p:txBody>
      </p:sp>
      <p:sp>
        <p:nvSpPr>
          <p:cNvPr id="20" name="Text 16"/>
          <p:cNvSpPr/>
          <p:nvPr/>
        </p:nvSpPr>
        <p:spPr>
          <a:xfrm>
            <a:off x="2247900" y="2180034"/>
            <a:ext cx="285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EF444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endParaRPr lang="en-US" sz="374" dirty="0"/>
          </a:p>
        </p:txBody>
      </p:sp>
      <p:sp>
        <p:nvSpPr>
          <p:cNvPr id="21" name="Shape 17"/>
          <p:cNvSpPr/>
          <p:nvPr/>
        </p:nvSpPr>
        <p:spPr>
          <a:xfrm>
            <a:off x="2138363" y="2270522"/>
            <a:ext cx="1428750" cy="1714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195513" y="2322909"/>
            <a:ext cx="13144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"/>
              </a:lnSpc>
              <a:buNone/>
            </a:pPr>
            <a:r>
              <a:rPr lang="en-US" sz="401" dirty="0">
                <a:solidFill>
                  <a:srgbClr val="94A3B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홍길동</a:t>
            </a:r>
            <a:endParaRPr lang="en-US" sz="401" dirty="0"/>
          </a:p>
        </p:txBody>
      </p:sp>
      <p:sp>
        <p:nvSpPr>
          <p:cNvPr id="23" name="Shape 19"/>
          <p:cNvSpPr/>
          <p:nvPr/>
        </p:nvSpPr>
        <p:spPr>
          <a:xfrm>
            <a:off x="2138363" y="2499122"/>
            <a:ext cx="1428750" cy="261937"/>
          </a:xfrm>
          <a:prstGeom prst="rect">
            <a:avLst/>
          </a:prstGeom>
          <a:noFill/>
          <a:ln/>
        </p:spPr>
      </p:sp>
      <p:sp>
        <p:nvSpPr>
          <p:cNvPr id="24" name="Shape 20"/>
          <p:cNvSpPr/>
          <p:nvPr/>
        </p:nvSpPr>
        <p:spPr>
          <a:xfrm>
            <a:off x="2138363" y="2499122"/>
            <a:ext cx="1428750" cy="61912"/>
          </a:xfrm>
          <a:prstGeom prst="rect">
            <a:avLst/>
          </a:prstGeom>
          <a:noFill/>
          <a:ln/>
        </p:spPr>
      </p:sp>
      <p:sp>
        <p:nvSpPr>
          <p:cNvPr id="25" name="Text 21"/>
          <p:cNvSpPr/>
          <p:nvPr/>
        </p:nvSpPr>
        <p:spPr>
          <a:xfrm>
            <a:off x="2138363" y="2499122"/>
            <a:ext cx="242888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이메일 주소</a:t>
            </a:r>
            <a:endParaRPr lang="en-US" sz="374" dirty="0"/>
          </a:p>
        </p:txBody>
      </p:sp>
      <p:sp>
        <p:nvSpPr>
          <p:cNvPr id="26" name="Text 22"/>
          <p:cNvSpPr/>
          <p:nvPr/>
        </p:nvSpPr>
        <p:spPr>
          <a:xfrm>
            <a:off x="2395538" y="2499122"/>
            <a:ext cx="285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EF444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endParaRPr lang="en-US" sz="374" dirty="0"/>
          </a:p>
        </p:txBody>
      </p:sp>
      <p:sp>
        <p:nvSpPr>
          <p:cNvPr id="27" name="Shape 23"/>
          <p:cNvSpPr/>
          <p:nvPr/>
        </p:nvSpPr>
        <p:spPr>
          <a:xfrm>
            <a:off x="2138363" y="2589609"/>
            <a:ext cx="1428750" cy="1714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195513" y="2641997"/>
            <a:ext cx="13144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"/>
              </a:lnSpc>
              <a:buNone/>
            </a:pPr>
            <a:r>
              <a:rPr lang="en-US" sz="401" dirty="0">
                <a:solidFill>
                  <a:srgbClr val="94A3B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name@company.com</a:t>
            </a:r>
            <a:endParaRPr lang="en-US" sz="401" dirty="0"/>
          </a:p>
        </p:txBody>
      </p:sp>
      <p:sp>
        <p:nvSpPr>
          <p:cNvPr id="29" name="Shape 25"/>
          <p:cNvSpPr/>
          <p:nvPr/>
        </p:nvSpPr>
        <p:spPr>
          <a:xfrm>
            <a:off x="2138363" y="2818209"/>
            <a:ext cx="1428750" cy="261937"/>
          </a:xfrm>
          <a:prstGeom prst="rect">
            <a:avLst/>
          </a:prstGeom>
          <a:noFill/>
          <a:ln/>
        </p:spPr>
      </p:sp>
      <p:sp>
        <p:nvSpPr>
          <p:cNvPr id="30" name="Shape 26"/>
          <p:cNvSpPr/>
          <p:nvPr/>
        </p:nvSpPr>
        <p:spPr>
          <a:xfrm>
            <a:off x="2138363" y="2818209"/>
            <a:ext cx="1428750" cy="61912"/>
          </a:xfrm>
          <a:prstGeom prst="rect">
            <a:avLst/>
          </a:prstGeom>
          <a:noFill/>
          <a:ln/>
        </p:spPr>
      </p:sp>
      <p:sp>
        <p:nvSpPr>
          <p:cNvPr id="31" name="Text 27"/>
          <p:cNvSpPr/>
          <p:nvPr/>
        </p:nvSpPr>
        <p:spPr>
          <a:xfrm>
            <a:off x="2138363" y="2818209"/>
            <a:ext cx="185738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비밀번호</a:t>
            </a:r>
            <a:endParaRPr lang="en-US" sz="374" dirty="0"/>
          </a:p>
        </p:txBody>
      </p:sp>
      <p:sp>
        <p:nvSpPr>
          <p:cNvPr id="32" name="Text 28"/>
          <p:cNvSpPr/>
          <p:nvPr/>
        </p:nvSpPr>
        <p:spPr>
          <a:xfrm>
            <a:off x="2338388" y="2818209"/>
            <a:ext cx="285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EF444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endParaRPr lang="en-US" sz="374" dirty="0"/>
          </a:p>
        </p:txBody>
      </p:sp>
      <p:sp>
        <p:nvSpPr>
          <p:cNvPr id="33" name="Shape 29"/>
          <p:cNvSpPr/>
          <p:nvPr/>
        </p:nvSpPr>
        <p:spPr>
          <a:xfrm>
            <a:off x="2138363" y="2908697"/>
            <a:ext cx="1428750" cy="1714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195513" y="2961084"/>
            <a:ext cx="121443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"/>
              </a:lnSpc>
              <a:buNone/>
            </a:pPr>
            <a:r>
              <a:rPr lang="en-US" sz="401" dirty="0">
                <a:solidFill>
                  <a:srgbClr val="94A3B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8자 이상의 영문, 숫자 조합</a:t>
            </a:r>
            <a:endParaRPr lang="en-US" sz="401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38525" y="2958703"/>
            <a:ext cx="71438" cy="7143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138363" y="3137297"/>
            <a:ext cx="1428750" cy="261937"/>
          </a:xfrm>
          <a:prstGeom prst="rect">
            <a:avLst/>
          </a:prstGeom>
          <a:noFill/>
          <a:ln/>
        </p:spPr>
      </p:sp>
      <p:sp>
        <p:nvSpPr>
          <p:cNvPr id="37" name="Shape 32"/>
          <p:cNvSpPr/>
          <p:nvPr/>
        </p:nvSpPr>
        <p:spPr>
          <a:xfrm>
            <a:off x="2138363" y="3137297"/>
            <a:ext cx="1428750" cy="61912"/>
          </a:xfrm>
          <a:prstGeom prst="rect">
            <a:avLst/>
          </a:prstGeom>
          <a:noFill/>
          <a:ln/>
        </p:spPr>
      </p:sp>
      <p:sp>
        <p:nvSpPr>
          <p:cNvPr id="38" name="Text 33"/>
          <p:cNvSpPr/>
          <p:nvPr/>
        </p:nvSpPr>
        <p:spPr>
          <a:xfrm>
            <a:off x="2138363" y="3137297"/>
            <a:ext cx="290513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비밀번호 확인</a:t>
            </a:r>
            <a:endParaRPr lang="en-US" sz="374" dirty="0"/>
          </a:p>
        </p:txBody>
      </p:sp>
      <p:sp>
        <p:nvSpPr>
          <p:cNvPr id="39" name="Text 34"/>
          <p:cNvSpPr/>
          <p:nvPr/>
        </p:nvSpPr>
        <p:spPr>
          <a:xfrm>
            <a:off x="2443163" y="3137297"/>
            <a:ext cx="285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EF444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endParaRPr lang="en-US" sz="374" dirty="0"/>
          </a:p>
        </p:txBody>
      </p:sp>
      <p:sp>
        <p:nvSpPr>
          <p:cNvPr id="40" name="Shape 35"/>
          <p:cNvSpPr/>
          <p:nvPr/>
        </p:nvSpPr>
        <p:spPr>
          <a:xfrm>
            <a:off x="2138363" y="3227784"/>
            <a:ext cx="1428750" cy="1714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195513" y="3280172"/>
            <a:ext cx="121443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"/>
              </a:lnSpc>
              <a:buNone/>
            </a:pPr>
            <a:r>
              <a:rPr lang="en-US" sz="401" dirty="0">
                <a:solidFill>
                  <a:srgbClr val="94A3B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비밀번호를 한번 더 입력해 주세요</a:t>
            </a:r>
            <a:endParaRPr lang="en-US" sz="401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38525" y="3277791"/>
            <a:ext cx="71438" cy="71438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2138363" y="3484959"/>
            <a:ext cx="1428750" cy="171450"/>
          </a:xfrm>
          <a:prstGeom prst="roundRect">
            <a:avLst>
              <a:gd name="adj" fmla="val 32000"/>
            </a:avLst>
          </a:prstGeom>
          <a:solidFill>
            <a:srgbClr val="1E3A5F"/>
          </a:solidFill>
          <a:ln/>
        </p:spPr>
      </p:sp>
      <p:sp>
        <p:nvSpPr>
          <p:cNvPr id="44" name="Text 38"/>
          <p:cNvSpPr/>
          <p:nvPr/>
        </p:nvSpPr>
        <p:spPr>
          <a:xfrm>
            <a:off x="2745581" y="3534966"/>
            <a:ext cx="214313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가입하기</a:t>
            </a:r>
            <a:endParaRPr lang="en-US" sz="427" dirty="0"/>
          </a:p>
        </p:txBody>
      </p:sp>
      <p:sp>
        <p:nvSpPr>
          <p:cNvPr id="45" name="Shape 39"/>
          <p:cNvSpPr/>
          <p:nvPr/>
        </p:nvSpPr>
        <p:spPr>
          <a:xfrm>
            <a:off x="2138363" y="3742134"/>
            <a:ext cx="1428750" cy="57150"/>
          </a:xfrm>
          <a:prstGeom prst="rect">
            <a:avLst/>
          </a:prstGeom>
          <a:noFill/>
          <a:ln/>
        </p:spPr>
      </p:sp>
      <p:sp>
        <p:nvSpPr>
          <p:cNvPr id="46" name="Shape 40"/>
          <p:cNvSpPr/>
          <p:nvPr/>
        </p:nvSpPr>
        <p:spPr>
          <a:xfrm>
            <a:off x="2138363" y="3768923"/>
            <a:ext cx="614363" cy="3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1"/>
          <p:cNvSpPr/>
          <p:nvPr/>
        </p:nvSpPr>
        <p:spPr>
          <a:xfrm>
            <a:off x="2809875" y="3742134"/>
            <a:ext cx="8572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"/>
              </a:lnSpc>
              <a:buNone/>
            </a:pPr>
            <a:r>
              <a:rPr lang="en-US" sz="347" dirty="0">
                <a:solidFill>
                  <a:srgbClr val="94A3B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또는</a:t>
            </a:r>
            <a:endParaRPr lang="en-US" sz="347" dirty="0"/>
          </a:p>
        </p:txBody>
      </p:sp>
      <p:sp>
        <p:nvSpPr>
          <p:cNvPr id="48" name="Shape 42"/>
          <p:cNvSpPr/>
          <p:nvPr/>
        </p:nvSpPr>
        <p:spPr>
          <a:xfrm>
            <a:off x="2952750" y="3768923"/>
            <a:ext cx="614363" cy="3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3"/>
          <p:cNvSpPr/>
          <p:nvPr/>
        </p:nvSpPr>
        <p:spPr>
          <a:xfrm>
            <a:off x="1995487" y="4027884"/>
            <a:ext cx="1714500" cy="61912"/>
          </a:xfrm>
          <a:prstGeom prst="rect">
            <a:avLst/>
          </a:prstGeom>
          <a:noFill/>
          <a:ln/>
        </p:spPr>
      </p:sp>
      <p:sp>
        <p:nvSpPr>
          <p:cNvPr id="50" name="Text 44"/>
          <p:cNvSpPr/>
          <p:nvPr/>
        </p:nvSpPr>
        <p:spPr>
          <a:xfrm>
            <a:off x="1995487" y="4027884"/>
            <a:ext cx="171450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이미 계정이 있으신가요? </a:t>
            </a:r>
            <a:pPr algn="ctr" indent="0" marL="0">
              <a:lnSpc>
                <a:spcPts val="453"/>
              </a:lnSpc>
              <a:buNone/>
            </a:pPr>
            <a:r>
              <a:rPr lang="en-US" sz="374" b="1" u="sng" dirty="0">
                <a:solidFill>
                  <a:srgbClr val="1E3A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</a:t>
            </a:r>
            <a:endParaRPr lang="en-US" sz="374" dirty="0"/>
          </a:p>
        </p:txBody>
      </p:sp>
      <p:sp>
        <p:nvSpPr>
          <p:cNvPr id="51" name="Shape 45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52" name="Shape 46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53" name="Text 47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54" name="Shape 48"/>
          <p:cNvSpPr/>
          <p:nvPr/>
        </p:nvSpPr>
        <p:spPr>
          <a:xfrm>
            <a:off x="5619750" y="108585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5" name="Text 49"/>
          <p:cNvSpPr/>
          <p:nvPr/>
        </p:nvSpPr>
        <p:spPr>
          <a:xfrm>
            <a:off x="5619750" y="11191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56" name="Shape 50"/>
          <p:cNvSpPr/>
          <p:nvPr/>
        </p:nvSpPr>
        <p:spPr>
          <a:xfrm>
            <a:off x="5619750" y="144780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7" name="Text 51"/>
          <p:cNvSpPr/>
          <p:nvPr/>
        </p:nvSpPr>
        <p:spPr>
          <a:xfrm>
            <a:off x="5619750" y="148113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58" name="Text 52"/>
          <p:cNvSpPr/>
          <p:nvPr/>
        </p:nvSpPr>
        <p:spPr>
          <a:xfrm>
            <a:off x="5819775" y="1085850"/>
            <a:ext cx="3133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가입 버튼</a:t>
            </a:r>
            <a:endParaRPr lang="en-US" sz="534" dirty="0"/>
          </a:p>
        </p:txBody>
      </p:sp>
      <p:sp>
        <p:nvSpPr>
          <p:cNvPr id="59" name="Text 53"/>
          <p:cNvSpPr/>
          <p:nvPr/>
        </p:nvSpPr>
        <p:spPr>
          <a:xfrm>
            <a:off x="5819775" y="1209675"/>
            <a:ext cx="3133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이메일·비밀번호 검증 후 계정 생성</a:t>
            </a:r>
            <a:endParaRPr lang="en-US" sz="427" dirty="0"/>
          </a:p>
        </p:txBody>
      </p:sp>
      <p:sp>
        <p:nvSpPr>
          <p:cNvPr id="60" name="Text 54"/>
          <p:cNvSpPr/>
          <p:nvPr/>
        </p:nvSpPr>
        <p:spPr>
          <a:xfrm>
            <a:off x="5819775" y="1443038"/>
            <a:ext cx="3133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 버튼</a:t>
            </a:r>
            <a:endParaRPr lang="en-US" sz="534" dirty="0"/>
          </a:p>
        </p:txBody>
      </p:sp>
      <p:sp>
        <p:nvSpPr>
          <p:cNvPr id="61" name="Text 55"/>
          <p:cNvSpPr/>
          <p:nvPr/>
        </p:nvSpPr>
        <p:spPr>
          <a:xfrm>
            <a:off x="5819775" y="1566863"/>
            <a:ext cx="3133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로그인 페이지로 이동</a:t>
            </a:r>
            <a:endParaRPr lang="en-US" sz="427" dirty="0"/>
          </a:p>
        </p:txBody>
      </p:sp>
      <p:sp>
        <p:nvSpPr>
          <p:cNvPr id="62" name="Shape 56"/>
          <p:cNvSpPr/>
          <p:nvPr/>
        </p:nvSpPr>
        <p:spPr>
          <a:xfrm>
            <a:off x="5619750" y="1795463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63" name="Text 57"/>
          <p:cNvSpPr/>
          <p:nvPr/>
        </p:nvSpPr>
        <p:spPr>
          <a:xfrm>
            <a:off x="5686425" y="1847850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64" name="Text 58"/>
          <p:cNvSpPr/>
          <p:nvPr/>
        </p:nvSpPr>
        <p:spPr>
          <a:xfrm>
            <a:off x="5657850" y="20859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역할(팀장/팀원)은 선택 </a:t>
            </a:r>
            <a:endParaRPr lang="en-US" sz="427" dirty="0"/>
          </a:p>
        </p:txBody>
      </p:sp>
      <p:sp>
        <p:nvSpPr>
          <p:cNvPr id="65" name="Text 59"/>
          <p:cNvSpPr/>
          <p:nvPr/>
        </p:nvSpPr>
        <p:spPr>
          <a:xfrm>
            <a:off x="5657850" y="22764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워크스페이스 생성에 별도 자격 검증 없음 — MVP 스코프</a:t>
            </a:r>
            <a:endParaRPr lang="en-US" sz="427" dirty="0"/>
          </a:p>
        </p:txBody>
      </p:sp>
      <p:sp>
        <p:nvSpPr>
          <p:cNvPr id="66" name="Shape 60"/>
          <p:cNvSpPr/>
          <p:nvPr/>
        </p:nvSpPr>
        <p:spPr>
          <a:xfrm>
            <a:off x="1995487" y="3452813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1995487" y="34861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68" name="Shape 62"/>
          <p:cNvSpPr/>
          <p:nvPr/>
        </p:nvSpPr>
        <p:spPr>
          <a:xfrm>
            <a:off x="3028950" y="4090987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3028950" y="412432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70" name="Text 64"/>
          <p:cNvSpPr/>
          <p:nvPr/>
        </p:nvSpPr>
        <p:spPr>
          <a:xfrm>
            <a:off x="5715000" y="3176588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A-3</a:t>
            </a:r>
            <a:endParaRPr lang="en-US" sz="696" dirty="0"/>
          </a:p>
        </p:txBody>
      </p:sp>
      <p:sp>
        <p:nvSpPr>
          <p:cNvPr id="71" name="Shape 65"/>
          <p:cNvSpPr/>
          <p:nvPr/>
        </p:nvSpPr>
        <p:spPr>
          <a:xfrm>
            <a:off x="190500" y="12382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2" name="Text 66"/>
          <p:cNvSpPr/>
          <p:nvPr/>
        </p:nvSpPr>
        <p:spPr>
          <a:xfrm>
            <a:off x="248666" y="23434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73" name="Shape 67"/>
          <p:cNvSpPr/>
          <p:nvPr/>
        </p:nvSpPr>
        <p:spPr>
          <a:xfrm>
            <a:off x="1237487" y="12382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74" name="Text 68"/>
          <p:cNvSpPr/>
          <p:nvPr/>
        </p:nvSpPr>
        <p:spPr>
          <a:xfrm>
            <a:off x="1295653" y="234340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회원가입</a:t>
            </a:r>
            <a:endParaRPr lang="en-US" sz="696" dirty="0"/>
          </a:p>
        </p:txBody>
      </p:sp>
      <p:sp>
        <p:nvSpPr>
          <p:cNvPr id="75" name="Shape 69"/>
          <p:cNvSpPr/>
          <p:nvPr/>
        </p:nvSpPr>
        <p:spPr>
          <a:xfrm>
            <a:off x="4378451" y="12382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6" name="Text 70"/>
          <p:cNvSpPr/>
          <p:nvPr/>
        </p:nvSpPr>
        <p:spPr>
          <a:xfrm>
            <a:off x="4436618" y="23434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77" name="Shape 71"/>
          <p:cNvSpPr/>
          <p:nvPr/>
        </p:nvSpPr>
        <p:spPr>
          <a:xfrm>
            <a:off x="5425441" y="12382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78" name="Text 72"/>
          <p:cNvSpPr/>
          <p:nvPr/>
        </p:nvSpPr>
        <p:spPr>
          <a:xfrm>
            <a:off x="5483605" y="234340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R-003</a:t>
            </a:r>
            <a:endParaRPr lang="en-US" sz="696" dirty="0"/>
          </a:p>
        </p:txBody>
      </p:sp>
      <p:sp>
        <p:nvSpPr>
          <p:cNvPr id="79" name="Shape 73"/>
          <p:cNvSpPr/>
          <p:nvPr/>
        </p:nvSpPr>
        <p:spPr>
          <a:xfrm>
            <a:off x="190500" y="44955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0" name="Text 74"/>
          <p:cNvSpPr/>
          <p:nvPr/>
        </p:nvSpPr>
        <p:spPr>
          <a:xfrm>
            <a:off x="248666" y="56007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81" name="Shape 75"/>
          <p:cNvSpPr/>
          <p:nvPr/>
        </p:nvSpPr>
        <p:spPr>
          <a:xfrm>
            <a:off x="1237487" y="44955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82" name="Text 76"/>
          <p:cNvSpPr/>
          <p:nvPr/>
        </p:nvSpPr>
        <p:spPr>
          <a:xfrm>
            <a:off x="1295653" y="560070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랜딩 페이지 → 회원가입</a:t>
            </a:r>
            <a:endParaRPr lang="en-US" sz="696" dirty="0"/>
          </a:p>
        </p:txBody>
      </p:sp>
      <p:sp>
        <p:nvSpPr>
          <p:cNvPr id="83" name="Shape 77"/>
          <p:cNvSpPr/>
          <p:nvPr/>
        </p:nvSpPr>
        <p:spPr>
          <a:xfrm>
            <a:off x="4378451" y="44955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4" name="Text 78"/>
          <p:cNvSpPr/>
          <p:nvPr/>
        </p:nvSpPr>
        <p:spPr>
          <a:xfrm>
            <a:off x="4436618" y="56007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85" name="Shape 79"/>
          <p:cNvSpPr/>
          <p:nvPr/>
        </p:nvSpPr>
        <p:spPr>
          <a:xfrm>
            <a:off x="5425441" y="44955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86" name="Text 80"/>
          <p:cNvSpPr/>
          <p:nvPr/>
        </p:nvSpPr>
        <p:spPr>
          <a:xfrm>
            <a:off x="5500688" y="561975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A-2</a:t>
            </a:r>
            <a:endParaRPr lang="en-US" sz="69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" name="Text 1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4" name="Shape 2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6" name="Text 4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이메일 입력 + 재설정 링크 보내기</a:t>
            </a:r>
            <a:endParaRPr lang="en-US" sz="534" dirty="0"/>
          </a:p>
        </p:txBody>
      </p:sp>
      <p:sp>
        <p:nvSpPr>
          <p:cNvPr id="7" name="Text 5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입력 이메일로 재설정 링크 발송. 계정 존재 여부와 무관하게 동일한 성공 문구 표시</a:t>
            </a:r>
            <a:endParaRPr lang="en-US" sz="463" dirty="0"/>
          </a:p>
        </p:txBody>
      </p:sp>
      <p:sp>
        <p:nvSpPr>
          <p:cNvPr id="8" name="Shape 6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10" name="Text 8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로그인으로 돌아가기 링크</a:t>
            </a:r>
            <a:endParaRPr lang="en-US" sz="534" dirty="0"/>
          </a:p>
        </p:txBody>
      </p:sp>
      <p:sp>
        <p:nvSpPr>
          <p:cNvPr id="11" name="Text 9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로그인 화면(A-1)으로 이동</a:t>
            </a:r>
            <a:endParaRPr lang="en-US" sz="463" dirty="0"/>
          </a:p>
        </p:txBody>
      </p:sp>
      <p:sp>
        <p:nvSpPr>
          <p:cNvPr id="12" name="Shape 10"/>
          <p:cNvSpPr/>
          <p:nvPr/>
        </p:nvSpPr>
        <p:spPr>
          <a:xfrm>
            <a:off x="5619750" y="202882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3" name="Text 11"/>
          <p:cNvSpPr/>
          <p:nvPr/>
        </p:nvSpPr>
        <p:spPr>
          <a:xfrm>
            <a:off x="5686425" y="2081212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14" name="Text 12"/>
          <p:cNvSpPr/>
          <p:nvPr/>
        </p:nvSpPr>
        <p:spPr>
          <a:xfrm>
            <a:off x="5657850" y="22955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이메일 존재 여부와 무관하게 항상 동일 문구 노출 — 계정 존재 유출 방지 (A-1 아이디 찾기 미구현과 동일 원칙)</a:t>
            </a:r>
            <a:endParaRPr lang="en-US" sz="463" dirty="0"/>
          </a:p>
        </p:txBody>
      </p:sp>
      <p:sp>
        <p:nvSpPr>
          <p:cNvPr id="15" name="Text 13"/>
          <p:cNvSpPr/>
          <p:nvPr/>
        </p:nvSpPr>
        <p:spPr>
          <a:xfrm>
            <a:off x="5657850" y="25050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재설정 링크는 일정 시간 후 만료 처리 필요</a:t>
            </a:r>
            <a:endParaRPr lang="en-US" sz="463" dirty="0"/>
          </a:p>
        </p:txBody>
      </p:sp>
      <p:sp>
        <p:nvSpPr>
          <p:cNvPr id="16" name="Shape 14"/>
          <p:cNvSpPr/>
          <p:nvPr/>
        </p:nvSpPr>
        <p:spPr>
          <a:xfrm>
            <a:off x="304800" y="814388"/>
            <a:ext cx="5143500" cy="3657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-52387" y="457200"/>
            <a:ext cx="1428750" cy="1428750"/>
          </a:xfrm>
          <a:prstGeom prst="ellipse">
            <a:avLst/>
          </a:prstGeom>
          <a:solidFill>
            <a:srgbClr val="1E3A5F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956" y="2864644"/>
            <a:ext cx="1785938" cy="1785938"/>
          </a:xfrm>
          <a:prstGeom prst="ellipse">
            <a:avLst/>
          </a:prstGeom>
          <a:solidFill>
            <a:srgbClr val="1E3A5F">
              <a:alpha val="3137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90738" y="1794272"/>
            <a:ext cx="1571625" cy="1697831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2090738" y="1794272"/>
            <a:ext cx="1571625" cy="238125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2700338" y="1794272"/>
            <a:ext cx="352425" cy="133350"/>
          </a:xfrm>
          <a:prstGeom prst="roundRect">
            <a:avLst>
              <a:gd name="adj" fmla="val 509143"/>
            </a:avLst>
          </a:prstGeom>
          <a:solidFill>
            <a:srgbClr val="1E3A5F">
              <a:alpha val="6275"/>
            </a:srgbClr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57488" y="1825228"/>
            <a:ext cx="71438" cy="7143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857500" y="1822847"/>
            <a:ext cx="138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"/>
              </a:lnSpc>
              <a:buNone/>
            </a:pPr>
            <a:r>
              <a:rPr lang="en-US" sz="481" b="1" dirty="0">
                <a:solidFill>
                  <a:srgbClr val="1E3A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halil</a:t>
            </a:r>
            <a:endParaRPr lang="en-US" sz="481" dirty="0"/>
          </a:p>
        </p:txBody>
      </p:sp>
      <p:sp>
        <p:nvSpPr>
          <p:cNvPr id="24" name="Text 21"/>
          <p:cNvSpPr/>
          <p:nvPr/>
        </p:nvSpPr>
        <p:spPr>
          <a:xfrm>
            <a:off x="2090738" y="1970484"/>
            <a:ext cx="15716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기반 업무 배정 코파일럿</a:t>
            </a:r>
            <a:endParaRPr lang="en-US" sz="374" dirty="0"/>
          </a:p>
        </p:txBody>
      </p:sp>
      <p:sp>
        <p:nvSpPr>
          <p:cNvPr id="25" name="Shape 22"/>
          <p:cNvSpPr/>
          <p:nvPr/>
        </p:nvSpPr>
        <p:spPr>
          <a:xfrm>
            <a:off x="2090738" y="2146697"/>
            <a:ext cx="1571625" cy="1169194"/>
          </a:xfrm>
          <a:prstGeom prst="roundRect">
            <a:avLst>
              <a:gd name="adj" fmla="val 9385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33613" y="2289572"/>
            <a:ext cx="1285875" cy="278606"/>
          </a:xfrm>
          <a:prstGeom prst="rect">
            <a:avLst/>
          </a:prstGeom>
          <a:noFill/>
          <a:ln/>
        </p:spPr>
      </p:sp>
      <p:sp>
        <p:nvSpPr>
          <p:cNvPr id="27" name="Text 24"/>
          <p:cNvSpPr/>
          <p:nvPr/>
        </p:nvSpPr>
        <p:spPr>
          <a:xfrm>
            <a:off x="2233613" y="2289572"/>
            <a:ext cx="12858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비밀번호 찾기</a:t>
            </a:r>
            <a:endParaRPr lang="en-US" sz="641" dirty="0"/>
          </a:p>
        </p:txBody>
      </p:sp>
      <p:sp>
        <p:nvSpPr>
          <p:cNvPr id="28" name="Text 25"/>
          <p:cNvSpPr/>
          <p:nvPr/>
        </p:nvSpPr>
        <p:spPr>
          <a:xfrm>
            <a:off x="2233613" y="2415778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가입한 이메일 주소를 입력하시면 비밀번호 재설정 링크를 보내드립니다.</a:t>
            </a:r>
            <a:endParaRPr lang="en-US" sz="374" dirty="0"/>
          </a:p>
        </p:txBody>
      </p:sp>
      <p:sp>
        <p:nvSpPr>
          <p:cNvPr id="29" name="Shape 26"/>
          <p:cNvSpPr/>
          <p:nvPr/>
        </p:nvSpPr>
        <p:spPr>
          <a:xfrm>
            <a:off x="2233613" y="2653903"/>
            <a:ext cx="1285875" cy="261937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2233613" y="2653903"/>
            <a:ext cx="1285875" cy="261937"/>
          </a:xfrm>
          <a:prstGeom prst="rect">
            <a:avLst/>
          </a:prstGeom>
          <a:noFill/>
          <a:ln/>
        </p:spPr>
      </p:sp>
      <p:sp>
        <p:nvSpPr>
          <p:cNvPr id="31" name="Shape 28"/>
          <p:cNvSpPr/>
          <p:nvPr/>
        </p:nvSpPr>
        <p:spPr>
          <a:xfrm>
            <a:off x="2233613" y="2653903"/>
            <a:ext cx="1285875" cy="61912"/>
          </a:xfrm>
          <a:prstGeom prst="rect">
            <a:avLst/>
          </a:prstGeom>
          <a:noFill/>
          <a:ln/>
        </p:spPr>
      </p:sp>
      <p:sp>
        <p:nvSpPr>
          <p:cNvPr id="32" name="Text 29"/>
          <p:cNvSpPr/>
          <p:nvPr/>
        </p:nvSpPr>
        <p:spPr>
          <a:xfrm>
            <a:off x="2233613" y="2653903"/>
            <a:ext cx="242888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이메일 주소</a:t>
            </a:r>
            <a:endParaRPr lang="en-US" sz="374" dirty="0"/>
          </a:p>
        </p:txBody>
      </p:sp>
      <p:sp>
        <p:nvSpPr>
          <p:cNvPr id="33" name="Text 30"/>
          <p:cNvSpPr/>
          <p:nvPr/>
        </p:nvSpPr>
        <p:spPr>
          <a:xfrm>
            <a:off x="2490788" y="2653903"/>
            <a:ext cx="285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EF444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endParaRPr lang="en-US" sz="374" dirty="0"/>
          </a:p>
        </p:txBody>
      </p:sp>
      <p:sp>
        <p:nvSpPr>
          <p:cNvPr id="34" name="Shape 31"/>
          <p:cNvSpPr/>
          <p:nvPr/>
        </p:nvSpPr>
        <p:spPr>
          <a:xfrm>
            <a:off x="2233613" y="2744391"/>
            <a:ext cx="1285875" cy="1714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290763" y="2796778"/>
            <a:ext cx="11715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"/>
              </a:lnSpc>
              <a:buNone/>
            </a:pPr>
            <a:r>
              <a:rPr lang="en-US" sz="401" dirty="0">
                <a:solidFill>
                  <a:srgbClr val="94A3B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name@company.com</a:t>
            </a:r>
            <a:endParaRPr lang="en-US" sz="401" dirty="0"/>
          </a:p>
        </p:txBody>
      </p:sp>
      <p:sp>
        <p:nvSpPr>
          <p:cNvPr id="36" name="Shape 33"/>
          <p:cNvSpPr/>
          <p:nvPr/>
        </p:nvSpPr>
        <p:spPr>
          <a:xfrm>
            <a:off x="2233613" y="3001566"/>
            <a:ext cx="1285875" cy="171450"/>
          </a:xfrm>
          <a:prstGeom prst="roundRect">
            <a:avLst>
              <a:gd name="adj" fmla="val 32000"/>
            </a:avLst>
          </a:prstGeom>
          <a:solidFill>
            <a:srgbClr val="1E3A5F"/>
          </a:solidFill>
          <a:ln/>
        </p:spPr>
      </p:sp>
      <p:sp>
        <p:nvSpPr>
          <p:cNvPr id="37" name="Text 34"/>
          <p:cNvSpPr/>
          <p:nvPr/>
        </p:nvSpPr>
        <p:spPr>
          <a:xfrm>
            <a:off x="2650331" y="3051572"/>
            <a:ext cx="452438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재설정 링크 보내기</a:t>
            </a:r>
            <a:endParaRPr lang="en-US" sz="427" dirty="0"/>
          </a:p>
        </p:txBody>
      </p:sp>
      <p:sp>
        <p:nvSpPr>
          <p:cNvPr id="38" name="Shape 35"/>
          <p:cNvSpPr/>
          <p:nvPr/>
        </p:nvSpPr>
        <p:spPr>
          <a:xfrm>
            <a:off x="2090738" y="3430191"/>
            <a:ext cx="1571625" cy="61912"/>
          </a:xfrm>
          <a:prstGeom prst="rect">
            <a:avLst/>
          </a:prstGeom>
          <a:noFill/>
          <a:ln/>
        </p:spPr>
      </p:sp>
      <p:sp>
        <p:nvSpPr>
          <p:cNvPr id="39" name="Text 36"/>
          <p:cNvSpPr/>
          <p:nvPr/>
        </p:nvSpPr>
        <p:spPr>
          <a:xfrm>
            <a:off x="2090738" y="3430191"/>
            <a:ext cx="15716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3"/>
              </a:lnSpc>
              <a:buNone/>
            </a:pPr>
            <a:r>
              <a:rPr lang="en-US" sz="374" b="1" u="sng" dirty="0">
                <a:solidFill>
                  <a:srgbClr val="1E3A5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로그인으로 돌아가기</a:t>
            </a:r>
            <a:endParaRPr lang="en-US" sz="374" dirty="0"/>
          </a:p>
        </p:txBody>
      </p:sp>
      <p:sp>
        <p:nvSpPr>
          <p:cNvPr id="40" name="Shape 37"/>
          <p:cNvSpPr/>
          <p:nvPr/>
        </p:nvSpPr>
        <p:spPr>
          <a:xfrm>
            <a:off x="2152650" y="3005138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152650" y="30384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42" name="Shape 39"/>
          <p:cNvSpPr/>
          <p:nvPr/>
        </p:nvSpPr>
        <p:spPr>
          <a:xfrm>
            <a:off x="2490788" y="3381375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490788" y="34147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44" name="Text 41"/>
          <p:cNvSpPr/>
          <p:nvPr/>
        </p:nvSpPr>
        <p:spPr>
          <a:xfrm>
            <a:off x="5481638" y="595313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A-3</a:t>
            </a:r>
            <a:endParaRPr lang="en-US" sz="696" dirty="0"/>
          </a:p>
        </p:txBody>
      </p:sp>
      <p:sp>
        <p:nvSpPr>
          <p:cNvPr id="45" name="Shape 42"/>
          <p:cNvSpPr/>
          <p:nvPr/>
        </p:nvSpPr>
        <p:spPr>
          <a:xfrm>
            <a:off x="190500" y="12382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6" name="Text 43"/>
          <p:cNvSpPr/>
          <p:nvPr/>
        </p:nvSpPr>
        <p:spPr>
          <a:xfrm>
            <a:off x="248666" y="23434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47" name="Shape 44"/>
          <p:cNvSpPr/>
          <p:nvPr/>
        </p:nvSpPr>
        <p:spPr>
          <a:xfrm>
            <a:off x="1237487" y="12382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295653" y="234340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비밀번호 찾기</a:t>
            </a:r>
            <a:endParaRPr lang="en-US" sz="696" dirty="0"/>
          </a:p>
        </p:txBody>
      </p:sp>
      <p:sp>
        <p:nvSpPr>
          <p:cNvPr id="49" name="Shape 46"/>
          <p:cNvSpPr/>
          <p:nvPr/>
        </p:nvSpPr>
        <p:spPr>
          <a:xfrm>
            <a:off x="4378451" y="12382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50" name="Text 47"/>
          <p:cNvSpPr/>
          <p:nvPr/>
        </p:nvSpPr>
        <p:spPr>
          <a:xfrm>
            <a:off x="4436618" y="23434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51" name="Shape 48"/>
          <p:cNvSpPr/>
          <p:nvPr/>
        </p:nvSpPr>
        <p:spPr>
          <a:xfrm>
            <a:off x="5425441" y="12382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483605" y="234340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R-004</a:t>
            </a:r>
            <a:endParaRPr lang="en-US" sz="696" dirty="0"/>
          </a:p>
        </p:txBody>
      </p:sp>
      <p:sp>
        <p:nvSpPr>
          <p:cNvPr id="53" name="Shape 50"/>
          <p:cNvSpPr/>
          <p:nvPr/>
        </p:nvSpPr>
        <p:spPr>
          <a:xfrm>
            <a:off x="190500" y="44955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54" name="Text 51"/>
          <p:cNvSpPr/>
          <p:nvPr/>
        </p:nvSpPr>
        <p:spPr>
          <a:xfrm>
            <a:off x="248666" y="56007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55" name="Shape 52"/>
          <p:cNvSpPr/>
          <p:nvPr/>
        </p:nvSpPr>
        <p:spPr>
          <a:xfrm>
            <a:off x="1237487" y="44955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95653" y="560070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2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 → 비밀번호 찾기</a:t>
            </a:r>
            <a:endParaRPr lang="en-US" sz="696" dirty="0"/>
          </a:p>
        </p:txBody>
      </p:sp>
      <p:sp>
        <p:nvSpPr>
          <p:cNvPr id="57" name="Shape 54"/>
          <p:cNvSpPr/>
          <p:nvPr/>
        </p:nvSpPr>
        <p:spPr>
          <a:xfrm>
            <a:off x="4378451" y="44955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58" name="Text 55"/>
          <p:cNvSpPr/>
          <p:nvPr/>
        </p:nvSpPr>
        <p:spPr>
          <a:xfrm>
            <a:off x="4436618" y="560070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59" name="Shape 56"/>
          <p:cNvSpPr/>
          <p:nvPr/>
        </p:nvSpPr>
        <p:spPr>
          <a:xfrm>
            <a:off x="5425441" y="44955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500688" y="561975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A-3</a:t>
            </a:r>
            <a:endParaRPr lang="en-US" sz="6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988" y="819150"/>
            <a:ext cx="5143500" cy="36576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285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66800" y="1104900"/>
            <a:ext cx="3571875" cy="2786063"/>
          </a:xfrm>
          <a:prstGeom prst="rect">
            <a:avLst/>
          </a:prstGeom>
          <a:noFill/>
          <a:ln/>
        </p:spPr>
      </p:sp>
      <p:sp>
        <p:nvSpPr>
          <p:cNvPr id="5" name="Shape 2"/>
          <p:cNvSpPr/>
          <p:nvPr/>
        </p:nvSpPr>
        <p:spPr>
          <a:xfrm>
            <a:off x="1066800" y="1390650"/>
            <a:ext cx="3571875" cy="404813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2593181" y="1390650"/>
            <a:ext cx="519113" cy="85725"/>
          </a:xfrm>
          <a:prstGeom prst="roundRect">
            <a:avLst>
              <a:gd name="adj" fmla="val 800000"/>
            </a:avLst>
          </a:prstGeom>
          <a:solidFill>
            <a:srgbClr val="1E3A5F">
              <a:alpha val="6275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636044" y="1404938"/>
            <a:ext cx="43338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"/>
              </a:lnSpc>
              <a:buNone/>
            </a:pPr>
            <a:r>
              <a:rPr lang="en-US" sz="321" b="1" dirty="0">
                <a:solidFill>
                  <a:srgbClr val="1E3A5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PM / 관리자 전용 온보딩</a:t>
            </a:r>
            <a:endParaRPr lang="en-US" sz="321" dirty="0"/>
          </a:p>
        </p:txBody>
      </p:sp>
      <p:sp>
        <p:nvSpPr>
          <p:cNvPr id="8" name="Text 5"/>
          <p:cNvSpPr/>
          <p:nvPr/>
        </p:nvSpPr>
        <p:spPr>
          <a:xfrm>
            <a:off x="1066800" y="1519238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0F17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외부 서비스 연결</a:t>
            </a:r>
            <a:endParaRPr lang="en-US" sz="855" dirty="0"/>
          </a:p>
        </p:txBody>
      </p:sp>
      <p:sp>
        <p:nvSpPr>
          <p:cNvPr id="9" name="Text 6"/>
          <p:cNvSpPr/>
          <p:nvPr/>
        </p:nvSpPr>
        <p:spPr>
          <a:xfrm>
            <a:off x="1066800" y="1719263"/>
            <a:ext cx="357187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4"/>
              </a:lnSpc>
              <a:buNone/>
            </a:pPr>
            <a:r>
              <a:rPr lang="en-US" sz="427" dirty="0">
                <a:solidFill>
                  <a:srgbClr val="64748B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업무 배정에 필요한 조직의 외부 서비스를 안전하게 연결해주세요</a:t>
            </a:r>
            <a:endParaRPr lang="en-US" sz="427" dirty="0"/>
          </a:p>
        </p:txBody>
      </p:sp>
      <p:sp>
        <p:nvSpPr>
          <p:cNvPr id="10" name="Shape 7"/>
          <p:cNvSpPr/>
          <p:nvPr/>
        </p:nvSpPr>
        <p:spPr>
          <a:xfrm>
            <a:off x="1066800" y="1966912"/>
            <a:ext cx="3571875" cy="114300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1066800" y="1966912"/>
            <a:ext cx="850106" cy="1143000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52525" y="2052637"/>
            <a:ext cx="678656" cy="571500"/>
          </a:xfrm>
          <a:prstGeom prst="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1152525" y="2052637"/>
            <a:ext cx="678656" cy="171450"/>
          </a:xfrm>
          <a:prstGeom prst="rect">
            <a:avLst/>
          </a:prstGeom>
          <a:noFill/>
          <a:ln/>
        </p:spPr>
      </p:sp>
      <p:sp>
        <p:nvSpPr>
          <p:cNvPr id="14" name="Shape 11"/>
          <p:cNvSpPr/>
          <p:nvPr/>
        </p:nvSpPr>
        <p:spPr>
          <a:xfrm>
            <a:off x="1152525" y="2052637"/>
            <a:ext cx="171450" cy="171450"/>
          </a:xfrm>
          <a:prstGeom prst="roundRect">
            <a:avLst>
              <a:gd name="adj" fmla="val 32000"/>
            </a:avLst>
          </a:prstGeom>
          <a:solidFill>
            <a:srgbClr val="0052CC">
              <a:alpha val="7059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95388" y="2095500"/>
            <a:ext cx="85725" cy="857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604963" y="2095500"/>
            <a:ext cx="226219" cy="85725"/>
          </a:xfrm>
          <a:prstGeom prst="roundRect">
            <a:avLst>
              <a:gd name="adj" fmla="val 800000"/>
            </a:avLst>
          </a:prstGeom>
          <a:solidFill>
            <a:srgbClr val="F1F5F9"/>
          </a:solidFill>
          <a:ln/>
        </p:spPr>
      </p:sp>
      <p:sp>
        <p:nvSpPr>
          <p:cNvPr id="17" name="Shape 13"/>
          <p:cNvSpPr/>
          <p:nvPr/>
        </p:nvSpPr>
        <p:spPr>
          <a:xfrm>
            <a:off x="1640681" y="2127647"/>
            <a:ext cx="21431" cy="21431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8" name="Text 14"/>
          <p:cNvSpPr/>
          <p:nvPr/>
        </p:nvSpPr>
        <p:spPr>
          <a:xfrm>
            <a:off x="1676400" y="2109788"/>
            <a:ext cx="11906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"/>
              </a:lnSpc>
              <a:buNone/>
            </a:pPr>
            <a:r>
              <a:rPr lang="en-US" sz="321" b="1" dirty="0">
                <a:solidFill>
                  <a:srgbClr val="64748B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미연결</a:t>
            </a:r>
            <a:endParaRPr lang="en-US" sz="321" dirty="0"/>
          </a:p>
        </p:txBody>
      </p:sp>
      <p:sp>
        <p:nvSpPr>
          <p:cNvPr id="19" name="Shape 15"/>
          <p:cNvSpPr/>
          <p:nvPr/>
        </p:nvSpPr>
        <p:spPr>
          <a:xfrm>
            <a:off x="1152525" y="2281238"/>
            <a:ext cx="678656" cy="342900"/>
          </a:xfrm>
          <a:prstGeom prst="rect">
            <a:avLst/>
          </a:prstGeom>
          <a:noFill/>
          <a:ln/>
        </p:spPr>
      </p:sp>
      <p:sp>
        <p:nvSpPr>
          <p:cNvPr id="20" name="Text 16"/>
          <p:cNvSpPr/>
          <p:nvPr/>
        </p:nvSpPr>
        <p:spPr>
          <a:xfrm>
            <a:off x="1152525" y="2281238"/>
            <a:ext cx="6786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7"/>
              </a:lnSpc>
              <a:buNone/>
            </a:pPr>
            <a:r>
              <a:rPr lang="en-US" sz="481" b="1" dirty="0">
                <a:solidFill>
                  <a:srgbClr val="0F17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Jira</a:t>
            </a:r>
            <a:endParaRPr lang="en-US" sz="481" dirty="0"/>
          </a:p>
        </p:txBody>
      </p:sp>
      <p:sp>
        <p:nvSpPr>
          <p:cNvPr id="21" name="Text 17"/>
          <p:cNvSpPr/>
          <p:nvPr/>
        </p:nvSpPr>
        <p:spPr>
          <a:xfrm>
            <a:off x="1152525" y="2395538"/>
            <a:ext cx="67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"/>
              </a:lnSpc>
              <a:buNone/>
            </a:pPr>
            <a:r>
              <a:rPr lang="en-US" sz="374" dirty="0">
                <a:solidFill>
                  <a:srgbClr val="64748B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프로젝트 보드, 이슈 진행 상황, 그리고 개발 태스크 백로그를 할릴 AI가 직접 읽고 동기화합니다.</a:t>
            </a:r>
            <a:endParaRPr lang="en-US" sz="374" dirty="0"/>
          </a:p>
        </p:txBody>
      </p:sp>
      <p:sp>
        <p:nvSpPr>
          <p:cNvPr id="22" name="Shape 18"/>
          <p:cNvSpPr/>
          <p:nvPr/>
        </p:nvSpPr>
        <p:spPr>
          <a:xfrm>
            <a:off x="1152525" y="2795588"/>
            <a:ext cx="678656" cy="228600"/>
          </a:xfrm>
          <a:prstGeom prst="rect">
            <a:avLst/>
          </a:prstGeom>
          <a:noFill/>
          <a:ln/>
        </p:spPr>
      </p:sp>
      <p:sp>
        <p:nvSpPr>
          <p:cNvPr id="23" name="Shape 19"/>
          <p:cNvSpPr/>
          <p:nvPr/>
        </p:nvSpPr>
        <p:spPr>
          <a:xfrm>
            <a:off x="1152525" y="2881313"/>
            <a:ext cx="678656" cy="142875"/>
          </a:xfrm>
          <a:prstGeom prst="roundRect">
            <a:avLst>
              <a:gd name="adj" fmla="val 28800"/>
            </a:avLst>
          </a:prstGeom>
          <a:solidFill>
            <a:srgbClr val="1E3A5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398984" y="2919413"/>
            <a:ext cx="18573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"/>
              </a:lnSpc>
              <a:buNone/>
            </a:pPr>
            <a:r>
              <a:rPr lang="en-US" sz="374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연결하기</a:t>
            </a:r>
            <a:endParaRPr lang="en-US" sz="374" dirty="0"/>
          </a:p>
        </p:txBody>
      </p:sp>
      <p:sp>
        <p:nvSpPr>
          <p:cNvPr id="25" name="Shape 21"/>
          <p:cNvSpPr/>
          <p:nvPr/>
        </p:nvSpPr>
        <p:spPr>
          <a:xfrm>
            <a:off x="1974056" y="1966912"/>
            <a:ext cx="850106" cy="1143000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059781" y="2052637"/>
            <a:ext cx="678656" cy="571500"/>
          </a:xfrm>
          <a:prstGeom prst="rect">
            <a:avLst/>
          </a:prstGeom>
          <a:noFill/>
          <a:ln/>
        </p:spPr>
      </p:sp>
      <p:sp>
        <p:nvSpPr>
          <p:cNvPr id="27" name="Shape 23"/>
          <p:cNvSpPr/>
          <p:nvPr/>
        </p:nvSpPr>
        <p:spPr>
          <a:xfrm>
            <a:off x="2059781" y="2052637"/>
            <a:ext cx="678656" cy="171450"/>
          </a:xfrm>
          <a:prstGeom prst="rect">
            <a:avLst/>
          </a:prstGeom>
          <a:noFill/>
          <a:ln/>
        </p:spPr>
      </p:sp>
      <p:sp>
        <p:nvSpPr>
          <p:cNvPr id="28" name="Shape 24"/>
          <p:cNvSpPr/>
          <p:nvPr/>
        </p:nvSpPr>
        <p:spPr>
          <a:xfrm>
            <a:off x="2059781" y="2052637"/>
            <a:ext cx="171450" cy="171450"/>
          </a:xfrm>
          <a:prstGeom prst="roundRect">
            <a:avLst>
              <a:gd name="adj" fmla="val 32000"/>
            </a:avLst>
          </a:prstGeom>
          <a:solidFill>
            <a:srgbClr val="EA4335">
              <a:alpha val="7059"/>
            </a:srgb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02644" y="2095500"/>
            <a:ext cx="85725" cy="85725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2512219" y="2095500"/>
            <a:ext cx="226219" cy="85725"/>
          </a:xfrm>
          <a:prstGeom prst="roundRect">
            <a:avLst>
              <a:gd name="adj" fmla="val 800000"/>
            </a:avLst>
          </a:prstGeom>
          <a:solidFill>
            <a:srgbClr val="F1F5F9"/>
          </a:solidFill>
          <a:ln/>
        </p:spPr>
      </p:sp>
      <p:sp>
        <p:nvSpPr>
          <p:cNvPr id="31" name="Shape 26"/>
          <p:cNvSpPr/>
          <p:nvPr/>
        </p:nvSpPr>
        <p:spPr>
          <a:xfrm>
            <a:off x="2547938" y="2127647"/>
            <a:ext cx="21431" cy="21431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2" name="Text 27"/>
          <p:cNvSpPr/>
          <p:nvPr/>
        </p:nvSpPr>
        <p:spPr>
          <a:xfrm>
            <a:off x="2583656" y="2109788"/>
            <a:ext cx="11906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"/>
              </a:lnSpc>
              <a:buNone/>
            </a:pPr>
            <a:r>
              <a:rPr lang="en-US" sz="321" b="1" dirty="0">
                <a:solidFill>
                  <a:srgbClr val="64748B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미연결</a:t>
            </a:r>
            <a:endParaRPr lang="en-US" sz="321" dirty="0"/>
          </a:p>
        </p:txBody>
      </p:sp>
      <p:sp>
        <p:nvSpPr>
          <p:cNvPr id="33" name="Shape 28"/>
          <p:cNvSpPr/>
          <p:nvPr/>
        </p:nvSpPr>
        <p:spPr>
          <a:xfrm>
            <a:off x="2059781" y="2281238"/>
            <a:ext cx="678656" cy="342900"/>
          </a:xfrm>
          <a:prstGeom prst="rect">
            <a:avLst/>
          </a:prstGeom>
          <a:noFill/>
          <a:ln/>
        </p:spPr>
      </p:sp>
      <p:sp>
        <p:nvSpPr>
          <p:cNvPr id="34" name="Text 29"/>
          <p:cNvSpPr/>
          <p:nvPr/>
        </p:nvSpPr>
        <p:spPr>
          <a:xfrm>
            <a:off x="2059781" y="2281238"/>
            <a:ext cx="6786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7"/>
              </a:lnSpc>
              <a:buNone/>
            </a:pPr>
            <a:r>
              <a:rPr lang="en-US" sz="481" b="1" dirty="0">
                <a:solidFill>
                  <a:srgbClr val="0F17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Drive</a:t>
            </a:r>
            <a:endParaRPr lang="en-US" sz="481" dirty="0"/>
          </a:p>
        </p:txBody>
      </p:sp>
      <p:sp>
        <p:nvSpPr>
          <p:cNvPr id="35" name="Text 30"/>
          <p:cNvSpPr/>
          <p:nvPr/>
        </p:nvSpPr>
        <p:spPr>
          <a:xfrm>
            <a:off x="2059781" y="2395538"/>
            <a:ext cx="67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"/>
              </a:lnSpc>
              <a:buNone/>
            </a:pPr>
            <a:r>
              <a:rPr lang="en-US" sz="374" dirty="0">
                <a:solidFill>
                  <a:srgbClr val="64748B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문서 관리 및 공유, 협업 문서를 안전하게 연결해 업무 배정에 활용합니다.</a:t>
            </a:r>
            <a:endParaRPr lang="en-US" sz="374" dirty="0"/>
          </a:p>
        </p:txBody>
      </p:sp>
      <p:sp>
        <p:nvSpPr>
          <p:cNvPr id="36" name="Shape 31"/>
          <p:cNvSpPr/>
          <p:nvPr/>
        </p:nvSpPr>
        <p:spPr>
          <a:xfrm>
            <a:off x="2059781" y="2795588"/>
            <a:ext cx="678656" cy="228600"/>
          </a:xfrm>
          <a:prstGeom prst="rect">
            <a:avLst/>
          </a:prstGeom>
          <a:noFill/>
          <a:ln/>
        </p:spPr>
      </p:sp>
      <p:sp>
        <p:nvSpPr>
          <p:cNvPr id="37" name="Shape 32"/>
          <p:cNvSpPr/>
          <p:nvPr/>
        </p:nvSpPr>
        <p:spPr>
          <a:xfrm>
            <a:off x="2059781" y="2881313"/>
            <a:ext cx="678656" cy="142875"/>
          </a:xfrm>
          <a:prstGeom prst="roundRect">
            <a:avLst>
              <a:gd name="adj" fmla="val 28800"/>
            </a:avLst>
          </a:prstGeom>
          <a:solidFill>
            <a:srgbClr val="1E3A5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2306241" y="2919413"/>
            <a:ext cx="18573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"/>
              </a:lnSpc>
              <a:buNone/>
            </a:pPr>
            <a:r>
              <a:rPr lang="en-US" sz="374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연결하기</a:t>
            </a:r>
            <a:endParaRPr lang="en-US" sz="374" dirty="0"/>
          </a:p>
        </p:txBody>
      </p:sp>
      <p:sp>
        <p:nvSpPr>
          <p:cNvPr id="39" name="Shape 34"/>
          <p:cNvSpPr/>
          <p:nvPr/>
        </p:nvSpPr>
        <p:spPr>
          <a:xfrm>
            <a:off x="2881313" y="1966912"/>
            <a:ext cx="850106" cy="1143000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2967038" y="2052637"/>
            <a:ext cx="678656" cy="571500"/>
          </a:xfrm>
          <a:prstGeom prst="rect">
            <a:avLst/>
          </a:prstGeom>
          <a:noFill/>
          <a:ln/>
        </p:spPr>
      </p:sp>
      <p:sp>
        <p:nvSpPr>
          <p:cNvPr id="41" name="Shape 36"/>
          <p:cNvSpPr/>
          <p:nvPr/>
        </p:nvSpPr>
        <p:spPr>
          <a:xfrm>
            <a:off x="2967038" y="2052637"/>
            <a:ext cx="678656" cy="171450"/>
          </a:xfrm>
          <a:prstGeom prst="rect">
            <a:avLst/>
          </a:prstGeom>
          <a:noFill/>
          <a:ln/>
        </p:spPr>
      </p:sp>
      <p:sp>
        <p:nvSpPr>
          <p:cNvPr id="42" name="Shape 37"/>
          <p:cNvSpPr/>
          <p:nvPr/>
        </p:nvSpPr>
        <p:spPr>
          <a:xfrm>
            <a:off x="2967038" y="2052637"/>
            <a:ext cx="171450" cy="171450"/>
          </a:xfrm>
          <a:prstGeom prst="roundRect">
            <a:avLst>
              <a:gd name="adj" fmla="val 32000"/>
            </a:avLst>
          </a:prstGeom>
          <a:solidFill>
            <a:srgbClr val="0052CC">
              <a:alpha val="7059"/>
            </a:srgbClr>
          </a:solidFill>
          <a:ln/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009900" y="2095500"/>
            <a:ext cx="85725" cy="85725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3419475" y="2095500"/>
            <a:ext cx="226219" cy="85725"/>
          </a:xfrm>
          <a:prstGeom prst="roundRect">
            <a:avLst>
              <a:gd name="adj" fmla="val 800000"/>
            </a:avLst>
          </a:prstGeom>
          <a:solidFill>
            <a:srgbClr val="F1F5F9"/>
          </a:solidFill>
          <a:ln/>
        </p:spPr>
      </p:sp>
      <p:sp>
        <p:nvSpPr>
          <p:cNvPr id="45" name="Shape 39"/>
          <p:cNvSpPr/>
          <p:nvPr/>
        </p:nvSpPr>
        <p:spPr>
          <a:xfrm>
            <a:off x="3455194" y="2127647"/>
            <a:ext cx="21431" cy="21431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6" name="Text 40"/>
          <p:cNvSpPr/>
          <p:nvPr/>
        </p:nvSpPr>
        <p:spPr>
          <a:xfrm>
            <a:off x="3490913" y="2109788"/>
            <a:ext cx="11906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"/>
              </a:lnSpc>
              <a:buNone/>
            </a:pPr>
            <a:r>
              <a:rPr lang="en-US" sz="321" b="1" dirty="0">
                <a:solidFill>
                  <a:srgbClr val="64748B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미연결</a:t>
            </a:r>
            <a:endParaRPr lang="en-US" sz="321" dirty="0"/>
          </a:p>
        </p:txBody>
      </p:sp>
      <p:sp>
        <p:nvSpPr>
          <p:cNvPr id="47" name="Shape 41"/>
          <p:cNvSpPr/>
          <p:nvPr/>
        </p:nvSpPr>
        <p:spPr>
          <a:xfrm>
            <a:off x="2967038" y="2281238"/>
            <a:ext cx="678656" cy="342900"/>
          </a:xfrm>
          <a:prstGeom prst="rect">
            <a:avLst/>
          </a:prstGeom>
          <a:noFill/>
          <a:ln/>
        </p:spPr>
      </p:sp>
      <p:sp>
        <p:nvSpPr>
          <p:cNvPr id="48" name="Text 42"/>
          <p:cNvSpPr/>
          <p:nvPr/>
        </p:nvSpPr>
        <p:spPr>
          <a:xfrm>
            <a:off x="2967038" y="2281238"/>
            <a:ext cx="6786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7"/>
              </a:lnSpc>
              <a:buNone/>
            </a:pPr>
            <a:r>
              <a:rPr lang="en-US" sz="481" b="1" dirty="0">
                <a:solidFill>
                  <a:srgbClr val="0F17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Calendar</a:t>
            </a:r>
            <a:endParaRPr lang="en-US" sz="481" dirty="0"/>
          </a:p>
        </p:txBody>
      </p:sp>
      <p:sp>
        <p:nvSpPr>
          <p:cNvPr id="49" name="Text 43"/>
          <p:cNvSpPr/>
          <p:nvPr/>
        </p:nvSpPr>
        <p:spPr>
          <a:xfrm>
            <a:off x="2967038" y="2395538"/>
            <a:ext cx="67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"/>
              </a:lnSpc>
              <a:buNone/>
            </a:pPr>
            <a:r>
              <a:rPr lang="en-US" sz="374" dirty="0">
                <a:solidFill>
                  <a:srgbClr val="64748B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일정 및 캘린더 관리, 사내 스케줄과 미팅 정보를 실시간으로 연결해 분석에 활용합니다.</a:t>
            </a:r>
            <a:endParaRPr lang="en-US" sz="374" dirty="0"/>
          </a:p>
        </p:txBody>
      </p:sp>
      <p:sp>
        <p:nvSpPr>
          <p:cNvPr id="50" name="Shape 44"/>
          <p:cNvSpPr/>
          <p:nvPr/>
        </p:nvSpPr>
        <p:spPr>
          <a:xfrm>
            <a:off x="2967038" y="2795588"/>
            <a:ext cx="678656" cy="228600"/>
          </a:xfrm>
          <a:prstGeom prst="rect">
            <a:avLst/>
          </a:prstGeom>
          <a:noFill/>
          <a:ln/>
        </p:spPr>
      </p:sp>
      <p:sp>
        <p:nvSpPr>
          <p:cNvPr id="51" name="Shape 45"/>
          <p:cNvSpPr/>
          <p:nvPr/>
        </p:nvSpPr>
        <p:spPr>
          <a:xfrm>
            <a:off x="2967038" y="2881313"/>
            <a:ext cx="678656" cy="142875"/>
          </a:xfrm>
          <a:prstGeom prst="roundRect">
            <a:avLst>
              <a:gd name="adj" fmla="val 28800"/>
            </a:avLst>
          </a:prstGeom>
          <a:solidFill>
            <a:srgbClr val="1E3A5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3213497" y="2919413"/>
            <a:ext cx="18573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"/>
              </a:lnSpc>
              <a:buNone/>
            </a:pPr>
            <a:r>
              <a:rPr lang="en-US" sz="374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연결하기</a:t>
            </a:r>
            <a:endParaRPr lang="en-US" sz="374" dirty="0"/>
          </a:p>
        </p:txBody>
      </p:sp>
      <p:sp>
        <p:nvSpPr>
          <p:cNvPr id="53" name="Shape 47"/>
          <p:cNvSpPr/>
          <p:nvPr/>
        </p:nvSpPr>
        <p:spPr>
          <a:xfrm>
            <a:off x="3788569" y="1966912"/>
            <a:ext cx="850106" cy="1143000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3874294" y="2052637"/>
            <a:ext cx="678656" cy="571500"/>
          </a:xfrm>
          <a:prstGeom prst="rect">
            <a:avLst/>
          </a:prstGeom>
          <a:noFill/>
          <a:ln/>
        </p:spPr>
      </p:sp>
      <p:sp>
        <p:nvSpPr>
          <p:cNvPr id="55" name="Shape 49"/>
          <p:cNvSpPr/>
          <p:nvPr/>
        </p:nvSpPr>
        <p:spPr>
          <a:xfrm>
            <a:off x="3874294" y="2052637"/>
            <a:ext cx="678656" cy="171450"/>
          </a:xfrm>
          <a:prstGeom prst="rect">
            <a:avLst/>
          </a:prstGeom>
          <a:noFill/>
          <a:ln/>
        </p:spPr>
      </p:sp>
      <p:sp>
        <p:nvSpPr>
          <p:cNvPr id="56" name="Shape 50"/>
          <p:cNvSpPr/>
          <p:nvPr/>
        </p:nvSpPr>
        <p:spPr>
          <a:xfrm>
            <a:off x="3874294" y="2052637"/>
            <a:ext cx="171450" cy="171450"/>
          </a:xfrm>
          <a:prstGeom prst="roundRect">
            <a:avLst>
              <a:gd name="adj" fmla="val 32000"/>
            </a:avLst>
          </a:prstGeom>
          <a:solidFill>
            <a:srgbClr val="10B981">
              <a:alpha val="7059"/>
            </a:srgbClr>
          </a:solidFill>
          <a:ln/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917156" y="2095500"/>
            <a:ext cx="85725" cy="85725"/>
          </a:xfrm>
          <a:prstGeom prst="rect">
            <a:avLst/>
          </a:prstGeom>
        </p:spPr>
      </p:pic>
      <p:sp>
        <p:nvSpPr>
          <p:cNvPr id="58" name="Shape 51"/>
          <p:cNvSpPr/>
          <p:nvPr/>
        </p:nvSpPr>
        <p:spPr>
          <a:xfrm>
            <a:off x="4326731" y="2095500"/>
            <a:ext cx="226219" cy="85725"/>
          </a:xfrm>
          <a:prstGeom prst="roundRect">
            <a:avLst>
              <a:gd name="adj" fmla="val 800000"/>
            </a:avLst>
          </a:prstGeom>
          <a:solidFill>
            <a:srgbClr val="D1FAE5"/>
          </a:solidFill>
          <a:ln/>
        </p:spPr>
      </p:sp>
      <p:sp>
        <p:nvSpPr>
          <p:cNvPr id="59" name="Shape 52"/>
          <p:cNvSpPr/>
          <p:nvPr/>
        </p:nvSpPr>
        <p:spPr>
          <a:xfrm>
            <a:off x="4362450" y="2127647"/>
            <a:ext cx="21431" cy="21431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0" name="Text 53"/>
          <p:cNvSpPr/>
          <p:nvPr/>
        </p:nvSpPr>
        <p:spPr>
          <a:xfrm>
            <a:off x="4398169" y="2109788"/>
            <a:ext cx="11906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"/>
              </a:lnSpc>
              <a:buNone/>
            </a:pPr>
            <a:r>
              <a:rPr lang="en-US" sz="321" b="1" dirty="0">
                <a:solidFill>
                  <a:srgbClr val="10B981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연결됨</a:t>
            </a:r>
            <a:endParaRPr lang="en-US" sz="321" dirty="0"/>
          </a:p>
        </p:txBody>
      </p:sp>
      <p:sp>
        <p:nvSpPr>
          <p:cNvPr id="61" name="Shape 54"/>
          <p:cNvSpPr/>
          <p:nvPr/>
        </p:nvSpPr>
        <p:spPr>
          <a:xfrm>
            <a:off x="3874294" y="2281238"/>
            <a:ext cx="678656" cy="342900"/>
          </a:xfrm>
          <a:prstGeom prst="rect">
            <a:avLst/>
          </a:prstGeom>
          <a:noFill/>
          <a:ln/>
        </p:spPr>
      </p:sp>
      <p:sp>
        <p:nvSpPr>
          <p:cNvPr id="62" name="Text 55"/>
          <p:cNvSpPr/>
          <p:nvPr/>
        </p:nvSpPr>
        <p:spPr>
          <a:xfrm>
            <a:off x="3874294" y="2281238"/>
            <a:ext cx="6786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7"/>
              </a:lnSpc>
              <a:buNone/>
            </a:pPr>
            <a:r>
              <a:rPr lang="en-US" sz="481" b="1" dirty="0">
                <a:solidFill>
                  <a:srgbClr val="0F17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People DB</a:t>
            </a:r>
            <a:endParaRPr lang="en-US" sz="481" dirty="0"/>
          </a:p>
        </p:txBody>
      </p:sp>
      <p:sp>
        <p:nvSpPr>
          <p:cNvPr id="63" name="Text 56"/>
          <p:cNvSpPr/>
          <p:nvPr/>
        </p:nvSpPr>
        <p:spPr>
          <a:xfrm>
            <a:off x="3874294" y="2395538"/>
            <a:ext cx="67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"/>
              </a:lnSpc>
              <a:buNone/>
            </a:pPr>
            <a:r>
              <a:rPr lang="en-US" sz="374" dirty="0">
                <a:solidFill>
                  <a:srgbClr val="64748B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인력 정보 데이터베이스. 팀원별 스킬, 가용성, 역할 정보를 연동합니다.</a:t>
            </a:r>
            <a:endParaRPr lang="en-US" sz="374" dirty="0"/>
          </a:p>
        </p:txBody>
      </p:sp>
      <p:sp>
        <p:nvSpPr>
          <p:cNvPr id="64" name="Shape 57"/>
          <p:cNvSpPr/>
          <p:nvPr/>
        </p:nvSpPr>
        <p:spPr>
          <a:xfrm>
            <a:off x="3874294" y="2795588"/>
            <a:ext cx="678656" cy="228600"/>
          </a:xfrm>
          <a:prstGeom prst="rect">
            <a:avLst/>
          </a:prstGeom>
          <a:noFill/>
          <a:ln/>
        </p:spPr>
      </p:sp>
      <p:sp>
        <p:nvSpPr>
          <p:cNvPr id="65" name="Shape 58"/>
          <p:cNvSpPr/>
          <p:nvPr/>
        </p:nvSpPr>
        <p:spPr>
          <a:xfrm>
            <a:off x="3874294" y="2881313"/>
            <a:ext cx="678656" cy="142875"/>
          </a:xfrm>
          <a:prstGeom prst="roundRect">
            <a:avLst>
              <a:gd name="adj" fmla="val 28800"/>
            </a:avLst>
          </a:prstGeom>
          <a:solidFill>
            <a:srgbClr val="E2E8F0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4115991" y="2919413"/>
            <a:ext cx="19526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"/>
              </a:lnSpc>
              <a:buNone/>
            </a:pPr>
            <a:r>
              <a:rPr lang="en-US" sz="374" b="1" dirty="0">
                <a:solidFill>
                  <a:srgbClr val="64748B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설정 관리</a:t>
            </a:r>
            <a:endParaRPr lang="en-US" sz="374" dirty="0"/>
          </a:p>
        </p:txBody>
      </p:sp>
      <p:sp>
        <p:nvSpPr>
          <p:cNvPr id="67" name="Shape 60"/>
          <p:cNvSpPr/>
          <p:nvPr/>
        </p:nvSpPr>
        <p:spPr>
          <a:xfrm>
            <a:off x="1066800" y="3281363"/>
            <a:ext cx="3571875" cy="323850"/>
          </a:xfrm>
          <a:prstGeom prst="rect">
            <a:avLst/>
          </a:prstGeom>
          <a:noFill/>
          <a:ln/>
        </p:spPr>
      </p:sp>
      <p:sp>
        <p:nvSpPr>
          <p:cNvPr id="68" name="Shape 61"/>
          <p:cNvSpPr/>
          <p:nvPr/>
        </p:nvSpPr>
        <p:spPr>
          <a:xfrm>
            <a:off x="2281238" y="3281363"/>
            <a:ext cx="1143000" cy="185738"/>
          </a:xfrm>
          <a:prstGeom prst="roundRect">
            <a:avLst>
              <a:gd name="adj" fmla="val 29538"/>
            </a:avLst>
          </a:prstGeom>
          <a:solidFill>
            <a:srgbClr val="1E3A5F"/>
          </a:solidFill>
          <a:ln/>
        </p:spPr>
      </p:sp>
      <p:sp>
        <p:nvSpPr>
          <p:cNvPr id="69" name="Text 62"/>
          <p:cNvSpPr/>
          <p:nvPr/>
        </p:nvSpPr>
        <p:spPr>
          <a:xfrm>
            <a:off x="2714625" y="3336131"/>
            <a:ext cx="2762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4"/>
              </a:lnSpc>
              <a:buNone/>
            </a:pPr>
            <a:r>
              <a:rPr lang="en-US" sz="427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다음 단계로</a:t>
            </a:r>
            <a:endParaRPr lang="en-US" sz="427" dirty="0"/>
          </a:p>
        </p:txBody>
      </p:sp>
      <p:sp>
        <p:nvSpPr>
          <p:cNvPr id="70" name="Text 63"/>
          <p:cNvSpPr/>
          <p:nvPr/>
        </p:nvSpPr>
        <p:spPr>
          <a:xfrm>
            <a:off x="2731294" y="3538538"/>
            <a:ext cx="24288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11"/>
              </a:lnSpc>
              <a:buNone/>
            </a:pPr>
            <a:r>
              <a:rPr lang="en-US" sz="374" b="1" u="sng" dirty="0">
                <a:solidFill>
                  <a:srgbClr val="64748B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나중에 하기</a:t>
            </a:r>
            <a:endParaRPr lang="en-US" sz="374" dirty="0"/>
          </a:p>
        </p:txBody>
      </p:sp>
      <p:sp>
        <p:nvSpPr>
          <p:cNvPr id="71" name="Shape 64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2" name="Text 65"/>
          <p:cNvSpPr/>
          <p:nvPr/>
        </p:nvSpPr>
        <p:spPr>
          <a:xfrm>
            <a:off x="248666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73" name="Shape 66"/>
          <p:cNvSpPr/>
          <p:nvPr/>
        </p:nvSpPr>
        <p:spPr>
          <a:xfrm>
            <a:off x="1237488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1295654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커넥터 연결 / 온보딩</a:t>
            </a:r>
            <a:endParaRPr lang="en-US" sz="696" dirty="0"/>
          </a:p>
        </p:txBody>
      </p:sp>
      <p:sp>
        <p:nvSpPr>
          <p:cNvPr id="75" name="Shape 68"/>
          <p:cNvSpPr/>
          <p:nvPr/>
        </p:nvSpPr>
        <p:spPr>
          <a:xfrm>
            <a:off x="4378452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6" name="Text 69"/>
          <p:cNvSpPr/>
          <p:nvPr/>
        </p:nvSpPr>
        <p:spPr>
          <a:xfrm>
            <a:off x="4436618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77" name="Shape 70"/>
          <p:cNvSpPr/>
          <p:nvPr/>
        </p:nvSpPr>
        <p:spPr>
          <a:xfrm>
            <a:off x="5425440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5483606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R-005</a:t>
            </a:r>
            <a:endParaRPr lang="en-US" sz="696" dirty="0"/>
          </a:p>
        </p:txBody>
      </p:sp>
      <p:sp>
        <p:nvSpPr>
          <p:cNvPr id="79" name="Shape 72"/>
          <p:cNvSpPr/>
          <p:nvPr/>
        </p:nvSpPr>
        <p:spPr>
          <a:xfrm>
            <a:off x="190500" y="447186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0" name="Text 73"/>
          <p:cNvSpPr/>
          <p:nvPr/>
        </p:nvSpPr>
        <p:spPr>
          <a:xfrm>
            <a:off x="248666" y="557701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81" name="Shape 74"/>
          <p:cNvSpPr/>
          <p:nvPr/>
        </p:nvSpPr>
        <p:spPr>
          <a:xfrm>
            <a:off x="1237488" y="447186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82" name="Text 75"/>
          <p:cNvSpPr/>
          <p:nvPr/>
        </p:nvSpPr>
        <p:spPr>
          <a:xfrm>
            <a:off x="1295654" y="557701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 → 온보딩</a:t>
            </a:r>
            <a:endParaRPr lang="en-US" sz="696" dirty="0"/>
          </a:p>
        </p:txBody>
      </p:sp>
      <p:sp>
        <p:nvSpPr>
          <p:cNvPr id="83" name="Shape 76"/>
          <p:cNvSpPr/>
          <p:nvPr/>
        </p:nvSpPr>
        <p:spPr>
          <a:xfrm>
            <a:off x="4378452" y="447186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4" name="Text 77"/>
          <p:cNvSpPr/>
          <p:nvPr/>
        </p:nvSpPr>
        <p:spPr>
          <a:xfrm>
            <a:off x="4436618" y="557701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85" name="Shape 78"/>
          <p:cNvSpPr/>
          <p:nvPr/>
        </p:nvSpPr>
        <p:spPr>
          <a:xfrm>
            <a:off x="5425440" y="447186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86" name="Text 79"/>
          <p:cNvSpPr/>
          <p:nvPr/>
        </p:nvSpPr>
        <p:spPr>
          <a:xfrm>
            <a:off x="5483606" y="557701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B-1</a:t>
            </a:r>
            <a:endParaRPr lang="en-US" sz="696" dirty="0"/>
          </a:p>
        </p:txBody>
      </p:sp>
      <p:sp>
        <p:nvSpPr>
          <p:cNvPr id="87" name="Shape 80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8" name="Shape 81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9" name="Text 82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90" name="Shape 83"/>
          <p:cNvSpPr/>
          <p:nvPr/>
        </p:nvSpPr>
        <p:spPr>
          <a:xfrm>
            <a:off x="5619750" y="108585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1" name="Text 84"/>
          <p:cNvSpPr/>
          <p:nvPr/>
        </p:nvSpPr>
        <p:spPr>
          <a:xfrm>
            <a:off x="5619750" y="11191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92" name="Text 85"/>
          <p:cNvSpPr/>
          <p:nvPr/>
        </p:nvSpPr>
        <p:spPr>
          <a:xfrm>
            <a:off x="5819775" y="1447800"/>
            <a:ext cx="3133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Docs 연결하기</a:t>
            </a:r>
            <a:endParaRPr lang="en-US" sz="534" dirty="0"/>
          </a:p>
        </p:txBody>
      </p:sp>
      <p:sp>
        <p:nvSpPr>
          <p:cNvPr id="93" name="Text 86"/>
          <p:cNvSpPr/>
          <p:nvPr/>
        </p:nvSpPr>
        <p:spPr>
          <a:xfrm>
            <a:off x="5819775" y="1571625"/>
            <a:ext cx="3133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Drive OAuth 인증 팝업. 성공 시 상태 "연결됨"으로 갱신</a:t>
            </a:r>
            <a:endParaRPr lang="en-US" sz="427" dirty="0"/>
          </a:p>
        </p:txBody>
      </p:sp>
      <p:sp>
        <p:nvSpPr>
          <p:cNvPr id="94" name="Shape 87"/>
          <p:cNvSpPr/>
          <p:nvPr/>
        </p:nvSpPr>
        <p:spPr>
          <a:xfrm>
            <a:off x="5619750" y="144780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5" name="Text 88"/>
          <p:cNvSpPr/>
          <p:nvPr/>
        </p:nvSpPr>
        <p:spPr>
          <a:xfrm>
            <a:off x="5619750" y="148113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96" name="Text 89"/>
          <p:cNvSpPr/>
          <p:nvPr/>
        </p:nvSpPr>
        <p:spPr>
          <a:xfrm>
            <a:off x="5819775" y="1809750"/>
            <a:ext cx="3133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Calendar 연결하기</a:t>
            </a:r>
            <a:endParaRPr lang="en-US" sz="534" dirty="0"/>
          </a:p>
        </p:txBody>
      </p:sp>
      <p:sp>
        <p:nvSpPr>
          <p:cNvPr id="97" name="Text 90"/>
          <p:cNvSpPr/>
          <p:nvPr/>
        </p:nvSpPr>
        <p:spPr>
          <a:xfrm>
            <a:off x="5819775" y="1933575"/>
            <a:ext cx="3133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Calendar OAuth 인증 팝업. Docs와 별도 scope로 동의</a:t>
            </a:r>
            <a:endParaRPr lang="en-US" sz="427" dirty="0"/>
          </a:p>
        </p:txBody>
      </p:sp>
      <p:sp>
        <p:nvSpPr>
          <p:cNvPr id="98" name="Shape 91"/>
          <p:cNvSpPr/>
          <p:nvPr/>
        </p:nvSpPr>
        <p:spPr>
          <a:xfrm>
            <a:off x="5619750" y="180975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9" name="Text 92"/>
          <p:cNvSpPr/>
          <p:nvPr/>
        </p:nvSpPr>
        <p:spPr>
          <a:xfrm>
            <a:off x="5619750" y="18430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100" name="Text 93"/>
          <p:cNvSpPr/>
          <p:nvPr/>
        </p:nvSpPr>
        <p:spPr>
          <a:xfrm>
            <a:off x="5819775" y="1085850"/>
            <a:ext cx="3133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연결하기</a:t>
            </a:r>
            <a:endParaRPr lang="en-US" sz="534" dirty="0"/>
          </a:p>
        </p:txBody>
      </p:sp>
      <p:sp>
        <p:nvSpPr>
          <p:cNvPr id="101" name="Text 94"/>
          <p:cNvSpPr/>
          <p:nvPr/>
        </p:nvSpPr>
        <p:spPr>
          <a:xfrm>
            <a:off x="5819775" y="1209675"/>
            <a:ext cx="3133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워크스페이스 URL·API 토큰 입력 모달. 실패(401/403) 시 재시도 안내</a:t>
            </a:r>
            <a:endParaRPr lang="en-US" sz="427" dirty="0"/>
          </a:p>
        </p:txBody>
      </p:sp>
      <p:sp>
        <p:nvSpPr>
          <p:cNvPr id="102" name="Shape 95"/>
          <p:cNvSpPr/>
          <p:nvPr/>
        </p:nvSpPr>
        <p:spPr>
          <a:xfrm>
            <a:off x="5619750" y="217170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3" name="Text 96"/>
          <p:cNvSpPr/>
          <p:nvPr/>
        </p:nvSpPr>
        <p:spPr>
          <a:xfrm>
            <a:off x="5619750" y="220503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99" dirty="0"/>
          </a:p>
        </p:txBody>
      </p:sp>
      <p:sp>
        <p:nvSpPr>
          <p:cNvPr id="104" name="Text 97"/>
          <p:cNvSpPr/>
          <p:nvPr/>
        </p:nvSpPr>
        <p:spPr>
          <a:xfrm>
            <a:off x="5819775" y="2162175"/>
            <a:ext cx="3133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DB 설정 관리</a:t>
            </a:r>
            <a:endParaRPr lang="en-US" sz="534" dirty="0"/>
          </a:p>
        </p:txBody>
      </p:sp>
      <p:sp>
        <p:nvSpPr>
          <p:cNvPr id="105" name="Text 98"/>
          <p:cNvSpPr/>
          <p:nvPr/>
        </p:nvSpPr>
        <p:spPr>
          <a:xfrm>
            <a:off x="5819775" y="2286000"/>
            <a:ext cx="3133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MVP는 시드 데이터로 사전 연결됨 상태. 클릭 시 구성 내용 확인만 가능</a:t>
            </a:r>
            <a:endParaRPr lang="en-US" sz="427" dirty="0"/>
          </a:p>
        </p:txBody>
      </p:sp>
      <p:sp>
        <p:nvSpPr>
          <p:cNvPr id="106" name="Shape 99"/>
          <p:cNvSpPr/>
          <p:nvPr/>
        </p:nvSpPr>
        <p:spPr>
          <a:xfrm>
            <a:off x="5619750" y="256222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07" name="Text 100"/>
          <p:cNvSpPr/>
          <p:nvPr/>
        </p:nvSpPr>
        <p:spPr>
          <a:xfrm>
            <a:off x="5686425" y="2614613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108" name="Text 101"/>
          <p:cNvSpPr/>
          <p:nvPr/>
        </p:nvSpPr>
        <p:spPr>
          <a:xfrm>
            <a:off x="5657850" y="2800350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실제 카드는 4개(Docs/Calendar/Jira/People DB) — Description 갱신 반영</a:t>
            </a:r>
            <a:endParaRPr lang="en-US" sz="427" dirty="0"/>
          </a:p>
        </p:txBody>
      </p:sp>
      <p:sp>
        <p:nvSpPr>
          <p:cNvPr id="109" name="Text 102"/>
          <p:cNvSpPr/>
          <p:nvPr/>
        </p:nvSpPr>
        <p:spPr>
          <a:xfrm>
            <a:off x="5657850" y="30003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Google Calendar를 조직 온보딩에 둘지, 개인 커넥터(G-3)로 옮길지 팀 결정 필요</a:t>
            </a:r>
            <a:endParaRPr lang="en-US" sz="427" dirty="0"/>
          </a:p>
        </p:txBody>
      </p:sp>
      <p:sp>
        <p:nvSpPr>
          <p:cNvPr id="110" name="Text 103"/>
          <p:cNvSpPr/>
          <p:nvPr/>
        </p:nvSpPr>
        <p:spPr>
          <a:xfrm>
            <a:off x="5657850" y="3200400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필수 커넥터 조합 후 "다음" 버튼 비활성화 (가정 — 최종 확정 필요)</a:t>
            </a:r>
            <a:endParaRPr lang="en-US" sz="427" dirty="0"/>
          </a:p>
        </p:txBody>
      </p:sp>
      <p:sp>
        <p:nvSpPr>
          <p:cNvPr id="111" name="Text 104"/>
          <p:cNvSpPr/>
          <p:nvPr/>
        </p:nvSpPr>
        <p:spPr>
          <a:xfrm>
            <a:off x="5657850" y="34004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인증 실패(401/403)·요청과다(429) 시 재시도/대기 안내</a:t>
            </a:r>
            <a:endParaRPr lang="en-US" sz="427" dirty="0"/>
          </a:p>
        </p:txBody>
      </p:sp>
      <p:sp>
        <p:nvSpPr>
          <p:cNvPr id="112" name="Shape 105"/>
          <p:cNvSpPr/>
          <p:nvPr/>
        </p:nvSpPr>
        <p:spPr>
          <a:xfrm>
            <a:off x="985838" y="1888331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113" name="Text 106"/>
          <p:cNvSpPr/>
          <p:nvPr/>
        </p:nvSpPr>
        <p:spPr>
          <a:xfrm>
            <a:off x="985838" y="1921669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114" name="Shape 107"/>
          <p:cNvSpPr/>
          <p:nvPr/>
        </p:nvSpPr>
        <p:spPr>
          <a:xfrm>
            <a:off x="1893094" y="1888331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115" name="Text 108"/>
          <p:cNvSpPr/>
          <p:nvPr/>
        </p:nvSpPr>
        <p:spPr>
          <a:xfrm>
            <a:off x="1893094" y="1921669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116" name="Shape 109"/>
          <p:cNvSpPr/>
          <p:nvPr/>
        </p:nvSpPr>
        <p:spPr>
          <a:xfrm>
            <a:off x="2800350" y="1888331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117" name="Text 110"/>
          <p:cNvSpPr/>
          <p:nvPr/>
        </p:nvSpPr>
        <p:spPr>
          <a:xfrm>
            <a:off x="2800350" y="1921669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118" name="Shape 111"/>
          <p:cNvSpPr/>
          <p:nvPr/>
        </p:nvSpPr>
        <p:spPr>
          <a:xfrm>
            <a:off x="3707606" y="1888331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119" name="Text 112"/>
          <p:cNvSpPr/>
          <p:nvPr/>
        </p:nvSpPr>
        <p:spPr>
          <a:xfrm>
            <a:off x="3707606" y="1921669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9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" name="Text 1"/>
          <p:cNvSpPr/>
          <p:nvPr/>
        </p:nvSpPr>
        <p:spPr>
          <a:xfrm>
            <a:off x="248666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4" name="Shape 2"/>
          <p:cNvSpPr/>
          <p:nvPr/>
        </p:nvSpPr>
        <p:spPr>
          <a:xfrm>
            <a:off x="1237488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654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소스 설정 (빈 상태)</a:t>
            </a:r>
            <a:endParaRPr lang="en-US" sz="696" dirty="0"/>
          </a:p>
        </p:txBody>
      </p:sp>
      <p:sp>
        <p:nvSpPr>
          <p:cNvPr id="6" name="Shape 4"/>
          <p:cNvSpPr/>
          <p:nvPr/>
        </p:nvSpPr>
        <p:spPr>
          <a:xfrm>
            <a:off x="4378452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" name="Text 5"/>
          <p:cNvSpPr/>
          <p:nvPr/>
        </p:nvSpPr>
        <p:spPr>
          <a:xfrm>
            <a:off x="4436618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8" name="Shape 6"/>
          <p:cNvSpPr/>
          <p:nvPr/>
        </p:nvSpPr>
        <p:spPr>
          <a:xfrm>
            <a:off x="5425440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3606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R-006</a:t>
            </a:r>
            <a:endParaRPr lang="en-US" sz="696" dirty="0"/>
          </a:p>
        </p:txBody>
      </p:sp>
      <p:sp>
        <p:nvSpPr>
          <p:cNvPr id="10" name="Shape 8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1" name="Text 9"/>
          <p:cNvSpPr/>
          <p:nvPr/>
        </p:nvSpPr>
        <p:spPr>
          <a:xfrm>
            <a:off x="248666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2" name="Shape 10"/>
          <p:cNvSpPr/>
          <p:nvPr/>
        </p:nvSpPr>
        <p:spPr>
          <a:xfrm>
            <a:off x="1237488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654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온보딩 → 폴더 선택</a:t>
            </a:r>
            <a:endParaRPr lang="en-US" sz="696" dirty="0"/>
          </a:p>
        </p:txBody>
      </p:sp>
      <p:sp>
        <p:nvSpPr>
          <p:cNvPr id="14" name="Shape 12"/>
          <p:cNvSpPr/>
          <p:nvPr/>
        </p:nvSpPr>
        <p:spPr>
          <a:xfrm>
            <a:off x="4378452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5" name="Text 13"/>
          <p:cNvSpPr/>
          <p:nvPr/>
        </p:nvSpPr>
        <p:spPr>
          <a:xfrm>
            <a:off x="4436618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6" name="Shape 14"/>
          <p:cNvSpPr/>
          <p:nvPr/>
        </p:nvSpPr>
        <p:spPr>
          <a:xfrm>
            <a:off x="5425440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3606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C-1</a:t>
            </a:r>
            <a:endParaRPr lang="en-US" sz="696" dirty="0"/>
          </a:p>
        </p:txBody>
      </p:sp>
      <p:sp>
        <p:nvSpPr>
          <p:cNvPr id="18" name="Shape 16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9" name="Text 17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0" name="Shape 18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2" name="Text 20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Drive에서 폴더 선택 버튼</a:t>
            </a:r>
            <a:endParaRPr lang="en-US" sz="534" dirty="0"/>
          </a:p>
        </p:txBody>
      </p:sp>
      <p:sp>
        <p:nvSpPr>
          <p:cNvPr id="23" name="Text 21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Google Picker 실행 (다중 선택 가능). Picker UI 자체는 Google 제공, 별도 디자인 없음</a:t>
            </a:r>
            <a:endParaRPr lang="en-US" sz="463" dirty="0"/>
          </a:p>
        </p:txBody>
      </p:sp>
      <p:sp>
        <p:nvSpPr>
          <p:cNvPr id="24" name="Shape 22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6" name="Text 24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 단계 버튼</a:t>
            </a:r>
            <a:endParaRPr lang="en-US" sz="534" dirty="0"/>
          </a:p>
        </p:txBody>
      </p:sp>
      <p:sp>
        <p:nvSpPr>
          <p:cNvPr id="27" name="Text 25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온보딩(B-1)으로 복귀</a:t>
            </a:r>
            <a:endParaRPr lang="en-US" sz="463" dirty="0"/>
          </a:p>
        </p:txBody>
      </p:sp>
      <p:sp>
        <p:nvSpPr>
          <p:cNvPr id="28" name="Shape 26"/>
          <p:cNvSpPr/>
          <p:nvPr/>
        </p:nvSpPr>
        <p:spPr>
          <a:xfrm>
            <a:off x="5619750" y="202882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9" name="Text 27"/>
          <p:cNvSpPr/>
          <p:nvPr/>
        </p:nvSpPr>
        <p:spPr>
          <a:xfrm>
            <a:off x="5686425" y="2081212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0" name="Text 28"/>
          <p:cNvSpPr/>
          <p:nvPr/>
        </p:nvSpPr>
        <p:spPr>
          <a:xfrm>
            <a:off x="5657850" y="229552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이 상태에서 "다음" 버튼은 비활성화 (폴더 미선택)</a:t>
            </a:r>
            <a:endParaRPr lang="en-US" sz="463" dirty="0"/>
          </a:p>
        </p:txBody>
      </p:sp>
      <p:sp>
        <p:nvSpPr>
          <p:cNvPr id="31" name="Text 29"/>
          <p:cNvSpPr/>
          <p:nvPr/>
        </p:nvSpPr>
        <p:spPr>
          <a:xfrm>
            <a:off x="5657850" y="251460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Picker 로딩 중/취소/에러(토큰 만료 등) 상태는 이 화면 위에서 처리, 화면 전환 없음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273367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폴더 선택 완료 시 C-1(선택 완료 상태) 화면으로 갱신</a:t>
            </a:r>
            <a:endParaRPr lang="en-US" sz="463" dirty="0"/>
          </a:p>
        </p:txBody>
      </p:sp>
      <p:sp>
        <p:nvSpPr>
          <p:cNvPr id="33" name="Shape 31"/>
          <p:cNvSpPr/>
          <p:nvPr/>
        </p:nvSpPr>
        <p:spPr>
          <a:xfrm>
            <a:off x="114300" y="819150"/>
            <a:ext cx="5311140" cy="33194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Shape 32"/>
          <p:cNvSpPr/>
          <p:nvPr/>
        </p:nvSpPr>
        <p:spPr>
          <a:xfrm>
            <a:off x="1294553" y="819150"/>
            <a:ext cx="2950633" cy="2210964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1442085" y="937175"/>
            <a:ext cx="2655570" cy="485849"/>
          </a:xfrm>
          <a:prstGeom prst="rect">
            <a:avLst/>
          </a:prstGeom>
          <a:noFill/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42085" y="937175"/>
            <a:ext cx="2655571" cy="208513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1442085" y="1234207"/>
            <a:ext cx="2655570" cy="188817"/>
          </a:xfrm>
          <a:prstGeom prst="rect">
            <a:avLst/>
          </a:prstGeom>
          <a:noFill/>
          <a:ln/>
        </p:spPr>
      </p:sp>
      <p:sp>
        <p:nvSpPr>
          <p:cNvPr id="38" name="Text 35"/>
          <p:cNvSpPr/>
          <p:nvPr/>
        </p:nvSpPr>
        <p:spPr>
          <a:xfrm>
            <a:off x="1442085" y="1234207"/>
            <a:ext cx="26555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1"/>
              </a:lnSpc>
              <a:buNone/>
            </a:pPr>
            <a:r>
              <a:rPr lang="en-US" sz="662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소스 설정</a:t>
            </a:r>
            <a:endParaRPr lang="en-US" sz="662" dirty="0"/>
          </a:p>
        </p:txBody>
      </p:sp>
      <p:sp>
        <p:nvSpPr>
          <p:cNvPr id="39" name="Text 36"/>
          <p:cNvSpPr/>
          <p:nvPr/>
        </p:nvSpPr>
        <p:spPr>
          <a:xfrm>
            <a:off x="1442085" y="1361112"/>
            <a:ext cx="265557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7"/>
              </a:lnSpc>
              <a:buNone/>
            </a:pPr>
            <a:r>
              <a:rPr lang="en-US" sz="386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서비스에서 활용할 지식 베이스 폴더를 지정하고 연동할 파일 목록을 확인합니다.</a:t>
            </a:r>
            <a:endParaRPr lang="en-US" sz="386" dirty="0"/>
          </a:p>
        </p:txBody>
      </p:sp>
      <p:sp>
        <p:nvSpPr>
          <p:cNvPr id="40" name="Shape 37"/>
          <p:cNvSpPr/>
          <p:nvPr/>
        </p:nvSpPr>
        <p:spPr>
          <a:xfrm>
            <a:off x="1442085" y="1570556"/>
            <a:ext cx="2655570" cy="1073076"/>
          </a:xfrm>
          <a:prstGeom prst="roundRect">
            <a:avLst>
              <a:gd name="adj" fmla="val 7919"/>
            </a:avLst>
          </a:prstGeom>
          <a:solidFill>
            <a:srgbClr val="FFFFFF"/>
          </a:solidFill>
          <a:ln w="3504">
            <a:solidFill>
              <a:srgbClr val="94A3B8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2651844" y="1747594"/>
            <a:ext cx="236051" cy="236051"/>
          </a:xfrm>
          <a:prstGeom prst="roundRect">
            <a:avLst>
              <a:gd name="adj" fmla="val 96000"/>
            </a:avLst>
          </a:prstGeom>
          <a:solidFill>
            <a:srgbClr val="1E3A5F">
              <a:alpha val="5098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2710856" y="1806607"/>
            <a:ext cx="118025" cy="118025"/>
          </a:xfrm>
          <a:prstGeom prst="rect">
            <a:avLst/>
          </a:prstGeom>
          <a:noFill/>
          <a:ln/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20686" y="1816438"/>
            <a:ext cx="98362" cy="98363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1619122" y="2057410"/>
            <a:ext cx="2301494" cy="155480"/>
          </a:xfrm>
          <a:prstGeom prst="rect">
            <a:avLst/>
          </a:prstGeom>
          <a:noFill/>
          <a:ln/>
        </p:spPr>
      </p:sp>
      <p:sp>
        <p:nvSpPr>
          <p:cNvPr id="45" name="Text 41"/>
          <p:cNvSpPr/>
          <p:nvPr/>
        </p:nvSpPr>
        <p:spPr>
          <a:xfrm>
            <a:off x="1619122" y="2057410"/>
            <a:ext cx="2301494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4"/>
              </a:lnSpc>
              <a:buNone/>
            </a:pPr>
            <a:r>
              <a:rPr lang="en-US" sz="441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문서를 가져올 폴더를 선택해주세요</a:t>
            </a:r>
            <a:endParaRPr lang="en-US" sz="441" dirty="0"/>
          </a:p>
        </p:txBody>
      </p:sp>
      <p:sp>
        <p:nvSpPr>
          <p:cNvPr id="46" name="Text 42"/>
          <p:cNvSpPr/>
          <p:nvPr/>
        </p:nvSpPr>
        <p:spPr>
          <a:xfrm>
            <a:off x="1619122" y="2150978"/>
            <a:ext cx="2301494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7"/>
              </a:lnSpc>
              <a:buNone/>
            </a:pPr>
            <a:r>
              <a:rPr lang="en-US" sz="386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Drive에서 마크다운, PDF, 오피스 문서 등이 보관된 폴더를 연결할 수 있습니다.</a:t>
            </a:r>
            <a:endParaRPr lang="en-US" sz="386" dirty="0"/>
          </a:p>
        </p:txBody>
      </p:sp>
      <p:sp>
        <p:nvSpPr>
          <p:cNvPr id="47" name="Shape 43"/>
          <p:cNvSpPr/>
          <p:nvPr/>
        </p:nvSpPr>
        <p:spPr>
          <a:xfrm>
            <a:off x="2386774" y="2286657"/>
            <a:ext cx="766191" cy="179938"/>
          </a:xfrm>
          <a:prstGeom prst="rect">
            <a:avLst/>
          </a:prstGeom>
          <a:noFill/>
          <a:ln/>
        </p:spPr>
      </p:sp>
      <p:sp>
        <p:nvSpPr>
          <p:cNvPr id="48" name="Shape 44"/>
          <p:cNvSpPr/>
          <p:nvPr/>
        </p:nvSpPr>
        <p:spPr>
          <a:xfrm>
            <a:off x="2386774" y="2316163"/>
            <a:ext cx="766191" cy="150431"/>
          </a:xfrm>
          <a:prstGeom prst="roundRect">
            <a:avLst>
              <a:gd name="adj" fmla="val 37660"/>
            </a:avLst>
          </a:prstGeom>
          <a:solidFill>
            <a:srgbClr val="1E3A5F"/>
          </a:solidFill>
          <a:ln/>
        </p:spPr>
      </p:sp>
      <p:sp>
        <p:nvSpPr>
          <p:cNvPr id="49" name="Text 45"/>
          <p:cNvSpPr/>
          <p:nvPr/>
        </p:nvSpPr>
        <p:spPr>
          <a:xfrm>
            <a:off x="2453164" y="2360422"/>
            <a:ext cx="633413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7"/>
              </a:lnSpc>
              <a:buNone/>
            </a:pPr>
            <a:r>
              <a:rPr lang="en-US" sz="38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Drive에서 폴더 선택</a:t>
            </a:r>
            <a:endParaRPr lang="en-US" sz="386" dirty="0"/>
          </a:p>
        </p:txBody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442085" y="2791165"/>
            <a:ext cx="2655570" cy="238951"/>
          </a:xfrm>
          <a:prstGeom prst="rect">
            <a:avLst/>
          </a:prstGeom>
        </p:spPr>
      </p:pic>
      <p:sp>
        <p:nvSpPr>
          <p:cNvPr id="51" name="Shape 46"/>
          <p:cNvSpPr/>
          <p:nvPr/>
        </p:nvSpPr>
        <p:spPr>
          <a:xfrm>
            <a:off x="2224088" y="2309813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224088" y="23431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53" name="Shape 48"/>
          <p:cNvSpPr/>
          <p:nvPr/>
        </p:nvSpPr>
        <p:spPr>
          <a:xfrm>
            <a:off x="1295400" y="2871788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1295400" y="290512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988" y="819150"/>
            <a:ext cx="5143500" cy="391239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1423988" y="819150"/>
            <a:ext cx="2857500" cy="3626644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1566863" y="933450"/>
            <a:ext cx="2571750" cy="473869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66863" y="933450"/>
            <a:ext cx="2571750" cy="2000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66863" y="1219200"/>
            <a:ext cx="2571750" cy="188119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1566863" y="1219200"/>
            <a:ext cx="2571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소스 설정</a:t>
            </a:r>
            <a:endParaRPr lang="en-US" sz="641" dirty="0"/>
          </a:p>
        </p:txBody>
      </p:sp>
      <p:sp>
        <p:nvSpPr>
          <p:cNvPr id="8" name="Text 5"/>
          <p:cNvSpPr/>
          <p:nvPr/>
        </p:nvSpPr>
        <p:spPr>
          <a:xfrm>
            <a:off x="1566863" y="1345406"/>
            <a:ext cx="257175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서비스에서 활용할 지식 베이스 폴더를 지정하고 연동할 파일 목록을 확인합니다.</a:t>
            </a:r>
            <a:endParaRPr lang="en-US" sz="374" dirty="0"/>
          </a:p>
        </p:txBody>
      </p:sp>
      <p:sp>
        <p:nvSpPr>
          <p:cNvPr id="9" name="Shape 6"/>
          <p:cNvSpPr/>
          <p:nvPr/>
        </p:nvSpPr>
        <p:spPr>
          <a:xfrm>
            <a:off x="1566863" y="1521619"/>
            <a:ext cx="2571750" cy="1219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1566863" y="1521619"/>
            <a:ext cx="242888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선택된 폴더</a:t>
            </a:r>
            <a:endParaRPr lang="en-US" sz="374" dirty="0"/>
          </a:p>
        </p:txBody>
      </p:sp>
      <p:sp>
        <p:nvSpPr>
          <p:cNvPr id="11" name="Shape 8"/>
          <p:cNvSpPr/>
          <p:nvPr/>
        </p:nvSpPr>
        <p:spPr>
          <a:xfrm>
            <a:off x="1566863" y="1626394"/>
            <a:ext cx="2571750" cy="9144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1566863" y="1626394"/>
            <a:ext cx="2571750" cy="28575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697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24013" y="1683544"/>
            <a:ext cx="2200275" cy="171450"/>
          </a:xfrm>
          <a:prstGeom prst="rect">
            <a:avLst/>
          </a:prstGeom>
          <a:noFill/>
          <a:ln/>
        </p:spPr>
      </p:sp>
      <p:sp>
        <p:nvSpPr>
          <p:cNvPr id="14" name="Shape 11"/>
          <p:cNvSpPr/>
          <p:nvPr/>
        </p:nvSpPr>
        <p:spPr>
          <a:xfrm>
            <a:off x="1624013" y="1683544"/>
            <a:ext cx="171450" cy="171450"/>
          </a:xfrm>
          <a:prstGeom prst="roundRect">
            <a:avLst>
              <a:gd name="adj" fmla="val 32000"/>
            </a:avLst>
          </a:prstGeom>
          <a:solidFill>
            <a:srgbClr val="1E3A5F">
              <a:alpha val="5098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66875" y="1726406"/>
            <a:ext cx="85725" cy="857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838325" y="1697831"/>
            <a:ext cx="1985963" cy="142875"/>
          </a:xfrm>
          <a:prstGeom prst="rect">
            <a:avLst/>
          </a:prstGeom>
          <a:noFill/>
          <a:ln/>
        </p:spPr>
      </p:sp>
      <p:sp>
        <p:nvSpPr>
          <p:cNvPr id="17" name="Text 13"/>
          <p:cNvSpPr/>
          <p:nvPr/>
        </p:nvSpPr>
        <p:spPr>
          <a:xfrm>
            <a:off x="1838325" y="1697831"/>
            <a:ext cx="1985963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2025_프로젝트_기획</a:t>
            </a:r>
            <a:endParaRPr lang="en-US" sz="427" dirty="0"/>
          </a:p>
        </p:txBody>
      </p:sp>
      <p:sp>
        <p:nvSpPr>
          <p:cNvPr id="18" name="Text 14"/>
          <p:cNvSpPr/>
          <p:nvPr/>
        </p:nvSpPr>
        <p:spPr>
          <a:xfrm>
            <a:off x="1838325" y="1783556"/>
            <a:ext cx="19526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"/>
              </a:lnSpc>
              <a:buNone/>
            </a:pPr>
            <a:r>
              <a:rPr lang="en-US" sz="347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12개</a:t>
            </a:r>
            <a:endParaRPr lang="en-US" sz="347" dirty="0"/>
          </a:p>
        </p:txBody>
      </p:sp>
      <p:sp>
        <p:nvSpPr>
          <p:cNvPr id="19" name="Text 15"/>
          <p:cNvSpPr/>
          <p:nvPr/>
        </p:nvSpPr>
        <p:spPr>
          <a:xfrm>
            <a:off x="3986213" y="1738313"/>
            <a:ext cx="9525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EF444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제거</a:t>
            </a:r>
            <a:endParaRPr lang="en-US" sz="374" dirty="0"/>
          </a:p>
        </p:txBody>
      </p:sp>
      <p:sp>
        <p:nvSpPr>
          <p:cNvPr id="20" name="Shape 16"/>
          <p:cNvSpPr/>
          <p:nvPr/>
        </p:nvSpPr>
        <p:spPr>
          <a:xfrm>
            <a:off x="1566863" y="1940719"/>
            <a:ext cx="2571750" cy="28575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697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624013" y="1997869"/>
            <a:ext cx="2362200" cy="171450"/>
          </a:xfrm>
          <a:prstGeom prst="rect">
            <a:avLst/>
          </a:prstGeom>
          <a:noFill/>
          <a:ln/>
        </p:spPr>
      </p:sp>
      <p:sp>
        <p:nvSpPr>
          <p:cNvPr id="22" name="Shape 18"/>
          <p:cNvSpPr/>
          <p:nvPr/>
        </p:nvSpPr>
        <p:spPr>
          <a:xfrm>
            <a:off x="1624013" y="1997869"/>
            <a:ext cx="171450" cy="171450"/>
          </a:xfrm>
          <a:prstGeom prst="roundRect">
            <a:avLst>
              <a:gd name="adj" fmla="val 32000"/>
            </a:avLst>
          </a:prstGeom>
          <a:solidFill>
            <a:srgbClr val="1E3A5F">
              <a:alpha val="5098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66875" y="2040731"/>
            <a:ext cx="85725" cy="8572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838325" y="2012156"/>
            <a:ext cx="2147888" cy="142875"/>
          </a:xfrm>
          <a:prstGeom prst="rect">
            <a:avLst/>
          </a:prstGeom>
          <a:noFill/>
          <a:ln/>
        </p:spPr>
      </p:sp>
      <p:sp>
        <p:nvSpPr>
          <p:cNvPr id="25" name="Text 20"/>
          <p:cNvSpPr/>
          <p:nvPr/>
        </p:nvSpPr>
        <p:spPr>
          <a:xfrm>
            <a:off x="1838325" y="2012156"/>
            <a:ext cx="2147888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회의록_모음</a:t>
            </a:r>
            <a:endParaRPr lang="en-US" sz="427" dirty="0"/>
          </a:p>
        </p:txBody>
      </p:sp>
      <p:sp>
        <p:nvSpPr>
          <p:cNvPr id="26" name="Text 21"/>
          <p:cNvSpPr/>
          <p:nvPr/>
        </p:nvSpPr>
        <p:spPr>
          <a:xfrm>
            <a:off x="1838325" y="2097881"/>
            <a:ext cx="17145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"/>
              </a:lnSpc>
              <a:buNone/>
            </a:pPr>
            <a:r>
              <a:rPr lang="en-US" sz="347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8개</a:t>
            </a:r>
            <a:endParaRPr lang="en-US" sz="347" dirty="0"/>
          </a:p>
        </p:txBody>
      </p:sp>
      <p:sp>
        <p:nvSpPr>
          <p:cNvPr id="27" name="Text 22"/>
          <p:cNvSpPr/>
          <p:nvPr/>
        </p:nvSpPr>
        <p:spPr>
          <a:xfrm>
            <a:off x="3986213" y="2052637"/>
            <a:ext cx="9525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EF444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제거</a:t>
            </a:r>
            <a:endParaRPr lang="en-US" sz="374" dirty="0"/>
          </a:p>
        </p:txBody>
      </p:sp>
      <p:sp>
        <p:nvSpPr>
          <p:cNvPr id="28" name="Shape 23"/>
          <p:cNvSpPr/>
          <p:nvPr/>
        </p:nvSpPr>
        <p:spPr>
          <a:xfrm>
            <a:off x="1566863" y="2255044"/>
            <a:ext cx="2571750" cy="28575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697">
            <a:solidFill>
              <a:srgbClr val="E2E8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624013" y="2312194"/>
            <a:ext cx="2362200" cy="171450"/>
          </a:xfrm>
          <a:prstGeom prst="rect">
            <a:avLst/>
          </a:prstGeom>
          <a:noFill/>
          <a:ln/>
        </p:spPr>
      </p:sp>
      <p:sp>
        <p:nvSpPr>
          <p:cNvPr id="30" name="Shape 25"/>
          <p:cNvSpPr/>
          <p:nvPr/>
        </p:nvSpPr>
        <p:spPr>
          <a:xfrm>
            <a:off x="1624013" y="2312194"/>
            <a:ext cx="171450" cy="171450"/>
          </a:xfrm>
          <a:prstGeom prst="roundRect">
            <a:avLst>
              <a:gd name="adj" fmla="val 32000"/>
            </a:avLst>
          </a:prstGeom>
          <a:solidFill>
            <a:srgbClr val="1E3A5F">
              <a:alpha val="5098"/>
            </a:srgbClr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66875" y="2355056"/>
            <a:ext cx="85725" cy="8572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838325" y="2326481"/>
            <a:ext cx="2147888" cy="142875"/>
          </a:xfrm>
          <a:prstGeom prst="rect">
            <a:avLst/>
          </a:prstGeom>
          <a:noFill/>
          <a:ln/>
        </p:spPr>
      </p:sp>
      <p:sp>
        <p:nvSpPr>
          <p:cNvPr id="33" name="Text 27"/>
          <p:cNvSpPr/>
          <p:nvPr/>
        </p:nvSpPr>
        <p:spPr>
          <a:xfrm>
            <a:off x="1838325" y="2326481"/>
            <a:ext cx="2147888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일일보고서_2025</a:t>
            </a:r>
            <a:endParaRPr lang="en-US" sz="427" dirty="0"/>
          </a:p>
        </p:txBody>
      </p:sp>
      <p:sp>
        <p:nvSpPr>
          <p:cNvPr id="34" name="Text 28"/>
          <p:cNvSpPr/>
          <p:nvPr/>
        </p:nvSpPr>
        <p:spPr>
          <a:xfrm>
            <a:off x="1838325" y="2412206"/>
            <a:ext cx="20002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"/>
              </a:lnSpc>
              <a:buNone/>
            </a:pPr>
            <a:r>
              <a:rPr lang="en-US" sz="347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23개</a:t>
            </a:r>
            <a:endParaRPr lang="en-US" sz="347" dirty="0"/>
          </a:p>
        </p:txBody>
      </p:sp>
      <p:sp>
        <p:nvSpPr>
          <p:cNvPr id="35" name="Text 29"/>
          <p:cNvSpPr/>
          <p:nvPr/>
        </p:nvSpPr>
        <p:spPr>
          <a:xfrm>
            <a:off x="3986213" y="2366963"/>
            <a:ext cx="9525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EF4444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제거</a:t>
            </a:r>
            <a:endParaRPr lang="en-US" sz="374" dirty="0"/>
          </a:p>
        </p:txBody>
      </p:sp>
      <p:sp>
        <p:nvSpPr>
          <p:cNvPr id="36" name="Shape 30"/>
          <p:cNvSpPr/>
          <p:nvPr/>
        </p:nvSpPr>
        <p:spPr>
          <a:xfrm>
            <a:off x="1566863" y="2583656"/>
            <a:ext cx="2571750" cy="157163"/>
          </a:xfrm>
          <a:prstGeom prst="roundRect">
            <a:avLst>
              <a:gd name="adj" fmla="val 34909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dash"/>
          </a:ln>
        </p:spPr>
      </p:sp>
      <p:sp>
        <p:nvSpPr>
          <p:cNvPr id="37" name="Text 31"/>
          <p:cNvSpPr/>
          <p:nvPr/>
        </p:nvSpPr>
        <p:spPr>
          <a:xfrm>
            <a:off x="2731294" y="2631281"/>
            <a:ext cx="242888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폴더 추가</a:t>
            </a:r>
            <a:endParaRPr lang="en-US" sz="374" dirty="0"/>
          </a:p>
        </p:txBody>
      </p:sp>
      <p:sp>
        <p:nvSpPr>
          <p:cNvPr id="38" name="Shape 32"/>
          <p:cNvSpPr/>
          <p:nvPr/>
        </p:nvSpPr>
        <p:spPr>
          <a:xfrm>
            <a:off x="1566863" y="2855119"/>
            <a:ext cx="2571750" cy="1243013"/>
          </a:xfrm>
          <a:prstGeom prst="rect">
            <a:avLst/>
          </a:prstGeom>
          <a:noFill/>
          <a:ln/>
        </p:spPr>
      </p:sp>
      <p:sp>
        <p:nvSpPr>
          <p:cNvPr id="39" name="Shape 33"/>
          <p:cNvSpPr/>
          <p:nvPr/>
        </p:nvSpPr>
        <p:spPr>
          <a:xfrm>
            <a:off x="1566863" y="2855119"/>
            <a:ext cx="2571750" cy="119063"/>
          </a:xfrm>
          <a:prstGeom prst="rect">
            <a:avLst/>
          </a:prstGeom>
          <a:noFill/>
          <a:ln/>
        </p:spPr>
      </p:sp>
      <p:sp>
        <p:nvSpPr>
          <p:cNvPr id="40" name="Shape 34"/>
          <p:cNvSpPr/>
          <p:nvPr/>
        </p:nvSpPr>
        <p:spPr>
          <a:xfrm>
            <a:off x="1566863" y="2878931"/>
            <a:ext cx="490538" cy="71438"/>
          </a:xfrm>
          <a:prstGeom prst="rect">
            <a:avLst/>
          </a:prstGeom>
          <a:noFill/>
          <a:ln/>
        </p:spPr>
      </p:sp>
      <p:sp>
        <p:nvSpPr>
          <p:cNvPr id="41" name="Shape 35"/>
          <p:cNvSpPr/>
          <p:nvPr/>
        </p:nvSpPr>
        <p:spPr>
          <a:xfrm>
            <a:off x="1566863" y="2878931"/>
            <a:ext cx="142875" cy="71438"/>
          </a:xfrm>
          <a:prstGeom prst="roundRect">
            <a:avLst>
              <a:gd name="adj" fmla="val 95999"/>
            </a:avLst>
          </a:prstGeom>
          <a:solidFill>
            <a:srgbClr val="1E3A5F"/>
          </a:solidFill>
          <a:ln/>
        </p:spPr>
      </p:sp>
      <p:sp>
        <p:nvSpPr>
          <p:cNvPr id="42" name="Shape 36"/>
          <p:cNvSpPr/>
          <p:nvPr/>
        </p:nvSpPr>
        <p:spPr>
          <a:xfrm>
            <a:off x="1645444" y="2886075"/>
            <a:ext cx="57150" cy="571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1752600" y="2883694"/>
            <a:ext cx="304800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하위 폴더 포함</a:t>
            </a:r>
            <a:endParaRPr lang="en-US" sz="374" dirty="0"/>
          </a:p>
        </p:txBody>
      </p:sp>
      <p:sp>
        <p:nvSpPr>
          <p:cNvPr id="44" name="Shape 38"/>
          <p:cNvSpPr/>
          <p:nvPr/>
        </p:nvSpPr>
        <p:spPr>
          <a:xfrm>
            <a:off x="3526631" y="2855119"/>
            <a:ext cx="611981" cy="119063"/>
          </a:xfrm>
          <a:prstGeom prst="rect">
            <a:avLst/>
          </a:prstGeom>
          <a:noFill/>
          <a:ln/>
        </p:spPr>
      </p:sp>
      <p:sp>
        <p:nvSpPr>
          <p:cNvPr id="45" name="Text 39"/>
          <p:cNvSpPr/>
          <p:nvPr/>
        </p:nvSpPr>
        <p:spPr>
          <a:xfrm>
            <a:off x="3526631" y="2883694"/>
            <a:ext cx="2000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탐색 깊이</a:t>
            </a:r>
            <a:endParaRPr lang="en-US" sz="374" dirty="0"/>
          </a:p>
        </p:txBody>
      </p:sp>
      <p:sp>
        <p:nvSpPr>
          <p:cNvPr id="46" name="Shape 40"/>
          <p:cNvSpPr/>
          <p:nvPr/>
        </p:nvSpPr>
        <p:spPr>
          <a:xfrm>
            <a:off x="3769519" y="2855119"/>
            <a:ext cx="369094" cy="119063"/>
          </a:xfrm>
          <a:prstGeom prst="roundRect">
            <a:avLst>
              <a:gd name="adj" fmla="val 46080"/>
            </a:avLst>
          </a:prstGeom>
          <a:solidFill>
            <a:srgbClr val="FFFFFF"/>
          </a:solidFill>
          <a:ln w="3393">
            <a:solidFill>
              <a:srgbClr val="E2E8F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3812381" y="2883694"/>
            <a:ext cx="2190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2단계까지</a:t>
            </a:r>
            <a:endParaRPr lang="en-US" sz="374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052888" y="2893219"/>
            <a:ext cx="42863" cy="42863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1566863" y="3045619"/>
            <a:ext cx="2571750" cy="928688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1697">
            <a:solidFill>
              <a:srgbClr val="E2E8F0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566863" y="3045619"/>
            <a:ext cx="2571750" cy="142875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1566863" y="3188494"/>
            <a:ext cx="257175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4"/>
          <p:cNvSpPr/>
          <p:nvPr/>
        </p:nvSpPr>
        <p:spPr>
          <a:xfrm>
            <a:off x="1566863" y="3188494"/>
            <a:ext cx="2571750" cy="833438"/>
          </a:xfrm>
          <a:prstGeom prst="rect">
            <a:avLst/>
          </a:prstGeom>
          <a:noFill/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566863" y="3188494"/>
            <a:ext cx="2571750" cy="166688"/>
          </a:xfrm>
          <a:prstGeom prst="rect">
            <a:avLst/>
          </a:prstGeom>
        </p:spPr>
      </p:pic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566863" y="3355181"/>
            <a:ext cx="2571750" cy="166688"/>
          </a:xfrm>
          <a:prstGeom prst="rect">
            <a:avLst/>
          </a:prstGeom>
        </p:spPr>
      </p:pic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566863" y="3521869"/>
            <a:ext cx="2571750" cy="166688"/>
          </a:xfrm>
          <a:prstGeom prst="rect">
            <a:avLst/>
          </a:prstGeom>
        </p:spPr>
      </p:pic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566863" y="3688556"/>
            <a:ext cx="2571750" cy="166688"/>
          </a:xfrm>
          <a:prstGeom prst="rect">
            <a:avLst/>
          </a:prstGeom>
        </p:spPr>
      </p:pic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28571"/>
          <a:stretch/>
        </p:blipFill>
        <p:spPr>
          <a:xfrm>
            <a:off x="1566863" y="3855244"/>
            <a:ext cx="2571750" cy="119063"/>
          </a:xfrm>
          <a:prstGeom prst="rect">
            <a:avLst/>
          </a:prstGeom>
        </p:spPr>
      </p:pic>
      <p:sp>
        <p:nvSpPr>
          <p:cNvPr id="58" name="Shape 45"/>
          <p:cNvSpPr/>
          <p:nvPr/>
        </p:nvSpPr>
        <p:spPr>
          <a:xfrm>
            <a:off x="4095750" y="3188494"/>
            <a:ext cx="28575" cy="785813"/>
          </a:xfrm>
          <a:prstGeom prst="roundRect">
            <a:avLst>
              <a:gd name="adj" fmla="val 96000"/>
            </a:avLst>
          </a:prstGeom>
          <a:solidFill>
            <a:srgbClr val="E2E8F0"/>
          </a:solidFill>
          <a:ln/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095750" y="3288506"/>
            <a:ext cx="28575" cy="157163"/>
          </a:xfrm>
          <a:prstGeom prst="rect">
            <a:avLst/>
          </a:prstGeom>
        </p:spPr>
      </p:pic>
      <p:sp>
        <p:nvSpPr>
          <p:cNvPr id="60" name="Shape 46"/>
          <p:cNvSpPr/>
          <p:nvPr/>
        </p:nvSpPr>
        <p:spPr>
          <a:xfrm>
            <a:off x="2166938" y="3028950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61" name="Text 47"/>
          <p:cNvSpPr/>
          <p:nvPr/>
        </p:nvSpPr>
        <p:spPr>
          <a:xfrm>
            <a:off x="2166938" y="30622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62" name="Shape 48"/>
          <p:cNvSpPr/>
          <p:nvPr/>
        </p:nvSpPr>
        <p:spPr>
          <a:xfrm>
            <a:off x="1566863" y="4045744"/>
            <a:ext cx="2571750" cy="52388"/>
          </a:xfrm>
          <a:prstGeom prst="rect">
            <a:avLst/>
          </a:prstGeom>
          <a:noFill/>
          <a:ln/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566863" y="4046934"/>
            <a:ext cx="50006" cy="50006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1638300" y="4045744"/>
            <a:ext cx="2500313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"/>
              </a:lnSpc>
              <a:buNone/>
            </a:pPr>
            <a:r>
              <a:rPr lang="en-US" sz="32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1개 파일은 지원되지 않는 형식이라 제외돼요</a:t>
            </a:r>
            <a:endParaRPr lang="en-US" sz="321" dirty="0"/>
          </a:p>
        </p:txBody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566863" y="4212431"/>
            <a:ext cx="2571750" cy="233362"/>
          </a:xfrm>
          <a:prstGeom prst="rect">
            <a:avLst/>
          </a:prstGeom>
        </p:spPr>
      </p:pic>
      <p:sp>
        <p:nvSpPr>
          <p:cNvPr id="66" name="Shape 50"/>
          <p:cNvSpPr/>
          <p:nvPr/>
        </p:nvSpPr>
        <p:spPr>
          <a:xfrm>
            <a:off x="1404938" y="2614613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67" name="Text 51"/>
          <p:cNvSpPr/>
          <p:nvPr/>
        </p:nvSpPr>
        <p:spPr>
          <a:xfrm>
            <a:off x="1404938" y="26479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68" name="Shape 52"/>
          <p:cNvSpPr/>
          <p:nvPr/>
        </p:nvSpPr>
        <p:spPr>
          <a:xfrm>
            <a:off x="3424238" y="4286250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69" name="Text 53"/>
          <p:cNvSpPr/>
          <p:nvPr/>
        </p:nvSpPr>
        <p:spPr>
          <a:xfrm>
            <a:off x="3424238" y="43195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99" dirty="0"/>
          </a:p>
        </p:txBody>
      </p:sp>
      <p:sp>
        <p:nvSpPr>
          <p:cNvPr id="70" name="Shape 54"/>
          <p:cNvSpPr/>
          <p:nvPr/>
        </p:nvSpPr>
        <p:spPr>
          <a:xfrm>
            <a:off x="190500" y="121458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1" name="Text 55"/>
          <p:cNvSpPr/>
          <p:nvPr/>
        </p:nvSpPr>
        <p:spPr>
          <a:xfrm>
            <a:off x="248666" y="231973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72" name="Shape 56"/>
          <p:cNvSpPr/>
          <p:nvPr/>
        </p:nvSpPr>
        <p:spPr>
          <a:xfrm>
            <a:off x="1237488" y="121458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73" name="Text 57"/>
          <p:cNvSpPr/>
          <p:nvPr/>
        </p:nvSpPr>
        <p:spPr>
          <a:xfrm>
            <a:off x="1295653" y="231973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소스 설정 (선택 완료 상태)</a:t>
            </a:r>
            <a:endParaRPr lang="en-US" sz="696" dirty="0"/>
          </a:p>
        </p:txBody>
      </p:sp>
      <p:sp>
        <p:nvSpPr>
          <p:cNvPr id="74" name="Shape 58"/>
          <p:cNvSpPr/>
          <p:nvPr/>
        </p:nvSpPr>
        <p:spPr>
          <a:xfrm>
            <a:off x="4378451" y="121458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5" name="Text 59"/>
          <p:cNvSpPr/>
          <p:nvPr/>
        </p:nvSpPr>
        <p:spPr>
          <a:xfrm>
            <a:off x="4436618" y="231973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76" name="Shape 60"/>
          <p:cNvSpPr/>
          <p:nvPr/>
        </p:nvSpPr>
        <p:spPr>
          <a:xfrm>
            <a:off x="5425440" y="121458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77" name="Text 61"/>
          <p:cNvSpPr/>
          <p:nvPr/>
        </p:nvSpPr>
        <p:spPr>
          <a:xfrm>
            <a:off x="5483606" y="231973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R-007</a:t>
            </a:r>
            <a:endParaRPr lang="en-US" sz="696" dirty="0"/>
          </a:p>
        </p:txBody>
      </p:sp>
      <p:sp>
        <p:nvSpPr>
          <p:cNvPr id="78" name="Shape 62"/>
          <p:cNvSpPr/>
          <p:nvPr/>
        </p:nvSpPr>
        <p:spPr>
          <a:xfrm>
            <a:off x="190500" y="44718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9" name="Text 63"/>
          <p:cNvSpPr/>
          <p:nvPr/>
        </p:nvSpPr>
        <p:spPr>
          <a:xfrm>
            <a:off x="248666" y="557703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80" name="Shape 64"/>
          <p:cNvSpPr/>
          <p:nvPr/>
        </p:nvSpPr>
        <p:spPr>
          <a:xfrm>
            <a:off x="1237488" y="44718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81" name="Text 65"/>
          <p:cNvSpPr/>
          <p:nvPr/>
        </p:nvSpPr>
        <p:spPr>
          <a:xfrm>
            <a:off x="1295653" y="557703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온보딩 → 폴더 선택</a:t>
            </a:r>
            <a:endParaRPr lang="en-US" sz="696" dirty="0"/>
          </a:p>
        </p:txBody>
      </p:sp>
      <p:sp>
        <p:nvSpPr>
          <p:cNvPr id="82" name="Shape 66"/>
          <p:cNvSpPr/>
          <p:nvPr/>
        </p:nvSpPr>
        <p:spPr>
          <a:xfrm>
            <a:off x="4378451" y="44718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3" name="Text 67"/>
          <p:cNvSpPr/>
          <p:nvPr/>
        </p:nvSpPr>
        <p:spPr>
          <a:xfrm>
            <a:off x="4436618" y="557703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84" name="Shape 68"/>
          <p:cNvSpPr/>
          <p:nvPr/>
        </p:nvSpPr>
        <p:spPr>
          <a:xfrm>
            <a:off x="5425440" y="44718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85" name="Text 69"/>
          <p:cNvSpPr/>
          <p:nvPr/>
        </p:nvSpPr>
        <p:spPr>
          <a:xfrm>
            <a:off x="5491163" y="557213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spc="139" kern="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C-1</a:t>
            </a:r>
            <a:endParaRPr lang="en-US" sz="713" dirty="0"/>
          </a:p>
        </p:txBody>
      </p:sp>
      <p:sp>
        <p:nvSpPr>
          <p:cNvPr id="86" name="Shape 70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7" name="Text 71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88" name="Shape 72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9" name="Text 73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90" name="Text 74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Drive 폴더 선택 및 관리</a:t>
            </a:r>
            <a:endParaRPr lang="en-US" sz="534" dirty="0"/>
          </a:p>
        </p:txBody>
      </p:sp>
      <p:sp>
        <p:nvSpPr>
          <p:cNvPr id="91" name="Text 75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Picker를 통해 지식 베이스로 연동할 폴더를 다중 선택하고, 추가된 폴더 목록(파일 개수 포함)과 개별 '제거' 버튼을 제공합니다.</a:t>
            </a:r>
            <a:endParaRPr lang="en-US" sz="463" dirty="0"/>
          </a:p>
        </p:txBody>
      </p:sp>
      <p:sp>
        <p:nvSpPr>
          <p:cNvPr id="92" name="Shape 76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3" name="Text 77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94" name="Text 78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하위 폴더 포함 및 탐색 길이 설정</a:t>
            </a:r>
            <a:endParaRPr lang="en-US" sz="534" dirty="0"/>
          </a:p>
        </p:txBody>
      </p:sp>
      <p:sp>
        <p:nvSpPr>
          <p:cNvPr id="95" name="Text 79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토글 스위치를 통해 하위 폴더 포함 여부를 지정하고, 드롭다운을 통해 탐색 깊이(예: 2단계까지 등)를 설정할 수 있습니다.</a:t>
            </a:r>
            <a:endParaRPr lang="en-US" sz="463" dirty="0"/>
          </a:p>
        </p:txBody>
      </p:sp>
      <p:sp>
        <p:nvSpPr>
          <p:cNvPr id="96" name="Shape 80"/>
          <p:cNvSpPr/>
          <p:nvPr/>
        </p:nvSpPr>
        <p:spPr>
          <a:xfrm>
            <a:off x="5619750" y="19907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7" name="Text 81"/>
          <p:cNvSpPr/>
          <p:nvPr/>
        </p:nvSpPr>
        <p:spPr>
          <a:xfrm>
            <a:off x="5619750" y="2024062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98" name="Text 82"/>
          <p:cNvSpPr/>
          <p:nvPr/>
        </p:nvSpPr>
        <p:spPr>
          <a:xfrm>
            <a:off x="5848350" y="19812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가져올 파일 목록 미리보기 및 상태 확인</a:t>
            </a:r>
            <a:endParaRPr lang="en-US" sz="534" dirty="0"/>
          </a:p>
        </p:txBody>
      </p:sp>
      <p:sp>
        <p:nvSpPr>
          <p:cNvPr id="99" name="Text 83"/>
          <p:cNvSpPr/>
          <p:nvPr/>
        </p:nvSpPr>
        <p:spPr>
          <a:xfrm>
            <a:off x="5848350" y="21145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선택된 폴더 내 파일들의 목록과 지원 여부(지원됨/미지원)를 확인하며, 미지원 파일 제외 안내 문구를 노출합니다.</a:t>
            </a:r>
            <a:endParaRPr lang="en-US" sz="463" dirty="0"/>
          </a:p>
        </p:txBody>
      </p:sp>
      <p:sp>
        <p:nvSpPr>
          <p:cNvPr id="100" name="Shape 84"/>
          <p:cNvSpPr/>
          <p:nvPr/>
        </p:nvSpPr>
        <p:spPr>
          <a:xfrm>
            <a:off x="5619750" y="275272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01" name="Text 85"/>
          <p:cNvSpPr/>
          <p:nvPr/>
        </p:nvSpPr>
        <p:spPr>
          <a:xfrm>
            <a:off x="5686425" y="2519363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102" name="Text 86"/>
          <p:cNvSpPr/>
          <p:nvPr/>
        </p:nvSpPr>
        <p:spPr>
          <a:xfrm>
            <a:off x="5657850" y="301942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지원 형식: Google Docs/PDF/DOCX만 "지원됨", 스프레드시트(xlsx)는 미지원</a:t>
            </a:r>
            <a:endParaRPr lang="en-US" sz="463" dirty="0"/>
          </a:p>
        </p:txBody>
      </p:sp>
      <p:sp>
        <p:nvSpPr>
          <p:cNvPr id="103" name="Text 87"/>
          <p:cNvSpPr/>
          <p:nvPr/>
        </p:nvSpPr>
        <p:spPr>
          <a:xfrm>
            <a:off x="5657850" y="323850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미지원 파일 카운트는 전체 파일 목록 기준으로 계산</a:t>
            </a:r>
            <a:endParaRPr lang="en-US" sz="463" dirty="0"/>
          </a:p>
        </p:txBody>
      </p:sp>
      <p:sp>
        <p:nvSpPr>
          <p:cNvPr id="104" name="Text 88"/>
          <p:cNvSpPr/>
          <p:nvPr/>
        </p:nvSpPr>
        <p:spPr>
          <a:xfrm>
            <a:off x="5657850" y="345757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빈 상태(폴더 미선택)는 별도 화면(folder-select-empty) 존재</a:t>
            </a:r>
            <a:endParaRPr lang="en-US" sz="463" dirty="0"/>
          </a:p>
        </p:txBody>
      </p:sp>
      <p:sp>
        <p:nvSpPr>
          <p:cNvPr id="105" name="Text 89"/>
          <p:cNvSpPr/>
          <p:nvPr/>
        </p:nvSpPr>
        <p:spPr>
          <a:xfrm>
            <a:off x="5657850" y="3676650"/>
            <a:ext cx="3257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폴더 변경 시 기존 인덱스 처리 방식은 미정 (삭제/유지/재스캔 중 택1 필요)</a:t>
            </a:r>
            <a:endParaRPr lang="en-US" sz="463" dirty="0"/>
          </a:p>
        </p:txBody>
      </p:sp>
      <p:sp>
        <p:nvSpPr>
          <p:cNvPr id="106" name="Shape 90"/>
          <p:cNvSpPr/>
          <p:nvPr/>
        </p:nvSpPr>
        <p:spPr>
          <a:xfrm>
            <a:off x="5619750" y="239553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7" name="Text 91"/>
          <p:cNvSpPr/>
          <p:nvPr/>
        </p:nvSpPr>
        <p:spPr>
          <a:xfrm>
            <a:off x="5619750" y="24288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99" dirty="0"/>
          </a:p>
        </p:txBody>
      </p:sp>
      <p:sp>
        <p:nvSpPr>
          <p:cNvPr id="108" name="Text 92"/>
          <p:cNvSpPr/>
          <p:nvPr/>
        </p:nvSpPr>
        <p:spPr>
          <a:xfrm>
            <a:off x="5848350" y="2386013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하단 단계 이동 버튼</a:t>
            </a:r>
            <a:endParaRPr lang="en-US" sz="534" dirty="0"/>
          </a:p>
        </p:txBody>
      </p:sp>
      <p:sp>
        <p:nvSpPr>
          <p:cNvPr id="109" name="Text 93"/>
          <p:cNvSpPr/>
          <p:nvPr/>
        </p:nvSpPr>
        <p:spPr>
          <a:xfrm>
            <a:off x="5848350" y="2519363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'이전 단계'로 돌아가거나, 설정 완료 후 '다음: 폴더 역할 지정' 버튼을 눌러 다음 화면으로 이동할 수 있습니다.</a:t>
            </a:r>
            <a:endParaRPr lang="en-US" sz="463" dirty="0"/>
          </a:p>
        </p:txBody>
      </p:sp>
      <p:sp>
        <p:nvSpPr>
          <p:cNvPr id="110" name="Shape 94"/>
          <p:cNvSpPr/>
          <p:nvPr/>
        </p:nvSpPr>
        <p:spPr>
          <a:xfrm>
            <a:off x="1404938" y="2833688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111" name="Text 95"/>
          <p:cNvSpPr/>
          <p:nvPr/>
        </p:nvSpPr>
        <p:spPr>
          <a:xfrm>
            <a:off x="1404938" y="286702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" name="Text 1"/>
          <p:cNvSpPr/>
          <p:nvPr/>
        </p:nvSpPr>
        <p:spPr>
          <a:xfrm>
            <a:off x="248666" y="231973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4" name="Shape 2"/>
          <p:cNvSpPr/>
          <p:nvPr/>
        </p:nvSpPr>
        <p:spPr>
          <a:xfrm>
            <a:off x="1237487" y="121458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653" y="231973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폴더별 역할(role) 지정</a:t>
            </a:r>
            <a:endParaRPr lang="en-US" sz="696" dirty="0"/>
          </a:p>
        </p:txBody>
      </p:sp>
      <p:sp>
        <p:nvSpPr>
          <p:cNvPr id="6" name="Shape 4"/>
          <p:cNvSpPr/>
          <p:nvPr/>
        </p:nvSpPr>
        <p:spPr>
          <a:xfrm>
            <a:off x="4378451" y="121458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" name="Text 5"/>
          <p:cNvSpPr/>
          <p:nvPr/>
        </p:nvSpPr>
        <p:spPr>
          <a:xfrm>
            <a:off x="4436618" y="231973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8" name="Shape 6"/>
          <p:cNvSpPr/>
          <p:nvPr/>
        </p:nvSpPr>
        <p:spPr>
          <a:xfrm>
            <a:off x="5425441" y="121458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3605" y="231973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R-008</a:t>
            </a:r>
            <a:endParaRPr lang="en-US" sz="696" dirty="0"/>
          </a:p>
        </p:txBody>
      </p:sp>
      <p:sp>
        <p:nvSpPr>
          <p:cNvPr id="10" name="Shape 8"/>
          <p:cNvSpPr/>
          <p:nvPr/>
        </p:nvSpPr>
        <p:spPr>
          <a:xfrm>
            <a:off x="190500" y="44718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1" name="Text 9"/>
          <p:cNvSpPr/>
          <p:nvPr/>
        </p:nvSpPr>
        <p:spPr>
          <a:xfrm>
            <a:off x="248666" y="557703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2" name="Shape 10"/>
          <p:cNvSpPr/>
          <p:nvPr/>
        </p:nvSpPr>
        <p:spPr>
          <a:xfrm>
            <a:off x="1237487" y="44718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653" y="557703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폴더 선택 → 폴더 역할 지정</a:t>
            </a:r>
            <a:endParaRPr lang="en-US" sz="696" dirty="0"/>
          </a:p>
        </p:txBody>
      </p:sp>
      <p:sp>
        <p:nvSpPr>
          <p:cNvPr id="14" name="Shape 12"/>
          <p:cNvSpPr/>
          <p:nvPr/>
        </p:nvSpPr>
        <p:spPr>
          <a:xfrm>
            <a:off x="4378451" y="44718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5" name="Text 13"/>
          <p:cNvSpPr/>
          <p:nvPr/>
        </p:nvSpPr>
        <p:spPr>
          <a:xfrm>
            <a:off x="4436618" y="557703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6" name="Shape 14"/>
          <p:cNvSpPr/>
          <p:nvPr/>
        </p:nvSpPr>
        <p:spPr>
          <a:xfrm>
            <a:off x="5425441" y="44718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3605" y="557703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C-2</a:t>
            </a:r>
            <a:endParaRPr lang="en-US" sz="696" dirty="0"/>
          </a:p>
        </p:txBody>
      </p:sp>
      <p:sp>
        <p:nvSpPr>
          <p:cNvPr id="18" name="Shape 16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9" name="Text 17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0" name="Shape 18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2" name="Text 20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폴더별 role 드롭다운</a:t>
            </a:r>
            <a:endParaRPr lang="en-US" sz="534" dirty="0"/>
          </a:p>
        </p:txBody>
      </p:sp>
      <p:sp>
        <p:nvSpPr>
          <p:cNvPr id="23" name="Text 21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기획서/회의록/일일보고서/개인/미분류 중 선택, 폴더 단위 기본값</a:t>
            </a:r>
            <a:endParaRPr lang="en-US" sz="463" dirty="0"/>
          </a:p>
        </p:txBody>
      </p:sp>
      <p:sp>
        <p:nvSpPr>
          <p:cNvPr id="24" name="Shape 22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6" name="Text 24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파일별 role 개별 재지정(펼침)</a:t>
            </a:r>
            <a:endParaRPr lang="en-US" sz="534" dirty="0"/>
          </a:p>
        </p:txBody>
      </p:sp>
      <p:sp>
        <p:nvSpPr>
          <p:cNvPr id="27" name="Text 25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기본은 폴더 role 상속, 필요한 파일만 개별 override 가능</a:t>
            </a:r>
            <a:endParaRPr lang="en-US" sz="463" dirty="0"/>
          </a:p>
        </p:txBody>
      </p:sp>
      <p:sp>
        <p:nvSpPr>
          <p:cNvPr id="28" name="Shape 26"/>
          <p:cNvSpPr/>
          <p:nvPr/>
        </p:nvSpPr>
        <p:spPr>
          <a:xfrm>
            <a:off x="5619750" y="202882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9" name="Text 27"/>
          <p:cNvSpPr/>
          <p:nvPr/>
        </p:nvSpPr>
        <p:spPr>
          <a:xfrm>
            <a:off x="5686425" y="2081212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0" name="Text 28"/>
          <p:cNvSpPr/>
          <p:nvPr/>
        </p:nvSpPr>
        <p:spPr>
          <a:xfrm>
            <a:off x="5657850" y="229552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파일 단위 지정은 선택적 · 기본 접힘 상태로 편의성 유지</a:t>
            </a:r>
            <a:endParaRPr lang="en-US" sz="463" dirty="0"/>
          </a:p>
        </p:txBody>
      </p:sp>
      <p:sp>
        <p:nvSpPr>
          <p:cNvPr id="31" name="Text 29"/>
          <p:cNvSpPr/>
          <p:nvPr/>
        </p:nvSpPr>
        <p:spPr>
          <a:xfrm>
            <a:off x="5657850" y="251460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role_override 없으면 folder_config.role 상속</a:t>
            </a:r>
            <a:endParaRPr lang="en-US" sz="463" dirty="0"/>
          </a:p>
        </p:txBody>
      </p:sp>
      <p:sp>
        <p:nvSpPr>
          <p:cNvPr id="32" name="Shape 30"/>
          <p:cNvSpPr/>
          <p:nvPr/>
        </p:nvSpPr>
        <p:spPr>
          <a:xfrm>
            <a:off x="280988" y="819150"/>
            <a:ext cx="514350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423988" y="1033462"/>
            <a:ext cx="2857500" cy="2543175"/>
          </a:xfrm>
          <a:prstGeom prst="rect">
            <a:avLst/>
          </a:prstGeom>
          <a:noFill/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23988" y="1033462"/>
            <a:ext cx="2857500" cy="49530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1423988" y="1643063"/>
            <a:ext cx="2857500" cy="1585913"/>
          </a:xfrm>
          <a:prstGeom prst="rect">
            <a:avLst/>
          </a:prstGeom>
          <a:noFill/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23988" y="1643063"/>
            <a:ext cx="2857500" cy="242888"/>
          </a:xfrm>
          <a:prstGeom prst="rect">
            <a:avLst/>
          </a:prstGeom>
        </p:spPr>
      </p:pic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423988" y="1885950"/>
            <a:ext cx="2857500" cy="1100138"/>
          </a:xfrm>
          <a:prstGeom prst="rect">
            <a:avLst/>
          </a:prstGeom>
        </p:spPr>
      </p:pic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423988" y="2986088"/>
            <a:ext cx="2857500" cy="24288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1423988" y="3343275"/>
            <a:ext cx="2857500" cy="233362"/>
          </a:xfrm>
          <a:prstGeom prst="rect">
            <a:avLst/>
          </a:prstGeom>
          <a:noFill/>
          <a:ln/>
        </p:spPr>
      </p:sp>
      <p:sp>
        <p:nvSpPr>
          <p:cNvPr id="40" name="Shape 34"/>
          <p:cNvSpPr/>
          <p:nvPr/>
        </p:nvSpPr>
        <p:spPr>
          <a:xfrm>
            <a:off x="1423988" y="3429000"/>
            <a:ext cx="421481" cy="147638"/>
          </a:xfrm>
          <a:prstGeom prst="roundRect">
            <a:avLst>
              <a:gd name="adj" fmla="val 37161"/>
            </a:avLst>
          </a:prstGeom>
          <a:noFill/>
          <a:ln w="3393">
            <a:solidFill>
              <a:srgbClr val="E2E8F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495425" y="3477816"/>
            <a:ext cx="50006" cy="50006"/>
          </a:xfrm>
          <a:prstGeom prst="rect">
            <a:avLst/>
          </a:prstGeom>
          <a:noFill/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495425" y="3477816"/>
            <a:ext cx="50006" cy="5000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574006" y="3471863"/>
            <a:ext cx="20002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 단계</a:t>
            </a:r>
            <a:endParaRPr lang="en-US" sz="374" dirty="0"/>
          </a:p>
        </p:txBody>
      </p:sp>
      <p:sp>
        <p:nvSpPr>
          <p:cNvPr id="44" name="Shape 37"/>
          <p:cNvSpPr/>
          <p:nvPr/>
        </p:nvSpPr>
        <p:spPr>
          <a:xfrm>
            <a:off x="3621881" y="3429000"/>
            <a:ext cx="659606" cy="147638"/>
          </a:xfrm>
          <a:prstGeom prst="roundRect">
            <a:avLst>
              <a:gd name="adj" fmla="val 37161"/>
            </a:avLst>
          </a:prstGeom>
          <a:solidFill>
            <a:srgbClr val="1E3A5F"/>
          </a:solidFill>
          <a:ln/>
        </p:spPr>
      </p:sp>
      <p:sp>
        <p:nvSpPr>
          <p:cNvPr id="45" name="Text 38"/>
          <p:cNvSpPr/>
          <p:nvPr/>
        </p:nvSpPr>
        <p:spPr>
          <a:xfrm>
            <a:off x="3707606" y="3471863"/>
            <a:ext cx="409575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"/>
              </a:lnSpc>
              <a:buNone/>
            </a:pPr>
            <a:r>
              <a:rPr lang="en-US" sz="37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다음: 워크로드 설정</a:t>
            </a:r>
            <a:endParaRPr lang="en-US" sz="374" dirty="0"/>
          </a:p>
        </p:txBody>
      </p:sp>
      <p:sp>
        <p:nvSpPr>
          <p:cNvPr id="46" name="Shape 39"/>
          <p:cNvSpPr/>
          <p:nvPr/>
        </p:nvSpPr>
        <p:spPr>
          <a:xfrm>
            <a:off x="4145756" y="3477816"/>
            <a:ext cx="50006" cy="50006"/>
          </a:xfrm>
          <a:prstGeom prst="rect">
            <a:avLst/>
          </a:prstGeom>
          <a:noFill/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145756" y="3477816"/>
            <a:ext cx="50006" cy="50006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4219575" y="1704975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219575" y="17383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50" name="Shape 42"/>
          <p:cNvSpPr/>
          <p:nvPr/>
        </p:nvSpPr>
        <p:spPr>
          <a:xfrm>
            <a:off x="4191000" y="2181225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4191000" y="22145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" name="Text 1"/>
          <p:cNvSpPr/>
          <p:nvPr/>
        </p:nvSpPr>
        <p:spPr>
          <a:xfrm>
            <a:off x="248666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4" name="Shape 2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653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외부 서비스 연결</a:t>
            </a:r>
            <a:endParaRPr lang="en-US" sz="696" dirty="0"/>
          </a:p>
        </p:txBody>
      </p:sp>
      <p:sp>
        <p:nvSpPr>
          <p:cNvPr id="6" name="Shape 4"/>
          <p:cNvSpPr/>
          <p:nvPr/>
        </p:nvSpPr>
        <p:spPr>
          <a:xfrm>
            <a:off x="4378451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" name="Text 5"/>
          <p:cNvSpPr/>
          <p:nvPr/>
        </p:nvSpPr>
        <p:spPr>
          <a:xfrm>
            <a:off x="4436618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8" name="Shape 6"/>
          <p:cNvSpPr/>
          <p:nvPr/>
        </p:nvSpPr>
        <p:spPr>
          <a:xfrm>
            <a:off x="5425441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3605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R-009</a:t>
            </a:r>
            <a:endParaRPr lang="en-US" sz="696" dirty="0"/>
          </a:p>
        </p:txBody>
      </p:sp>
      <p:sp>
        <p:nvSpPr>
          <p:cNvPr id="10" name="Shape 8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1" name="Text 9"/>
          <p:cNvSpPr/>
          <p:nvPr/>
        </p:nvSpPr>
        <p:spPr>
          <a:xfrm>
            <a:off x="248666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2" name="Shape 10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653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온보딩 &gt; 외부 서비스 연결</a:t>
            </a:r>
            <a:endParaRPr lang="en-US" sz="696" dirty="0"/>
          </a:p>
        </p:txBody>
      </p:sp>
      <p:sp>
        <p:nvSpPr>
          <p:cNvPr id="14" name="Shape 12"/>
          <p:cNvSpPr/>
          <p:nvPr/>
        </p:nvSpPr>
        <p:spPr>
          <a:xfrm>
            <a:off x="4378451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5" name="Text 13"/>
          <p:cNvSpPr/>
          <p:nvPr/>
        </p:nvSpPr>
        <p:spPr>
          <a:xfrm>
            <a:off x="4436618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6" name="Shape 14"/>
          <p:cNvSpPr/>
          <p:nvPr/>
        </p:nvSpPr>
        <p:spPr>
          <a:xfrm>
            <a:off x="5425441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3605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C-3</a:t>
            </a:r>
            <a:endParaRPr lang="en-US" sz="696" dirty="0"/>
          </a:p>
        </p:txBody>
      </p:sp>
      <p:sp>
        <p:nvSpPr>
          <p:cNvPr id="18" name="Shape 16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9" name="Text 17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0" name="Shape 18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2" name="Text 20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외부 서비스 연결 카드 UI</a:t>
            </a:r>
            <a:endParaRPr lang="en-US" sz="534" dirty="0"/>
          </a:p>
        </p:txBody>
      </p:sp>
      <p:sp>
        <p:nvSpPr>
          <p:cNvPr id="23" name="Text 21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Jira, Google Drive, Google Calendar, People DB 등 4개의 외부 서비스를 카드 형태로 배치하여 각 서비스의 역할과 연결 상태를 보여줍니다.</a:t>
            </a:r>
            <a:endParaRPr lang="en-US" sz="463" dirty="0"/>
          </a:p>
        </p:txBody>
      </p:sp>
      <p:sp>
        <p:nvSpPr>
          <p:cNvPr id="24" name="Shape 22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6" name="Text 24"/>
          <p:cNvSpPr/>
          <p:nvPr/>
        </p:nvSpPr>
        <p:spPr>
          <a:xfrm>
            <a:off x="5848350" y="1543050"/>
            <a:ext cx="3105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연결 상태 분기 및 액션 버튼</a:t>
            </a:r>
            <a:endParaRPr lang="en-US" sz="534" dirty="0"/>
          </a:p>
        </p:txBody>
      </p:sp>
      <p:sp>
        <p:nvSpPr>
          <p:cNvPr id="27" name="Text 25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미연결 시 '연결하기' 버튼을 제공하여 인증을 진행하고, 연결 완료 시 '연결 완료' 또는 '설정 관리' 상태로 전환됩니다.</a:t>
            </a:r>
            <a:endParaRPr lang="en-US" sz="463" dirty="0"/>
          </a:p>
        </p:txBody>
      </p:sp>
      <p:sp>
        <p:nvSpPr>
          <p:cNvPr id="28" name="Shape 26"/>
          <p:cNvSpPr/>
          <p:nvPr/>
        </p:nvSpPr>
        <p:spPr>
          <a:xfrm>
            <a:off x="5619750" y="1552577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5619750" y="158591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0" name="Text 28"/>
          <p:cNvSpPr/>
          <p:nvPr/>
        </p:nvSpPr>
        <p:spPr>
          <a:xfrm>
            <a:off x="5848350" y="1543052"/>
            <a:ext cx="3105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연결 상태 분기 및 액션 버튼</a:t>
            </a:r>
            <a:endParaRPr lang="en-US" sz="534" dirty="0"/>
          </a:p>
        </p:txBody>
      </p:sp>
      <p:sp>
        <p:nvSpPr>
          <p:cNvPr id="31" name="Text 29"/>
          <p:cNvSpPr/>
          <p:nvPr/>
        </p:nvSpPr>
        <p:spPr>
          <a:xfrm>
            <a:off x="5848350" y="1676402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미연결 시 '연결하기' 버튼을 제공하여 인증을 진행하고, 연결 완료 시 '연결 완료' 또는 '설정 관리' 상태로 전환됩니다.</a:t>
            </a:r>
            <a:endParaRPr lang="en-US" sz="463" dirty="0"/>
          </a:p>
        </p:txBody>
      </p:sp>
      <p:sp>
        <p:nvSpPr>
          <p:cNvPr id="32" name="Shape 30"/>
          <p:cNvSpPr/>
          <p:nvPr/>
        </p:nvSpPr>
        <p:spPr>
          <a:xfrm>
            <a:off x="5619750" y="2447927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3" name="Text 31"/>
          <p:cNvSpPr/>
          <p:nvPr/>
        </p:nvSpPr>
        <p:spPr>
          <a:xfrm>
            <a:off x="5686425" y="2081212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4" name="Text 32"/>
          <p:cNvSpPr/>
          <p:nvPr/>
        </p:nvSpPr>
        <p:spPr>
          <a:xfrm>
            <a:off x="5657850" y="2714627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필수 서비스(Jira) 미연결 시 '다음 단계로' 버튼 비활성화 처리 필요</a:t>
            </a:r>
            <a:endParaRPr lang="en-US" sz="463" dirty="0"/>
          </a:p>
        </p:txBody>
      </p:sp>
      <p:sp>
        <p:nvSpPr>
          <p:cNvPr id="35" name="Text 33"/>
          <p:cNvSpPr/>
          <p:nvPr/>
        </p:nvSpPr>
        <p:spPr>
          <a:xfrm>
            <a:off x="5657850" y="2933702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OAuth 인증 실패 시 재시도 안내 메시지 표시 필요</a:t>
            </a:r>
            <a:endParaRPr lang="en-US" sz="463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2438400" y="18288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38" name="Shape 35"/>
          <p:cNvSpPr/>
          <p:nvPr/>
        </p:nvSpPr>
        <p:spPr>
          <a:xfrm>
            <a:off x="5619750" y="1971677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5619750" y="200501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0" name="Text 37"/>
          <p:cNvSpPr/>
          <p:nvPr/>
        </p:nvSpPr>
        <p:spPr>
          <a:xfrm>
            <a:off x="5848350" y="1962152"/>
            <a:ext cx="3105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온보딩 단계 이동 및 하단 액션</a:t>
            </a:r>
            <a:endParaRPr lang="en-US" sz="534" dirty="0"/>
          </a:p>
        </p:txBody>
      </p:sp>
      <p:sp>
        <p:nvSpPr>
          <p:cNvPr id="41" name="Text 38"/>
          <p:cNvSpPr/>
          <p:nvPr/>
        </p:nvSpPr>
        <p:spPr>
          <a:xfrm>
            <a:off x="5848350" y="2095502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우측 상단에 진행 단계(Step 1 of 2)를 노출하며, 필수 서비스 연동 여부에 따라 하단의 '다음 단계로' 버튼 활성화 상태가 제어되고 '나중에 하기'를 통해 건너뛸 수 있습니다</a:t>
            </a:r>
            <a:endParaRPr lang="en-US" sz="46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619750" y="83580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5686425" y="888192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5" name="Shape 3"/>
          <p:cNvSpPr/>
          <p:nvPr/>
        </p:nvSpPr>
        <p:spPr>
          <a:xfrm>
            <a:off x="5619750" y="113108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619750" y="1164417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7" name="Text 5"/>
          <p:cNvSpPr/>
          <p:nvPr/>
        </p:nvSpPr>
        <p:spPr>
          <a:xfrm>
            <a:off x="5848350" y="1121555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프로젝트 다중 선택 (체크박스)</a:t>
            </a:r>
            <a:endParaRPr lang="en-US" sz="534" dirty="0"/>
          </a:p>
        </p:txBody>
      </p:sp>
      <p:sp>
        <p:nvSpPr>
          <p:cNvPr id="8" name="Text 6"/>
          <p:cNvSpPr/>
          <p:nvPr/>
        </p:nvSpPr>
        <p:spPr>
          <a:xfrm>
            <a:off x="5848350" y="1254905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연결된 Jira에서 프로젝트 목록을 불러와 체크박스로 여러 개를 동시에 선택할 수 있습니다.</a:t>
            </a:r>
            <a:endParaRPr lang="en-US" sz="463" dirty="0"/>
          </a:p>
        </p:txBody>
      </p:sp>
      <p:sp>
        <p:nvSpPr>
          <p:cNvPr id="9" name="Shape 7"/>
          <p:cNvSpPr/>
          <p:nvPr/>
        </p:nvSpPr>
        <p:spPr>
          <a:xfrm>
            <a:off x="5619750" y="156923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619750" y="1602567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11" name="Text 9"/>
          <p:cNvSpPr/>
          <p:nvPr/>
        </p:nvSpPr>
        <p:spPr>
          <a:xfrm>
            <a:off x="5848350" y="1559705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보드 선택</a:t>
            </a:r>
            <a:endParaRPr lang="en-US" sz="534" dirty="0"/>
          </a:p>
        </p:txBody>
      </p:sp>
      <p:sp>
        <p:nvSpPr>
          <p:cNvPr id="12" name="Text 10"/>
          <p:cNvSpPr/>
          <p:nvPr/>
        </p:nvSpPr>
        <p:spPr>
          <a:xfrm>
            <a:off x="5848350" y="1693055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선택한 프로젝트 하위의 보드(Sprint Board, Kanban Board) 선택</a:t>
            </a:r>
            <a:endParaRPr lang="en-US" sz="463" dirty="0"/>
          </a:p>
        </p:txBody>
      </p:sp>
      <p:sp>
        <p:nvSpPr>
          <p:cNvPr id="13" name="Text 11"/>
          <p:cNvSpPr/>
          <p:nvPr/>
        </p:nvSpPr>
        <p:spPr>
          <a:xfrm>
            <a:off x="5619750" y="1602567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14" name="Text 12"/>
          <p:cNvSpPr/>
          <p:nvPr/>
        </p:nvSpPr>
        <p:spPr>
          <a:xfrm>
            <a:off x="5848350" y="1559705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보드 선택</a:t>
            </a:r>
            <a:endParaRPr lang="en-US" sz="534" dirty="0"/>
          </a:p>
        </p:txBody>
      </p:sp>
      <p:sp>
        <p:nvSpPr>
          <p:cNvPr id="15" name="Text 13"/>
          <p:cNvSpPr/>
          <p:nvPr/>
        </p:nvSpPr>
        <p:spPr>
          <a:xfrm>
            <a:off x="5848350" y="1693055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선택한 프로젝트 하위에 속한 보드(Sprint Board, Kanban Board 등)를 지정합니다.</a:t>
            </a:r>
            <a:endParaRPr lang="en-US" sz="463" dirty="0"/>
          </a:p>
        </p:txBody>
      </p:sp>
      <p:sp>
        <p:nvSpPr>
          <p:cNvPr id="16" name="Shape 14"/>
          <p:cNvSpPr/>
          <p:nvPr/>
        </p:nvSpPr>
        <p:spPr>
          <a:xfrm>
            <a:off x="5619750" y="2612217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7" name="Text 15"/>
          <p:cNvSpPr/>
          <p:nvPr/>
        </p:nvSpPr>
        <p:spPr>
          <a:xfrm>
            <a:off x="5686425" y="2097867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18" name="Text 16"/>
          <p:cNvSpPr/>
          <p:nvPr/>
        </p:nvSpPr>
        <p:spPr>
          <a:xfrm>
            <a:off x="5657850" y="2878917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프로젝트 목록 로딩 실패 시 재시도 안내 표시</a:t>
            </a:r>
            <a:endParaRPr lang="en-US" sz="463" dirty="0"/>
          </a:p>
        </p:txBody>
      </p:sp>
      <p:sp>
        <p:nvSpPr>
          <p:cNvPr id="19" name="Text 17"/>
          <p:cNvSpPr/>
          <p:nvPr/>
        </p:nvSpPr>
        <p:spPr>
          <a:xfrm>
            <a:off x="5657850" y="3097992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최소 1개 프로젝트 선택해야 다음 버튼 활성화</a:t>
            </a:r>
            <a:endParaRPr lang="en-US" sz="463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35805"/>
            <a:ext cx="5143500" cy="36576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619750" y="2040717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5619750" y="207405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23" name="Text 20"/>
          <p:cNvSpPr/>
          <p:nvPr/>
        </p:nvSpPr>
        <p:spPr>
          <a:xfrm>
            <a:off x="5848350" y="2031192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필드 매핑 확인</a:t>
            </a:r>
            <a:endParaRPr lang="en-US" sz="534" dirty="0"/>
          </a:p>
        </p:txBody>
      </p:sp>
      <p:sp>
        <p:nvSpPr>
          <p:cNvPr id="24" name="Text 21"/>
          <p:cNvSpPr/>
          <p:nvPr/>
        </p:nvSpPr>
        <p:spPr>
          <a:xfrm>
            <a:off x="5848350" y="2164542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프로젝트 및 보드 설정을 완료한 후 다음 화면으로 이동합니다.</a:t>
            </a:r>
            <a:endParaRPr lang="en-US" sz="463" dirty="0"/>
          </a:p>
        </p:txBody>
      </p:sp>
      <p:sp>
        <p:nvSpPr>
          <p:cNvPr id="25" name="Shape 22"/>
          <p:cNvSpPr/>
          <p:nvPr/>
        </p:nvSpPr>
        <p:spPr>
          <a:xfrm>
            <a:off x="1638300" y="180975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3"/>
          <p:cNvSpPr/>
          <p:nvPr/>
        </p:nvSpPr>
        <p:spPr>
          <a:xfrm>
            <a:off x="1638300" y="18430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7" name="Shape 24"/>
          <p:cNvSpPr/>
          <p:nvPr/>
        </p:nvSpPr>
        <p:spPr>
          <a:xfrm>
            <a:off x="1800225" y="240030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1800225" y="243363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9" name="Shape 26"/>
          <p:cNvSpPr/>
          <p:nvPr/>
        </p:nvSpPr>
        <p:spPr>
          <a:xfrm>
            <a:off x="3295650" y="343376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7"/>
          <p:cNvSpPr/>
          <p:nvPr/>
        </p:nvSpPr>
        <p:spPr>
          <a:xfrm>
            <a:off x="3295650" y="34671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31" name="Text 28"/>
          <p:cNvSpPr/>
          <p:nvPr/>
        </p:nvSpPr>
        <p:spPr>
          <a:xfrm>
            <a:off x="5667375" y="2657475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2" name="Shape 29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3" name="Text 30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34" name="Shape 31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95656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프로젝트 선택</a:t>
            </a:r>
            <a:endParaRPr lang="en-US" sz="696" dirty="0"/>
          </a:p>
        </p:txBody>
      </p:sp>
      <p:sp>
        <p:nvSpPr>
          <p:cNvPr id="36" name="Shape 33"/>
          <p:cNvSpPr/>
          <p:nvPr/>
        </p:nvSpPr>
        <p:spPr>
          <a:xfrm>
            <a:off x="4378454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7" name="Text 34"/>
          <p:cNvSpPr/>
          <p:nvPr/>
        </p:nvSpPr>
        <p:spPr>
          <a:xfrm>
            <a:off x="4436618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38" name="Shape 35"/>
          <p:cNvSpPr/>
          <p:nvPr/>
        </p:nvSpPr>
        <p:spPr>
          <a:xfrm>
            <a:off x="5425441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83605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R-010</a:t>
            </a:r>
            <a:endParaRPr lang="en-US" sz="696" dirty="0"/>
          </a:p>
        </p:txBody>
      </p:sp>
      <p:sp>
        <p:nvSpPr>
          <p:cNvPr id="40" name="Shape 37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1" name="Text 38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42" name="Shape 39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295656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커넥터 연결 &gt; Jira 연결 &gt; 프로젝트 선택</a:t>
            </a:r>
            <a:endParaRPr lang="en-US" sz="696" dirty="0"/>
          </a:p>
        </p:txBody>
      </p:sp>
      <p:sp>
        <p:nvSpPr>
          <p:cNvPr id="44" name="Shape 41"/>
          <p:cNvSpPr/>
          <p:nvPr/>
        </p:nvSpPr>
        <p:spPr>
          <a:xfrm>
            <a:off x="4378454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5" name="Text 42"/>
          <p:cNvSpPr/>
          <p:nvPr/>
        </p:nvSpPr>
        <p:spPr>
          <a:xfrm>
            <a:off x="4436618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46" name="Shape 43"/>
          <p:cNvSpPr/>
          <p:nvPr/>
        </p:nvSpPr>
        <p:spPr>
          <a:xfrm>
            <a:off x="5425441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3605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C-4</a:t>
            </a:r>
            <a:endParaRPr lang="en-US" sz="696" dirty="0"/>
          </a:p>
        </p:txBody>
      </p:sp>
      <p:sp>
        <p:nvSpPr>
          <p:cNvPr id="48" name="Shape 45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9" name="Text 46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50" name="Shape 47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52" name="Text 49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동기화/로딩</a:t>
            </a:r>
            <a:endParaRPr lang="en-US" sz="534" dirty="0"/>
          </a:p>
        </p:txBody>
      </p:sp>
      <p:sp>
        <p:nvSpPr>
          <p:cNvPr id="53" name="Text 50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상태 표시: 연동된 외부 Jira 계정으로부터 프로젝트/보드 리스트 데이터를 동기화하는 중임을 나타내는 로딩 스피너(Loading Spinner)를 표시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안내 문구: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메인: Jira에서 프로젝트 정보를 불러오는 중이에요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서브: 초기 설정 시 시간이 오래 걸릴 수 있습니다 (사용자 대기 안내)</a:t>
            </a:r>
            <a:endParaRPr lang="en-US" sz="463" dirty="0"/>
          </a:p>
        </p:txBody>
      </p:sp>
      <p:sp>
        <p:nvSpPr>
          <p:cNvPr id="54" name="Shape 51"/>
          <p:cNvSpPr/>
          <p:nvPr/>
        </p:nvSpPr>
        <p:spPr>
          <a:xfrm>
            <a:off x="5619750" y="181450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5" name="Text 52"/>
          <p:cNvSpPr/>
          <p:nvPr/>
        </p:nvSpPr>
        <p:spPr>
          <a:xfrm>
            <a:off x="5619750" y="184784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56" name="Text 53"/>
          <p:cNvSpPr/>
          <p:nvPr/>
        </p:nvSpPr>
        <p:spPr>
          <a:xfrm>
            <a:off x="5848350" y="1804983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네비게이션 액션</a:t>
            </a:r>
            <a:endParaRPr lang="en-US" sz="534" dirty="0"/>
          </a:p>
        </p:txBody>
      </p:sp>
      <p:sp>
        <p:nvSpPr>
          <p:cNvPr id="57" name="Text 54"/>
          <p:cNvSpPr/>
          <p:nvPr/>
        </p:nvSpPr>
        <p:spPr>
          <a:xfrm>
            <a:off x="5848350" y="1938333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 단계: 이전 연동/설정 화면으로 돌아가는 버튼입니다.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다음: 필드 매핑 확인: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로딩 및 프로젝트 선택 완료 전까지는 비활성화(Disabled/Grayed-out) 상태를 유지합니다.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동기화 완료 후 프로젝트 선택이 완료되면 활성화되어 클릭 시 다음 단계인 '필드 매핑' 화면으로 진입합니다.</a:t>
            </a:r>
            <a:endParaRPr lang="en-US" sz="463" dirty="0"/>
          </a:p>
        </p:txBody>
      </p:sp>
      <p:sp>
        <p:nvSpPr>
          <p:cNvPr id="58" name="Shape 55"/>
          <p:cNvSpPr/>
          <p:nvPr/>
        </p:nvSpPr>
        <p:spPr>
          <a:xfrm>
            <a:off x="5619750" y="257174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59" name="Text 56"/>
          <p:cNvSpPr/>
          <p:nvPr/>
        </p:nvSpPr>
        <p:spPr>
          <a:xfrm>
            <a:off x="5686425" y="2624133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60" name="Text 57"/>
          <p:cNvSpPr/>
          <p:nvPr/>
        </p:nvSpPr>
        <p:spPr>
          <a:xfrm>
            <a:off x="5657850" y="283844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필수 커넥터(Docs+Jira) 미연결 시 다음 버튼 비활성 여부 확정 필요</a:t>
            </a:r>
            <a:endParaRPr lang="en-US" sz="463" dirty="0"/>
          </a:p>
        </p:txBody>
      </p:sp>
      <p:sp>
        <p:nvSpPr>
          <p:cNvPr id="61" name="Text 58"/>
          <p:cNvSpPr/>
          <p:nvPr/>
        </p:nvSpPr>
        <p:spPr>
          <a:xfrm>
            <a:off x="5657850" y="305752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OAuth 연결 실패 시 에러 안내 + 재시도 제공</a:t>
            </a:r>
            <a:endParaRPr lang="en-US" sz="463" dirty="0"/>
          </a:p>
        </p:txBody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63" name="Shape 59"/>
          <p:cNvSpPr/>
          <p:nvPr/>
        </p:nvSpPr>
        <p:spPr>
          <a:xfrm>
            <a:off x="1504950" y="3362320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1504950" y="33956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65" name="Shape 61"/>
          <p:cNvSpPr/>
          <p:nvPr/>
        </p:nvSpPr>
        <p:spPr>
          <a:xfrm>
            <a:off x="2133600" y="227647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6" name="Text 62"/>
          <p:cNvSpPr/>
          <p:nvPr/>
        </p:nvSpPr>
        <p:spPr>
          <a:xfrm>
            <a:off x="2133600" y="230980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56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커넥터 연결 (초기)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54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18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41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5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R-011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56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연결 &gt; 프로젝트 선택 &gt; 정보 불러오는 중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54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18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41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5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C-5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동기화/로딩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상태 표시: 연동된 외부 Jira 계정으로부터 프로젝트/보드 리스트 데이터를 동기화하는 중임을 나타내는 로딩 스피너(Loading Spinner)를 표시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안내 문구: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메인: Jira에서 프로젝트 정보를 불러오는 중이에요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서브: 초기 설정 시 시간이 오래 걸릴 수 있습니다 (사용자 대기 안내)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81450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84784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804983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네비게이션 액션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1938333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 단계: 이전 연동/설정 화면으로 돌아가는 버튼입니다.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다음: 필드 매핑 확인: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로딩 및 프로젝트 선택 완료 전까지는 비활성화(Disabled/Grayed-out) 상태를 유지합니다.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동기화 완료 후 프로젝트 선택이 완료되면 활성화되어 클릭 시 다음 단계인 '필드 매핑' 화면으로 진입합니다.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257174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2624133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283844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필수 커넥터(Docs+Jira) 미연결 시 다음 버튼 비활성 여부 확정 필요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305752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OAuth 연결 실패 시 에러 안내 + 재시도 제공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1504950" y="3362320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504950" y="33956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6" name="Shape 33"/>
          <p:cNvSpPr/>
          <p:nvPr/>
        </p:nvSpPr>
        <p:spPr>
          <a:xfrm>
            <a:off x="2133600" y="227647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4"/>
          <p:cNvSpPr/>
          <p:nvPr/>
        </p:nvSpPr>
        <p:spPr>
          <a:xfrm>
            <a:off x="2133600" y="230980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56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Point 필드 확인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54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18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41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5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R-012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56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커넥터 연결 &gt; Jira 연결 &gt; SP 필드 확인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54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18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41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5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C-6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자동 감지된 Story Point 필드 확인 요청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Jira에서 자동으로 감지한 SP 필드명과 샘플 값을 보여주고 올바른지 확인받습니다.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확인/변경 분기</a:t>
            </a:r>
            <a:endParaRPr lang="en-US" sz="534" dirty="0"/>
          </a:p>
        </p:txBody>
      </p:sp>
      <p:sp>
        <p:nvSpPr>
          <p:cNvPr id="28" name="Shape 26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0" name="Text 28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확인/변경 분기</a:t>
            </a:r>
            <a:endParaRPr lang="en-US" sz="534" dirty="0"/>
          </a:p>
        </p:txBody>
      </p:sp>
      <p:sp>
        <p:nvSpPr>
          <p:cNvPr id="31" name="Shape 29"/>
          <p:cNvSpPr/>
          <p:nvPr/>
        </p:nvSpPr>
        <p:spPr>
          <a:xfrm>
            <a:off x="5619750" y="198120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2" name="Text 30"/>
          <p:cNvSpPr/>
          <p:nvPr/>
        </p:nvSpPr>
        <p:spPr>
          <a:xfrm>
            <a:off x="5686425" y="2081212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3" name="Text 31"/>
          <p:cNvSpPr/>
          <p:nvPr/>
        </p:nvSpPr>
        <p:spPr>
          <a:xfrm>
            <a:off x="5657850" y="224790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필드 감지 실패 시 수동 선택 UI 제공 필요</a:t>
            </a:r>
            <a:endParaRPr lang="en-US" sz="463" dirty="0"/>
          </a:p>
        </p:txBody>
      </p:sp>
      <p:sp>
        <p:nvSpPr>
          <p:cNvPr id="34" name="Text 32"/>
          <p:cNvSpPr/>
          <p:nvPr/>
        </p:nvSpPr>
        <p:spPr>
          <a:xfrm>
            <a:off x="5657850" y="246697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미리보기 값이 비어있으면 '데이터 없음' 안내 표시</a:t>
            </a:r>
            <a:endParaRPr lang="en-US" sz="463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848350" y="1666875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'맞아요' 선택 시 다음 단계로 진행하고, '아니에요, 다른 필드예요' 선택 시 필드 변경 화면으로 이동합니다.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1604963" y="169068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/>
          <p:nvPr/>
        </p:nvSpPr>
        <p:spPr>
          <a:xfrm>
            <a:off x="1604963" y="172402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39" name="Shape 36"/>
          <p:cNvSpPr/>
          <p:nvPr/>
        </p:nvSpPr>
        <p:spPr>
          <a:xfrm>
            <a:off x="1643063" y="23907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7"/>
          <p:cNvSpPr/>
          <p:nvPr/>
        </p:nvSpPr>
        <p:spPr>
          <a:xfrm>
            <a:off x="1643063" y="24241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41" name="Text 38"/>
          <p:cNvSpPr/>
          <p:nvPr/>
        </p:nvSpPr>
        <p:spPr>
          <a:xfrm>
            <a:off x="5676900" y="2500313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56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Point 필드 변경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54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18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R-013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56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커넥터 연결 &gt; Jira 연결 &gt; SP 필드 변경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54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18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C-6-1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대안 필드 목록에서 SP 필드 수동 선택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추천된 필드(Effort, Custom Points, Complexity 등) 중 원하는 항목을 라디오 버튼으로 선택합니다.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필드의 실제 값 미리보기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선택하기 전 각 필드의 샘플 값(예: 1, 2, 3 / 2, 4, 8 등)을 미리 확인하여 올바른 필드인지 판단할 수 있도록 돕습니다.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2481263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2081212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2747963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선택 후 '이 필드로 Story Point를 사용하겠습니다' 확인 문구 표시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2967038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목록에 원하는 필드가 없을 경우 Jira 설정 안내 링크 제공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5619750" y="19907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2"/>
          <p:cNvSpPr/>
          <p:nvPr/>
        </p:nvSpPr>
        <p:spPr>
          <a:xfrm>
            <a:off x="5619750" y="2024062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36" name="Text 33"/>
          <p:cNvSpPr/>
          <p:nvPr/>
        </p:nvSpPr>
        <p:spPr>
          <a:xfrm>
            <a:off x="5848350" y="19812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처리 및 안내 링크</a:t>
            </a:r>
            <a:endParaRPr lang="en-US" sz="534" dirty="0"/>
          </a:p>
        </p:txBody>
      </p:sp>
      <p:sp>
        <p:nvSpPr>
          <p:cNvPr id="37" name="Text 34"/>
          <p:cNvSpPr/>
          <p:nvPr/>
        </p:nvSpPr>
        <p:spPr>
          <a:xfrm>
            <a:off x="5848350" y="21145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목록에 원하는 필드가 없는 경우 Jira 설정 안내 링크를 제공하며, '이 필드는 Story Point를 사용하지 않아요(건너뛰기)' 옵션을 제공합니다.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1533525" y="18192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1533525" y="1852612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40" name="Shape 37"/>
          <p:cNvSpPr/>
          <p:nvPr/>
        </p:nvSpPr>
        <p:spPr>
          <a:xfrm>
            <a:off x="3252788" y="18192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8"/>
          <p:cNvSpPr/>
          <p:nvPr/>
        </p:nvSpPr>
        <p:spPr>
          <a:xfrm>
            <a:off x="3252788" y="1852612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42" name="Shape 39"/>
          <p:cNvSpPr/>
          <p:nvPr/>
        </p:nvSpPr>
        <p:spPr>
          <a:xfrm>
            <a:off x="2166938" y="25050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2166938" y="25384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4" name="Text 41"/>
          <p:cNvSpPr/>
          <p:nvPr/>
        </p:nvSpPr>
        <p:spPr>
          <a:xfrm>
            <a:off x="5686425" y="2528888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51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커넥터 연결 (Docs+Jira 완료)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R-014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51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온보딩 &gt; 커넥터 연결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B-1-1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외부 서비스 커넥터 연동 현황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45"/>
            <a:ext cx="3105150" cy="79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4개 커넥터 제공: 업무 배정 분석에 사용되는 외부 서비스(Jira, Google Docs, Google Calendar, People DB)를 가로 카드 형태로 노출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상태별 배지 및 버튼 동작: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연결됨 (초록색 배지):</a:t>
            </a:r>
            <a:endParaRPr lang="en-US" sz="463" dirty="0"/>
          </a:p>
          <a:p>
            <a:pPr algn="l" lvl="2" marL="10287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Jira, Google Docs: 연동이 완료되어 하단 버튼이 비활성화 상태인 연결 완료로 변경</a:t>
            </a:r>
            <a:endParaRPr lang="en-US" sz="463" dirty="0"/>
          </a:p>
          <a:p>
            <a:pPr algn="l" lvl="2" marL="10287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DB: 연동 완료 후 설정 변경이 가능하도록 설정 관리 버튼을 제공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미연결 (회색 배지):</a:t>
            </a:r>
            <a:endParaRPr lang="en-US" sz="463" dirty="0"/>
          </a:p>
          <a:p>
            <a:pPr algn="l" lvl="2" marL="10287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Calendar: 연동 전 상태로, 클릭하여 계정을 연동할 수 있는 연결하기 (Dark Navy) 버튼을 제공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205739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209073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204787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온보딩 이동 및 건너뛰기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218122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Calendar, PeopleDB는 미연결 상태로 남아있으며 선택 연결 가능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319087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3243258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345757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필수 커넥터(Docs+Jira) 연결 완료 시 '다음' 버튼 활성화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367664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OAuth 토큰 만료 시 재인증 안내 자동 표시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3271838" y="3376613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71838" y="34099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6" name="Shape 33"/>
          <p:cNvSpPr/>
          <p:nvPr/>
        </p:nvSpPr>
        <p:spPr>
          <a:xfrm>
            <a:off x="842963" y="19907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4"/>
          <p:cNvSpPr/>
          <p:nvPr/>
        </p:nvSpPr>
        <p:spPr>
          <a:xfrm>
            <a:off x="842963" y="20240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38" name="Shape 35"/>
          <p:cNvSpPr/>
          <p:nvPr/>
        </p:nvSpPr>
        <p:spPr>
          <a:xfrm>
            <a:off x="947737" y="287178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947737" y="290512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0" name="Shape 37"/>
          <p:cNvSpPr/>
          <p:nvPr/>
        </p:nvSpPr>
        <p:spPr>
          <a:xfrm>
            <a:off x="5619750" y="24860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8"/>
          <p:cNvSpPr/>
          <p:nvPr/>
        </p:nvSpPr>
        <p:spPr>
          <a:xfrm>
            <a:off x="5619750" y="25193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2" name="Text 39"/>
          <p:cNvSpPr/>
          <p:nvPr/>
        </p:nvSpPr>
        <p:spPr>
          <a:xfrm>
            <a:off x="5848350" y="2490788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하단 액션 버튼</a:t>
            </a:r>
            <a:endParaRPr lang="en-US" sz="534" dirty="0"/>
          </a:p>
        </p:txBody>
      </p:sp>
      <p:sp>
        <p:nvSpPr>
          <p:cNvPr id="43" name="Text 40"/>
          <p:cNvSpPr/>
          <p:nvPr/>
        </p:nvSpPr>
        <p:spPr>
          <a:xfrm>
            <a:off x="5848350" y="2624138"/>
            <a:ext cx="31051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연결완료 / 확인: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계정 연동 및 설정이 정상적으로 끝난 후 팝업을 닫는 메인 버튼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클릭 시 모달이 닫히며, 부모 화면(커넥터 목록)의 해당 서비스 카드가 연결됨 (초록색 배지) 상태로 즉시 업데이트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취소 / 다른 계정으로 연결: 연동을 취소하거나 다른 계정으로 다시 인증하고자 할 때 사용하는 보조 버튼</a:t>
            </a:r>
            <a:endParaRPr lang="en-US" sz="46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51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초기 설정 로딩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R-015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51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온보딩 &gt; 초기 설정 로딩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B-2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커넥터 데이터 초기 동기화 진행 표시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Drive 폴더 연결, 문서 인덱싱, 팀원 워크로드 계산 단계를 순차적으로 표시합니다.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543050"/>
            <a:ext cx="3105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단계별 체크리스트 패턴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완료(초록 체크), 진행 중(파란 스피너), 대기(빈 원)로 상태를 구분합니다.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202882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2081212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229552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일부 항목 실패해도 진행은 계속, PARTIAL_RESULT로 대시보드 표시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251460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무한 대기 방지를 위한 타임아웃 설정 필요 (논의 필요)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2438400" y="179546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2"/>
          <p:cNvSpPr/>
          <p:nvPr/>
        </p:nvSpPr>
        <p:spPr>
          <a:xfrm>
            <a:off x="2438400" y="18288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36" name="Shape 33"/>
          <p:cNvSpPr/>
          <p:nvPr/>
        </p:nvSpPr>
        <p:spPr>
          <a:xfrm>
            <a:off x="1838325" y="272415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4"/>
          <p:cNvSpPr/>
          <p:nvPr/>
        </p:nvSpPr>
        <p:spPr>
          <a:xfrm>
            <a:off x="1838325" y="27574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51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메인 대시보드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R-016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51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대시보드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D-1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조직도 현황 및 팀원 워크로드 표시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부서별 조직 구조와 팀원별 업무 부하 순위(Top 5), 팀별 분석 차트를 보여줍니다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현황 및 일정 캘린더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실시간 태스크 진행 건수, ETA 기준 일정 준수율, 월간 일정을 한눈에 확인합니다.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252412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2081212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279082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조직도는 People DB 연동 데이터 기반, 미연동 시 빈 상태 안내 표시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300990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부하도 Top5 실시간 갱신, 캘린더는 Jira 스프린트와 동기화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5619750" y="198596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2"/>
          <p:cNvSpPr/>
          <p:nvPr/>
        </p:nvSpPr>
        <p:spPr>
          <a:xfrm>
            <a:off x="5619750" y="20193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36" name="Text 33"/>
          <p:cNvSpPr/>
          <p:nvPr/>
        </p:nvSpPr>
        <p:spPr>
          <a:xfrm>
            <a:off x="5848350" y="1976438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최근 업데이트 내역</a:t>
            </a:r>
            <a:endParaRPr lang="en-US" sz="534" dirty="0"/>
          </a:p>
        </p:txBody>
      </p:sp>
      <p:sp>
        <p:nvSpPr>
          <p:cNvPr id="37" name="Text 34"/>
          <p:cNvSpPr/>
          <p:nvPr/>
        </p:nvSpPr>
        <p:spPr>
          <a:xfrm>
            <a:off x="5848350" y="2109788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내 발생한 최근 변경 사항과 작업 이력을 시간순으로 표시합니다.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3695700" y="333851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3695700" y="33718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0" name="Text 37"/>
          <p:cNvSpPr/>
          <p:nvPr/>
        </p:nvSpPr>
        <p:spPr>
          <a:xfrm>
            <a:off x="5176838" y="18573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41" name="Shape 38"/>
          <p:cNvSpPr/>
          <p:nvPr/>
        </p:nvSpPr>
        <p:spPr>
          <a:xfrm>
            <a:off x="3271838" y="151923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39"/>
          <p:cNvSpPr/>
          <p:nvPr/>
        </p:nvSpPr>
        <p:spPr>
          <a:xfrm>
            <a:off x="3271838" y="15525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43" name="Shape 40"/>
          <p:cNvSpPr/>
          <p:nvPr/>
        </p:nvSpPr>
        <p:spPr>
          <a:xfrm>
            <a:off x="466725" y="163353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4" name="Text 41"/>
          <p:cNvSpPr/>
          <p:nvPr/>
        </p:nvSpPr>
        <p:spPr>
          <a:xfrm>
            <a:off x="466725" y="16668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51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신규 파일 (빈 상태)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R-017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51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&gt; 신규 파일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E-1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6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신규 파일 비어 있음(Empty) 상태 표시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'새로 추가된 파일이 없어요' 안내 문구와 함께 동기화 대기 상태를 보여줍니다.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5525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5859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등록 액션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167640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우측 하단의 '선택 파일 등록' 버튼을 통해 새로운 파일을 추가할 수 있습니다.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252412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2081212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279082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파일 등록 후 자동으로 목록 갱신되어야 함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300990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PARTIAL_RESULT 항목 클릭 시 상세 실패 내역 확인 가능해야 함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3271838" y="34099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5" name="Shape 32"/>
          <p:cNvSpPr/>
          <p:nvPr/>
        </p:nvSpPr>
        <p:spPr>
          <a:xfrm>
            <a:off x="5619750" y="1966912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3"/>
          <p:cNvSpPr/>
          <p:nvPr/>
        </p:nvSpPr>
        <p:spPr>
          <a:xfrm>
            <a:off x="5619750" y="20002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37" name="Shape 34"/>
          <p:cNvSpPr/>
          <p:nvPr/>
        </p:nvSpPr>
        <p:spPr>
          <a:xfrm>
            <a:off x="228600" y="297656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/>
          <p:nvPr/>
        </p:nvSpPr>
        <p:spPr>
          <a:xfrm>
            <a:off x="228600" y="30099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39" name="Text 36"/>
          <p:cNvSpPr/>
          <p:nvPr/>
        </p:nvSpPr>
        <p:spPr>
          <a:xfrm>
            <a:off x="5848350" y="1957388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최근 처리 이력 관리</a:t>
            </a:r>
            <a:endParaRPr lang="en-US" sz="534" dirty="0"/>
          </a:p>
        </p:txBody>
      </p:sp>
      <p:sp>
        <p:nvSpPr>
          <p:cNvPr id="40" name="Text 37"/>
          <p:cNvSpPr/>
          <p:nvPr/>
        </p:nvSpPr>
        <p:spPr>
          <a:xfrm>
            <a:off x="5848350" y="2090738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하단 영역에서 과거 등록된 문서의 처리 결과(완료, PARTIAL_RESULT 등)를 날짜순으로 확인할 수 있습니다.</a:t>
            </a:r>
            <a:endParaRPr lang="en-US" sz="463" dirty="0"/>
          </a:p>
        </p:txBody>
      </p:sp>
      <p:sp>
        <p:nvSpPr>
          <p:cNvPr id="41" name="Shape 38"/>
          <p:cNvSpPr/>
          <p:nvPr/>
        </p:nvSpPr>
        <p:spPr>
          <a:xfrm>
            <a:off x="4572000" y="133350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0" y="136683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43" name="Shape 40"/>
          <p:cNvSpPr/>
          <p:nvPr/>
        </p:nvSpPr>
        <p:spPr>
          <a:xfrm>
            <a:off x="2238375" y="201930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4" name="Text 41"/>
          <p:cNvSpPr/>
          <p:nvPr/>
        </p:nvSpPr>
        <p:spPr>
          <a:xfrm>
            <a:off x="2238375" y="2052637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45" name="Shape 42"/>
          <p:cNvSpPr/>
          <p:nvPr/>
        </p:nvSpPr>
        <p:spPr>
          <a:xfrm>
            <a:off x="4757738" y="1333500"/>
            <a:ext cx="428625" cy="142875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46" name="Text 43"/>
          <p:cNvSpPr/>
          <p:nvPr/>
        </p:nvSpPr>
        <p:spPr>
          <a:xfrm>
            <a:off x="4819650" y="1366838"/>
            <a:ext cx="30003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b="1" dirty="0">
                <a:solidFill>
                  <a:srgbClr val="3030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추가 +</a:t>
            </a:r>
            <a:endParaRPr lang="en-US" sz="463" dirty="0"/>
          </a:p>
        </p:txBody>
      </p:sp>
      <p:sp>
        <p:nvSpPr>
          <p:cNvPr id="47" name="Text 44"/>
          <p:cNvSpPr/>
          <p:nvPr/>
        </p:nvSpPr>
        <p:spPr>
          <a:xfrm>
            <a:off x="5672138" y="2571750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51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신규 파일 (문서 등록 탭)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R-018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51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문서 등록 &gt; 신규 파일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E-1-1</a:t>
            </a:r>
            <a:endParaRPr lang="en-US" sz="696" dirty="0"/>
          </a:p>
        </p:txBody>
      </p:sp>
      <p:sp>
        <p:nvSpPr>
          <p:cNvPr id="19" name="Text 17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0" name="Text 18"/>
          <p:cNvSpPr/>
          <p:nvPr/>
        </p:nvSpPr>
        <p:spPr>
          <a:xfrm>
            <a:off x="5686425" y="2081212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21" name="Text 19"/>
          <p:cNvSpPr/>
          <p:nvPr/>
        </p:nvSpPr>
        <p:spPr>
          <a:xfrm>
            <a:off x="200025" y="309562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22" name="Shape 20"/>
          <p:cNvSpPr/>
          <p:nvPr/>
        </p:nvSpPr>
        <p:spPr>
          <a:xfrm>
            <a:off x="4800600" y="1214438"/>
            <a:ext cx="428625" cy="142875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4862513" y="1247775"/>
            <a:ext cx="30003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b="1" dirty="0">
                <a:solidFill>
                  <a:srgbClr val="3030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추가 +</a:t>
            </a:r>
            <a:endParaRPr lang="en-US" sz="463" dirty="0"/>
          </a:p>
        </p:txBody>
      </p:sp>
      <p:sp>
        <p:nvSpPr>
          <p:cNvPr id="24" name="Shape 22"/>
          <p:cNvSpPr/>
          <p:nvPr/>
        </p:nvSpPr>
        <p:spPr>
          <a:xfrm>
            <a:off x="5619750" y="823913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5" name="Text 23"/>
          <p:cNvSpPr/>
          <p:nvPr/>
        </p:nvSpPr>
        <p:spPr>
          <a:xfrm>
            <a:off x="5686425" y="876300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6" name="Shape 24"/>
          <p:cNvSpPr/>
          <p:nvPr/>
        </p:nvSpPr>
        <p:spPr>
          <a:xfrm>
            <a:off x="5619750" y="111918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619750" y="115252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8" name="Text 26"/>
          <p:cNvSpPr/>
          <p:nvPr/>
        </p:nvSpPr>
        <p:spPr>
          <a:xfrm>
            <a:off x="5848350" y="1109663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문서 목록 및 상태</a:t>
            </a:r>
            <a:endParaRPr lang="en-US" sz="534" dirty="0"/>
          </a:p>
        </p:txBody>
      </p:sp>
      <p:sp>
        <p:nvSpPr>
          <p:cNvPr id="29" name="Text 27"/>
          <p:cNvSpPr/>
          <p:nvPr/>
        </p:nvSpPr>
        <p:spPr>
          <a:xfrm>
            <a:off x="5848350" y="1243013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새로 추가되어 등록 대기 중인 문서 목록을 테이블 형태로 조회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없음: 등록할 신규 문서가 없을 경우 폴더 아이콘과 함께 새로 추가된 파일이 없어요 안내 문구 노출</a:t>
            </a:r>
            <a:endParaRPr lang="en-US" sz="463" dirty="0"/>
          </a:p>
        </p:txBody>
      </p:sp>
      <p:sp>
        <p:nvSpPr>
          <p:cNvPr id="30" name="Shape 28"/>
          <p:cNvSpPr/>
          <p:nvPr/>
        </p:nvSpPr>
        <p:spPr>
          <a:xfrm>
            <a:off x="5619750" y="155733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619750" y="15906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2" name="Text 30"/>
          <p:cNvSpPr/>
          <p:nvPr/>
        </p:nvSpPr>
        <p:spPr>
          <a:xfrm>
            <a:off x="5848350" y="1547813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 파일 등록</a:t>
            </a:r>
            <a:endParaRPr lang="en-US" sz="534" dirty="0"/>
          </a:p>
        </p:txBody>
      </p:sp>
      <p:sp>
        <p:nvSpPr>
          <p:cNvPr id="33" name="Text 31"/>
          <p:cNvSpPr/>
          <p:nvPr/>
        </p:nvSpPr>
        <p:spPr>
          <a:xfrm>
            <a:off x="5848350" y="1681163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 개수 표시: 좌측에 현재 체크박스로 선택된 파일의 개수를 실시간으로 표시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최소 1개 이상의 파일이 선택되었을 때 활성화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클릭 시 선택한 문서들을 최종 등록 처리하며, 처리 완료 후 목록에서 제거 및 최근 처리 이력으로 이동</a:t>
            </a:r>
            <a:endParaRPr lang="en-US" sz="463" dirty="0"/>
          </a:p>
        </p:txBody>
      </p:sp>
      <p:sp>
        <p:nvSpPr>
          <p:cNvPr id="34" name="Shape 32"/>
          <p:cNvSpPr/>
          <p:nvPr/>
        </p:nvSpPr>
        <p:spPr>
          <a:xfrm>
            <a:off x="5619750" y="1995487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619750" y="202882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36" name="Text 34"/>
          <p:cNvSpPr/>
          <p:nvPr/>
        </p:nvSpPr>
        <p:spPr>
          <a:xfrm>
            <a:off x="5848350" y="1985963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최근 처리 이력</a:t>
            </a:r>
            <a:endParaRPr lang="en-US" sz="534" dirty="0"/>
          </a:p>
        </p:txBody>
      </p:sp>
      <p:sp>
        <p:nvSpPr>
          <p:cNvPr id="37" name="Text 35"/>
          <p:cNvSpPr/>
          <p:nvPr/>
        </p:nvSpPr>
        <p:spPr>
          <a:xfrm>
            <a:off x="5848350" y="2119313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최근 문서 등록 및 동기화 작업 이력 리스트로 조회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구성 요소: 처리 일자(YYYY.MM.DD), 처리 내용 요약(예: 문서 3건 등록), 처리 상태 배지 (완료, PARTIAL_RESULT 등)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상태 표시: 정상 처리 건은 초록색 완료 배지, 일부 처리 failure가 포함된 건은 PARTIAL_RESULT 경고 배지로 구분</a:t>
            </a:r>
            <a:endParaRPr lang="en-US" sz="463" dirty="0"/>
          </a:p>
        </p:txBody>
      </p:sp>
      <p:sp>
        <p:nvSpPr>
          <p:cNvPr id="38" name="Shape 36"/>
          <p:cNvSpPr/>
          <p:nvPr/>
        </p:nvSpPr>
        <p:spPr>
          <a:xfrm>
            <a:off x="5619750" y="285750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9" name="Text 37"/>
          <p:cNvSpPr/>
          <p:nvPr/>
        </p:nvSpPr>
        <p:spPr>
          <a:xfrm>
            <a:off x="5686425" y="2909888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40" name="Text 38"/>
          <p:cNvSpPr/>
          <p:nvPr/>
        </p:nvSpPr>
        <p:spPr>
          <a:xfrm>
            <a:off x="5657850" y="312420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[권한 제어] 접속한 계정 권한(관리자 vs 일반 사용자)에 따라 등록 가능한 문서 목록의 조회 범위가 제한되는지 확인 필요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[버튼 활성화 조건] 선택된 파일이 0개일 경우 선택 파일 등록 버튼은 비활성화(Disabled) 상태 유지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[실시간 동기화] 주기적 동기화 시 화면이 자동으로 리프레시되는지, 아니면 수동 새로고침/다음 동기화 주기 안내만 제공할 것인지 확정 필요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[예외 처리] 파일 등록 중 네트워크 오류 또는 부분 실패 발생 시 PARTIAL_RESULT 처리 기준 및 재시도 UX 가이드 정리 필요</a:t>
            </a:r>
            <a:endParaRPr lang="en-US" sz="463" dirty="0"/>
          </a:p>
        </p:txBody>
      </p:sp>
      <p:sp>
        <p:nvSpPr>
          <p:cNvPr id="41" name="Shape 39"/>
          <p:cNvSpPr/>
          <p:nvPr/>
        </p:nvSpPr>
        <p:spPr>
          <a:xfrm>
            <a:off x="190500" y="876300"/>
            <a:ext cx="5233988" cy="45720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76300"/>
            <a:ext cx="5233988" cy="30480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90500" y="1181100"/>
            <a:ext cx="5233988" cy="3938588"/>
          </a:xfrm>
          <a:prstGeom prst="rect">
            <a:avLst/>
          </a:prstGeom>
          <a:noFill/>
          <a:ln/>
        </p:spPr>
      </p:sp>
      <p:sp>
        <p:nvSpPr>
          <p:cNvPr id="44" name="Shape 41"/>
          <p:cNvSpPr/>
          <p:nvPr/>
        </p:nvSpPr>
        <p:spPr>
          <a:xfrm>
            <a:off x="381000" y="1333500"/>
            <a:ext cx="4852988" cy="238125"/>
          </a:xfrm>
          <a:prstGeom prst="rect">
            <a:avLst/>
          </a:prstGeom>
          <a:noFill/>
          <a:ln/>
        </p:spPr>
      </p:sp>
      <p:sp>
        <p:nvSpPr>
          <p:cNvPr id="45" name="Text 42"/>
          <p:cNvSpPr/>
          <p:nvPr/>
        </p:nvSpPr>
        <p:spPr>
          <a:xfrm>
            <a:off x="381000" y="1333500"/>
            <a:ext cx="4048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spc="-18" kern="0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신규 파일</a:t>
            </a:r>
            <a:endParaRPr lang="en-US" sz="784" dirty="0"/>
          </a:p>
        </p:txBody>
      </p:sp>
      <p:sp>
        <p:nvSpPr>
          <p:cNvPr id="46" name="Text 43"/>
          <p:cNvSpPr/>
          <p:nvPr/>
        </p:nvSpPr>
        <p:spPr>
          <a:xfrm>
            <a:off x="381000" y="1490663"/>
            <a:ext cx="1119188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"/>
              </a:lnSpc>
              <a:buNone/>
            </a:pPr>
            <a:r>
              <a:rPr lang="en-US" sz="499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새로 추가된 문서를 검토하고 등록하세요</a:t>
            </a:r>
            <a:endParaRPr lang="en-US" sz="499" dirty="0"/>
          </a:p>
        </p:txBody>
      </p:sp>
      <p:sp>
        <p:nvSpPr>
          <p:cNvPr id="47" name="Shape 44"/>
          <p:cNvSpPr/>
          <p:nvPr/>
        </p:nvSpPr>
        <p:spPr>
          <a:xfrm>
            <a:off x="381000" y="1685925"/>
            <a:ext cx="4852988" cy="2119313"/>
          </a:xfrm>
          <a:prstGeom prst="roundRect">
            <a:avLst>
              <a:gd name="adj" fmla="val 5178"/>
            </a:avLst>
          </a:prstGeom>
          <a:solidFill>
            <a:srgbClr val="FFFFFF"/>
          </a:solidFill>
          <a:ln w="2262">
            <a:solidFill>
              <a:srgbClr val="E2E8F0"/>
            </a:solidFill>
            <a:prstDash val="solid"/>
          </a:ln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685925"/>
            <a:ext cx="4852988" cy="219075"/>
          </a:xfrm>
          <a:prstGeom prst="rect">
            <a:avLst/>
          </a:prstGeom>
        </p:spPr>
      </p:pic>
      <p:sp>
        <p:nvSpPr>
          <p:cNvPr id="49" name="Shape 45"/>
          <p:cNvSpPr/>
          <p:nvPr/>
        </p:nvSpPr>
        <p:spPr>
          <a:xfrm>
            <a:off x="381000" y="1905000"/>
            <a:ext cx="4852988" cy="1571625"/>
          </a:xfrm>
          <a:prstGeom prst="rect">
            <a:avLst/>
          </a:prstGeom>
          <a:noFill/>
          <a:ln/>
        </p:spPr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905000"/>
            <a:ext cx="4852988" cy="261937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000" y="2166938"/>
            <a:ext cx="4852988" cy="261937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1000" y="2428875"/>
            <a:ext cx="4852988" cy="261937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81000" y="2690813"/>
            <a:ext cx="4852988" cy="261937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81000" y="2952750"/>
            <a:ext cx="4852988" cy="261937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81000" y="3214688"/>
            <a:ext cx="4852988" cy="261937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81000" y="3476625"/>
            <a:ext cx="4852988" cy="328613"/>
          </a:xfrm>
          <a:prstGeom prst="rect">
            <a:avLst/>
          </a:prstGeom>
        </p:spPr>
      </p:pic>
      <p:sp>
        <p:nvSpPr>
          <p:cNvPr id="57" name="Shape 46"/>
          <p:cNvSpPr/>
          <p:nvPr/>
        </p:nvSpPr>
        <p:spPr>
          <a:xfrm>
            <a:off x="381000" y="3919537"/>
            <a:ext cx="4852988" cy="971550"/>
          </a:xfrm>
          <a:prstGeom prst="rect">
            <a:avLst/>
          </a:prstGeom>
          <a:noFill/>
          <a:ln/>
        </p:spPr>
      </p:sp>
      <p:sp>
        <p:nvSpPr>
          <p:cNvPr id="58" name="Text 47"/>
          <p:cNvSpPr/>
          <p:nvPr/>
        </p:nvSpPr>
        <p:spPr>
          <a:xfrm>
            <a:off x="381000" y="3919537"/>
            <a:ext cx="4572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570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최근 처리 이력</a:t>
            </a:r>
            <a:endParaRPr lang="en-US" sz="570" dirty="0"/>
          </a:p>
        </p:txBody>
      </p:sp>
      <p:sp>
        <p:nvSpPr>
          <p:cNvPr id="59" name="Shape 48"/>
          <p:cNvSpPr/>
          <p:nvPr/>
        </p:nvSpPr>
        <p:spPr>
          <a:xfrm>
            <a:off x="381000" y="4086225"/>
            <a:ext cx="4852988" cy="804863"/>
          </a:xfrm>
          <a:prstGeom prst="roundRect">
            <a:avLst>
              <a:gd name="adj" fmla="val 13633"/>
            </a:avLst>
          </a:prstGeom>
          <a:solidFill>
            <a:srgbClr val="FFFFFF"/>
          </a:solidFill>
          <a:ln w="2262">
            <a:solidFill>
              <a:srgbClr val="E2E8F0"/>
            </a:solidFill>
            <a:prstDash val="solid"/>
          </a:ln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81000" y="4124325"/>
            <a:ext cx="4852988" cy="242888"/>
          </a:xfrm>
          <a:prstGeom prst="rect">
            <a:avLst/>
          </a:prstGeom>
        </p:spPr>
      </p:pic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81000" y="4367213"/>
            <a:ext cx="4852988" cy="242888"/>
          </a:xfrm>
          <a:prstGeom prst="rect">
            <a:avLst/>
          </a:prstGeom>
        </p:spPr>
      </p:pic>
      <p:sp>
        <p:nvSpPr>
          <p:cNvPr id="62" name="Shape 49"/>
          <p:cNvSpPr/>
          <p:nvPr/>
        </p:nvSpPr>
        <p:spPr>
          <a:xfrm>
            <a:off x="381000" y="4610100"/>
            <a:ext cx="4852988" cy="242888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495300" y="4691063"/>
            <a:ext cx="1090613" cy="80963"/>
          </a:xfrm>
          <a:prstGeom prst="rect">
            <a:avLst/>
          </a:prstGeom>
          <a:noFill/>
          <a:ln/>
        </p:spPr>
      </p:sp>
      <p:sp>
        <p:nvSpPr>
          <p:cNvPr id="64" name="Text 51"/>
          <p:cNvSpPr/>
          <p:nvPr/>
        </p:nvSpPr>
        <p:spPr>
          <a:xfrm>
            <a:off x="495300" y="4691063"/>
            <a:ext cx="47625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"/>
              </a:lnSpc>
              <a:buNone/>
            </a:pPr>
            <a:r>
              <a:rPr lang="en-US" sz="499" dirty="0">
                <a:solidFill>
                  <a:srgbClr val="94A3B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2025.01.12</a:t>
            </a:r>
            <a:endParaRPr lang="en-US" sz="499" dirty="0"/>
          </a:p>
        </p:txBody>
      </p:sp>
      <p:sp>
        <p:nvSpPr>
          <p:cNvPr id="65" name="Text 52"/>
          <p:cNvSpPr/>
          <p:nvPr/>
        </p:nvSpPr>
        <p:spPr>
          <a:xfrm>
            <a:off x="1200150" y="4691063"/>
            <a:ext cx="385763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"/>
              </a:lnSpc>
              <a:buNone/>
            </a:pPr>
            <a:r>
              <a:rPr lang="en-US" sz="499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문서 2건 등록</a:t>
            </a:r>
            <a:endParaRPr lang="en-US" sz="499" dirty="0"/>
          </a:p>
        </p:txBody>
      </p:sp>
      <p:sp>
        <p:nvSpPr>
          <p:cNvPr id="66" name="Shape 53"/>
          <p:cNvSpPr/>
          <p:nvPr/>
        </p:nvSpPr>
        <p:spPr>
          <a:xfrm>
            <a:off x="4562475" y="4676775"/>
            <a:ext cx="557213" cy="109538"/>
          </a:xfrm>
          <a:prstGeom prst="roundRect">
            <a:avLst>
              <a:gd name="adj" fmla="val 50087"/>
            </a:avLst>
          </a:prstGeom>
          <a:solidFill>
            <a:srgbClr val="FEF3C7"/>
          </a:solidFill>
          <a:ln/>
        </p:spPr>
      </p:sp>
      <p:sp>
        <p:nvSpPr>
          <p:cNvPr id="67" name="Text 54"/>
          <p:cNvSpPr/>
          <p:nvPr/>
        </p:nvSpPr>
        <p:spPr>
          <a:xfrm>
            <a:off x="4600575" y="4695825"/>
            <a:ext cx="48101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7"/>
              </a:lnSpc>
              <a:buNone/>
            </a:pPr>
            <a:r>
              <a:rPr lang="en-US" sz="427" b="1" dirty="0">
                <a:solidFill>
                  <a:srgbClr val="D9770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PARTIAL_RESULT</a:t>
            </a:r>
            <a:endParaRPr lang="en-US" sz="427" dirty="0"/>
          </a:p>
        </p:txBody>
      </p:sp>
      <p:sp>
        <p:nvSpPr>
          <p:cNvPr id="68" name="Shape 55"/>
          <p:cNvSpPr/>
          <p:nvPr/>
        </p:nvSpPr>
        <p:spPr>
          <a:xfrm>
            <a:off x="190500" y="823913"/>
            <a:ext cx="5233988" cy="4572000"/>
          </a:xfrm>
          <a:prstGeom prst="rect">
            <a:avLst/>
          </a:prstGeom>
          <a:noFill/>
          <a:ln/>
        </p:spPr>
      </p:sp>
      <p:sp>
        <p:nvSpPr>
          <p:cNvPr id="69" name="Shape 56"/>
          <p:cNvSpPr/>
          <p:nvPr/>
        </p:nvSpPr>
        <p:spPr>
          <a:xfrm>
            <a:off x="881063" y="388143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0" name="Text 57"/>
          <p:cNvSpPr/>
          <p:nvPr/>
        </p:nvSpPr>
        <p:spPr>
          <a:xfrm>
            <a:off x="881063" y="39147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71" name="Shape 58"/>
          <p:cNvSpPr/>
          <p:nvPr/>
        </p:nvSpPr>
        <p:spPr>
          <a:xfrm>
            <a:off x="4181475" y="356235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2" name="Text 59"/>
          <p:cNvSpPr/>
          <p:nvPr/>
        </p:nvSpPr>
        <p:spPr>
          <a:xfrm>
            <a:off x="4181475" y="35956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73" name="Shape 60"/>
          <p:cNvSpPr/>
          <p:nvPr/>
        </p:nvSpPr>
        <p:spPr>
          <a:xfrm>
            <a:off x="190500" y="132873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4" name="Text 61"/>
          <p:cNvSpPr/>
          <p:nvPr/>
        </p:nvSpPr>
        <p:spPr>
          <a:xfrm>
            <a:off x="190500" y="13620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51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목록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R-019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51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E-0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현황 요약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등록된 프로젝트의 상태별 개수를 상단 우측 카드 영역에 숫자로 요약하여 제공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구성 요약: 진행중인 프로젝트 N개, 완료된 프로젝트 N개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55257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58590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5430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목록 뷰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1676395"/>
            <a:ext cx="31051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상태별 섹션 분리: 프로젝트를 진행중인 프로젝트와 완료된 프로젝트 2가지 섹션으로 구분하여 노출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카드 구성 요소: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프로젝트명 &amp; 설명: 프로젝트 제목과 하단 요약 설명을 함께 표기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일자 정보: 등록일 또는 진행 일자(YYYY.MM.DD)를 표시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진행률 및 상태 배지: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진행 중 프로젝트: N/M 업무 완료 형태의 작업 진행률을 노출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완료 프로젝트: 초록색 완료 상태 배지를 표시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이동: 개별 프로젝트 항목 클릭 시 해당 프로젝트의 상세/업무 관리 화면으로 이동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3033708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3086095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3300408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프로젝트 수가 많을 경우 스크롤 + 페이지네이션 고려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3519483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진행률(N/M 업무 완료) 정보로 진행 상태 한눈에 파악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352425" y="1824038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52425" y="18573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6" name="Shape 33"/>
          <p:cNvSpPr/>
          <p:nvPr/>
        </p:nvSpPr>
        <p:spPr>
          <a:xfrm>
            <a:off x="4157663" y="13811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4"/>
          <p:cNvSpPr/>
          <p:nvPr/>
        </p:nvSpPr>
        <p:spPr>
          <a:xfrm>
            <a:off x="4157663" y="14144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38" name="Shape 35"/>
          <p:cNvSpPr/>
          <p:nvPr/>
        </p:nvSpPr>
        <p:spPr>
          <a:xfrm>
            <a:off x="5619750" y="24288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5619750" y="246221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0" name="Shape 37"/>
          <p:cNvSpPr/>
          <p:nvPr/>
        </p:nvSpPr>
        <p:spPr>
          <a:xfrm>
            <a:off x="4352925" y="410051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8"/>
          <p:cNvSpPr/>
          <p:nvPr/>
        </p:nvSpPr>
        <p:spPr>
          <a:xfrm>
            <a:off x="4352925" y="41338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2" name="Text 39"/>
          <p:cNvSpPr/>
          <p:nvPr/>
        </p:nvSpPr>
        <p:spPr>
          <a:xfrm>
            <a:off x="5848350" y="2433638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분배 시작</a:t>
            </a:r>
            <a:endParaRPr lang="en-US" sz="534" dirty="0"/>
          </a:p>
        </p:txBody>
      </p:sp>
      <p:sp>
        <p:nvSpPr>
          <p:cNvPr id="43" name="Text 40"/>
          <p:cNvSpPr/>
          <p:nvPr/>
        </p:nvSpPr>
        <p:spPr>
          <a:xfrm>
            <a:off x="5848350" y="2566988"/>
            <a:ext cx="31051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우측 하단에 고정 플로팅 버튼 “업무 분배 시작” 배치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클릭 시 새로운 업무 분배 및 추천 생성 프로세스로 진입</a:t>
            </a:r>
            <a:endParaRPr lang="en-US" sz="46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71538"/>
            <a:ext cx="5195888" cy="34623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5" name="Text 2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6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5651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분배</a:t>
            </a:r>
            <a:endParaRPr lang="en-US" sz="696" dirty="0"/>
          </a:p>
        </p:txBody>
      </p:sp>
      <p:sp>
        <p:nvSpPr>
          <p:cNvPr id="8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9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10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R-020</a:t>
            </a:r>
            <a:endParaRPr lang="en-US" sz="696" dirty="0"/>
          </a:p>
        </p:txBody>
      </p:sp>
      <p:sp>
        <p:nvSpPr>
          <p:cNvPr id="12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3" name="Text 10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4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95651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문서 등록 &gt; 파일 선택 &gt; 요구사항</a:t>
            </a:r>
            <a:endParaRPr lang="en-US" sz="696" dirty="0"/>
          </a:p>
        </p:txBody>
      </p:sp>
      <p:sp>
        <p:nvSpPr>
          <p:cNvPr id="16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7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8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E-1-3</a:t>
            </a:r>
            <a:endParaRPr lang="en-US" sz="696" dirty="0"/>
          </a:p>
        </p:txBody>
      </p:sp>
      <p:sp>
        <p:nvSpPr>
          <p:cNvPr id="20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1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2" name="Shape 19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4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등록된 파일 목록</a:t>
            </a:r>
            <a:endParaRPr lang="en-US" sz="534" dirty="0"/>
          </a:p>
        </p:txBody>
      </p:sp>
      <p:sp>
        <p:nvSpPr>
          <p:cNvPr id="25" name="Text 22"/>
          <p:cNvSpPr/>
          <p:nvPr/>
        </p:nvSpPr>
        <p:spPr>
          <a:xfrm>
            <a:off x="5848350" y="1238245"/>
            <a:ext cx="31051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목록 조회: 분석 대상 파일 목록과 각 파일의 상세 정보를 조회 (파일명, 소속 폴더, 감지일, 역할, 지원 여부).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선택/해제: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체크박스를 통해 업무 배정 분석에 포함할 파일을 선택 및 해제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상단 전체선택 체크박스로 일괄 선택/해제가 가능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지원 여부 구분: 시스템에서 분석 불가능한 파일 형식은 미지원 배지로 구분되며 선택 대상에서 제외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 카운트 표시: 하단에 현재 선택된 파일 수와 제외된 미지원 파일 수를 실시간으로 노출</a:t>
            </a:r>
            <a:endParaRPr lang="en-US" sz="463" dirty="0"/>
          </a:p>
        </p:txBody>
      </p:sp>
      <p:sp>
        <p:nvSpPr>
          <p:cNvPr id="26" name="Shape 23"/>
          <p:cNvSpPr/>
          <p:nvPr/>
        </p:nvSpPr>
        <p:spPr>
          <a:xfrm>
            <a:off x="5619750" y="185737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4"/>
          <p:cNvSpPr/>
          <p:nvPr/>
        </p:nvSpPr>
        <p:spPr>
          <a:xfrm>
            <a:off x="5619750" y="189070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8" name="Text 25"/>
          <p:cNvSpPr/>
          <p:nvPr/>
        </p:nvSpPr>
        <p:spPr>
          <a:xfrm>
            <a:off x="5848350" y="1847845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추가 요구사항 입력</a:t>
            </a:r>
            <a:endParaRPr lang="en-US" sz="534" dirty="0"/>
          </a:p>
        </p:txBody>
      </p:sp>
      <p:sp>
        <p:nvSpPr>
          <p:cNvPr id="29" name="Text 26"/>
          <p:cNvSpPr/>
          <p:nvPr/>
        </p:nvSpPr>
        <p:spPr>
          <a:xfrm>
            <a:off x="5848350" y="1981195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선택적 텍스트 입력: 업무 자동 배정 시 AI가 반영해야 할 추가 조건이나 주의사항을 자유롭게 입력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Placeholder: 배정 시 고려할 사항을 입력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역할: 입력된 텍스트는 AI 분석 모델의 Prompt/Context 정보로 함께 전달되어 배정 추천 알고리즘에 반영</a:t>
            </a:r>
            <a:endParaRPr lang="en-US" sz="463" dirty="0"/>
          </a:p>
        </p:txBody>
      </p:sp>
      <p:sp>
        <p:nvSpPr>
          <p:cNvPr id="30" name="Shape 27"/>
          <p:cNvSpPr/>
          <p:nvPr/>
        </p:nvSpPr>
        <p:spPr>
          <a:xfrm>
            <a:off x="5619750" y="241934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8"/>
          <p:cNvSpPr/>
          <p:nvPr/>
        </p:nvSpPr>
        <p:spPr>
          <a:xfrm>
            <a:off x="5619750" y="245268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32" name="Text 29"/>
          <p:cNvSpPr/>
          <p:nvPr/>
        </p:nvSpPr>
        <p:spPr>
          <a:xfrm>
            <a:off x="5848350" y="240982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분배 시작</a:t>
            </a:r>
            <a:endParaRPr lang="en-US" sz="534" dirty="0"/>
          </a:p>
        </p:txBody>
      </p:sp>
      <p:sp>
        <p:nvSpPr>
          <p:cNvPr id="33" name="Text 30"/>
          <p:cNvSpPr/>
          <p:nvPr/>
        </p:nvSpPr>
        <p:spPr>
          <a:xfrm>
            <a:off x="5848350" y="254317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분배 시작 ➔ 버튼을 클릭하여 선택된 파일과 추가 요구사항을 바탕으로 AI 업무 배정 추천 프로세스를 실행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최소 1개 이상의 파일이 선택되어 있어야 버튼이 활성화</a:t>
            </a:r>
            <a:endParaRPr lang="en-US" sz="463" dirty="0"/>
          </a:p>
        </p:txBody>
      </p:sp>
      <p:sp>
        <p:nvSpPr>
          <p:cNvPr id="34" name="Shape 31"/>
          <p:cNvSpPr/>
          <p:nvPr/>
        </p:nvSpPr>
        <p:spPr>
          <a:xfrm>
            <a:off x="5619750" y="297179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5" name="Text 32"/>
          <p:cNvSpPr/>
          <p:nvPr/>
        </p:nvSpPr>
        <p:spPr>
          <a:xfrm>
            <a:off x="5686425" y="3024183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6" name="Text 33"/>
          <p:cNvSpPr/>
          <p:nvPr/>
        </p:nvSpPr>
        <p:spPr>
          <a:xfrm>
            <a:off x="5657850" y="323849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요구사항은 선택 입력 — 비어있어도 분배 시작 가능</a:t>
            </a:r>
            <a:endParaRPr lang="en-US" sz="463" dirty="0"/>
          </a:p>
        </p:txBody>
      </p:sp>
      <p:sp>
        <p:nvSpPr>
          <p:cNvPr id="37" name="Text 34"/>
          <p:cNvSpPr/>
          <p:nvPr/>
        </p:nvSpPr>
        <p:spPr>
          <a:xfrm>
            <a:off x="5657850" y="345757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입력된 요구사항은 AI 추천 시 추가 컨텍스트로 활용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328613" y="2938463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8613" y="29718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40" name="Shape 37"/>
          <p:cNvSpPr/>
          <p:nvPr/>
        </p:nvSpPr>
        <p:spPr>
          <a:xfrm>
            <a:off x="4333875" y="3505195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33875" y="353853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2" name="Shape 39"/>
          <p:cNvSpPr/>
          <p:nvPr/>
        </p:nvSpPr>
        <p:spPr>
          <a:xfrm>
            <a:off x="300038" y="148590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300038" y="151923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" name="Text 1"/>
          <p:cNvSpPr/>
          <p:nvPr/>
        </p:nvSpPr>
        <p:spPr>
          <a:xfrm>
            <a:off x="248664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4" name="Shape 2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660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분배 확인 모달</a:t>
            </a:r>
            <a:endParaRPr lang="en-US" sz="696" dirty="0"/>
          </a:p>
        </p:txBody>
      </p:sp>
      <p:sp>
        <p:nvSpPr>
          <p:cNvPr id="6" name="Shape 4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7" name="Text 5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8" name="Shape 6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R-021</a:t>
            </a:r>
            <a:endParaRPr lang="en-US" sz="696" dirty="0"/>
          </a:p>
        </p:txBody>
      </p:sp>
      <p:sp>
        <p:nvSpPr>
          <p:cNvPr id="10" name="Shape 8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1" name="Text 9"/>
          <p:cNvSpPr/>
          <p:nvPr/>
        </p:nvSpPr>
        <p:spPr>
          <a:xfrm>
            <a:off x="248664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2" name="Shape 10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660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문서 등록 &gt; 업무 분배 시작 모달</a:t>
            </a:r>
            <a:endParaRPr lang="en-US" sz="696" dirty="0"/>
          </a:p>
        </p:txBody>
      </p:sp>
      <p:sp>
        <p:nvSpPr>
          <p:cNvPr id="14" name="Shape 12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5" name="Text 13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6" name="Shape 14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E-2</a:t>
            </a:r>
            <a:endParaRPr lang="en-US" sz="696" dirty="0"/>
          </a:p>
        </p:txBody>
      </p:sp>
      <p:sp>
        <p:nvSpPr>
          <p:cNvPr id="18" name="Shape 16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9" name="Text 17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0" name="Shape 18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2" name="Text 20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분배 시작 확인 메시지 및 파일 요약</a:t>
            </a:r>
            <a:endParaRPr lang="en-US" sz="534" dirty="0"/>
          </a:p>
        </p:txBody>
      </p:sp>
      <p:sp>
        <p:nvSpPr>
          <p:cNvPr id="23" name="Text 21"/>
          <p:cNvSpPr/>
          <p:nvPr/>
        </p:nvSpPr>
        <p:spPr>
          <a:xfrm>
            <a:off x="5848350" y="1238245"/>
            <a:ext cx="310515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상태 아이콘 &amp; 타이틀: 녹색 완료 체크 아이콘과 함께 업무 분배를 시작하겠습니다 헤더를 노출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안내 문구: N개 파일이 등록됐어요. 이 파일들을 근거로 업무 분배를 진행할까요? 문구로 최종 확인을 요청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등록 파일 요약 박스: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선택된 파일 이름(예: 프로젝트_요구사항_v2.docx 등)을 최대 3개까지 미리보기 형태로 노출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3개가 넘는 파일은 하단에 더보기 수치를 표시</a:t>
            </a:r>
            <a:endParaRPr lang="en-US" sz="463" dirty="0"/>
          </a:p>
        </p:txBody>
      </p:sp>
      <p:sp>
        <p:nvSpPr>
          <p:cNvPr id="24" name="Shape 22"/>
          <p:cNvSpPr/>
          <p:nvPr/>
        </p:nvSpPr>
        <p:spPr>
          <a:xfrm>
            <a:off x="5619750" y="179545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5619750" y="182879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6" name="Text 24"/>
          <p:cNvSpPr/>
          <p:nvPr/>
        </p:nvSpPr>
        <p:spPr>
          <a:xfrm>
            <a:off x="5848350" y="1785933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딤 배경 및 모달 닫기</a:t>
            </a:r>
            <a:endParaRPr lang="en-US" sz="534" dirty="0"/>
          </a:p>
        </p:txBody>
      </p:sp>
      <p:sp>
        <p:nvSpPr>
          <p:cNvPr id="27" name="Text 25"/>
          <p:cNvSpPr/>
          <p:nvPr/>
        </p:nvSpPr>
        <p:spPr>
          <a:xfrm>
            <a:off x="5848350" y="1919283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배경 딤(Dim) 처리: 모달 이외의 뒷 배경 화면을 어둡고 비활성화 상태로 처리하여 사용자의 시선을 모달로 집중시킴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닫기 버튼: 모달 우측 상단의 X 버튼 클릭 시 '아니오' 버튼과 동일하게 모달이 닫힘</a:t>
            </a:r>
            <a:endParaRPr lang="en-US" sz="463" dirty="0"/>
          </a:p>
        </p:txBody>
      </p:sp>
      <p:sp>
        <p:nvSpPr>
          <p:cNvPr id="28" name="Shape 26"/>
          <p:cNvSpPr/>
          <p:nvPr/>
        </p:nvSpPr>
        <p:spPr>
          <a:xfrm>
            <a:off x="5619750" y="3186108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9" name="Text 27"/>
          <p:cNvSpPr/>
          <p:nvPr/>
        </p:nvSpPr>
        <p:spPr>
          <a:xfrm>
            <a:off x="5686425" y="3238495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0" name="Text 28"/>
          <p:cNvSpPr/>
          <p:nvPr/>
        </p:nvSpPr>
        <p:spPr>
          <a:xfrm>
            <a:off x="5657850" y="3452808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배경 딤 처리로 모달 외 영역 비활성 표시</a:t>
            </a:r>
            <a:endParaRPr lang="en-US" sz="463" dirty="0"/>
          </a:p>
        </p:txBody>
      </p:sp>
      <p:sp>
        <p:nvSpPr>
          <p:cNvPr id="31" name="Text 29"/>
          <p:cNvSpPr/>
          <p:nvPr/>
        </p:nvSpPr>
        <p:spPr>
          <a:xfrm>
            <a:off x="5657850" y="3671883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'몇 분 정도 걸릴 수 있어요' 안내로 사용자 기대치 설정</a:t>
            </a:r>
            <a:endParaRPr lang="en-US" sz="463" dirty="0"/>
          </a:p>
        </p:txBody>
      </p:sp>
      <p:sp>
        <p:nvSpPr>
          <p:cNvPr id="32" name="Shape 30"/>
          <p:cNvSpPr/>
          <p:nvPr/>
        </p:nvSpPr>
        <p:spPr>
          <a:xfrm>
            <a:off x="5619750" y="227171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5619750" y="23050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34" name="Text 32"/>
          <p:cNvSpPr/>
          <p:nvPr/>
        </p:nvSpPr>
        <p:spPr>
          <a:xfrm>
            <a:off x="5848350" y="2276475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의사결정 액션 및 소요 시간 안내</a:t>
            </a:r>
            <a:endParaRPr lang="en-US" sz="534" dirty="0"/>
          </a:p>
        </p:txBody>
      </p:sp>
      <p:sp>
        <p:nvSpPr>
          <p:cNvPr id="35" name="Text 33"/>
          <p:cNvSpPr/>
          <p:nvPr/>
        </p:nvSpPr>
        <p:spPr>
          <a:xfrm>
            <a:off x="5848350" y="2409825"/>
            <a:ext cx="31051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 (동의):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클릭 시 모달이 닫히며 AI 업무 분배 및 추천 프로세스를 본격적으로 실행 (다음 단계인 E-3 또는 분석 결과 화면으로 이동).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아니오 (취소):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클릭 시 모달이 닫히고 이전 파일 목록 및 요구사항 입력 화면으로 돌아감 (입력 데이터 유지).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소요 시간 안내: 버튼 하단에 몇 분 정도 걸릴 수 있어요 안내 텍스트를 배치하여 작업 대기 시간에 대한 기대치를 전달</a:t>
            </a:r>
            <a:endParaRPr lang="en-US" sz="463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71538"/>
            <a:ext cx="5214938" cy="3476625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1981200" y="188595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/>
          <p:nvPr/>
        </p:nvSpPr>
        <p:spPr>
          <a:xfrm>
            <a:off x="1981200" y="19192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39" name="Shape 36"/>
          <p:cNvSpPr/>
          <p:nvPr/>
        </p:nvSpPr>
        <p:spPr>
          <a:xfrm>
            <a:off x="3252788" y="188595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7"/>
          <p:cNvSpPr/>
          <p:nvPr/>
        </p:nvSpPr>
        <p:spPr>
          <a:xfrm>
            <a:off x="3252788" y="19192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41" name="Shape 38"/>
          <p:cNvSpPr/>
          <p:nvPr/>
        </p:nvSpPr>
        <p:spPr>
          <a:xfrm>
            <a:off x="1819275" y="300990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39"/>
          <p:cNvSpPr/>
          <p:nvPr/>
        </p:nvSpPr>
        <p:spPr>
          <a:xfrm>
            <a:off x="1819275" y="304323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73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60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분배 진행 중 (정상)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R-022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73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60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&gt; 업무 분배 &gt; 로딩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E-3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업무 분배 처리 중 단계별 진행 표시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45"/>
            <a:ext cx="3105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상태별 체크리스트: 업무 배정 분석의 4단계 수행 과정(문서에서 업무 후보 추출 중 ➔ 인원별 워크로드 계산 중 ➔ 배정 추천 생성 중 ➔ 정책 검증 중)을 순차적으로 표시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시각적 상태 구분: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완료 (Step 1): 녹색 체크 아이콘 및 볼드 텍스트로 표출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진행 중 (Step 2): 파란색 스피너/동그라미 아이콘으로 현재 진행 항목을 강조 표출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대기 중 (Step 3, 4): 연한 회색 원형 아이콘 및 옅은 텍스트로 대기 상태임을 표시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91928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95262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909758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진행률 및 화면 이탈 안내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2043108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진행률 표출: 전체 프로세스의 진행 단계를 수치 및 게이지 형태(2/4 단계 (40%))로 실시간 노출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백그라운드 진행 안내: 하단에 이 화면을 벗어나도 진행은 계속돼요 문구를 노출하여 사용자가 다른 메뉴(대시보드, 커넥터 등)로 이동하더라도 백그라운드 처리가 유지됨을 알림.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257174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2624133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283844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LLM 기반 작업으로 수 분 소요 가능, 타임아웃 설정 필요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305752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백그라운드 처리 보장 — 페이지 이탈해도 결과 유지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2262188" y="3362320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262188" y="33956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6" name="Shape 33"/>
          <p:cNvSpPr/>
          <p:nvPr/>
        </p:nvSpPr>
        <p:spPr>
          <a:xfrm>
            <a:off x="1614488" y="204787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4"/>
          <p:cNvSpPr/>
          <p:nvPr/>
        </p:nvSpPr>
        <p:spPr>
          <a:xfrm>
            <a:off x="1614488" y="208120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73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60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분배 진행 중 (일부 실패)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R-023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73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60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&gt; 업무 분배 &gt; 로딩(실패)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E-3-1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단계별 분석 상태 및 일부 실패 표시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45"/>
            <a:ext cx="31051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단계별 스텝 노출: 업무 분배 프로세스의 세부 진행 단계를 순차적 리스트로 제공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상태별 아이콘 구분: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완료: 녹색 체크 아이콘 표출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일부 실패: 주황색 경고 아이콘과 함께 일부 문서 처리에 실패했어요 하위 안내문 노출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진행 중: 파란색 로딩 아이콘 표출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대기 중: 회색 원형 아이콘 표출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8383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8716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828795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진행률 및 부분 실패 배너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1962145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프로그래스 바: 전체 프로세스의 진행 정도를 게이지 및 수치(3/4 단계 (60%))로 명확히 표시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일부 실패 안내 배너: 특정 단계 실패 시 하단에 주황색 경고 배너(일부 문서 처리에 실패했어요, 계속 진행돼요)를 노출하여, 전체 작업이 중단되지 않고 지속됨을 명시함 (PARTIAL_RESULT 처리 패턴 적용함).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2933695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2986083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320039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실패 원인 로그를 모니터링 화면에서 확인 가능해야 함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341947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실패 문서 재처리 버튼 또는 자동 재시도 정책 논의 필요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1638300" y="3205163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638300" y="32385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6" name="Shape 33"/>
          <p:cNvSpPr/>
          <p:nvPr/>
        </p:nvSpPr>
        <p:spPr>
          <a:xfrm>
            <a:off x="1638300" y="2357438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38300" y="23907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38" name="Shape 35"/>
          <p:cNvSpPr/>
          <p:nvPr/>
        </p:nvSpPr>
        <p:spPr>
          <a:xfrm>
            <a:off x="5619750" y="237648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5619750" y="240982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0" name="Shape 37"/>
          <p:cNvSpPr/>
          <p:nvPr/>
        </p:nvSpPr>
        <p:spPr>
          <a:xfrm>
            <a:off x="2238375" y="354806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8"/>
          <p:cNvSpPr/>
          <p:nvPr/>
        </p:nvSpPr>
        <p:spPr>
          <a:xfrm>
            <a:off x="2238375" y="35814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2" name="Text 39"/>
          <p:cNvSpPr/>
          <p:nvPr/>
        </p:nvSpPr>
        <p:spPr>
          <a:xfrm>
            <a:off x="5848350" y="238125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백그라운드 작업 및 화면 이탈 안내</a:t>
            </a:r>
            <a:endParaRPr lang="en-US" sz="534" dirty="0"/>
          </a:p>
        </p:txBody>
      </p:sp>
      <p:sp>
        <p:nvSpPr>
          <p:cNvPr id="43" name="Text 40"/>
          <p:cNvSpPr/>
          <p:nvPr/>
        </p:nvSpPr>
        <p:spPr>
          <a:xfrm>
            <a:off x="5848350" y="2514600"/>
            <a:ext cx="31051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이탈 허용: 하단에 이 화면을 벗어나도 진행은 계속돼요 안내 문구를 표출하여, 사용자가 다른 메뉴(대시보드, 커넥터 등)로 이동하더라도 백그라운드에서 분석 작업을 유지</a:t>
            </a:r>
            <a:endParaRPr lang="en-US" sz="46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73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60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추천 결과 확인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R-024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73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60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&gt; 업무 추천 결과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E-4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필터 및 상태별 조회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상단 필터 버튼을 이용해 조건에 맞는 업무 추천 카드만 선별 조회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필터 조건: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전체: 모든 업무 추천 카드 조회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근거 확인 필요: 추천 근거가 부족하거나 검증이 필요한 카드만 조회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미확정 정보 포함: 예상 소요일, 배정 조건 등에 미확정/불확실한 항목이 포함된 카드만 조회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48325" y="178593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48325" y="181927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76925" y="1776408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업무별 AI 추천 카드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76925" y="1909758"/>
            <a:ext cx="3105150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출처 및 업무명: 상단 태그에 출처 문서명 및 메인 업무명을 표시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추천 배정자 &amp; 신뢰도: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AI가 산출한 1순위 추천 담당자 프로필(사진, 이름)을 노출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추천의 신뢰 수준을 라벨 배지로 표기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추천 근거: AI 분석에 따른 추천 사유를 불릿 포인트(•) 형태로 명시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다른 후보 보기: 클릭 시 2, 3순위 차순위 추천 후보자 목록이 드롭다운/아코디언 형태로 확장</a:t>
            </a:r>
            <a:endParaRPr lang="en-US" sz="463" dirty="0"/>
          </a:p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예상 소요일 &amp; 상태 뱃지: 하단 우측에 예측된 작업 기간(예상 소요: N일) 및 검증 상태를 표시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3081333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3133720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3348033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신뢰도 라벨은 색상+텍스트 병행 (색맹 접근성)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3567108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불확실한 값(예상 소요 등)은 점선 테두리+물음표로 시각 구분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342900" y="2114550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2900" y="21478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6" name="Shape 33"/>
          <p:cNvSpPr/>
          <p:nvPr/>
        </p:nvSpPr>
        <p:spPr>
          <a:xfrm>
            <a:off x="342900" y="16859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4"/>
          <p:cNvSpPr/>
          <p:nvPr/>
        </p:nvSpPr>
        <p:spPr>
          <a:xfrm>
            <a:off x="342900" y="17192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38" name="Shape 35"/>
          <p:cNvSpPr/>
          <p:nvPr/>
        </p:nvSpPr>
        <p:spPr>
          <a:xfrm>
            <a:off x="5648325" y="257175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5648325" y="26050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0" name="Shape 37"/>
          <p:cNvSpPr/>
          <p:nvPr/>
        </p:nvSpPr>
        <p:spPr>
          <a:xfrm>
            <a:off x="366713" y="415766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8"/>
          <p:cNvSpPr/>
          <p:nvPr/>
        </p:nvSpPr>
        <p:spPr>
          <a:xfrm>
            <a:off x="366713" y="419100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2" name="Text 39"/>
          <p:cNvSpPr/>
          <p:nvPr/>
        </p:nvSpPr>
        <p:spPr>
          <a:xfrm>
            <a:off x="5876925" y="2576513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하단 네비게이션 액션</a:t>
            </a:r>
            <a:endParaRPr lang="en-US" sz="534" dirty="0"/>
          </a:p>
        </p:txBody>
      </p:sp>
      <p:sp>
        <p:nvSpPr>
          <p:cNvPr id="43" name="Text 40"/>
          <p:cNvSpPr/>
          <p:nvPr/>
        </p:nvSpPr>
        <p:spPr>
          <a:xfrm>
            <a:off x="5876925" y="2709863"/>
            <a:ext cx="31051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 단계: 이전 단계(파일 및 요구사항 입력) 화면으로 돌아감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다음: 검증 결과 확인: 추천된 업무 배정안을 바탕으로 검증 및 승인 단계로 이동하는 주요 액션 버튼</a:t>
            </a:r>
            <a:endParaRPr lang="en-US" sz="46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73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7" y="12145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60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추천 결과 (근거 부족)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49" y="12145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22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36" y="12145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9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R-025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73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7" y="447185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60" y="55770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&gt; 업무 추천 결과 (근거부족)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49" y="447185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22" y="55770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36" y="447185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9" y="55770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E-4-1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배정 목록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50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업무 후보 목록을 조회하며, 각 항목별로 Task(업무명), 작업 ID, 배정현황, 배정 인원을 제공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배정 현황 상태: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배정완료: 정상 추천 및 배정이 완료된 상태 (초록색 배지)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검토중: 검토가 필요한 상태 (주황색 배지)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미배정: 근거 부족 등으로 자동 배정되지 않은 상태 (회색 배지)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75259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785933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74307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배정 근거 및 상세 정보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1876420"/>
            <a:ext cx="31051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 항목 연동: 좌측 테이블에서 선택한 업무의 상세 추천 근거를 우측 카드 영역에 즉시 노출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담당자 프로필: 배정된 인원의 성명 및 직책(예: Senior Software Engineer) 정보를 표시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추천 배정 사유: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 프로젝트 수행 이력, 현재 잔여 공수, 코드 리뷰 만족도 등 AI가 분석한 근거 텍스트를 불릿 포인트 형태(•)로 제공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24098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619750" y="24431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31" name="Text 29"/>
          <p:cNvSpPr/>
          <p:nvPr/>
        </p:nvSpPr>
        <p:spPr>
          <a:xfrm>
            <a:off x="5848350" y="2414583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하단 액션 버튼</a:t>
            </a:r>
            <a:endParaRPr lang="en-US" sz="534" dirty="0"/>
          </a:p>
        </p:txBody>
      </p:sp>
      <p:sp>
        <p:nvSpPr>
          <p:cNvPr id="32" name="Text 30"/>
          <p:cNvSpPr/>
          <p:nvPr/>
        </p:nvSpPr>
        <p:spPr>
          <a:xfrm>
            <a:off x="5848350" y="2547933"/>
            <a:ext cx="31051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 단계: 클릭 시 이전 설정/입력 단계 화면으로 이동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재배정: 조건 변경 후 추천 결과를 다시 산출할 때 사용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다음: 승인 결과 확인: 최종 배정안을 확정하고 승인 결과 단계로 이동하는 메인 액션 버튼</a:t>
            </a:r>
            <a:endParaRPr lang="en-US" sz="463" dirty="0"/>
          </a:p>
        </p:txBody>
      </p:sp>
      <p:sp>
        <p:nvSpPr>
          <p:cNvPr id="33" name="Shape 31"/>
          <p:cNvSpPr/>
          <p:nvPr/>
        </p:nvSpPr>
        <p:spPr>
          <a:xfrm>
            <a:off x="5619750" y="2881308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7375" y="2933695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5" name="Text 33"/>
          <p:cNvSpPr/>
          <p:nvPr/>
        </p:nvSpPr>
        <p:spPr>
          <a:xfrm>
            <a:off x="5657850" y="3148008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수동 배정 시에도 워크로드 초과 여부 경고 표시 필요</a:t>
            </a:r>
            <a:endParaRPr lang="en-US" sz="463" dirty="0"/>
          </a:p>
        </p:txBody>
      </p:sp>
      <p:sp>
        <p:nvSpPr>
          <p:cNvPr id="36" name="Text 34"/>
          <p:cNvSpPr/>
          <p:nvPr/>
        </p:nvSpPr>
        <p:spPr>
          <a:xfrm>
            <a:off x="5657850" y="3367083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모든 업무가 근거 부족이면 전체 수동 배정 모드 안내</a:t>
            </a:r>
            <a:endParaRPr lang="en-US" sz="463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3833812" y="1657350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833812" y="169068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40" name="Shape 37"/>
          <p:cNvSpPr/>
          <p:nvPr/>
        </p:nvSpPr>
        <p:spPr>
          <a:xfrm>
            <a:off x="252413" y="1662108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8"/>
          <p:cNvSpPr/>
          <p:nvPr/>
        </p:nvSpPr>
        <p:spPr>
          <a:xfrm>
            <a:off x="252413" y="169544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42" name="Shape 39"/>
          <p:cNvSpPr/>
          <p:nvPr/>
        </p:nvSpPr>
        <p:spPr>
          <a:xfrm>
            <a:off x="280988" y="414813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280988" y="418147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21458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4" name="Text 2"/>
          <p:cNvSpPr/>
          <p:nvPr/>
        </p:nvSpPr>
        <p:spPr>
          <a:xfrm>
            <a:off x="248666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화면명</a:t>
            </a:r>
            <a:endParaRPr lang="en-US" sz="696" dirty="0"/>
          </a:p>
        </p:txBody>
      </p:sp>
      <p:sp>
        <p:nvSpPr>
          <p:cNvPr id="5" name="Shape 3"/>
          <p:cNvSpPr/>
          <p:nvPr/>
        </p:nvSpPr>
        <p:spPr>
          <a:xfrm>
            <a:off x="1237488" y="121458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654" y="231972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배정 결과 대시보드</a:t>
            </a:r>
            <a:endParaRPr lang="en-US" sz="696" dirty="0"/>
          </a:p>
        </p:txBody>
      </p:sp>
      <p:sp>
        <p:nvSpPr>
          <p:cNvPr id="7" name="Shape 5"/>
          <p:cNvSpPr/>
          <p:nvPr/>
        </p:nvSpPr>
        <p:spPr>
          <a:xfrm>
            <a:off x="4378452" y="121458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8" name="Text 6"/>
          <p:cNvSpPr/>
          <p:nvPr/>
        </p:nvSpPr>
        <p:spPr>
          <a:xfrm>
            <a:off x="4436618" y="231972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요구사항 ID</a:t>
            </a:r>
            <a:endParaRPr lang="en-US" sz="696" dirty="0"/>
          </a:p>
        </p:txBody>
      </p:sp>
      <p:sp>
        <p:nvSpPr>
          <p:cNvPr id="9" name="Shape 7"/>
          <p:cNvSpPr/>
          <p:nvPr/>
        </p:nvSpPr>
        <p:spPr>
          <a:xfrm>
            <a:off x="5425440" y="121458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3606" y="231972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R-026</a:t>
            </a:r>
            <a:endParaRPr lang="en-US" sz="696" dirty="0"/>
          </a:p>
        </p:txBody>
      </p:sp>
      <p:sp>
        <p:nvSpPr>
          <p:cNvPr id="11" name="Shape 9"/>
          <p:cNvSpPr/>
          <p:nvPr/>
        </p:nvSpPr>
        <p:spPr>
          <a:xfrm>
            <a:off x="190500" y="44718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2" name="Text 10"/>
          <p:cNvSpPr/>
          <p:nvPr/>
        </p:nvSpPr>
        <p:spPr>
          <a:xfrm>
            <a:off x="248666" y="557703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경로</a:t>
            </a:r>
            <a:endParaRPr lang="en-US" sz="696" dirty="0"/>
          </a:p>
        </p:txBody>
      </p:sp>
      <p:sp>
        <p:nvSpPr>
          <p:cNvPr id="13" name="Shape 11"/>
          <p:cNvSpPr/>
          <p:nvPr/>
        </p:nvSpPr>
        <p:spPr>
          <a:xfrm>
            <a:off x="1237488" y="447187"/>
            <a:ext cx="3140964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654" y="557703"/>
            <a:ext cx="3024632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&gt; 배정 결과</a:t>
            </a:r>
            <a:endParaRPr lang="en-US" sz="696" dirty="0"/>
          </a:p>
        </p:txBody>
      </p:sp>
      <p:sp>
        <p:nvSpPr>
          <p:cNvPr id="15" name="Shape 13"/>
          <p:cNvSpPr/>
          <p:nvPr/>
        </p:nvSpPr>
        <p:spPr>
          <a:xfrm>
            <a:off x="4378452" y="447187"/>
            <a:ext cx="1046988" cy="32573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6618" y="557703"/>
            <a:ext cx="930656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 ID</a:t>
            </a:r>
            <a:endParaRPr lang="en-US" sz="696" dirty="0"/>
          </a:p>
        </p:txBody>
      </p:sp>
      <p:sp>
        <p:nvSpPr>
          <p:cNvPr id="17" name="Shape 15"/>
          <p:cNvSpPr/>
          <p:nvPr/>
        </p:nvSpPr>
        <p:spPr>
          <a:xfrm>
            <a:off x="5425440" y="447187"/>
            <a:ext cx="3489960" cy="325730"/>
          </a:xfrm>
          <a:prstGeom prst="rect">
            <a:avLst/>
          </a:prstGeom>
          <a:solidFill>
            <a:srgbClr val="FFFFFF"/>
          </a:solidFill>
          <a:ln w="5526">
            <a:solidFill>
              <a:srgbClr val="D1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3606" y="557703"/>
            <a:ext cx="3373628" cy="3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3"/>
              </a:lnSpc>
              <a:buNone/>
            </a:pPr>
            <a:r>
              <a:rPr lang="en-US" sz="696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E-5</a:t>
            </a:r>
            <a:endParaRPr lang="en-US" sz="696" dirty="0"/>
          </a:p>
        </p:txBody>
      </p:sp>
      <p:sp>
        <p:nvSpPr>
          <p:cNvPr id="19" name="Shape 17"/>
          <p:cNvSpPr/>
          <p:nvPr/>
        </p:nvSpPr>
        <p:spPr>
          <a:xfrm>
            <a:off x="5619750" y="81915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20" name="Text 18"/>
          <p:cNvSpPr/>
          <p:nvPr/>
        </p:nvSpPr>
        <p:spPr>
          <a:xfrm>
            <a:off x="5686425" y="871538"/>
            <a:ext cx="4619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06" dirty="0"/>
          </a:p>
        </p:txBody>
      </p:sp>
      <p:sp>
        <p:nvSpPr>
          <p:cNvPr id="21" name="Shape 19"/>
          <p:cNvSpPr/>
          <p:nvPr/>
        </p:nvSpPr>
        <p:spPr>
          <a:xfrm>
            <a:off x="5619750" y="1114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1147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5848350" y="1104900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배정 목록</a:t>
            </a:r>
            <a:endParaRPr lang="en-US" sz="534" dirty="0"/>
          </a:p>
        </p:txBody>
      </p:sp>
      <p:sp>
        <p:nvSpPr>
          <p:cNvPr id="24" name="Text 22"/>
          <p:cNvSpPr/>
          <p:nvPr/>
        </p:nvSpPr>
        <p:spPr>
          <a:xfrm>
            <a:off x="5848350" y="1238245"/>
            <a:ext cx="310515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목록 구성: 전체 업무의 배정 상태를 목록으로 제공 (Task, 작업 ID, 배정현황, 배정 인원).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배정 현황 상태 배지: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변경됨 (빨간색): 기존 AI 추천에서 사용자가 수동으로 담당자를 변경한 상태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배정완료 (초록색): AI 추천안 그대로 정상 배정된 상태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검토중 (주황색) / 미배정 (회색): 추가 확인이 필요하거나 담당자가 지정되지 않은 상태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수동 배정 드롭다운: 배정 인원 열의 드롭다운을 이용해 담당자를 자유롭게 변경 가능</a:t>
            </a:r>
            <a:endParaRPr lang="en-US" sz="463" dirty="0"/>
          </a:p>
        </p:txBody>
      </p:sp>
      <p:sp>
        <p:nvSpPr>
          <p:cNvPr id="25" name="Shape 23"/>
          <p:cNvSpPr/>
          <p:nvPr/>
        </p:nvSpPr>
        <p:spPr>
          <a:xfrm>
            <a:off x="5619750" y="1876420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0" y="1909758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27" name="Text 25"/>
          <p:cNvSpPr/>
          <p:nvPr/>
        </p:nvSpPr>
        <p:spPr>
          <a:xfrm>
            <a:off x="5848350" y="1866895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수동 변경 안내 및 배정 근거</a:t>
            </a:r>
            <a:endParaRPr lang="en-US" sz="534" dirty="0"/>
          </a:p>
        </p:txBody>
      </p:sp>
      <p:sp>
        <p:nvSpPr>
          <p:cNvPr id="28" name="Text 26"/>
          <p:cNvSpPr/>
          <p:nvPr/>
        </p:nvSpPr>
        <p:spPr>
          <a:xfrm>
            <a:off x="5848350" y="2000245"/>
            <a:ext cx="3105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 항목 연동: 좌측 목록에서 선택한 업무의 상세 상태를 우측 카드에 노출합니다.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수동 변경 상태 안내 (핵심):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수동 변경된 항목(변경됨 상태)을 선택한 경우, "배정이 수동으로 변경되었습니다 (변경 전 ➔ 변경 후)" 안내 문구와 함께 "수동 변경된 업무는 AI 추천 근거를 제공하지 않습니다" 메시지를 표시합니다.</a:t>
            </a:r>
            <a:endParaRPr lang="en-US" sz="463" dirty="0"/>
          </a:p>
          <a:p>
            <a:pPr algn="l" lvl="1" marL="6858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추천 상태 그대로인 항목 선택 시에는 AI의 추천 배정 사유 텍스트를 제공합니다.</a:t>
            </a:r>
            <a:endParaRPr lang="en-US" sz="463" dirty="0"/>
          </a:p>
        </p:txBody>
      </p:sp>
      <p:sp>
        <p:nvSpPr>
          <p:cNvPr id="29" name="Shape 27"/>
          <p:cNvSpPr/>
          <p:nvPr/>
        </p:nvSpPr>
        <p:spPr>
          <a:xfrm>
            <a:off x="5619750" y="3133720"/>
            <a:ext cx="3333750" cy="209550"/>
          </a:xfrm>
          <a:prstGeom prst="rect">
            <a:avLst/>
          </a:prstGeom>
          <a:solidFill>
            <a:srgbClr val="1F2938"/>
          </a:solidFill>
          <a:ln/>
        </p:spPr>
      </p:sp>
      <p:sp>
        <p:nvSpPr>
          <p:cNvPr id="30" name="Text 28"/>
          <p:cNvSpPr/>
          <p:nvPr/>
        </p:nvSpPr>
        <p:spPr>
          <a:xfrm>
            <a:off x="5686425" y="3186108"/>
            <a:ext cx="481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06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Point</a:t>
            </a:r>
            <a:endParaRPr lang="en-US" sz="606" dirty="0"/>
          </a:p>
        </p:txBody>
      </p:sp>
      <p:sp>
        <p:nvSpPr>
          <p:cNvPr id="31" name="Text 29"/>
          <p:cNvSpPr/>
          <p:nvPr/>
        </p:nvSpPr>
        <p:spPr>
          <a:xfrm>
            <a:off x="5657850" y="3400420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배정 인원 열만 드롭다운으로 수정 가능 (나머지 고정)</a:t>
            </a:r>
            <a:endParaRPr lang="en-US" sz="463" dirty="0"/>
          </a:p>
        </p:txBody>
      </p:sp>
      <p:sp>
        <p:nvSpPr>
          <p:cNvPr id="32" name="Text 30"/>
          <p:cNvSpPr/>
          <p:nvPr/>
        </p:nvSpPr>
        <p:spPr>
          <a:xfrm>
            <a:off x="5657850" y="3619495"/>
            <a:ext cx="3257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"/>
              </a:lnSpc>
              <a:buNone/>
            </a:pPr>
            <a:r>
              <a:rPr lang="en-US" sz="463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수동 변경 시 '변경됨' 빨간 배지 + AI 근거 비활성화</a:t>
            </a:r>
            <a:endParaRPr lang="en-US" sz="463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988" y="819150"/>
            <a:ext cx="5143500" cy="3657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3829050" y="1652583"/>
            <a:ext cx="161925" cy="161925"/>
          </a:xfrm>
          <a:prstGeom prst="ellipse">
            <a:avLst/>
          </a:prstGeom>
          <a:solidFill>
            <a:srgbClr val="2563EB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29050" y="168592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99" dirty="0"/>
          </a:p>
        </p:txBody>
      </p:sp>
      <p:sp>
        <p:nvSpPr>
          <p:cNvPr id="36" name="Shape 33"/>
          <p:cNvSpPr/>
          <p:nvPr/>
        </p:nvSpPr>
        <p:spPr>
          <a:xfrm>
            <a:off x="247650" y="167163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4"/>
          <p:cNvSpPr/>
          <p:nvPr/>
        </p:nvSpPr>
        <p:spPr>
          <a:xfrm>
            <a:off x="247650" y="170497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99" dirty="0"/>
          </a:p>
        </p:txBody>
      </p:sp>
      <p:sp>
        <p:nvSpPr>
          <p:cNvPr id="38" name="Text 35"/>
          <p:cNvSpPr/>
          <p:nvPr/>
        </p:nvSpPr>
        <p:spPr>
          <a:xfrm>
            <a:off x="3848100" y="4181475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39" name="Shape 36"/>
          <p:cNvSpPr/>
          <p:nvPr/>
        </p:nvSpPr>
        <p:spPr>
          <a:xfrm>
            <a:off x="209550" y="4143375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7"/>
          <p:cNvSpPr/>
          <p:nvPr/>
        </p:nvSpPr>
        <p:spPr>
          <a:xfrm>
            <a:off x="209550" y="4176712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1" name="Shape 38"/>
          <p:cNvSpPr/>
          <p:nvPr/>
        </p:nvSpPr>
        <p:spPr>
          <a:xfrm>
            <a:off x="5619750" y="2538413"/>
            <a:ext cx="161925" cy="1619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39"/>
          <p:cNvSpPr/>
          <p:nvPr/>
        </p:nvSpPr>
        <p:spPr>
          <a:xfrm>
            <a:off x="5619750" y="2571750"/>
            <a:ext cx="161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99" dirty="0"/>
          </a:p>
        </p:txBody>
      </p:sp>
      <p:sp>
        <p:nvSpPr>
          <p:cNvPr id="43" name="Text 40"/>
          <p:cNvSpPr/>
          <p:nvPr/>
        </p:nvSpPr>
        <p:spPr>
          <a:xfrm>
            <a:off x="5848350" y="2543175"/>
            <a:ext cx="3105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7"/>
              </a:lnSpc>
              <a:buNone/>
            </a:pPr>
            <a:r>
              <a:rPr lang="en-US" sz="534" b="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하단 액션 버튼</a:t>
            </a:r>
            <a:endParaRPr lang="en-US" sz="534" dirty="0"/>
          </a:p>
        </p:txBody>
      </p:sp>
      <p:sp>
        <p:nvSpPr>
          <p:cNvPr id="44" name="Text 41"/>
          <p:cNvSpPr/>
          <p:nvPr/>
        </p:nvSpPr>
        <p:spPr>
          <a:xfrm>
            <a:off x="5848350" y="2676525"/>
            <a:ext cx="31051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 단계: 클릭 시 이전 설정/입력 단계 화면으로 이동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업무 재배정: 조건 변경 후 추천 결과를 다시 산출할 때 사용</a:t>
            </a:r>
            <a:endParaRPr lang="en-US" sz="463" dirty="0"/>
          </a:p>
          <a:p>
            <a:pPr algn="l" marL="342900" indent="-342900">
              <a:lnSpc>
                <a:spcPts val="560"/>
              </a:lnSpc>
              <a:buSzPct val="100000"/>
              <a:buChar char="•"/>
            </a:pPr>
            <a:r>
              <a:rPr lang="en-US" sz="463" dirty="0">
                <a:solidFill>
                  <a:srgbClr val="4A5463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다음: 승인 결과 확인: 최종 배정안을 확정하고 승인 결과 단계로 이동하는 메인 액션 버튼</a:t>
            </a:r>
            <a:endParaRPr lang="en-US" sz="4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2026-07-24T00:18:34Z</dcterms:created>
  <dcterms:modified xsi:type="dcterms:W3CDTF">2026-07-24T00:18:34Z</dcterms:modified>
</cp:coreProperties>
</file>