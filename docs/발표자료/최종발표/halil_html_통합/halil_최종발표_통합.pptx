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550" y="495300"/>
            <a:ext cx="4953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F8C944"/>
                </a:solidFill>
                <a:latin typeface="Pretendard"/>
                <a:ea typeface="Pretendard"/>
                <a:cs typeface="Pretendard"/>
              </a:rPr>
              <a:t>K-DIGITAL TRAINING · SKN29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676400"/>
            <a:ext cx="5619750" cy="144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프로젝트 운영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Agent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3390900"/>
            <a:ext cx="68580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25" b="1">
                <a:solidFill>
                  <a:srgbClr val="D8E5F6"/>
                </a:solidFill>
                <a:latin typeface="Pretendard"/>
                <a:ea typeface="Pretendard"/>
                <a:cs typeface="Pretendard"/>
              </a:rPr>
              <a:t>에이전트 구성부터 근거 기반 실행·승인·운영까지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550" y="4114800"/>
            <a:ext cx="1066800" cy="47625"/>
          </a:xfrm>
          <a:prstGeom prst="rect">
            <a:avLst/>
          </a:prstGeom>
          <a:solidFill>
            <a:srgbClr val="42D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4438650"/>
            <a:ext cx="32385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75" b="1">
                <a:solidFill>
                  <a:srgbClr val="AFC0D9"/>
                </a:solidFill>
                <a:latin typeface="Pretendard"/>
                <a:ea typeface="Pretendard"/>
                <a:cs typeface="Pretendard"/>
              </a:rPr>
              <a:t>최종 프로젝트 결과보고서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4857750"/>
            <a:ext cx="24765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TEAM 2 · HALIL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550" y="5219700"/>
            <a:ext cx="6191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5">
                <a:solidFill>
                  <a:srgbClr val="D6E0EE"/>
                </a:solidFill>
                <a:latin typeface="Pretendard"/>
                <a:ea typeface="Pretendard"/>
                <a:cs typeface="Pretendard"/>
              </a:rPr>
              <a:t>김지훈 · 성주연 · 임준 · 임준억 · 최원빈  |  멘토 김유진</a:t>
            </a:r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125" y="6115050"/>
            <a:ext cx="1000125" cy="314325"/>
          </a:xfrm>
          <a:prstGeom prst="rect">
            <a:avLst/>
          </a:prstGeom>
        </p:spPr>
      </p:pic>
      <p:pic>
        <p:nvPicPr>
          <p:cNvPr id="12" name="Picture 11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5125" y="6115050"/>
            <a:ext cx="1066800" cy="314325"/>
          </a:xfrm>
          <a:prstGeom prst="rect">
            <a:avLst/>
          </a:prstGeom>
        </p:spPr>
      </p:pic>
      <p:pic>
        <p:nvPicPr>
          <p:cNvPr id="13" name="Picture 12" descr="halil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" y="990600"/>
            <a:ext cx="514350" cy="514350"/>
          </a:xfrm>
          <a:prstGeom prst="rect">
            <a:avLst/>
          </a:prstGeom>
        </p:spPr>
      </p:pic>
      <p:pic>
        <p:nvPicPr>
          <p:cNvPr id="14" name="Picture 13" descr="halil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1486" y="962025"/>
            <a:ext cx="1234678" cy="5810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 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5049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최종 프로젝트 결과보고서 필수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2038350"/>
            <a:ext cx="110490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2209800"/>
            <a:ext cx="5334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4450" y="2171700"/>
            <a:ext cx="1030605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프로젝트 개요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724150"/>
            <a:ext cx="110490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" y="2895600"/>
            <a:ext cx="5334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4450" y="2857500"/>
            <a:ext cx="1030605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프로젝트 팀 구성 및 역할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3409950"/>
            <a:ext cx="110490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3581400"/>
            <a:ext cx="5334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4450" y="3543300"/>
            <a:ext cx="1030605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프로젝트 수행 절차 및 방법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095750"/>
            <a:ext cx="110490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" y="4267200"/>
            <a:ext cx="5334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4450" y="4229100"/>
            <a:ext cx="1030605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프로젝트 수행 결과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4781550"/>
            <a:ext cx="110490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" y="4953000"/>
            <a:ext cx="5334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4450" y="4914900"/>
            <a:ext cx="1030605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5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자체 평가 의견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3048000" cy="142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2400300"/>
            <a:ext cx="97155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3943350"/>
            <a:ext cx="8572500" cy="704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AX 시장의 변화에서 출발해 우리가 주목한 문제와 해결 방향을 설명합니다.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" y="5391150"/>
            <a:ext cx="10668000" cy="9525"/>
          </a:xfrm>
          <a:prstGeom prst="rect">
            <a:avLst/>
          </a:prstGeom>
          <a:solidFill>
            <a:srgbClr val="BAC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5657850"/>
            <a:ext cx="7239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시장 변화 · 프로젝트 출발 · 문제 정의 · 해결 방향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0" y="5667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01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시장은 AX로 가고 있지만, 두 가지 문제가 발목을 잡습니다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5049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도입·실험은 빠르게 늘지만 실제 업무 확장은 더딥니다. 그 사이에 기업 현장의 두 문제가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시장 변화 · 문제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000250"/>
            <a:ext cx="2000250" cy="7620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4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62%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1300" y="2171700"/>
            <a:ext cx="2857500" cy="5715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AI Agent 도입을</a:t>
            </a:r>
          </a:p>
          <a:p>
            <a:pPr algn="l"/>
            <a:r>
              <a:rPr sz="12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검토·실험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095500"/>
            <a:ext cx="857250" cy="5715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ctr"/>
            <a:r>
              <a:rPr sz="3000" b="0">
                <a:solidFill>
                  <a:srgbClr val="A6B4C7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2000250"/>
            <a:ext cx="2000250" cy="7620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4350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23%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2171700"/>
            <a:ext cx="2857500" cy="5715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한 개 이상 업무에서</a:t>
            </a:r>
          </a:p>
          <a:p>
            <a:pPr algn="l"/>
            <a:r>
              <a:rPr sz="12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확장 운영 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2838450"/>
            <a:ext cx="9525000" cy="1714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750" b="0">
                <a:solidFill>
                  <a:srgbClr val="7B8492"/>
                </a:solidFill>
                <a:latin typeface="Pretendard"/>
                <a:ea typeface="Pretendard"/>
                <a:cs typeface="Pretendard"/>
              </a:rPr>
              <a:t>출처: McKinsey Global Survey on the state of AI,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750" y="3219450"/>
            <a:ext cx="10839450" cy="9525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390900"/>
            <a:ext cx="5334000" cy="18669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43300"/>
            <a:ext cx="1905000" cy="2286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문제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10000"/>
            <a:ext cx="4876800" cy="304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흩어진 정보와 작업 환경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10050"/>
            <a:ext cx="4876800" cy="9144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125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문서·웹·업무 시스템이 여러 곳에 분산되어</a:t>
            </a:r>
          </a:p>
          <a:p>
            <a:pPr algn="l"/>
            <a:r>
              <a:rPr sz="1125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필요한 정보를 한 번에 활용하기 어렵습니다.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390900"/>
            <a:ext cx="5334000" cy="18669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43300"/>
            <a:ext cx="1905000" cy="2286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문제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10000"/>
            <a:ext cx="4876800" cy="304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개인에게 머무는 업무 노하우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10050"/>
            <a:ext cx="4876800" cy="9144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125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업무 절차와 경험이 개인의 암묵지로 남아</a:t>
            </a:r>
          </a:p>
          <a:p>
            <a:pPr algn="l"/>
            <a:r>
              <a:rPr sz="1125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공유가 어렵고 신규 구성원의 학습이 오래 걸립니다.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391150"/>
            <a:ext cx="10820400" cy="476250"/>
          </a:xfrm>
          <a:prstGeom prst="rect">
            <a:avLst/>
          </a:prstGeom>
          <a:solidFill>
            <a:srgbClr val="0C3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350" y="5391150"/>
            <a:ext cx="10401300" cy="4762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ctr"/>
            <a:r>
              <a:rPr sz="1087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시장은 AX로 가는데 이 두 문제가 실제 적용을 늦춥니다 — 그래서 이를 가능하게 하는 플랫폼을 만들고자 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01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7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먼저 나선 서비스들은 같은 방향으로 수렴합니다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5049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제품별 강점은 다르지만, 기업용 Agent가 갖춰야 할 요건은 지식 연결·업무 도구·사람 통제로 모입니다.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선도 서비스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038350"/>
            <a:ext cx="1809750" cy="285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975" b="1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시장 사례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1300" y="2038350"/>
            <a:ext cx="2571750" cy="285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975" b="1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지식 · 맥락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7850" y="2038350"/>
            <a:ext cx="2571750" cy="285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975" b="1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Agent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400" y="2038350"/>
            <a:ext cx="2952750" cy="285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975" b="1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운영 통제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381250"/>
            <a:ext cx="10820400" cy="1066800"/>
          </a:xfrm>
          <a:prstGeom prst="rect">
            <a:avLst/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300" y="2571750"/>
            <a:ext cx="1581150" cy="685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650" b="1">
                <a:solidFill>
                  <a:srgbClr val="0C3F91"/>
                </a:solidFill>
                <a:latin typeface="Pretendard"/>
                <a:ea typeface="Pretendard"/>
                <a:cs typeface="Pretendard"/>
              </a:rPr>
              <a:t>GLEAN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1300" y="2571750"/>
            <a:ext cx="2571750" cy="685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권한을 반영한</a:t>
            </a:r>
          </a:p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기업 지식·맥락 연결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7850" y="2571750"/>
            <a:ext cx="2571750" cy="685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No-code Builder와</a:t>
            </a:r>
          </a:p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다단계 Agent 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4400" y="2571750"/>
            <a:ext cx="2762250" cy="685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권한·로그·평가 기반</a:t>
            </a:r>
          </a:p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Agent 운영 가시성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562350"/>
            <a:ext cx="10820400" cy="1066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300" y="3752850"/>
            <a:ext cx="1657350" cy="685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COPILOT</a:t>
            </a:r>
          </a:p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1300" y="3752850"/>
            <a:ext cx="2571750" cy="685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Knowledge Source와</a:t>
            </a:r>
          </a:p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Connector 연결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7850" y="3752850"/>
            <a:ext cx="2571750" cy="685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Agent 제작·배포와</a:t>
            </a:r>
          </a:p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환경별 생명주기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4400" y="3752850"/>
            <a:ext cx="2762250" cy="685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DLP·인증·환경 정책과</a:t>
            </a:r>
          </a:p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사용·보안 관측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" y="4914900"/>
            <a:ext cx="10801350" cy="4762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ctr"/>
            <a:r>
              <a:rPr sz="1200" b="1">
                <a:solidFill>
                  <a:srgbClr val="0C3F91"/>
                </a:solidFill>
                <a:latin typeface="Pretendard"/>
                <a:ea typeface="Pretendard"/>
                <a:cs typeface="Pretendard"/>
              </a:rPr>
              <a:t>GLEAN · Copilot Studio 같은 서비스도 같은 문제를 겨냥합니다</a:t>
            </a:r>
          </a:p>
          <a:p>
            <a:pPr algn="ctr"/>
            <a:r>
              <a:rPr sz="1200" b="1">
                <a:solidFill>
                  <a:srgbClr val="0C3F91"/>
                </a:solidFill>
                <a:latin typeface="Pretendard"/>
                <a:ea typeface="Pretendard"/>
                <a:cs typeface="Pretendard"/>
              </a:rPr>
              <a:t>다만 우리는 기업 현장의 실제 업무를, 비개발자가 직접 만들고 검증하는 데 집중했습니다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850" y="5638800"/>
            <a:ext cx="10820400" cy="1905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750" b="0">
                <a:solidFill>
                  <a:srgbClr val="7B8492"/>
                </a:solidFill>
                <a:latin typeface="Pretendard"/>
                <a:ea typeface="Pretendard"/>
                <a:cs typeface="Pretendard"/>
              </a:rPr>
              <a:t>출처: Glean Agent Builder · Microsoft Copilot Studio 공식 제품·거버넌스 문서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01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두 문제를 HALIL은 이렇게 해결하려 했습니다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5049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흩어진 정보는 연결로, 개인의 암묵지는 누구나 만드는 에이전트로 풉니다.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해결 방향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1905000"/>
            <a:ext cx="2857500" cy="2286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900" b="1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0500" y="1905000"/>
            <a:ext cx="4095750" cy="2286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900" b="1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HALIL의 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1905000"/>
            <a:ext cx="3143250" cy="2286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900" b="1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방식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209800"/>
            <a:ext cx="10820400" cy="1428750"/>
          </a:xfrm>
          <a:prstGeom prst="rect">
            <a:avLst/>
          </a:prstGeom>
          <a:solidFill>
            <a:srgbClr val="EE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50" y="2419350"/>
            <a:ext cx="2857500" cy="1047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흩어진 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500" y="2419350"/>
            <a:ext cx="4191000" cy="1047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4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커넥터와 MCP로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2419350"/>
            <a:ext cx="3143250" cy="1047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87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문서·웹·업무 도구를 한 곳에서 검색·활용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771900"/>
            <a:ext cx="10820400" cy="169545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350" y="3981450"/>
            <a:ext cx="2857500" cy="1428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개인 암묵지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0500" y="3981450"/>
            <a:ext cx="4191000" cy="1428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4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누구나 만드는 에이전트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0" y="3981450"/>
            <a:ext cx="3143250" cy="1428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87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커넥터·MCP로 데이터 소스를 받아, 개발자·비개발자 모두 자신의 노하우를 담은 에이전트를 만들고 결과를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5581650"/>
            <a:ext cx="1080135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ctr"/>
            <a:r>
              <a:rPr sz="1012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흩어진 정보와 개인의 업무 방식을 하나의 업무 흐름으로 연결한 플랫폼이 HALIL입니다.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3048000" cy="142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2400300"/>
            <a:ext cx="97155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프로젝트 팀 구성 및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3943350"/>
            <a:ext cx="8572500" cy="704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기능별 오너십 · 핵심 산출물 · 단계별 협업 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" y="5391150"/>
            <a:ext cx="10668000" cy="9525"/>
          </a:xfrm>
          <a:prstGeom prst="rect">
            <a:avLst/>
          </a:prstGeom>
          <a:solidFill>
            <a:srgbClr val="BAC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5657850"/>
            <a:ext cx="7239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TEAM · ROLE · SCHEDULE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0" y="5667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02 프로젝트 팀 구성 및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프로젝트 팀 구성 및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5049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다섯 명의 담당 영역과 핵심 산출물을 동일한 기준으로 정리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2450" y="2152650"/>
            <a:ext cx="2038350" cy="47625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52650" y="2324100"/>
            <a:ext cx="4381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125" b="1">
                <a:solidFill>
                  <a:srgbClr val="A5ADB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" y="2343150"/>
            <a:ext cx="1581150" cy="2476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25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PRODUCT /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50" y="2743200"/>
            <a:ext cx="203835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10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임준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2450" y="3276600"/>
            <a:ext cx="203835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450" y="3524250"/>
            <a:ext cx="2038350" cy="209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담당 영역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450" y="3810000"/>
            <a:ext cx="2038350" cy="590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PM · Runtime/HITL</a:t>
            </a:r>
          </a:p>
          <a:p>
            <a:pPr algn="l"/>
            <a:r>
              <a:rPr sz="135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통합 · 배포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450" y="4610100"/>
            <a:ext cx="2038350" cy="209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핵심 산출물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50" y="4895850"/>
            <a:ext cx="2038350" cy="5524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HITL 통합</a:t>
            </a:r>
          </a:p>
          <a:p>
            <a:pPr algn="l"/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배포·시연 기준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2719" y="2324100"/>
            <a:ext cx="9525" cy="3086100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4638" y="2152650"/>
            <a:ext cx="2038350" cy="47625"/>
          </a:xfrm>
          <a:prstGeom prst="rect">
            <a:avLst/>
          </a:prstGeom>
          <a:solidFill>
            <a:srgbClr val="5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4838" y="2324100"/>
            <a:ext cx="4381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125" b="1">
                <a:solidFill>
                  <a:srgbClr val="A5ADB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4638" y="2343150"/>
            <a:ext cx="1581150" cy="2476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25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AGENT / 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4638" y="2743200"/>
            <a:ext cx="203835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10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김지훈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14638" y="3276600"/>
            <a:ext cx="203835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14638" y="3524250"/>
            <a:ext cx="2038350" cy="209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>
                <a:solidFill>
                  <a:srgbClr val="5F6FE8"/>
                </a:solidFill>
                <a:latin typeface="Pretendard"/>
                <a:ea typeface="Pretendard"/>
                <a:cs typeface="Pretendard"/>
              </a:rPr>
              <a:t>담당 영역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4638" y="3810000"/>
            <a:ext cx="2038350" cy="590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Agent Builder · Runtime</a:t>
            </a:r>
          </a:p>
          <a:p>
            <a:pPr algn="l"/>
            <a:r>
              <a:rPr sz="135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Evaluation · 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14638" y="4610100"/>
            <a:ext cx="2038350" cy="209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핵심 산출물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14638" y="4895850"/>
            <a:ext cx="2038350" cy="5524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Agent Builder</a:t>
            </a:r>
          </a:p>
          <a:p>
            <a:pPr algn="l"/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평가·관측성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64906" y="2324100"/>
            <a:ext cx="9525" cy="3086100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76825" y="2152650"/>
            <a:ext cx="2038350" cy="47625"/>
          </a:xfrm>
          <a:prstGeom prst="rect">
            <a:avLst/>
          </a:prstGeom>
          <a:solidFill>
            <a:srgbClr val="F2B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7025" y="2324100"/>
            <a:ext cx="4381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125" b="1">
                <a:solidFill>
                  <a:srgbClr val="A5ADB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6825" y="2343150"/>
            <a:ext cx="1581150" cy="2476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25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6825" y="2743200"/>
            <a:ext cx="203835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10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임준억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76825" y="3276600"/>
            <a:ext cx="203835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6825" y="3524250"/>
            <a:ext cx="2038350" cy="209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>
                <a:solidFill>
                  <a:srgbClr val="F2B92B"/>
                </a:solidFill>
                <a:latin typeface="Pretendard"/>
                <a:ea typeface="Pretendard"/>
                <a:cs typeface="Pretendard"/>
              </a:rPr>
              <a:t>담당 영역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6825" y="3810000"/>
            <a:ext cx="2038350" cy="590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Chat UX · 작업 과정</a:t>
            </a:r>
          </a:p>
          <a:p>
            <a:pPr algn="l"/>
            <a:r>
              <a:rPr sz="135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출처 · 결과 표시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6825" y="4610100"/>
            <a:ext cx="2038350" cy="209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핵심 산출물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6825" y="4895850"/>
            <a:ext cx="2038350" cy="5524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작업 과정 UI</a:t>
            </a:r>
          </a:p>
          <a:p>
            <a:pPr algn="l"/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출처·결과 표현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7094" y="2324100"/>
            <a:ext cx="9525" cy="3086100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39012" y="2152650"/>
            <a:ext cx="2038350" cy="47625"/>
          </a:xfrm>
          <a:prstGeom prst="rect">
            <a:avLst/>
          </a:prstGeom>
          <a:solidFill>
            <a:srgbClr val="32C8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39212" y="2324100"/>
            <a:ext cx="4381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125" b="1">
                <a:solidFill>
                  <a:srgbClr val="A5ADBA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9012" y="2343150"/>
            <a:ext cx="1581150" cy="2476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25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BACKEND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39012" y="2743200"/>
            <a:ext cx="203835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10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성주연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9012" y="3276600"/>
            <a:ext cx="203835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39012" y="3524250"/>
            <a:ext cx="2038350" cy="209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>
                <a:solidFill>
                  <a:srgbClr val="32C893"/>
                </a:solidFill>
                <a:latin typeface="Pretendard"/>
                <a:ea typeface="Pretendard"/>
                <a:cs typeface="Pretendard"/>
              </a:rPr>
              <a:t>담당 영역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39012" y="3810000"/>
            <a:ext cx="2038350" cy="590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Django API · DB · Ops</a:t>
            </a:r>
          </a:p>
          <a:p>
            <a:pPr algn="l"/>
            <a:r>
              <a:rPr sz="135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Skills · 승인 정책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9012" y="4610100"/>
            <a:ext cx="2038350" cy="209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핵심 산출물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39012" y="4895850"/>
            <a:ext cx="2038350" cy="5524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Ops·Skills</a:t>
            </a:r>
          </a:p>
          <a:p>
            <a:pPr algn="l"/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승인·재실행 통제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89281" y="2324100"/>
            <a:ext cx="9525" cy="3086100"/>
          </a:xfrm>
          <a:prstGeom prst="rect">
            <a:avLst/>
          </a:prstGeom>
          <a:solidFill>
            <a:srgbClr val="E4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01200" y="2152650"/>
            <a:ext cx="2038350" cy="47625"/>
          </a:xfrm>
          <a:prstGeom prst="rect">
            <a:avLst/>
          </a:prstGeom>
          <a:solidFill>
            <a:srgbClr val="FF8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201400" y="2324100"/>
            <a:ext cx="438150" cy="228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125" b="1">
                <a:solidFill>
                  <a:srgbClr val="A5ADBA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2343150"/>
            <a:ext cx="1581150" cy="2476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25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AI / DATA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2743200"/>
            <a:ext cx="2038350" cy="381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10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최원빈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01200" y="3276600"/>
            <a:ext cx="203835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0" y="3524250"/>
            <a:ext cx="2038350" cy="209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>
                <a:solidFill>
                  <a:srgbClr val="FF8042"/>
                </a:solidFill>
                <a:latin typeface="Pretendard"/>
                <a:ea typeface="Pretendard"/>
                <a:cs typeface="Pretendard"/>
              </a:rPr>
              <a:t>담당 영역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3810000"/>
            <a:ext cx="2038350" cy="590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문서 파싱 · 임베딩</a:t>
            </a:r>
          </a:p>
          <a:p>
            <a:pPr algn="l"/>
            <a:r>
              <a:rPr sz="135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업무 추출 파이프라인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0" y="4610100"/>
            <a:ext cx="2038350" cy="2095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핵심 산출물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4895850"/>
            <a:ext cx="2038350" cy="5524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RunPod 연동</a:t>
            </a:r>
          </a:p>
          <a:p>
            <a:pPr algn="l"/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문서 처리 파이프라인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02 프로젝트 팀 구성 및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설계에서 운영 검증까지의 구현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2095500"/>
            <a:ext cx="1790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7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2400300"/>
            <a:ext cx="17907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요구사항·구조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8875" y="3905250"/>
            <a:ext cx="1790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75" b="1">
                <a:solidFill>
                  <a:srgbClr val="3E86D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875" y="4210050"/>
            <a:ext cx="17907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기반 환경 구축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6725" y="2095500"/>
            <a:ext cx="1790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75" b="1">
                <a:solidFill>
                  <a:srgbClr val="5F6FE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6725" y="2400300"/>
            <a:ext cx="17907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문서·업무 파이프라인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4575" y="3905250"/>
            <a:ext cx="1790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75" b="1">
                <a:solidFill>
                  <a:srgbClr val="4A9DC5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4575" y="4210050"/>
            <a:ext cx="17907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Builder·Runtime 구현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2425" y="2095500"/>
            <a:ext cx="1790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75" b="1">
                <a:solidFill>
                  <a:srgbClr val="32C893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2425" y="2400300"/>
            <a:ext cx="17907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승인·통제·Skills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0275" y="3905250"/>
            <a:ext cx="1790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75" b="1">
                <a:solidFill>
                  <a:srgbClr val="F2B92B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0275" y="4210050"/>
            <a:ext cx="17907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통합 검증·발표 준비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IMPLEMENTATION 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2450" y="3581400"/>
            <a:ext cx="1847850" cy="1143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00300" y="3581400"/>
            <a:ext cx="1847850" cy="114300"/>
          </a:xfrm>
          <a:prstGeom prst="rect">
            <a:avLst/>
          </a:prstGeom>
          <a:solidFill>
            <a:srgbClr val="3E8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150" y="3581400"/>
            <a:ext cx="1847850" cy="114300"/>
          </a:xfrm>
          <a:prstGeom prst="rect">
            <a:avLst/>
          </a:prstGeom>
          <a:solidFill>
            <a:srgbClr val="5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6000" y="3581400"/>
            <a:ext cx="1847850" cy="114300"/>
          </a:xfrm>
          <a:prstGeom prst="rect">
            <a:avLst/>
          </a:prstGeom>
          <a:solidFill>
            <a:srgbClr val="4A9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43850" y="3581400"/>
            <a:ext cx="1847850" cy="114300"/>
          </a:xfrm>
          <a:prstGeom prst="rect">
            <a:avLst/>
          </a:prstGeom>
          <a:solidFill>
            <a:srgbClr val="32C8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1700" y="3581400"/>
            <a:ext cx="1847850" cy="114300"/>
          </a:xfrm>
          <a:prstGeom prst="rect">
            <a:avLst/>
          </a:prstGeom>
          <a:solidFill>
            <a:srgbClr val="F2B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3048000" cy="142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2400300"/>
            <a:ext cx="97155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프로젝트 수행 절차 및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3943350"/>
            <a:ext cx="8572500" cy="704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현재 코드 구조 · 기능별 책임 · 실행 흐름 · 배포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" y="5391150"/>
            <a:ext cx="10668000" cy="9525"/>
          </a:xfrm>
          <a:prstGeom prst="rect">
            <a:avLst/>
          </a:prstGeom>
          <a:solidFill>
            <a:srgbClr val="BAC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5657850"/>
            <a:ext cx="7239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ARCHITECTURE · RESPONSIBILITY ·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0" y="5667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03 프로젝트 수행 절차 및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UI부터 실행·통제까지 연결된 시스템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5049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사용자 화면·Agent Runtime·문서 검색·검증 Worker를 하나의 구조로 연결했습니다.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SYSTEM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7350" y="1790700"/>
            <a:ext cx="8877300" cy="417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rchitecture-diagram-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5860" y="1847850"/>
            <a:ext cx="7640280" cy="4057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3048000" cy="142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2400300"/>
            <a:ext cx="97155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프로젝트 수행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3943350"/>
            <a:ext cx="8572500" cy="704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현재 코드에서 확인한 제품·런타임·스킬·문서·운영 기능의 구현 범위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" y="5391150"/>
            <a:ext cx="10668000" cy="9525"/>
          </a:xfrm>
          <a:prstGeom prst="rect">
            <a:avLst/>
          </a:prstGeom>
          <a:solidFill>
            <a:srgbClr val="BAC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5657850"/>
            <a:ext cx="7239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CODE · PRODUCT · RUNTIME ·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0" y="5667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571500"/>
            <a:ext cx="11049000" cy="3810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먼저, 완성된 플랫폼 시연을 보시겠습니다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1500" y="1143000"/>
            <a:ext cx="11049000" cy="4629150"/>
          </a:xfrm>
          <a:prstGeom prst="roundRect">
            <a:avLst>
              <a:gd name="adj" fmla="val 5000"/>
            </a:avLst>
          </a:prstGeom>
          <a:solidFill>
            <a:srgbClr val="071426"/>
          </a:solidFill>
          <a:ln w="9525">
            <a:solidFill>
              <a:srgbClr val="263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halil_프로젝트_운영_AI_시연영상_v14_피드백반영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8650" y="1200150"/>
            <a:ext cx="10934700" cy="451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UI부터 실행·통제까지 연결된 시스템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5049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사용자 화면·Agent Runtime·문서 검색·검증 Worker를 하나의 구조로 연결했습니다.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SYSTEM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7350" y="1790700"/>
            <a:ext cx="8877300" cy="417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rchitecture-diagram-on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5860" y="1847850"/>
            <a:ext cx="7640280" cy="40576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CORE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이제, 이 흐름을 가능하게 한 핵심 기술입니다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CORE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247900"/>
            <a:ext cx="10668000" cy="1047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575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방금 보신 것처럼, HALIL은 문서와 도구를 연결하고 · Agent를 만들고 · 실제 업무 요청을 수행합니다.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3695700"/>
            <a:ext cx="10668000" cy="1600200"/>
          </a:xfrm>
          <a:prstGeom prst="roundRect">
            <a:avLst>
              <a:gd name="adj" fmla="val 5000"/>
            </a:avLst>
          </a:prstGeom>
          <a:solidFill>
            <a:srgbClr val="EEF4FC"/>
          </a:solidFill>
          <a:ln w="9525">
            <a:solidFill>
              <a:srgbClr val="2878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6800" y="3924300"/>
            <a:ext cx="10058400" cy="11430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500" b="1">
                <a:solidFill>
                  <a:srgbClr val="0C3F91"/>
                </a:solidFill>
                <a:latin typeface="Pretendard"/>
                <a:ea typeface="Pretendard"/>
                <a:cs typeface="Pretendard"/>
              </a:rPr>
              <a:t>Agent가 Tool을 선택하고 실행하고, 실패하면 다시 판단하고,</a:t>
            </a:r>
          </a:p>
          <a:p>
            <a:pPr algn="l"/>
            <a:r>
              <a:rPr sz="1500" b="1">
                <a:solidFill>
                  <a:srgbClr val="0C3F91"/>
                </a:solidFill>
                <a:latin typeface="Pretendard"/>
                <a:ea typeface="Pretendard"/>
                <a:cs typeface="Pretendard"/>
              </a:rPr>
              <a:t>필요하면 다른 Agent에게 위임하는 이 흐름 — 누가 관리하는가?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AGENT HARNESS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Deep Agent는 에이전트 실행 하네스입니다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5049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Codex · Claude Code처럼, Deep Agent도 에이전트를 실제로 실행시키는 프레임워크입니다.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AGENT HARNESS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400300"/>
            <a:ext cx="3390900" cy="203835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90800"/>
            <a:ext cx="609600" cy="304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2609850"/>
            <a:ext cx="2286000" cy="285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975" b="1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48000"/>
            <a:ext cx="2933700" cy="3810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에이전트 생성·수정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43300"/>
            <a:ext cx="2933700" cy="685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00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업무에 맞는</a:t>
            </a:r>
          </a:p>
          <a:p>
            <a:pPr algn="l"/>
            <a:r>
              <a:rPr sz="1200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실행 구성을 선택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0550" y="2400300"/>
            <a:ext cx="3390900" cy="2038350"/>
          </a:xfrm>
          <a:prstGeom prst="rect">
            <a:avLst/>
          </a:prstGeom>
          <a:solidFill>
            <a:srgbClr val="EE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9150" y="2590800"/>
            <a:ext cx="609600" cy="304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850" y="2609850"/>
            <a:ext cx="2286000" cy="285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975" b="1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확장점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9150" y="3048000"/>
            <a:ext cx="2933700" cy="3810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Tool · Sub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9150" y="3543300"/>
            <a:ext cx="2933700" cy="685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00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도구와 서브에이전트를</a:t>
            </a:r>
          </a:p>
          <a:p>
            <a:pPr algn="l"/>
            <a:r>
              <a:rPr sz="1200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Agent에 연결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5300" y="2400300"/>
            <a:ext cx="3390900" cy="203835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3900" y="2590800"/>
            <a:ext cx="609600" cy="304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1600" y="2609850"/>
            <a:ext cx="2286000" cy="285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975" b="1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RUNTIME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3900" y="3048000"/>
            <a:ext cx="2933700" cy="3810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실행 그래프 재조립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3900" y="3543300"/>
            <a:ext cx="2933700" cy="6858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00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변경된 구성이</a:t>
            </a:r>
          </a:p>
          <a:p>
            <a:pPr algn="l"/>
            <a:r>
              <a:rPr sz="1200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다음 실행에 반영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762500"/>
            <a:ext cx="10801350" cy="78105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5350" y="4762500"/>
            <a:ext cx="10382250" cy="7810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ctr"/>
            <a:r>
              <a:rPr sz="1275" b="1">
                <a:solidFill>
                  <a:srgbClr val="0C3F91"/>
                </a:solidFill>
                <a:latin typeface="Pretendard"/>
                <a:ea typeface="Pretendard"/>
                <a:cs typeface="Pretendard"/>
              </a:rPr>
              <a:t>이 판단–실행–재시도 흐름을 관리하는 구조가 Agent Harness이며, 프로젝트에서는 LangChain Deep Agents를 활용했습니다.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AGENT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Deep Agent 실행 구조 전체 도면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AGENT RUNTIME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28750" y="2038350"/>
            <a:ext cx="9334500" cy="4076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eep_ag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975" y="2133600"/>
            <a:ext cx="7448049" cy="3886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2450" y="1504950"/>
            <a:ext cx="11049000" cy="4191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ctr"/>
            <a:r>
              <a:rPr sz="1087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Agent Harness / Deep Agent — 판단·실행·재시도·위임을 관리하는 이 구조가 플랫폼의 핵심 뼈대입니다.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wonbin   ·   01 도클링 선택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485775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WHY DOCLING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6238875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WHY DOCLING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엔터프라이즈가 파서를 쓰는 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4668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다양한 형식의 문서를 검색 가능한 구조로 바꾸려면 파서가 필요합니다. 그중 커뮤니티가 가장 큰 프로젝트가 Docling입니다.</a:t>
            </a:r>
          </a:p>
        </p:txBody>
      </p:sp>
      <p:pic>
        <p:nvPicPr>
          <p:cNvPr id="11" name="Picture 10" descr="github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256" y="1809750"/>
            <a:ext cx="9303488" cy="285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2450" y="4819650"/>
            <a:ext cx="11049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5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플랫폼을 운영하는 입장에서 유지보수와 지속가능성을 고려했을 때, 도클링을 사용하는 것이 적합하다고 판단했습니다.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wonbin   ·   02 기본 파싱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485775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BASE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6238875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BASE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PDF는 12단계를 거쳐 DoclingDocument가 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4668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문서 입력부터 최종 구조화 출력까지 이어지는 처리 흐름</a:t>
            </a:r>
          </a:p>
        </p:txBody>
      </p:sp>
      <p:pic>
        <p:nvPicPr>
          <p:cNvPr id="11" name="Picture 10" descr="pipeline_row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01" y="1847850"/>
            <a:ext cx="11044298" cy="1273701"/>
          </a:xfrm>
          <a:prstGeom prst="rect">
            <a:avLst/>
          </a:prstGeom>
        </p:spPr>
      </p:pic>
      <p:pic>
        <p:nvPicPr>
          <p:cNvPr id="12" name="Picture 11" descr="pipeline_row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79" y="3445401"/>
            <a:ext cx="11048342" cy="650023"/>
          </a:xfrm>
          <a:prstGeom prst="rect">
            <a:avLst/>
          </a:prstGeom>
        </p:spPr>
      </p:pic>
      <p:pic>
        <p:nvPicPr>
          <p:cNvPr id="13" name="Picture 12" descr="pipeline_row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" y="4419291"/>
            <a:ext cx="11049000" cy="4955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2450" y="4914900"/>
            <a:ext cx="10477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DOCX · PPTX · Markdown은 형식별 Backend를 거쳐 같은 DoclingDocument로 합류합니다.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2450" y="5162550"/>
            <a:ext cx="11049000" cy="68580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 w="9525">
            <a:solidFill>
              <a:srgbClr val="F0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219700"/>
            <a:ext cx="10668000" cy="5715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ctr"/>
            <a:r>
              <a:rPr sz="975" b="0">
                <a:solidFill>
                  <a:srgbClr val="8A5A1A"/>
                </a:solidFill>
                <a:latin typeface="Pretendard"/>
                <a:ea typeface="Pretendard"/>
                <a:cs typeface="Pretendard"/>
              </a:rPr>
              <a:t>집중한 단계는 Layout입니다. Docling Layout 모델은 논문·정형 문서로 학습돼 형식이 다양한 문서에서는 정확도가 떨어집니다. 기업 문서는 정형만 있지 않기에 자유도가 높은 브로슈어 문서로 개선했습니다.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wonbin   ·   02 DoclingDocument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485775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PARSED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6238875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PARSED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Docling 기본 파이프라인의 실제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4668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body 안에 텍스트·표·그림이 읽기 순서대로 정렬됩니다</a:t>
            </a:r>
          </a:p>
        </p:txBody>
      </p:sp>
      <p:pic>
        <p:nvPicPr>
          <p:cNvPr id="11" name="Picture 10" descr="docling_j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809750"/>
            <a:ext cx="5905500" cy="332184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762750" y="1905000"/>
            <a:ext cx="1428750" cy="32385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96100" y="1986439"/>
            <a:ext cx="1162050" cy="198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7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2324100"/>
            <a:ext cx="4381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역할(label) · 원문 · 좌표값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2750" y="3143250"/>
            <a:ext cx="1428750" cy="32385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6100" y="3224689"/>
            <a:ext cx="1162050" cy="198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75" b="1">
                <a:solidFill>
                  <a:srgbClr val="D88628"/>
                </a:solidFill>
                <a:latin typeface="Pretendard"/>
                <a:ea typeface="Pretendard"/>
                <a:cs typeface="Pretendard"/>
              </a:rPr>
              <a:t>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3562350"/>
            <a:ext cx="4381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셀 정보와 페이지 좌표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2750" y="4381500"/>
            <a:ext cx="1428750" cy="323850"/>
          </a:xfrm>
          <a:prstGeom prst="roundRect">
            <a:avLst>
              <a:gd name="adj" fmla="val 5000"/>
            </a:avLst>
          </a:prstGeom>
          <a:solidFill>
            <a:srgbClr val="E6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96100" y="4462939"/>
            <a:ext cx="1162050" cy="198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75" b="1">
                <a:solidFill>
                  <a:srgbClr val="0EA5B7"/>
                </a:solidFill>
                <a:latin typeface="Pretendard"/>
                <a:ea typeface="Pretendard"/>
                <a:cs typeface="Pretendard"/>
              </a:rPr>
              <a:t>PICTURE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0" y="4800600"/>
            <a:ext cx="43815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분류·신뢰도·캡션·좌표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wonbin   ·   03 검증과 문제 발견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485775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VALIDATION ·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6238875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VALIDATION ·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206개 문서로 검증해 보니, Docling만으로는 부족했습니다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4668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기획서 · 보고서 · 브로슈어 등 다양한 실제 기업 문서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905000"/>
            <a:ext cx="11049000" cy="4191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125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정형 문서는 안정적이었지만 브로슈어형 PDF에서 정확도가 크게 낮아졌고, 네 가지 문제가 반복됐습니다.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E1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2495550"/>
            <a:ext cx="53340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2476500"/>
            <a:ext cx="3048000" cy="3238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4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제목 미검출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495550"/>
            <a:ext cx="7239000" cy="3810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section_header 인식 실패로 섹션 경계가 사라지고 맥락이 뒤섞입니다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3105150"/>
            <a:ext cx="11049000" cy="9525"/>
          </a:xfrm>
          <a:prstGeom prst="rect">
            <a:avLst/>
          </a:prstGeom>
          <a:solidFill>
            <a:srgbClr val="E1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3219450"/>
            <a:ext cx="53340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3200400"/>
            <a:ext cx="3048000" cy="3238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4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읽기 순서 오류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219450"/>
            <a:ext cx="7239000" cy="3810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문장 연결이 끊겨 원래 의미와 다른 결과가 만들어집니다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3829050"/>
            <a:ext cx="11049000" cy="9525"/>
          </a:xfrm>
          <a:prstGeom prst="rect">
            <a:avLst/>
          </a:prstGeom>
          <a:solidFill>
            <a:srgbClr val="E1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3943350"/>
            <a:ext cx="53340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" y="3924300"/>
            <a:ext cx="3048000" cy="3238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4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표 오검출 · 구조 붕괴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943350"/>
            <a:ext cx="7239000" cy="3810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표가 아닌 디자인을 표로 오인하거나 행·열·셀 관계가 손상됩니다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4552950"/>
            <a:ext cx="11049000" cy="9525"/>
          </a:xfrm>
          <a:prstGeom prst="rect">
            <a:avLst/>
          </a:prstGeom>
          <a:solidFill>
            <a:srgbClr val="E1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" y="4667250"/>
            <a:ext cx="53340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9200" y="4648200"/>
            <a:ext cx="3048000" cy="3238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4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이미지 설명 부족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667250"/>
            <a:ext cx="7239000" cy="3810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검색에 활용할 수 있는 이미지 설명 정보가 없습니다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5619750"/>
            <a:ext cx="11049000" cy="1905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ctr"/>
            <a:r>
              <a:rPr sz="750" b="0">
                <a:solidFill>
                  <a:srgbClr val="8792A6"/>
                </a:solidFill>
                <a:latin typeface="Pretendard"/>
                <a:ea typeface="Pretendard"/>
                <a:cs typeface="Pretendard"/>
              </a:rPr>
              <a:t>참고: DocLayNet(arXiv:2206.01062) · ICDAR 2023 — 형식 다양성을 문서 변환의 핵심 난제로 정의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wonbin   ·   05 보완 레이어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485775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LAYER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6238875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LAYER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네 개의 보완 레이어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4668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DoclingDocument를 입력받아 DoclingDocument를 갱신하는 후처리 체인</a:t>
            </a:r>
          </a:p>
        </p:txBody>
      </p:sp>
      <p:pic>
        <p:nvPicPr>
          <p:cNvPr id="11" name="Picture 10" descr="diagram_layer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809942"/>
            <a:ext cx="4156387" cy="38096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86350" y="1885950"/>
            <a:ext cx="38100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5450" y="1885950"/>
            <a:ext cx="533400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읽기 순서 보완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5450" y="2190750"/>
            <a:ext cx="5334000" cy="4572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12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화면 좌표를 비교해 인접 요소의 뒤바뀐 순서만 교정합니다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38450"/>
            <a:ext cx="38100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5450" y="2838450"/>
            <a:ext cx="533400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제목 추출 보완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5450" y="3143250"/>
            <a:ext cx="5334000" cy="4572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12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list_item을 조건부로 section_header로 승격해 섹션 경계를 복원합니다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6350" y="3790950"/>
            <a:ext cx="38100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5450" y="3790950"/>
            <a:ext cx="533400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표 판별 (Table Gate)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5450" y="4095750"/>
            <a:ext cx="5334000" cy="4572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12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표가 아닌 디자인을 규칙으로 걸러 오검출을 제거합니다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6350" y="4743450"/>
            <a:ext cx="38100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5450" y="4743450"/>
            <a:ext cx="533400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이미지 설명 보완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5450" y="5048250"/>
            <a:ext cx="5334000" cy="4572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12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VLM과 문맥 우선순위로 검색용 이미지 설명을 생성합니다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wonbin   ·   05-1 읽기 순서 보완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485775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LAYER 01 · READING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6238875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LAYER 01 · READING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읽기 순서가 뒤바뀐 실제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4668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삼성SDS 검증범위 문서(p.156) — 인접한 두 항목이 4·5에서 5·4로 역전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1809750"/>
            <a:ext cx="5334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B42318"/>
                </a:solidFill>
                <a:latin typeface="Pretendard"/>
                <a:ea typeface="Pretendard"/>
                <a:cs typeface="Pretendard"/>
              </a:rPr>
              <a:t>BEFORE</a:t>
            </a:r>
          </a:p>
        </p:txBody>
      </p:sp>
      <p:pic>
        <p:nvPicPr>
          <p:cNvPr id="12" name="Picture 11" descr="ro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2038350"/>
            <a:ext cx="5334000" cy="27882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7450" y="1809750"/>
            <a:ext cx="5334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085D3A"/>
                </a:solidFill>
                <a:latin typeface="Pretendard"/>
                <a:ea typeface="Pretendard"/>
                <a:cs typeface="Pretendard"/>
              </a:rPr>
              <a:t>AFTER</a:t>
            </a:r>
          </a:p>
        </p:txBody>
      </p:sp>
      <p:pic>
        <p:nvPicPr>
          <p:cNvPr id="14" name="Picture 13" descr="ro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038350"/>
            <a:ext cx="5334000" cy="278822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wonbin   ·   05-1 읽기 순서 보완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485775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READING ORDER · 로직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6238875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READING ORDER · 로직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인접 요소 좌표 비교로 순서를 보정합니다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4668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핵심: 화면상 더 아래 있는 요소가 읽기 순서상 더 앞서면, 그 둘의 순서만 맞바꿉니다</a:t>
            </a:r>
          </a:p>
        </p:txBody>
      </p:sp>
      <p:pic>
        <p:nvPicPr>
          <p:cNvPr id="11" name="Picture 10" descr="diagram_reading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040" y="1905000"/>
            <a:ext cx="8021921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wonbin   ·   05-2 제목 추출 보완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485775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HEADING · 오분류 사례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6238875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HEADING · 오분류 사례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한화 브로슈어에서 확인된 오분류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4668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Asia-Pacific — 사람은 명확한 제목인데 Docling은 list_item으로 판정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1809750"/>
            <a:ext cx="4000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문서 원본</a:t>
            </a:r>
          </a:p>
        </p:txBody>
      </p:sp>
      <p:pic>
        <p:nvPicPr>
          <p:cNvPr id="12" name="Picture 11" descr="hanwha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2038350"/>
            <a:ext cx="4000500" cy="27514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33950" y="1809750"/>
            <a:ext cx="5556804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Docling 레이아웃 판정</a:t>
            </a:r>
          </a:p>
        </p:txBody>
      </p:sp>
      <p:pic>
        <p:nvPicPr>
          <p:cNvPr id="14" name="Picture 13" descr="hanwha_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950" y="2038350"/>
            <a:ext cx="5556804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wonbin   ·   05-2 제목 추출 보완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485775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HEADING · 보정 로직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6238875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HEADING · 보정 로직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제목 오분류를 바로잡는 승격 조건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4668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네 조건을 모두 만족해야만 승격합니다 (AND)</a:t>
            </a:r>
          </a:p>
        </p:txBody>
      </p:sp>
      <p:pic>
        <p:nvPicPr>
          <p:cNvPr id="11" name="Picture 10" descr="diagram_he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634" y="1772009"/>
            <a:ext cx="4736731" cy="38092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27634" y="5715000"/>
            <a:ext cx="4736731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 b="0">
                <a:solidFill>
                  <a:srgbClr val="8792A6"/>
                </a:solidFill>
                <a:latin typeface="Pretendard"/>
                <a:ea typeface="Pretendard"/>
                <a:cs typeface="Pretendard"/>
              </a:rPr>
              <a:t>Docling GitHub Issue #2246 — Inconsistent section_header vs list_item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wonbin   ·   05-3 표 보완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485775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TABLE GATE · 사례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6238875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TABLE GATE · 사례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표로 오인식된 비표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4668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점선 목차 · 다단 박스형 목차 · 밑줄 구분선 목차 — 모두 표가 아닙니다</a:t>
            </a:r>
          </a:p>
        </p:txBody>
      </p:sp>
      <p:pic>
        <p:nvPicPr>
          <p:cNvPr id="11" name="Picture 10" descr="table_grid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885950"/>
            <a:ext cx="11049000" cy="23710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2450" y="4542730"/>
            <a:ext cx="349250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>
                <a:solidFill>
                  <a:srgbClr val="D88628"/>
                </a:solidFill>
                <a:latin typeface="Pretendard"/>
                <a:ea typeface="Pretendard"/>
                <a:cs typeface="Pretendard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4999930"/>
            <a:ext cx="3492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전체 TableItem 대조 (28,885건)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5450" y="4542730"/>
            <a:ext cx="349250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>
                <a:solidFill>
                  <a:srgbClr val="D88628"/>
                </a:solidFill>
                <a:latin typeface="Pretendard"/>
                <a:ea typeface="Pretendard"/>
                <a:cs typeface="Pretendard"/>
              </a:rPr>
              <a:t>0.46%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5450" y="4999930"/>
            <a:ext cx="3492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확실한 비표로 확정 제거 (134건)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450" y="4542730"/>
            <a:ext cx="3492500" cy="438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>
                <a:solidFill>
                  <a:srgbClr val="D88628"/>
                </a:solidFill>
                <a:latin typeface="Pretendard"/>
                <a:ea typeface="Pretendard"/>
                <a:cs typeface="Pretendard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8450" y="4999930"/>
            <a:ext cx="3492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실제 표를 잘못 제거 (0건)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wonbin   ·   05-3 표 보완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485775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TABLE GATE · 로직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6238875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TABLE GATE · 로직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실제 표인지 판단하는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4668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점선 목차·페이지 번호·긴 문장·단일 셀 같은 비표 패턴만 확실할 때 제거합니다</a:t>
            </a:r>
          </a:p>
        </p:txBody>
      </p:sp>
      <p:pic>
        <p:nvPicPr>
          <p:cNvPr id="11" name="Picture 10" descr="diagram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441" y="1866900"/>
            <a:ext cx="7637118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wonbin   ·   05-4 이미지 설명 보완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485775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IMAGE DESCRIPTION ·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6238875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IMAGE DESCRIPTION · 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기존 Docling 이미지 설명의 세 가지 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4668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한국어 안정성 · 할루시네이션 · 고정 프롬프트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450" y="2000250"/>
            <a:ext cx="3479800" cy="285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050" y="2324100"/>
            <a:ext cx="34290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050" y="2514600"/>
            <a:ext cx="30226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한국어 안정성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2895600"/>
            <a:ext cx="3022600" cy="171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5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설명을 거부하거나 반복 생성이 끝나지 않는 무효 응답이 그대로 저장되는 사례가 확인됐습니다.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7050" y="2000250"/>
            <a:ext cx="3479800" cy="285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65650" y="2324100"/>
            <a:ext cx="34290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5650" y="2514600"/>
            <a:ext cx="30226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할루시네이션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5650" y="2895600"/>
            <a:ext cx="3022600" cy="171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5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국적·연령대·직업·생몰년도 등 이미지나 문맥에 없는 정보가 지어내듯 생성됐습니다.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1650" y="2000250"/>
            <a:ext cx="3479800" cy="2857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50250" y="2324100"/>
            <a:ext cx="34290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0250" y="2514600"/>
            <a:ext cx="30226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프롬프트 고정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0250" y="2895600"/>
            <a:ext cx="3022600" cy="171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5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이미지 분류마다 봐야 할 정보가 다른데 지침이 고정돼 있어 설명 품질이 떨어졌습니다.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wonbin   ·   05-4 이미지 설명 보완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485775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IMAGE DESCRIPTION · 해결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6238875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IMAGE DESCRIPTION · 해결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Qwen2.5-VL과 문맥 우선순위로 해결했습니다</a:t>
            </a:r>
          </a:p>
        </p:txBody>
      </p:sp>
      <p:pic>
        <p:nvPicPr>
          <p:cNvPr id="10" name="Picture 9" descr="diagram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1810209"/>
            <a:ext cx="4953000" cy="383704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52450" y="1933575"/>
            <a:ext cx="57150" cy="57150"/>
          </a:xfrm>
          <a:prstGeom prst="roundRect">
            <a:avLst>
              <a:gd name="adj" fmla="val 5000"/>
            </a:avLst>
          </a:prstGeom>
          <a:solidFill>
            <a:srgbClr val="178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950" y="1885950"/>
            <a:ext cx="5562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모델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152650"/>
            <a:ext cx="55626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Qwen2.5-VL 채택 — 여러 프리셋 모델을 같은 조건으로 비교해 한국어 안정성이 가장 우수한 모델을 선정했습니다.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2450" y="2886075"/>
            <a:ext cx="57150" cy="57150"/>
          </a:xfrm>
          <a:prstGeom prst="roundRect">
            <a:avLst>
              <a:gd name="adj" fmla="val 5000"/>
            </a:avLst>
          </a:prstGeom>
          <a:solidFill>
            <a:srgbClr val="178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2838450"/>
            <a:ext cx="5562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문맥 우선순위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105150"/>
            <a:ext cx="55626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이미지에 직접 연결된 캡션·각주·참조를 최우선으로 쓰고, 가장 가까운 제목과 앞뒤 문맥은 보조로만 사용합니다.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2450" y="3838575"/>
            <a:ext cx="57150" cy="57150"/>
          </a:xfrm>
          <a:prstGeom prst="roundRect">
            <a:avLst>
              <a:gd name="adj" fmla="val 5000"/>
            </a:avLst>
          </a:prstGeom>
          <a:solidFill>
            <a:srgbClr val="178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3790950"/>
            <a:ext cx="5562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유형별 라우팅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4057650"/>
            <a:ext cx="55626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사진·도면·흐름도·차트마다 다른 관찰 지침을 적용해 필요한 정보만 보게 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2450" y="4791075"/>
            <a:ext cx="57150" cy="57150"/>
          </a:xfrm>
          <a:prstGeom prst="roundRect">
            <a:avLst>
              <a:gd name="adj" fmla="val 5000"/>
            </a:avLst>
          </a:prstGeom>
          <a:solidFill>
            <a:srgbClr val="178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950" y="4743450"/>
            <a:ext cx="5562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품질 검사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5010150"/>
            <a:ext cx="55626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언어·환각·반복 검사를 통과한 설명만 저장합니다.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wonbin   ·   06 청킹 · 임베딩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29500" y="485775"/>
            <a:ext cx="3238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CHUNKING · 임베딩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6238875"/>
            <a:ext cx="6096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CHUNKING · 임베딩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계층 구조를 유지해 직렬화하고 EmbeddingGemma로 임베딩합니다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4668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파싱 데이터를 일직선으로 직렬화한 뒤, 같은 tokenizer로 자르고 임베딩합니다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1924050"/>
            <a:ext cx="6667500" cy="2286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직렬화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2209800"/>
            <a:ext cx="11049000" cy="16192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텍스트·표·목록·제목은 Docling 기본 시리얼라이저를 그대로 사용하고, 그림만 커스텀 시리얼라이저를 만들었습니다. 승인된 VLM 설명이 있으면 그 설명 텍스트만 임베딩 대상으로 쓰고, 없으면 Docling 기본 그림·메타데이터 시리얼라이저로 대체합니다.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2450" y="4000500"/>
            <a:ext cx="11049000" cy="9525"/>
          </a:xfrm>
          <a:prstGeom prst="rect">
            <a:avLst/>
          </a:prstGeom>
          <a:solidFill>
            <a:srgbClr val="E1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450" y="4114800"/>
            <a:ext cx="6667500" cy="2286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임베딩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" y="4438650"/>
            <a:ext cx="3448050" cy="285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embeddinggemma-300m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50" y="4762500"/>
            <a:ext cx="3448050" cy="4191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975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임베딩 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8625" y="4438650"/>
            <a:ext cx="3448050" cy="285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768차원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8625" y="4762500"/>
            <a:ext cx="3448050" cy="4191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975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임베딩 벡터 크기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5275" y="4438650"/>
            <a:ext cx="3448050" cy="2857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512 토큰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5275" y="4762500"/>
            <a:ext cx="3448050" cy="4191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975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청크 상한 (모델 최대 2,048토큰 중 보수적 설정)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50" y="5467350"/>
            <a:ext cx="11049000" cy="2286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ctr"/>
            <a:r>
              <a:rPr sz="787" b="0">
                <a:solidFill>
                  <a:srgbClr val="8792A6"/>
                </a:solidFill>
                <a:latin typeface="Pretendard"/>
                <a:ea typeface="Pretendard"/>
                <a:cs typeface="Pretendard"/>
              </a:rPr>
              <a:t>토큰 계산에도 임베딩과 같은 모델의 tokenizer를 사용합니다 — 자를 때와 임베딩할 때 기준이 다르면 상한이 무의미해지기 때문입니다.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플랫폼 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5049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EVALUATION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3048000" cy="142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2400300"/>
            <a:ext cx="97155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사용자 편의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3943350"/>
            <a:ext cx="8572500" cy="704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검증된 스킬 재사용 · 실행 과정 공개 · 팀 단위 운영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" y="5391150"/>
            <a:ext cx="10668000" cy="9525"/>
          </a:xfrm>
          <a:prstGeom prst="rect">
            <a:avLst/>
          </a:prstGeom>
          <a:solidFill>
            <a:srgbClr val="BAC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5657850"/>
            <a:ext cx="7239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SKILL · EXECUTION ·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0" y="5667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검증한 Skill만 등록해 반복 업무에 재사용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1885950"/>
            <a:ext cx="5715000" cy="2095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새 스킬 등록 화면</a:t>
            </a:r>
          </a:p>
        </p:txBody>
      </p:sp>
      <p:pic>
        <p:nvPicPr>
          <p:cNvPr id="13" name="Picture 12" descr="skill-regi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133653"/>
            <a:ext cx="5715000" cy="34479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76300" y="2133600"/>
            <a:ext cx="5715000" cy="3448050"/>
          </a:xfrm>
          <a:prstGeom prst="rect">
            <a:avLst/>
          </a:prstGeom>
          <a:noFill/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1885950"/>
            <a:ext cx="4419600" cy="2095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/스킬이름 직접 호출</a:t>
            </a:r>
          </a:p>
        </p:txBody>
      </p:sp>
      <p:pic>
        <p:nvPicPr>
          <p:cNvPr id="16" name="Picture 15" descr="skill-sl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449" y="2133600"/>
            <a:ext cx="4094051" cy="197167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86600" y="2133600"/>
            <a:ext cx="4095750" cy="1971675"/>
          </a:xfrm>
          <a:prstGeom prst="rect">
            <a:avLst/>
          </a:prstGeom>
          <a:noFill/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4305300"/>
            <a:ext cx="4419600" cy="12382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87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향후 요청·업무 상황을 보고 자동 선택하도록 개선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SKILL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필요한 요청과 불필요한 요청을 검증한 뒤 등록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SKILL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85950"/>
            <a:ext cx="5905500" cy="2095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스킬 검증 상세 화면</a:t>
            </a:r>
          </a:p>
        </p:txBody>
      </p:sp>
      <p:pic>
        <p:nvPicPr>
          <p:cNvPr id="13" name="Picture 12" descr="skill-valid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03" y="2133600"/>
            <a:ext cx="5903495" cy="35052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85800" y="2133600"/>
            <a:ext cx="5905500" cy="3505200"/>
          </a:xfrm>
          <a:prstGeom prst="rect">
            <a:avLst/>
          </a:prstGeom>
          <a:noFill/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8500" y="2152650"/>
            <a:ext cx="342900" cy="2476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0" y="2152650"/>
            <a:ext cx="4038600" cy="2476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스킬 설명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0" y="2438400"/>
            <a:ext cx="4457700" cy="4191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12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만들 스킬 내용을 한 문장으로 정의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8500" y="2914650"/>
            <a:ext cx="4457700" cy="9525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8500" y="3028950"/>
            <a:ext cx="342900" cy="2476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7600" y="3028950"/>
            <a:ext cx="4038600" cy="2476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검증 환경 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0" y="3314700"/>
            <a:ext cx="4457700" cy="4191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12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실제 환경과 분리된 곳에 테스트 케이스 준비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8500" y="3790950"/>
            <a:ext cx="4457700" cy="9525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8500" y="3905250"/>
            <a:ext cx="342900" cy="2476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7600" y="3905250"/>
            <a:ext cx="4038600" cy="2476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동작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8500" y="4191000"/>
            <a:ext cx="4457700" cy="4191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12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필요한 요청·불필요한 요청을 각각 테스트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8500" y="4667250"/>
            <a:ext cx="4457700" cy="9525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8500" y="4781550"/>
            <a:ext cx="342900" cy="2476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7600" y="4781550"/>
            <a:ext cx="4038600" cy="2476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스킬 등록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8500" y="5067300"/>
            <a:ext cx="4457700" cy="4191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12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검증을 통과한 스킬만 개인 스킬로 게시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715000"/>
            <a:ext cx="10820400" cy="45720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5350" y="5715000"/>
            <a:ext cx="10401300" cy="4572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ctr"/>
            <a:r>
              <a:rPr sz="1087" b="1">
                <a:solidFill>
                  <a:srgbClr val="0C3F91"/>
                </a:solidFill>
                <a:latin typeface="Pretendard"/>
                <a:ea typeface="Pretendard"/>
                <a:cs typeface="Pretendard"/>
              </a:rPr>
              <a:t>등록된 스킬은 이후 여러 요청에 영향을 주므로, 잘못 실행되지 않는지 먼저 확인합니다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TEAM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개인이 만든 업무 방식을 팀이 같은 절차로 실행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TEAM 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09750"/>
            <a:ext cx="5334000" cy="2095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팀 스킬 공유 화면</a:t>
            </a:r>
          </a:p>
        </p:txBody>
      </p:sp>
      <p:pic>
        <p:nvPicPr>
          <p:cNvPr id="13" name="Picture 12" descr="skill-team-sh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498" y="2038350"/>
            <a:ext cx="5331003" cy="24003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429000" y="2038350"/>
            <a:ext cx="5334000" cy="2400300"/>
          </a:xfrm>
          <a:prstGeom prst="rect">
            <a:avLst/>
          </a:prstGeom>
          <a:noFill/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762500"/>
            <a:ext cx="3390900" cy="11049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50" y="4895850"/>
            <a:ext cx="297180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0C3F91"/>
                </a:solidFill>
                <a:latin typeface="Pretendard"/>
                <a:ea typeface="Pretendard"/>
                <a:cs typeface="Pretendard"/>
              </a:rPr>
              <a:t>업무 표준화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5200650"/>
            <a:ext cx="2971800" cy="5334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12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팀원이 같은 절차와 기준으로 업무를 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0550" y="4762500"/>
            <a:ext cx="3390900" cy="11049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0100" y="4895850"/>
            <a:ext cx="297180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0C3F91"/>
                </a:solidFill>
                <a:latin typeface="Pretendard"/>
                <a:ea typeface="Pretendard"/>
                <a:cs typeface="Pretendard"/>
              </a:rPr>
              <a:t>중복 작업 감소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0100" y="5200650"/>
            <a:ext cx="2971800" cy="5334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12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이미 검증한 방식을 각자 다시 만들지 않음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5300" y="4762500"/>
            <a:ext cx="3390900" cy="11049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4850" y="4895850"/>
            <a:ext cx="2971800" cy="2667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275" b="1">
                <a:solidFill>
                  <a:srgbClr val="0C3F91"/>
                </a:solidFill>
                <a:latin typeface="Pretendard"/>
                <a:ea typeface="Pretendard"/>
                <a:cs typeface="Pretendard"/>
              </a:rPr>
              <a:t>담당자 의존도 완화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4850" y="5200650"/>
            <a:ext cx="2971800" cy="5334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012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담당자가 바뀌어도 저장된 업무 절차 유지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운영 정책과 실행 이력을 제품과 분리해 관리합니다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OPERATIONS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2171700"/>
            <a:ext cx="33337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2305050"/>
            <a:ext cx="3333750" cy="247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IDENTITY &amp;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724150"/>
            <a:ext cx="333375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계정과 권한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371850"/>
            <a:ext cx="3333750" cy="14668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25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팀·계정·초대·소유자 관리</a:t>
            </a:r>
          </a:p>
          <a:p>
            <a:pPr algn="l"/>
            <a:r>
              <a:rPr sz="1125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별도 Ops 세션 · 계정 상태 재검사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6250" y="2171700"/>
            <a:ext cx="33337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6250" y="2305050"/>
            <a:ext cx="3333750" cy="247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EXTENSIONS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6250" y="2724150"/>
            <a:ext cx="333375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실행 환경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6250" y="3371850"/>
            <a:ext cx="3333750" cy="14668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25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커스텀 모델·MCP 등록</a:t>
            </a:r>
          </a:p>
          <a:p>
            <a:pPr algn="l"/>
            <a:r>
              <a:rPr sz="1125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연결 상태·진단·테스트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2171700"/>
            <a:ext cx="3333750" cy="38100"/>
          </a:xfrm>
          <a:prstGeom prst="rect">
            <a:avLst/>
          </a:prstGeom>
          <a:solidFill>
            <a:srgbClr val="178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2305050"/>
            <a:ext cx="3333750" cy="247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POLICY &amp;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724150"/>
            <a:ext cx="333375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운영 통제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371850"/>
            <a:ext cx="3333750" cy="14668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25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가드레일·팀 정책·공지</a:t>
            </a:r>
          </a:p>
          <a:p>
            <a:pPr algn="l"/>
            <a:r>
              <a:rPr sz="1125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사용량·실패·감사 로그 탐색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5067300"/>
            <a:ext cx="10763250" cy="55245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Autofit/>
          </a:bodyPr>
          <a:lstStyle/>
          <a:p>
            <a:pPr algn="l"/>
            <a:r>
              <a:rPr sz="100">
                <a:solidFill>
                  <a:srgbClr val="F7F9FC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5200650"/>
            <a:ext cx="1524000" cy="285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 b="1">
                <a:solidFill>
                  <a:srgbClr val="D88628"/>
                </a:solidFill>
                <a:latin typeface="Pretendard"/>
                <a:ea typeface="Pretendard"/>
                <a:cs typeface="Pretendard"/>
              </a:rPr>
              <a:t>구현 메뉴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3150" y="5200650"/>
            <a:ext cx="8667750" cy="285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050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Overview · Accounts · Teams · Models · MCP · Guardrails · Usage · Audit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제품과 운영의 통제 경계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SECURITY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0" y="2076450"/>
            <a:ext cx="28575" cy="314325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4000" y="1885950"/>
            <a:ext cx="1524000" cy="247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TRUST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2152650"/>
            <a:ext cx="4762500" cy="247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PRODUCT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2533650"/>
            <a:ext cx="4762500" cy="4191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사용자 실행 영역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3143250"/>
            <a:ext cx="4762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team_id·project 범위는 서버가 강제</a:t>
            </a:r>
          </a:p>
          <a:p>
            <a:pPr algn="l"/>
            <a:r>
              <a:rPr sz="120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쓰기 handler는 Checkpoint 중단과 사용자 결정 뒤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0" y="2152650"/>
            <a:ext cx="4667250" cy="247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OPERATOR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2533650"/>
            <a:ext cx="4667250" cy="4191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운영자 조치 영역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3143250"/>
            <a:ext cx="466725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별도 로그인·토큰 salt·역할 경계</a:t>
            </a:r>
          </a:p>
          <a:p>
            <a:pPr algn="l"/>
            <a:r>
              <a:rPr sz="120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매 요청마다 권한·계정 상태 재검사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6750" y="4495800"/>
            <a:ext cx="10668000" cy="742950"/>
          </a:xfrm>
          <a:prstGeom prst="rect">
            <a:avLst/>
          </a:prstGeom>
          <a:solidFill>
            <a:srgbClr val="0A1020"/>
          </a:solidFill>
          <a:ln w="9525">
            <a:solidFill>
              <a:srgbClr val="0A1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>
            <a:noAutofit/>
          </a:bodyPr>
          <a:lstStyle/>
          <a:p>
            <a:pPr algn="l"/>
            <a:r>
              <a:rPr sz="10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86300"/>
            <a:ext cx="2095500" cy="247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>
                <a:solidFill>
                  <a:srgbClr val="42D7A0"/>
                </a:solidFill>
                <a:latin typeface="Pretendard"/>
                <a:ea typeface="Pretendard"/>
                <a:cs typeface="Pretendard"/>
              </a:rPr>
              <a:t>SHARED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3250" y="4667250"/>
            <a:ext cx="7905750" cy="3238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대화·문서 원문은 제외하고 실행·도구·사용량·감사 요약만 기록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EXTENSIBILITY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연동과 확장 지점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2305050"/>
            <a:ext cx="11049000" cy="19050"/>
          </a:xfrm>
          <a:prstGeom prst="rect">
            <a:avLst/>
          </a:prstGeom>
          <a:solidFill>
            <a:srgbClr val="0A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1905000"/>
            <a:ext cx="2286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확장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3250" y="1905000"/>
            <a:ext cx="4572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현재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0" y="1905000"/>
            <a:ext cx="32385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확장 방식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3086100"/>
            <a:ext cx="110490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" y="2514600"/>
            <a:ext cx="2286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3250" y="2476500"/>
            <a:ext cx="46672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Provider 인터페이스 · 커스텀 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0" y="2476500"/>
            <a:ext cx="32385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Runtime 설정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3295650"/>
            <a:ext cx="2286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커넥터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3250" y="3257550"/>
            <a:ext cx="46672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문서·업무·조직 시스템 Adapter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0" y="3257550"/>
            <a:ext cx="32385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계정 소유 OAuth·Adapter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4648200"/>
            <a:ext cx="110490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" y="4076700"/>
            <a:ext cx="2286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도구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43250" y="4038600"/>
            <a:ext cx="46672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내장 도구 · 팀 MCP 확장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0" y="4038600"/>
            <a:ext cx="32385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메타데이터 기반 Loader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5429250"/>
            <a:ext cx="110490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" y="4857750"/>
            <a:ext cx="2286000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가드레일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43250" y="4819650"/>
            <a:ext cx="46672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입력·출력 Guardrail Provider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0" y="4819650"/>
            <a:ext cx="32385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팀별 정책·실패 모드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EXTENSIBILITY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시연은 구성·근거·승인의 한 흐름으로 진행합니다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0900" y="3800475"/>
            <a:ext cx="876300" cy="28575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72300" y="3800475"/>
            <a:ext cx="876300" cy="28575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50" y="2362200"/>
            <a:ext cx="6667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2838450"/>
            <a:ext cx="295275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BUILD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750" y="3581400"/>
            <a:ext cx="268605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750" y="3848100"/>
            <a:ext cx="2857500" cy="1123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25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Agent 역할·모델·도구·Subagent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8150" y="2362200"/>
            <a:ext cx="6667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8150" y="2838450"/>
            <a:ext cx="295275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8150" y="3581400"/>
            <a:ext cx="268605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8150" y="3848100"/>
            <a:ext cx="2857500" cy="1123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25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기준 문서 선택 → 근거 답변 → 실행 과정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9550" y="2362200"/>
            <a:ext cx="6667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9550" y="2838450"/>
            <a:ext cx="295275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CONTROL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29550" y="3581400"/>
            <a:ext cx="268605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9550" y="3848100"/>
            <a:ext cx="2857500" cy="1123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25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쓰기 전 HITL 승인 → 결과 확인 → /Skill 재사용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DEMO FLOW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DEMO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전체 기능은 실제 시연 영상으로 확인합니다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5049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채팅 → 에이전트 → 프로젝트 → 문서 → 설정·스킬 순서의 연속 시연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5810250"/>
            <a:ext cx="40005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DEMO VIDEO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48550" y="5810250"/>
            <a:ext cx="40957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25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에이전트 구성 · 실행 · 승인 · 스킬 생성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2038350"/>
            <a:ext cx="11049000" cy="3638550"/>
          </a:xfrm>
          <a:prstGeom prst="roundRect">
            <a:avLst>
              <a:gd name="adj" fmla="val 5000"/>
            </a:avLst>
          </a:prstGeom>
          <a:solidFill>
            <a:srgbClr val="071426"/>
          </a:solidFill>
          <a:ln w="9525">
            <a:solidFill>
              <a:srgbClr val="263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halil_프로젝트_운영_AI_시연영상_v14_피드백반영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28650" y="2095500"/>
            <a:ext cx="10934700" cy="3524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E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3048000" cy="142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2400300"/>
            <a:ext cx="97155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자체 평가 의견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3943350"/>
            <a:ext cx="8572500" cy="704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프로젝트 강점 · 현재 한계 · 개선 및 확장 계획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" y="5391150"/>
            <a:ext cx="10668000" cy="9525"/>
          </a:xfrm>
          <a:prstGeom prst="rect">
            <a:avLst/>
          </a:prstGeom>
          <a:solidFill>
            <a:srgbClr val="BAC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5657850"/>
            <a:ext cx="7239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STRENGTH · LIMITATION · 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0" y="5667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05 자체 평가 의견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다음 단계는 근거 정밀도·라우팅·운영 검증입니다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5049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현재 구현 범위에서 확인한 여덟 가지 후속 과제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2000250"/>
            <a:ext cx="4762500" cy="3238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EVIDENCE &amp; 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2400300"/>
            <a:ext cx="4762500" cy="4191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8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근거를 더 정확하게 연결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3028950"/>
            <a:ext cx="4762500" cy="21336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01  문장 단위 Citation</a:t>
            </a:r>
          </a:p>
          <a:p>
            <a:pPr algn="l"/>
            <a:r>
              <a:rPr sz="1350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02  Table False Negative 보완</a:t>
            </a:r>
          </a:p>
          <a:p>
            <a:pPr algn="l"/>
            <a:r>
              <a:rPr sz="1350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03  Description Gate 과삭제 Fallback</a:t>
            </a:r>
          </a:p>
          <a:p>
            <a:pPr algn="l"/>
            <a:r>
              <a:rPr sz="1350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04  표 복잡도별 Serialization Routing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00750" y="2038350"/>
            <a:ext cx="19050" cy="3333750"/>
          </a:xfrm>
          <a:prstGeom prst="rect">
            <a:avLst/>
          </a:prstGeom>
          <a:solidFill>
            <a:srgbClr val="BAC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2250" y="2000250"/>
            <a:ext cx="4762500" cy="32385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125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RUNTIME &amp;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0" y="2400300"/>
            <a:ext cx="4762500" cy="4191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8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실행 범위와 검증 규모를 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0" y="3028950"/>
            <a:ext cx="4762500" cy="21336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l"/>
            <a:r>
              <a:rPr sz="1350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05  Vision Capability Routing</a:t>
            </a:r>
          </a:p>
          <a:p>
            <a:pPr algn="l"/>
            <a:r>
              <a:rPr sz="1350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06  MCP Context Budget 제어</a:t>
            </a:r>
          </a:p>
          <a:p>
            <a:pPr algn="l"/>
            <a:r>
              <a:rPr sz="1350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07  Query 의도 기반 Skill Trigger</a:t>
            </a:r>
          </a:p>
          <a:p>
            <a:pPr algn="l"/>
            <a:r>
              <a:rPr sz="1350" b="0">
                <a:solidFill>
                  <a:srgbClr val="52657D"/>
                </a:solidFill>
                <a:latin typeface="Pretendard"/>
                <a:ea typeface="Pretendard"/>
                <a:cs typeface="Pretendard"/>
              </a:rPr>
              <a:t>08  대규모 문서·질문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" y="5391150"/>
            <a:ext cx="9144000" cy="342900"/>
          </a:xfrm>
          <a:prstGeom prst="rect">
            <a:avLst/>
          </a:prstGeom>
          <a:noFill/>
        </p:spPr>
        <p:txBody>
          <a:bodyPr wrap="square" lIns="57150" rIns="57150" tIns="38100" bIns="38100" anchor="ctr">
            <a:noAutofit/>
          </a:bodyPr>
          <a:lstStyle/>
          <a:p>
            <a:pPr algn="ctr"/>
            <a:r>
              <a:rPr sz="1125" b="1">
                <a:solidFill>
                  <a:srgbClr val="D86F28"/>
                </a:solidFill>
                <a:latin typeface="Pretendard"/>
                <a:ea typeface="Pretendard"/>
                <a:cs typeface="Pretendard"/>
              </a:rPr>
              <a:t>설계 목표를 현재 구현처럼 말하지 않고, 운영 조건에서 검증된 뒤 단계적으로 적용합니다.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61950"/>
            <a:ext cx="11125200" cy="9525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457200"/>
            <a:ext cx="39624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05 자체 평가 의견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85775"/>
            <a:ext cx="4000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SELF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47625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2450" y="876300"/>
            <a:ext cx="110490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강점은 연결성, 남은 과제는 검증 범위입니다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504950"/>
            <a:ext cx="10287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확인된 구현과 다음 검증 대상을 분리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450" y="6286500"/>
            <a:ext cx="7429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6200775"/>
            <a:ext cx="44767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SELF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247900"/>
            <a:ext cx="3333750" cy="38100"/>
          </a:xfrm>
          <a:prstGeom prst="rect">
            <a:avLst/>
          </a:prstGeom>
          <a:solidFill>
            <a:srgbClr val="178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" y="2381250"/>
            <a:ext cx="3333750" cy="247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STRENGTH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800350"/>
            <a:ext cx="333375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하나로 연결된 실행 흐름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448050"/>
            <a:ext cx="333375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25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Deep Agent·근거 검색·HITL·Ops를 하나의 사용자 흐름으로 연결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86250" y="2247900"/>
            <a:ext cx="3333750" cy="38100"/>
          </a:xfrm>
          <a:prstGeom prst="rect">
            <a:avLst/>
          </a:prstGeom>
          <a:solidFill>
            <a:srgbClr val="D88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6250" y="2381250"/>
            <a:ext cx="3333750" cy="247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>
                <a:solidFill>
                  <a:srgbClr val="D88628"/>
                </a:solidFill>
                <a:latin typeface="Pretendard"/>
                <a:ea typeface="Pretendard"/>
                <a:cs typeface="Pretendard"/>
              </a:rPr>
              <a:t>LIMITATION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6250" y="2800350"/>
            <a:ext cx="333375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근거 정밀도와 멀티모달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6250" y="3448050"/>
            <a:ext cx="333375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25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page/block provenance · 표 false negative · 설명 과삭제 · vision routing 보완 필요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247900"/>
            <a:ext cx="3333750" cy="38100"/>
          </a:xfrm>
          <a:prstGeom prst="rect">
            <a:avLst/>
          </a:prstGeom>
          <a:solidFill>
            <a:srgbClr val="2878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2381250"/>
            <a:ext cx="3333750" cy="2476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NEXT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800350"/>
            <a:ext cx="3333750" cy="5143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운영 조건에서 재검증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448050"/>
            <a:ext cx="333375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25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대형 문서·HOLDOUT·MCP 예산·자동 Skill trigger를 실제 부하에서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5219700"/>
            <a:ext cx="10763250" cy="3048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05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현재 구현과 향후 기능을 분리하고, 수치는 재현 가능한 DEV 결과만 사용합니다.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F8C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14350"/>
            <a:ext cx="3429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75" b="1">
                <a:solidFill>
                  <a:srgbClr val="F8C944"/>
                </a:solidFill>
                <a:latin typeface="Pretendard"/>
                <a:ea typeface="Pretendard"/>
                <a:cs typeface="Pretendard"/>
              </a:rPr>
              <a:t>05 · 자체 평가 의견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352550"/>
            <a:ext cx="7239000" cy="140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업무 맥락과 실행 통제를</a:t>
            </a:r>
          </a:p>
          <a:p>
            <a:pPr algn="l"/>
            <a:r>
              <a: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하나의 플랫폼으로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429000"/>
            <a:ext cx="619125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50" b="1">
                <a:solidFill>
                  <a:srgbClr val="D7E4F5"/>
                </a:solidFill>
                <a:latin typeface="Pretendard"/>
                <a:ea typeface="Pretendard"/>
                <a:cs typeface="Pretendard"/>
              </a:rPr>
              <a:t>근거 확인 · 승인 · 실행 이력 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4229100"/>
            <a:ext cx="1066800" cy="47625"/>
          </a:xfrm>
          <a:prstGeom prst="rect">
            <a:avLst/>
          </a:prstGeom>
          <a:solidFill>
            <a:srgbClr val="42D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50">
                <a:solidFill>
                  <a:srgbClr val="AFC0D9"/>
                </a:solidFill>
                <a:latin typeface="Pretendard"/>
                <a:ea typeface="Pretendard"/>
                <a:cs typeface="Pretendard"/>
              </a:rPr>
              <a:t>halil · 프로젝트 운영 Agent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0" y="990600"/>
            <a:ext cx="142875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2550" b="1">
                <a:solidFill>
                  <a:srgbClr val="F8C944"/>
                </a:solidFill>
                <a:latin typeface="Pretendard"/>
                <a:ea typeface="Pretendard"/>
                <a:cs typeface="Pretendard"/>
              </a:rPr>
              <a:t>Q&amp;A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53550" y="6096000"/>
            <a:ext cx="2305050" cy="3619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309" y="6162675"/>
            <a:ext cx="751427" cy="238125"/>
          </a:xfrm>
          <a:prstGeom prst="rect">
            <a:avLst/>
          </a:prstGeom>
        </p:spPr>
      </p:pic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99" y="6162675"/>
            <a:ext cx="800957" cy="238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