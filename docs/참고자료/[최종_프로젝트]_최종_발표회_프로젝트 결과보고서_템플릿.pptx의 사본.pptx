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MudQJhlzWFqrD4PEZ5T9WSxF6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7C9E36-FFF6-4059-9998-5811A0646DC6}">
  <a:tblStyle styleId="{047C9E36-FFF6-4059-9998-5811A0646DC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70" orient="horz"/>
        <p:guide pos="325"/>
        <p:guide pos="7401"/>
        <p:guide pos="3840"/>
        <p:guide pos="40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5" name="Google Shape;3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8" name="Google Shape;5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1" name="Google Shape;6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4" name="Google Shape;6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8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8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13" Type="http://schemas.openxmlformats.org/officeDocument/2006/relationships/image" Target="../media/image1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5" Type="http://schemas.openxmlformats.org/officeDocument/2006/relationships/hyperlink" Target="https://youtu.be/AzQ6RnzUnpE" TargetMode="External"/><Relationship Id="rId1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5.png"/><Relationship Id="rId1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43.png"/><Relationship Id="rId13" Type="http://schemas.openxmlformats.org/officeDocument/2006/relationships/image" Target="../media/image27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1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26.png"/><Relationship Id="rId7" Type="http://schemas.openxmlformats.org/officeDocument/2006/relationships/image" Target="../media/image35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50.png"/><Relationship Id="rId13" Type="http://schemas.openxmlformats.org/officeDocument/2006/relationships/image" Target="../media/image42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9" Type="http://schemas.openxmlformats.org/officeDocument/2006/relationships/image" Target="../media/image39.png"/><Relationship Id="rId15" Type="http://schemas.openxmlformats.org/officeDocument/2006/relationships/image" Target="../media/image37.png"/><Relationship Id="rId14" Type="http://schemas.openxmlformats.org/officeDocument/2006/relationships/image" Target="../media/image27.png"/><Relationship Id="rId17" Type="http://schemas.openxmlformats.org/officeDocument/2006/relationships/image" Target="../media/image45.png"/><Relationship Id="rId16" Type="http://schemas.openxmlformats.org/officeDocument/2006/relationships/image" Target="../media/image26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49.png"/><Relationship Id="rId8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46.png"/><Relationship Id="rId9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54.png"/><Relationship Id="rId9" Type="http://schemas.openxmlformats.org/officeDocument/2006/relationships/image" Target="../media/image56.png"/><Relationship Id="rId5" Type="http://schemas.openxmlformats.org/officeDocument/2006/relationships/image" Target="../media/image30.png"/><Relationship Id="rId6" Type="http://schemas.openxmlformats.org/officeDocument/2006/relationships/image" Target="../media/image40.png"/><Relationship Id="rId7" Type="http://schemas.openxmlformats.org/officeDocument/2006/relationships/image" Target="../media/image53.png"/><Relationship Id="rId8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5.png"/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9" Type="http://schemas.openxmlformats.org/officeDocument/2006/relationships/image" Target="../media/image57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55.png"/><Relationship Id="rId8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Relationship Id="rId7" Type="http://schemas.openxmlformats.org/officeDocument/2006/relationships/image" Target="../media/image62.png"/><Relationship Id="rId8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67.png"/><Relationship Id="rId9" Type="http://schemas.openxmlformats.org/officeDocument/2006/relationships/image" Target="../media/image37.png"/><Relationship Id="rId5" Type="http://schemas.openxmlformats.org/officeDocument/2006/relationships/image" Target="../media/image63.png"/><Relationship Id="rId6" Type="http://schemas.openxmlformats.org/officeDocument/2006/relationships/image" Target="../media/image30.png"/><Relationship Id="rId7" Type="http://schemas.openxmlformats.org/officeDocument/2006/relationships/image" Target="../media/image64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90" name="Google Shape;90;p1"/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fmla="val 8239" name="adj1"/>
                <a:gd fmla="val 0" name="adj2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49412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8282" y="4699746"/>
              <a:ext cx="513759" cy="5137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노트북, 컴퓨터, 의류, 사람이(가) 표시된 사진&#10;&#10;자동 생성된 설명"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343" y="2852936"/>
            <a:ext cx="6272386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2004" y="3739512"/>
            <a:ext cx="10477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(PPT 작성 시) 아래 경로에 등록된 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작성가이드 2. 팀별 프로젝트 결과보고서]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영상을 참고하여 작성하세요!     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7575" y="1114901"/>
            <a:ext cx="231912" cy="23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1472" y="5970452"/>
            <a:ext cx="106965" cy="10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0411" y="3333846"/>
            <a:ext cx="320555" cy="32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657" y="3051749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5731" y="4683554"/>
            <a:ext cx="459767" cy="43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51618" y="692696"/>
            <a:ext cx="955324" cy="95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6450" y="2232252"/>
            <a:ext cx="361822" cy="36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9046026">
            <a:off x="10881716" y="4218190"/>
            <a:ext cx="1905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069497" y="5648116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https://youtu.be/AzQ6RnzUnpE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* 링크를 따라가려면 &lt;ctrl&gt;키를 누른 채 클릭하세요.</a:t>
            </a:r>
            <a:endParaRPr b="0" i="0" sz="1050" u="none" cap="none" strike="noStrike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ko-KR" sz="3600" u="none" cap="none" strike="noStrike">
                <a:solidFill>
                  <a:srgbClr val="1A355C"/>
                </a:solidFill>
                <a:latin typeface="Arial"/>
                <a:ea typeface="Arial"/>
                <a:cs typeface="Arial"/>
                <a:sym typeface="Arial"/>
              </a:rPr>
              <a:t>PPT 작성 가이드 안내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12792" t="0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rgbClr val="49729E"/>
                </a:solidFill>
                <a:latin typeface="Arial"/>
                <a:ea typeface="Arial"/>
                <a:cs typeface="Arial"/>
                <a:sym typeface="Arial"/>
              </a:rPr>
              <a:t>작성요령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117" name="Google Shape;117;p2"/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  <a:gs pos="100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rect b="b" l="l" r="r" t="t"/>
                <a:pathLst>
                  <a:path extrusionOk="0" h="570685" w="733449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0" name="Google Shape;120;p2"/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작성요령</a:t>
              </a:r>
              <a:endParaRPr b="1" i="0" sz="2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122" name="Google Shape;122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4" name="Google Shape;124;p2"/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" name="Google Shape;127;p2"/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작성주체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훈련생이 직접 작성하고, 훈련기관 담당자가 임의로 삭제 혹은 수정하지 않아야 함</a:t>
              </a:r>
              <a:endParaRPr b="1" i="0" sz="14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"/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2" name="Google Shape;132;p2"/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" name="Google Shape;135;p2"/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제출형태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팀별 프로젝트 결과보고서(PPT)는 팀별로 각각 작성하여 제출해야 함</a:t>
              </a:r>
              <a:endParaRPr b="1" i="0" sz="1400" u="none" cap="none" strike="noStrike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단, 개별 진행된 경우 개별로 작성하여 제출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802691" y="2095552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140" name="Google Shape;14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"/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2" name="Google Shape;142;p2"/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" name="Google Shape;145;p2"/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 일 명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결과보고서_팀명(팀주제명)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예) 결과보고서_1팀(OOO를 활용한 OOOO)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802691" y="37569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51" name="Google Shape;151;p2"/>
              <p:cNvPicPr preferRelativeResize="0"/>
              <p:nvPr/>
            </p:nvPicPr>
            <p:blipFill rotWithShape="1">
              <a:blip r:embed="rId4">
                <a:alphaModFix amt="60000"/>
              </a:blip>
              <a:srcRect b="0" l="0" r="0" t="0"/>
              <a:stretch/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2"/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fmla="val 5120" name="adj"/>
                </a:avLst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53" name="Google Shape;153;p2"/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54" name="Google Shape;154;p2"/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55" name="Google Shape;155;p2"/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ko-KR" sz="1200" u="none" cap="none" strike="noStrike">
                      <a:solidFill>
                        <a:srgbClr val="3378C8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6" name="Google Shape;156;p2"/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i="0" lang="ko-KR" sz="16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구성내용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7" name="Google Shape;157;p2"/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제공된 목차 항목/구성/세부내용이 모두 포함되어야 하며, 페이지별 상세 안내 내용을 참고하여 작성</a:t>
              </a:r>
              <a:endParaRPr b="1" i="0" sz="14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59" name="Google Shape;159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"/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1" name="Google Shape;161;p2"/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62" name="Google Shape;162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3" name="Google Shape;163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4" name="Google Shape;164;p2"/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ko-KR" sz="16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 자 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i="0" lang="ko-KR" sz="1400" u="none" cap="none" strike="noStrike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참고(예시) 디자인이므로 자유롭게 변경 가능, 기본폰트를 사용하지 않은 경우 PDF로 저장하여 제출</a:t>
              </a:r>
              <a:endParaRPr b="1" i="0" sz="1400" u="none" cap="none" strike="noStrike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우수성 및 완성도를 잘 나타낼 수 있는 형태로 작성</a:t>
              </a:r>
              <a:endParaRPr b="1" i="0" sz="12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802691" y="58016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저작권 문제로 유료 폰트는 사용 금지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802691" y="604978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0" name="Google Shape;17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99" y="6146170"/>
            <a:ext cx="516028" cy="72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46819">
            <a:off x="50218" y="5743137"/>
            <a:ext cx="3429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48349" t="37985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3"/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○○아카데미(훈련기관명)</a:t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ko-KR" sz="4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 프로젝트명</a:t>
              </a:r>
              <a:br>
                <a:rPr b="1" i="0" lang="ko-KR" sz="4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4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(주제)</a:t>
              </a:r>
              <a:endParaRPr b="1" i="0" sz="4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3"/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K-Digital Training</a:t>
            </a:r>
            <a:endParaRPr b="1" i="0" sz="1600" u="none" cap="none" strike="noStrike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" name="Google Shape;183;p3"/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descr="EMB0000378c3f3d" id="184" name="Google Shape;18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" name="Google Shape;1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8">
            <a:alphaModFix/>
          </a:blip>
          <a:srcRect b="17378" l="21662" r="0" t="1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3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189" name="Google Shape;189;p3"/>
            <p:cNvSpPr/>
            <p:nvPr/>
          </p:nvSpPr>
          <p:spPr>
            <a:xfrm>
              <a:off x="251139" y="1723399"/>
              <a:ext cx="1047217" cy="1047469"/>
            </a:xfrm>
            <a:custGeom>
              <a:rect b="b" l="l" r="r" t="t"/>
              <a:pathLst>
                <a:path extrusionOk="0" h="1047469" w="1047217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75650" y="2048162"/>
              <a:ext cx="397819" cy="397819"/>
            </a:xfrm>
            <a:custGeom>
              <a:rect b="b" l="l" r="r" t="t"/>
              <a:pathLst>
                <a:path extrusionOk="0" h="397819" w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91" name="Google Shape;19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3"/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194" name="Google Shape;194;p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 rot="10800000">
              <a:off x="6768048" y="3882051"/>
              <a:ext cx="1663769" cy="70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3"/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ko-KR" sz="2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TEAM 1조</a:t>
              </a:r>
              <a:r>
                <a:rPr b="1" i="0" lang="ko-KR" sz="24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어벤져스 (팀명)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김○○, 박○○, 이○○, 최○○, 정○○</a:t>
              </a:r>
              <a:endParaRPr b="1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[멘토] ○○○</a:t>
              </a:r>
              <a:endParaRPr b="1" i="0" sz="2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 b="23907" l="0" r="27522" t="0"/>
          <a:stretch/>
        </p:blipFill>
        <p:spPr>
          <a:xfrm flipH="1" rot="10800000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4"/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204" name="Google Shape;204;p4"/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ko-KR" sz="4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 차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8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6041168" y="2376075"/>
            <a:ext cx="4646098" cy="585000"/>
            <a:chOff x="6242110" y="2376079"/>
            <a:chExt cx="4444751" cy="585000"/>
          </a:xfrm>
        </p:grpSpPr>
        <p:sp>
          <p:nvSpPr>
            <p:cNvPr id="207" name="Google Shape;207;p4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6242110" y="2376079"/>
              <a:ext cx="631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210" name="Google Shape;210;p4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4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213" name="Google Shape;213;p4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4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16" name="Google Shape;216;p4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9" name="Google Shape;219;p4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ko-KR" sz="20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ko-KR" sz="3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0" i="0" sz="32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4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4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26" name="Google Shape;226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7" name="Google Shape;237;p5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38" name="Google Shape;238;p5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1" name="Google Shape;241;p5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3" name="Google Shape;243;p5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아래 내용이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반드시 포함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한다.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5" name="Google Shape;245;p5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/>
          <p:cNvPicPr preferRelativeResize="0"/>
          <p:nvPr/>
        </p:nvPicPr>
        <p:blipFill rotWithShape="1">
          <a:blip r:embed="rId9">
            <a:alphaModFix/>
          </a:blip>
          <a:srcRect b="0" l="44921" r="0" t="0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/>
          <p:cNvPicPr preferRelativeResize="0"/>
          <p:nvPr/>
        </p:nvPicPr>
        <p:blipFill rotWithShape="1">
          <a:blip r:embed="rId10">
            <a:alphaModFix/>
          </a:blip>
          <a:srcRect b="0" l="45412" r="0" t="0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5"/>
          <p:cNvGrpSpPr/>
          <p:nvPr/>
        </p:nvGrpSpPr>
        <p:grpSpPr>
          <a:xfrm>
            <a:off x="7339013" y="2344962"/>
            <a:ext cx="2122307" cy="3832181"/>
            <a:chOff x="7348911" y="2344962"/>
            <a:chExt cx="2122307" cy="3832181"/>
          </a:xfrm>
        </p:grpSpPr>
        <p:grpSp>
          <p:nvGrpSpPr>
            <p:cNvPr id="256" name="Google Shape;256;p5"/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</p:grpSpPr>
          <p:sp>
            <p:nvSpPr>
              <p:cNvPr id="257" name="Google Shape;25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59" name="Google Shape;259;p5"/>
            <p:cNvGrpSpPr/>
            <p:nvPr/>
          </p:nvGrpSpPr>
          <p:grpSpPr>
            <a:xfrm>
              <a:off x="8192766" y="2344962"/>
              <a:ext cx="418718" cy="380422"/>
              <a:chOff x="427587" y="2066948"/>
              <a:chExt cx="912263" cy="828829"/>
            </a:xfrm>
          </p:grpSpPr>
          <p:sp>
            <p:nvSpPr>
              <p:cNvPr id="260" name="Google Shape;26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431"/>
                    </a:srgbClr>
                  </a:gs>
                  <a:gs pos="69000">
                    <a:srgbClr val="FFFFFF">
                      <a:alpha val="33333"/>
                    </a:srgbClr>
                  </a:gs>
                  <a:gs pos="100000">
                    <a:srgbClr val="FFFFFF">
                      <a:alpha val="33333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2" name="Google Shape;26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5"/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구조</a:t>
              </a:r>
              <a:endParaRPr b="1" i="0" sz="19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5"/>
          <p:cNvGrpSpPr/>
          <p:nvPr/>
        </p:nvGrpSpPr>
        <p:grpSpPr>
          <a:xfrm>
            <a:off x="491899" y="2344962"/>
            <a:ext cx="2122308" cy="3832181"/>
            <a:chOff x="501797" y="2344962"/>
            <a:chExt cx="2122308" cy="3832181"/>
          </a:xfrm>
        </p:grpSpPr>
        <p:grpSp>
          <p:nvGrpSpPr>
            <p:cNvPr id="265" name="Google Shape;265;p5"/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41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68" name="Google Shape;268;p5"/>
            <p:cNvSpPr txBox="1"/>
            <p:nvPr/>
          </p:nvSpPr>
          <p:spPr>
            <a:xfrm>
              <a:off x="710830" y="3060042"/>
              <a:ext cx="1704300" cy="98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" name="Google Shape;269;p5"/>
            <p:cNvGrpSpPr/>
            <p:nvPr/>
          </p:nvGrpSpPr>
          <p:grpSpPr>
            <a:xfrm>
              <a:off x="1388467" y="2344962"/>
              <a:ext cx="418718" cy="416547"/>
              <a:chOff x="427587" y="2066948"/>
              <a:chExt cx="912263" cy="907536"/>
            </a:xfrm>
          </p:grpSpPr>
          <p:sp>
            <p:nvSpPr>
              <p:cNvPr id="270" name="Google Shape;27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2" name="Google Shape;272;p5"/>
              <p:cNvSpPr txBox="1"/>
              <p:nvPr/>
            </p:nvSpPr>
            <p:spPr>
              <a:xfrm>
                <a:off x="616568" y="2271884"/>
                <a:ext cx="557100" cy="70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3" name="Google Shape;273;p5"/>
            <p:cNvSpPr txBox="1"/>
            <p:nvPr/>
          </p:nvSpPr>
          <p:spPr>
            <a:xfrm>
              <a:off x="501797" y="4453027"/>
              <a:ext cx="2122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주제의</a:t>
              </a:r>
              <a:b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sng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특화 포인트</a:t>
              </a: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</a:t>
              </a:r>
              <a:b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유사 서비스와</a:t>
              </a:r>
              <a:b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sng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차별화된 내용</a:t>
              </a: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제시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4" name="Google Shape;274;p5"/>
            <p:cNvCxnSpPr/>
            <p:nvPr/>
          </p:nvCxnSpPr>
          <p:spPr>
            <a:xfrm>
              <a:off x="1458728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75" name="Google Shape;275;p5"/>
          <p:cNvGrpSpPr/>
          <p:nvPr/>
        </p:nvGrpSpPr>
        <p:grpSpPr>
          <a:xfrm>
            <a:off x="2774271" y="2344962"/>
            <a:ext cx="2122307" cy="3832181"/>
            <a:chOff x="2784169" y="2344962"/>
            <a:chExt cx="2122307" cy="3832181"/>
          </a:xfrm>
        </p:grpSpPr>
        <p:grpSp>
          <p:nvGrpSpPr>
            <p:cNvPr id="276" name="Google Shape;276;p5"/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</p:grpSpPr>
          <p:sp>
            <p:nvSpPr>
              <p:cNvPr id="277" name="Google Shape;27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79" name="Google Shape;279;p5"/>
            <p:cNvGrpSpPr/>
            <p:nvPr/>
          </p:nvGrpSpPr>
          <p:grpSpPr>
            <a:xfrm>
              <a:off x="3677916" y="2344962"/>
              <a:ext cx="418718" cy="380422"/>
              <a:chOff x="427587" y="2066948"/>
              <a:chExt cx="912263" cy="828829"/>
            </a:xfrm>
          </p:grpSpPr>
          <p:sp>
            <p:nvSpPr>
              <p:cNvPr id="280" name="Google Shape;28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431"/>
                    </a:srgbClr>
                  </a:gs>
                  <a:gs pos="69000">
                    <a:srgbClr val="FFFFFF">
                      <a:alpha val="33333"/>
                    </a:srgbClr>
                  </a:gs>
                  <a:gs pos="100000">
                    <a:srgbClr val="FFFFFF">
                      <a:alpha val="33333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2" name="Google Shape;28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3" name="Google Shape;283;p5"/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ko-KR" sz="1900" u="none" cap="none" strike="noStrike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내용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5"/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구현 내용, 컨셉, </a:t>
              </a:r>
              <a:b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훈련내용과의 연관성</a:t>
              </a: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5" name="Google Shape;285;p5"/>
            <p:cNvCxnSpPr/>
            <p:nvPr/>
          </p:nvCxnSpPr>
          <p:spPr>
            <a:xfrm>
              <a:off x="3741100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FFD85C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86" name="Google Shape;286;p5"/>
          <p:cNvGrpSpPr/>
          <p:nvPr/>
        </p:nvGrpSpPr>
        <p:grpSpPr>
          <a:xfrm>
            <a:off x="5054374" y="2344962"/>
            <a:ext cx="2124575" cy="3832181"/>
            <a:chOff x="5064272" y="2344962"/>
            <a:chExt cx="2124575" cy="3832181"/>
          </a:xfrm>
        </p:grpSpPr>
        <p:grpSp>
          <p:nvGrpSpPr>
            <p:cNvPr id="287" name="Google Shape;287;p5"/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41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5913116" y="2344962"/>
              <a:ext cx="418718" cy="380422"/>
              <a:chOff x="427587" y="2066948"/>
              <a:chExt cx="912263" cy="828829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3" name="Google Shape;293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4" name="Google Shape;294;p5"/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 장비 및</a:t>
              </a:r>
              <a:b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재료</a:t>
              </a:r>
              <a:endParaRPr b="1" i="0" sz="18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5" name="Google Shape;295;p5"/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개발환경</a:t>
              </a: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6" name="Google Shape;296;p5"/>
            <p:cNvCxnSpPr/>
            <p:nvPr/>
          </p:nvCxnSpPr>
          <p:spPr>
            <a:xfrm>
              <a:off x="6021203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97" name="Google Shape;297;p5"/>
          <p:cNvGrpSpPr/>
          <p:nvPr/>
        </p:nvGrpSpPr>
        <p:grpSpPr>
          <a:xfrm>
            <a:off x="9616850" y="2344962"/>
            <a:ext cx="2126842" cy="3832181"/>
            <a:chOff x="9626748" y="2344962"/>
            <a:chExt cx="2126842" cy="3832181"/>
          </a:xfrm>
        </p:grpSpPr>
        <p:grpSp>
          <p:nvGrpSpPr>
            <p:cNvPr id="298" name="Google Shape;298;p5"/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</p:grpSpPr>
          <p:sp>
            <p:nvSpPr>
              <p:cNvPr id="299" name="Google Shape;299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941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10477859" y="2344962"/>
              <a:ext cx="418718" cy="380422"/>
              <a:chOff x="427587" y="2066948"/>
              <a:chExt cx="912263" cy="828829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4" name="Google Shape;304;p5"/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5"/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활용방안 및</a:t>
              </a:r>
              <a:b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"/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산출물의</a:t>
              </a:r>
              <a:b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효용</a:t>
              </a: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(효과)/</a:t>
              </a:r>
              <a:b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비즈니스 실무 활용성 제시</a:t>
              </a:r>
              <a:endParaRPr b="1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07" name="Google Shape;307;p5"/>
            <p:cNvCxnSpPr/>
            <p:nvPr/>
          </p:nvCxnSpPr>
          <p:spPr>
            <a:xfrm>
              <a:off x="10583679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08" name="Google Shape;308;p5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09" name="Google Shape;309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7" name="Google Shape;317;p6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18" name="Google Shape;318;p6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9" name="Google Shape;319;p6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1" name="Google Shape;321;p6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6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23" name="Google Shape;323;p6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해당 프로젝트를 진행하면서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별로 주도적으로 참여한 부분을 중심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으로 작성한다.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5" name="Google Shape;325;p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p6"/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328" name="Google Shape;328;p6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9" name="Google Shape;329;p6"/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프로젝트 운영 중 </a:t>
              </a:r>
              <a:r>
                <a:rPr b="1" i="0" lang="ko-KR" sz="1400" u="none" cap="none" strike="noStrike">
                  <a:solidFill>
                    <a:srgbClr val="FF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멘토</a:t>
              </a:r>
              <a:r>
                <a:rPr b="1" i="0" lang="ko-KR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지원내역도 간략하게 작성 </a:t>
              </a:r>
              <a:endParaRPr b="1" i="0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30" name="Google Shape;330;p6"/>
          <p:cNvGraphicFramePr/>
          <p:nvPr/>
        </p:nvGraphicFramePr>
        <p:xfrm>
          <a:off x="524528" y="2721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{047C9E36-FFF6-4059-9998-5811A0646DC6}</a:tableStyleId>
              </a:tblPr>
              <a:tblGrid>
                <a:gridCol w="2244075"/>
                <a:gridCol w="1498600"/>
                <a:gridCol w="7475600"/>
              </a:tblGrid>
              <a:tr h="56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훈련생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업무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412"/>
                      </a:srgbClr>
                    </a:solidFill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팀장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정○○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이○○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멘토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1" name="Google Shape;331;p6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4453" y="6126651"/>
            <a:ext cx="109959" cy="109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" name="Google Shape;333;p6"/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334" name="Google Shape;334;p6"/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6" name="Google Shape;336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6"/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정제 및 정규화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6"/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339" name="Google Shape;339;p6"/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"/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서비스 테스팅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2" name="Google Shape;342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6"/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fmla="val 5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플랫폼 구현</a:t>
            </a:r>
            <a:endParaRPr b="1" i="0" sz="12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6" name="Google Shape;34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097" y="4335700"/>
            <a:ext cx="216867" cy="193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6"/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348" name="Google Shape;348;p6"/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서비스 시스템 설계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1" name="Google Shape;351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2" name="Google Shape;352;p6"/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353" name="Google Shape;353;p6"/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텍스트 마이닝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6" name="Google Shape;356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" name="Google Shape;357;p6"/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358" name="Google Shape;358;p6"/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"/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외부 데이터 수집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1" name="Google Shape;361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2" name="Google Shape;362;p6"/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363" name="Google Shape;363;p6"/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6"/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선정 피드백, 프로젝트  질의응답</a:t>
              </a:r>
              <a:endParaRPr b="1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6" name="Google Shape;366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" name="Google Shape;367;p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68" name="Google Shape;368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0" name="Google Shape;370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6"/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rgbClr val="F2F2F2">
              <a:alpha val="5725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2700000">
            <a:off x="11833039" y="5062495"/>
            <a:ext cx="154011" cy="15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7"/>
          <p:cNvPicPr preferRelativeResize="0"/>
          <p:nvPr/>
        </p:nvPicPr>
        <p:blipFill rotWithShape="1">
          <a:blip r:embed="rId4">
            <a:alphaModFix/>
          </a:blip>
          <a:srcRect b="0" l="0" r="36132" t="4365"/>
          <a:stretch/>
        </p:blipFill>
        <p:spPr>
          <a:xfrm flipH="1" rot="-5400000">
            <a:off x="-70596" y="574397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"/>
          <p:cNvPicPr preferRelativeResize="0"/>
          <p:nvPr/>
        </p:nvPicPr>
        <p:blipFill rotWithShape="1">
          <a:blip r:embed="rId5">
            <a:alphaModFix/>
          </a:blip>
          <a:srcRect b="36588" l="0" r="16078" t="0"/>
          <a:stretch/>
        </p:blipFill>
        <p:spPr>
          <a:xfrm rot="-5400000">
            <a:off x="8716891" y="296979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7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81" name="Google Shape;381;p7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82" name="Google Shape;382;p7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3" name="Google Shape;383;p7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7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5" name="Google Shape;385;p7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7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87" name="Google Shape;387;p7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프로젝트의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및 완료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과정으로 나누어서 작성한다.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89" name="Google Shape;389;p7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90" name="Google Shape;390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" name="Google Shape;392;p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절차를 도식화하여 제시하거나, 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효과적으로 전달하는 방법 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등이 있다면 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가능</a:t>
            </a:r>
            <a:endParaRPr b="0" i="0" sz="14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단계에서 도출된 주제와 아이디어를 기반으로 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프로젝트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수행한 세부적인 기간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r>
              <a:rPr b="1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활동 </a:t>
            </a:r>
            <a:r>
              <a:rPr b="0" i="0" lang="ko-KR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 작성</a:t>
            </a:r>
            <a:endParaRPr b="0" i="0" sz="14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5" name="Google Shape;395;p7"/>
          <p:cNvGraphicFramePr/>
          <p:nvPr/>
        </p:nvGraphicFramePr>
        <p:xfrm>
          <a:off x="524528" y="283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{047C9E36-FFF6-4059-9998-5811A0646DC6}</a:tableStyleId>
              </a:tblPr>
              <a:tblGrid>
                <a:gridCol w="1494775"/>
                <a:gridCol w="2324100"/>
                <a:gridCol w="5153025"/>
                <a:gridCol w="2246375"/>
              </a:tblGrid>
              <a:tr h="38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4314"/>
                      </a:srgb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 기획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 선정</a:t>
                      </a:r>
                      <a:endParaRPr sz="1400" u="none" cap="none" strike="noStrike"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협약기업 데이터 협조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전처리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17145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모델링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팀별 중간보고 실시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구축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최적화, 오류 수정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 개발기간</a:t>
                      </a:r>
                      <a:endParaRPr sz="1400" u="none" cap="none" strike="noStrike"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O/O(금)(총 7주)</a:t>
                      </a:r>
                      <a:endParaRPr sz="1400" u="none" cap="none" strike="noStrike"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431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96" name="Google Shape;39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625" y="5477900"/>
            <a:ext cx="124936" cy="1249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7"/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398" name="Google Shape;398;p7"/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399" name="Google Shape;399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00" name="Google Shape;400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" name="Google Shape;402;p7"/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기획 및 주제 선정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03" name="Google Shape;40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4" name="Google Shape;404;p7"/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05" name="Google Shape;405;p7"/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406" name="Google Shape;406;p7"/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407" name="Google Shape;407;p7"/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9" name="Google Shape;409;p7"/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기획안 작성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0" name="Google Shape;410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" name="Google Shape;411;p7"/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412" name="Google Shape;412;p7"/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413" name="Google Shape;413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14" name="Google Shape;414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6" name="Google Shape;416;p7"/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필요 데이터  및 수집 절차 정의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7" name="Google Shape;41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7"/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419" name="Google Shape;419;p7"/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420" name="Google Shape;420;p7"/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421" name="Google Shape;421;p7"/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3" name="Google Shape;423;p7"/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ko-KR" sz="120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외부 </a:t>
                </a: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</a:t>
                </a:r>
                <a:r>
                  <a:rPr b="0" i="0" lang="ko-KR" sz="1200" u="none" cap="none" strike="noStrike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 수집</a:t>
                </a:r>
                <a:endParaRPr b="0" i="0" sz="12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4" name="Google Shape;424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" name="Google Shape;425;p7"/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426" name="Google Shape;426;p7"/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427" name="Google Shape;427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8" name="Google Shape;428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0" name="Google Shape;430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정제 및 정규화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1" name="Google Shape;43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" name="Google Shape;432;p7"/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433" name="Google Shape;433;p7"/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434" name="Google Shape;434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35" name="Google Shape;435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7" name="Google Shape;437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모형 구현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8" name="Google Shape;438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9" name="Google Shape;439;p7"/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440" name="Google Shape;440;p7"/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441" name="Google Shape;441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42" name="Google Shape;442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4" name="Google Shape;444;p7"/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3838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서비스 시스템 설계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45" name="Google Shape;44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6" name="Google Shape;446;p7"/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447" name="Google Shape;447;p7"/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448" name="Google Shape;448;p7"/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449" name="Google Shape;449;p7"/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1" name="Google Shape;451;p7"/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플랫폼 구현</a:t>
                </a:r>
                <a:endParaRPr b="1" i="0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52" name="Google Shape;452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8"/>
          <p:cNvPicPr preferRelativeResize="0"/>
          <p:nvPr/>
        </p:nvPicPr>
        <p:blipFill rotWithShape="1">
          <a:blip r:embed="rId4">
            <a:alphaModFix/>
          </a:blip>
          <a:srcRect b="11486" l="0" r="5078" t="0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0" name="Google Shape;460;p8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61" name="Google Shape;461;p8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2" name="Google Shape;462;p8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4" name="Google Shape;464;p8"/>
          <p:cNvPicPr preferRelativeResize="0"/>
          <p:nvPr/>
        </p:nvPicPr>
        <p:blipFill rotWithShape="1">
          <a:blip r:embed="rId5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5" name="Google Shape;465;p8"/>
          <p:cNvGrpSpPr/>
          <p:nvPr/>
        </p:nvGrpSpPr>
        <p:grpSpPr>
          <a:xfrm>
            <a:off x="541891" y="1436337"/>
            <a:ext cx="10526159" cy="369332"/>
            <a:chOff x="541891" y="1430219"/>
            <a:chExt cx="10526159" cy="369332"/>
          </a:xfrm>
        </p:grpSpPr>
        <p:sp>
          <p:nvSpPr>
            <p:cNvPr id="466" name="Google Shape;466;p8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결과물이 도출된 과정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세부적으로 작성한다.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8" name="Google Shape;468;p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8"/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1" name="Google Shape;471;p8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2" name="Google Shape;472;p8"/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ko-KR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이어지는 예시는 하나의 사례 제공을 위해서 간단하게 제시한 것이므로 </a:t>
              </a:r>
              <a:r>
                <a:rPr b="1" i="0" lang="ko-KR" sz="1400" u="none" cap="none" strike="noStrike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성격에 따라 보다 자세하게 작성</a:t>
              </a:r>
              <a:endParaRPr b="1" i="0" sz="1400" u="none" cap="none" strike="noStrike">
                <a:solidFill>
                  <a:srgbClr val="FFD85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73" name="Google Shape;473;p8"/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474" name="Google Shape;474;p8"/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5" name="Google Shape;475;p8"/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ko-KR" sz="1200" u="none" cap="none" strike="noStrike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!</a:t>
                </a:r>
                <a:endParaRPr b="1" i="0" sz="12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6" name="Google Shape;476;p8"/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fmla="val 63525" name="adj1"/>
              <a:gd fmla="val 8173" name="adj2"/>
            </a:avLst>
          </a:prstGeom>
          <a:noFill/>
          <a:ln cap="rnd" cmpd="sng" w="15875">
            <a:solidFill>
              <a:srgbClr val="BFBFBF">
                <a:alpha val="86275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8"/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b="1" i="0" sz="24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수행 경과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8" name="Google Shape;478;p8"/>
          <p:cNvGrpSpPr/>
          <p:nvPr/>
        </p:nvGrpSpPr>
        <p:grpSpPr>
          <a:xfrm>
            <a:off x="2628179" y="3661000"/>
            <a:ext cx="9221535" cy="673099"/>
            <a:chOff x="2654691" y="3661000"/>
            <a:chExt cx="9221535" cy="673099"/>
          </a:xfrm>
        </p:grpSpPr>
        <p:sp>
          <p:nvSpPr>
            <p:cNvPr id="479" name="Google Shape;479;p8"/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0" name="Google Shape;480;p8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81" name="Google Shape;481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2" name="Google Shape;482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3" name="Google Shape;483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4" name="Google Shape;484;p8"/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과정이 잘 드러날 수 있도록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가공 과정부터 활용까지 전체적인 프로세스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단계별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작성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8"/>
          <p:cNvGrpSpPr/>
          <p:nvPr/>
        </p:nvGrpSpPr>
        <p:grpSpPr>
          <a:xfrm>
            <a:off x="2628179" y="4597922"/>
            <a:ext cx="9105466" cy="673099"/>
            <a:chOff x="2654691" y="4597922"/>
            <a:chExt cx="9105466" cy="673099"/>
          </a:xfrm>
        </p:grpSpPr>
        <p:sp>
          <p:nvSpPr>
            <p:cNvPr id="486" name="Google Shape;486;p8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7" name="Google Shape;487;p8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88" name="Google Shape;488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0" name="Google Shape;490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" name="Google Shape;491;p8"/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과정에서의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피드백 내용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그것을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적용(보완 등)한 내용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8"/>
          <p:cNvGrpSpPr/>
          <p:nvPr/>
        </p:nvGrpSpPr>
        <p:grpSpPr>
          <a:xfrm>
            <a:off x="2628179" y="2724078"/>
            <a:ext cx="9105466" cy="673099"/>
            <a:chOff x="2654691" y="2724078"/>
            <a:chExt cx="9105466" cy="673099"/>
          </a:xfrm>
        </p:grpSpPr>
        <p:sp>
          <p:nvSpPr>
            <p:cNvPr id="493" name="Google Shape;493;p8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4" name="Google Shape;494;p8"/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결과를 서술하는 과정에서는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활용된 기술 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방법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핵심기능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결과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등을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상세히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작성</a:t>
              </a:r>
              <a:endParaRPr b="0" i="0" sz="14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5" name="Google Shape;495;p8"/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빅데이터 직종의 경우 정확도 등</a:t>
              </a:r>
              <a:endParaRPr b="0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6" name="Google Shape;496;p8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497" name="Google Shape;497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8" name="Google Shape;498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9" name="Google Shape;499;p8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0" name="Google Shape;500;p8"/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01" name="Google Shape;501;p8"/>
          <p:cNvGrpSpPr/>
          <p:nvPr/>
        </p:nvGrpSpPr>
        <p:grpSpPr>
          <a:xfrm>
            <a:off x="2628179" y="5534844"/>
            <a:ext cx="9105466" cy="673099"/>
            <a:chOff x="2654691" y="5534844"/>
            <a:chExt cx="9105466" cy="673099"/>
          </a:xfrm>
        </p:grpSpPr>
        <p:sp>
          <p:nvSpPr>
            <p:cNvPr id="502" name="Google Shape;502;p8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03" name="Google Shape;503;p8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504" name="Google Shape;504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5" name="Google Shape;505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333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6" name="Google Shape;506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ko-KR" sz="16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8"/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결과물을 잘 드러낼 수 있는 자료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b="1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</a:t>
              </a:r>
              <a:r>
                <a:rPr b="0" i="0" lang="ko-KR" sz="14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하여 작성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8"/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 사진, 시연 영상, 구동 화면 등 프로젝트의 우수성이 드러날 수 있는 자료</a:t>
              </a:r>
              <a:endParaRPr b="0" i="0" sz="12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 자료 예시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0" name="Google Shape;510;p8"/>
          <p:cNvPicPr preferRelativeResize="0"/>
          <p:nvPr/>
        </p:nvPicPr>
        <p:blipFill rotWithShape="1">
          <a:blip r:embed="rId6">
            <a:alphaModFix/>
          </a:blip>
          <a:srcRect b="17803" l="0" r="0" t="0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8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12" name="Google Shape;512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5" name="Google Shape;515;p8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16" name="Google Shape;516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24" name="Google Shape;524;p9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25" name="Google Shape;525;p9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6" name="Google Shape;526;p9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9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p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9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" name="Google Shape;530;p9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31" name="Google Shape;531;p9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학습 데이터 소개 (Train/dev set)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3" name="Google Shape;533;p9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① 탐색적 분석 및 전처리</a:t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4" name="Google Shape;534;p9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5" name="Google Shape;535;p9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36" name="Google Shape;53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8" name="Google Shape;538;p9"/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: Okt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Regular Expression : 불용어가 많아 필수 한글, 영어, 숫자만 추출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 : 단어 임베딩(Glove) – 단어 사이 문맥상 유사성 이해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Vocabulary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9"/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LG CNS KORQUAD 질의응답 형식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Context : 10,645개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QA 쌍 : 66,181개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960" y="3741700"/>
            <a:ext cx="4110349" cy="247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41" name="Google Shape;54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8159" y="3767684"/>
            <a:ext cx="2045691" cy="231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70014" y="4560935"/>
            <a:ext cx="1816710" cy="200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4533" y="4182580"/>
            <a:ext cx="2173901" cy="16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1" name="Google Shape;551;p1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52" name="Google Shape;552;p1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3" name="Google Shape;553;p1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1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1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58" name="Google Shape;558;p1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23F4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9" name="Google Shape;559;p10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60" name="Google Shape;560;p10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② 모델 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1" name="Google Shape;561;p10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2" name="Google Shape;562;p1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63" name="Google Shape;56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5" name="Google Shape;565;p10"/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루프를 순환하면서 주어진 입력에 관한 신경망 출력을 방지하기 위해 고안된 순환 신경망(RNN: Recurrent Neural Network)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6" name="Google Shape;566;p10"/>
          <p:cNvGrpSpPr/>
          <p:nvPr/>
        </p:nvGrpSpPr>
        <p:grpSpPr>
          <a:xfrm>
            <a:off x="3277543" y="2910825"/>
            <a:ext cx="5035964" cy="3631951"/>
            <a:chOff x="648075" y="0"/>
            <a:chExt cx="5035964" cy="3631951"/>
          </a:xfrm>
        </p:grpSpPr>
        <p:sp>
          <p:nvSpPr>
            <p:cNvPr id="567" name="Google Shape;567;p10"/>
            <p:cNvSpPr/>
            <p:nvPr/>
          </p:nvSpPr>
          <p:spPr>
            <a:xfrm>
              <a:off x="2404255" y="0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lnTo>
                    <a:pt x="8412" y="60000"/>
                  </a:ln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3"/>
                    <a:pt x="107126" y="25773"/>
                    <a:pt x="111044" y="52526"/>
                  </a:cubicBezTo>
                  <a:cubicBezTo>
                    <a:pt x="114961" y="79279"/>
                    <a:pt x="97559" y="104517"/>
                    <a:pt x="71162" y="110367"/>
                  </a:cubicBezTo>
                  <a:lnTo>
                    <a:pt x="70593" y="118429"/>
                  </a:lnTo>
                  <a:lnTo>
                    <a:pt x="56830" y="104890"/>
                  </a:lnTo>
                  <a:lnTo>
                    <a:pt x="72706" y="88508"/>
                  </a:lnTo>
                  <a:lnTo>
                    <a:pt x="72145" y="96445"/>
                  </a:lnTo>
                  <a:cubicBezTo>
                    <a:pt x="90761" y="90240"/>
                    <a:pt x="101708" y="70999"/>
                    <a:pt x="97532" y="51824"/>
                  </a:cubicBezTo>
                  <a:cubicBezTo>
                    <a:pt x="93356" y="32649"/>
                    <a:pt x="75399" y="19705"/>
                    <a:pt x="55889" y="21805"/>
                  </a:cubicBezTo>
                  <a:cubicBezTo>
                    <a:pt x="36379" y="23906"/>
                    <a:pt x="21588" y="40375"/>
                    <a:pt x="21588" y="6000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0"/>
            <p:cNvSpPr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0"/>
            <p:cNvSpPr txBox="1"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문단과 질의간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유사도 측정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(모델 학습)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0"/>
            <p:cNvSpPr/>
            <p:nvPr/>
          </p:nvSpPr>
          <p:spPr>
            <a:xfrm>
              <a:off x="1918711" y="1004597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96481" y="23524"/>
                  </a:moveTo>
                  <a:lnTo>
                    <a:pt x="87165" y="32840"/>
                  </a:lnTo>
                  <a:lnTo>
                    <a:pt x="87165" y="32840"/>
                  </a:lnTo>
                  <a:cubicBezTo>
                    <a:pt x="75945" y="21617"/>
                    <a:pt x="58981" y="18448"/>
                    <a:pt x="44467" y="24866"/>
                  </a:cubicBezTo>
                  <a:cubicBezTo>
                    <a:pt x="29954" y="31283"/>
                    <a:pt x="20881" y="45964"/>
                    <a:pt x="21631" y="61816"/>
                  </a:cubicBezTo>
                  <a:cubicBezTo>
                    <a:pt x="22381" y="77668"/>
                    <a:pt x="32801" y="91427"/>
                    <a:pt x="47855" y="96445"/>
                  </a:cubicBezTo>
                  <a:lnTo>
                    <a:pt x="47294" y="88508"/>
                  </a:lnTo>
                  <a:lnTo>
                    <a:pt x="63170" y="104890"/>
                  </a:lnTo>
                  <a:lnTo>
                    <a:pt x="49407" y="118429"/>
                  </a:lnTo>
                  <a:lnTo>
                    <a:pt x="48838" y="110367"/>
                  </a:lnTo>
                  <a:lnTo>
                    <a:pt x="48838" y="110367"/>
                  </a:lnTo>
                  <a:cubicBezTo>
                    <a:pt x="27395" y="105615"/>
                    <a:pt x="11311" y="87806"/>
                    <a:pt x="8761" y="65990"/>
                  </a:cubicBezTo>
                  <a:cubicBezTo>
                    <a:pt x="6211" y="44174"/>
                    <a:pt x="17753" y="23136"/>
                    <a:pt x="37522" y="13566"/>
                  </a:cubicBezTo>
                  <a:cubicBezTo>
                    <a:pt x="57291" y="3995"/>
                    <a:pt x="80952" y="7992"/>
                    <a:pt x="96481" y="23524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0"/>
            <p:cNvSpPr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0"/>
            <p:cNvSpPr txBox="1"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신규 질문 입력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2528678" y="2129413"/>
              <a:ext cx="1501936" cy="1502538"/>
            </a:xfrm>
            <a:prstGeom prst="blockArc">
              <a:avLst>
                <a:gd fmla="val 13500000" name="adj1"/>
                <a:gd fmla="val 10800000" name="adj2"/>
                <a:gd fmla="val 12740" name="adj3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0"/>
            <p:cNvSpPr txBox="1"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유사도 측정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algun Gothic"/>
                <a:buNone/>
              </a:pPr>
              <a:r>
                <a:rPr b="0" i="0" lang="ko-KR" sz="1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(해당 문단 제시)</a:t>
              </a:r>
              <a:endPara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82" name="Google Shape;582;p11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83" name="Google Shape;583;p11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4" name="Google Shape;584;p11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6" name="Google Shape;586;p1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8" name="Google Shape;588;p11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589" name="Google Shape;589;p11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91" name="Google Shape;591;p11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③ 모델 선정 및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2" name="Google Shape;592;p11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3" name="Google Shape;593;p11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94" name="Google Shape;594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5" name="Google Shape;595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https://i.imgur.com/NV7jQ0X.png" id="596" name="Google Shape;59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746" y="3140968"/>
            <a:ext cx="4957365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1"/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2Layer LSTM : 문단, 질문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코사인 유사도(문서) </a:t>
            </a:r>
            <a:endParaRPr b="0" i="0" sz="1600" u="none" cap="none" strike="noStrike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5" name="Google Shape;605;p12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06" name="Google Shape;606;p12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7" name="Google Shape;607;p12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p1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p12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12" name="Google Shape;612;p12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2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14" name="Google Shape;614;p12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④ 모델 평가 및 개선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15" name="Google Shape;615;p12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6" name="Google Shape;616;p12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17" name="Google Shape;61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9" name="Google Shape;61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2"/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3Layer LSTM 으로 변경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옵티마이저 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: Adam -&gt;‘rmsprop’로 변경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&gt;&gt; 학습속도 및 유사도 개선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28" name="Google Shape;628;p13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29" name="Google Shape;629;p13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0" name="Google Shape;630;p13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2" name="Google Shape;632;p1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13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35" name="Google Shape;635;p13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발표 영상이 아닌 세부 기능 소개, 화면 구동 및 기능 동작 여부 시연영상으로 제작한다.</a:t>
              </a:r>
              <a:endParaRPr b="1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6" name="Google Shape;636;p13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37" name="Google Shape;637;p13"/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⑤ 시연 동영상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38" name="Google Shape;638;p13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9" name="Google Shape;639;p13"/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640" name="Google Shape;640;p13"/>
            <p:cNvSpPr/>
            <p:nvPr/>
          </p:nvSpPr>
          <p:spPr>
            <a:xfrm>
              <a:off x="541890" y="2074230"/>
              <a:ext cx="11218265" cy="4263070"/>
            </a:xfrm>
            <a:custGeom>
              <a:rect b="b" l="l" r="r" t="t"/>
              <a:pathLst>
                <a:path extrusionOk="0" h="4167182" w="7434265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641" name="Google Shape;641;p13"/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642" name="Google Shape;642;p13"/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rect b="b" l="l" r="r" t="t"/>
                <a:pathLst>
                  <a:path extrusionOk="0" h="488280" w="419805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49412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rect b="b" l="l" r="r" t="t"/>
                <a:pathLst>
                  <a:path extrusionOk="0" h="1213444" w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49412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44" name="Google Shape;644;p13"/>
            <p:cNvGrpSpPr/>
            <p:nvPr/>
          </p:nvGrpSpPr>
          <p:grpSpPr>
            <a:xfrm>
              <a:off x="912084" y="5964402"/>
              <a:ext cx="8282388" cy="167173"/>
              <a:chOff x="912084" y="5964402"/>
              <a:chExt cx="8282388" cy="167173"/>
            </a:xfrm>
          </p:grpSpPr>
          <p:sp>
            <p:nvSpPr>
              <p:cNvPr id="645" name="Google Shape;645;p13"/>
              <p:cNvSpPr/>
              <p:nvPr/>
            </p:nvSpPr>
            <p:spPr>
              <a:xfrm>
                <a:off x="912084" y="5978804"/>
                <a:ext cx="128993" cy="152771"/>
              </a:xfrm>
              <a:custGeom>
                <a:rect b="b" l="l" r="r" t="t"/>
                <a:pathLst>
                  <a:path extrusionOk="0" h="152771" w="128993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rect b="b" l="l" r="r" t="t"/>
                <a:pathLst>
                  <a:path extrusionOk="0" h="152771" w="130944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rect b="b" l="l" r="r" t="t"/>
                <a:pathLst>
                  <a:path extrusionOk="0" h="165888" w="2764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rect b="b" l="l" r="r" t="t"/>
                <a:pathLst>
                  <a:path extrusionOk="0" h="35328" w="446977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49" name="Google Shape;649;p13"/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650" name="Google Shape;650;p13"/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rect b="b" l="l" r="r" t="t"/>
                  <a:pathLst>
                    <a:path extrusionOk="0" h="35328" w="3012106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69412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1" name="Google Shape;651;p13"/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rect b="b" l="l" r="r" t="t"/>
                  <a:pathLst>
                    <a:path extrusionOk="0" h="35328" w="476161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29412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52" name="Google Shape;652;p13"/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rect b="b" l="l" r="r" t="t"/>
                <a:pathLst>
                  <a:path extrusionOk="0" h="79381" w="79380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53" name="Google Shape;653;p13"/>
              <p:cNvGrpSpPr/>
              <p:nvPr/>
            </p:nvGrpSpPr>
            <p:grpSpPr>
              <a:xfrm>
                <a:off x="8547047" y="5992327"/>
                <a:ext cx="647425" cy="101806"/>
                <a:chOff x="5477907" y="5945239"/>
                <a:chExt cx="647425" cy="101806"/>
              </a:xfrm>
            </p:grpSpPr>
            <p:sp>
              <p:nvSpPr>
                <p:cNvPr id="654" name="Google Shape;654;p13"/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5" name="Google Shape;655;p13"/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6" name="Google Shape;656;p13"/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rect b="b" l="l" r="r" t="t"/>
                  <a:pathLst>
                    <a:path extrusionOk="0" h="91269" w="30474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7" name="Google Shape;657;p13"/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8" name="Google Shape;658;p13"/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rect b="b" l="l" r="r" t="t"/>
                  <a:pathLst>
                    <a:path extrusionOk="0" h="101806" w="48722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9" name="Google Shape;659;p13"/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rect b="b" l="l" r="r" t="t"/>
                  <a:pathLst>
                    <a:path extrusionOk="0" h="92805" w="5827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0" name="Google Shape;660;p13"/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1" name="Google Shape;661;p13"/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rect b="b" l="l" r="r" t="t"/>
                  <a:pathLst>
                    <a:path extrusionOk="0" h="94372" w="57016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663" name="Google Shape;663;p13"/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664" name="Google Shape;664;p13"/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rect b="b" l="l" r="r" t="t"/>
                <a:pathLst>
                  <a:path extrusionOk="0" h="36925" w="491583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rect b="b" l="l" r="r" t="t"/>
                <a:pathLst>
                  <a:path extrusionOk="0" h="36864" w="124447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29412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rect b="b" l="l" r="r" t="t"/>
                <a:pathLst>
                  <a:path extrusionOk="0" h="61440" w="4608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rect b="b" l="l" r="r" t="t"/>
                <a:pathLst>
                  <a:path extrusionOk="0" h="164444" w="46080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rect b="b" l="l" r="r" t="t"/>
                <a:pathLst>
                  <a:path extrusionOk="0" h="168776" w="7088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69" name="Google Shape;669;p13"/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</p:grpSpPr>
            <p:sp>
              <p:nvSpPr>
                <p:cNvPr id="670" name="Google Shape;670;p13"/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rect b="b" l="l" r="r" t="t"/>
                  <a:pathLst>
                    <a:path extrusionOk="0" h="76784" w="28707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71" name="Google Shape;671;p13"/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rect b="b" l="l" r="r" t="t"/>
                  <a:pathLst>
                    <a:path extrusionOk="0" h="10122" w="353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72" name="Google Shape;672;p13"/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rect b="b" l="l" r="r" t="t"/>
                <a:pathLst>
                  <a:path extrusionOk="0" h="89963" w="91177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rect b="b" l="l" r="r" t="t"/>
                <a:pathLst>
                  <a:path extrusionOk="0" h="91423" w="89979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rect b="b" l="l" r="r" t="t"/>
                <a:pathLst>
                  <a:path extrusionOk="0" h="197115" w="197084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rect b="b" l="l" r="r" t="t"/>
                <a:pathLst>
                  <a:path extrusionOk="0" h="79381" w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676" name="Google Shape;676;p13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77" name="Google Shape;67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8" name="Google Shape;678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9" name="Google Shape;679;p13"/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용량제한: 팀별 5-10분 내(100MB 이하), 기능별 소개 음성 포함, 별도 파일형태로 제출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14"/>
          <p:cNvPicPr preferRelativeResize="0"/>
          <p:nvPr/>
        </p:nvPicPr>
        <p:blipFill rotWithShape="1">
          <a:blip r:embed="rId4">
            <a:alphaModFix/>
          </a:blip>
          <a:srcRect b="22185" l="1" r="2095" t="0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14"/>
          <p:cNvPicPr preferRelativeResize="0"/>
          <p:nvPr/>
        </p:nvPicPr>
        <p:blipFill rotWithShape="1">
          <a:blip r:embed="rId5">
            <a:alphaModFix/>
          </a:blip>
          <a:srcRect b="0" l="0" r="51762" t="5760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4941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8" name="Google Shape;688;p14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89" name="Google Shape;689;p14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ko-KR" sz="12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i="0" sz="1200" u="none" cap="none" strike="noStrike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0" name="Google Shape;690;p14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ko-KR" sz="2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00"/>
                <a:buFont typeface="Arial"/>
                <a:buNone/>
              </a:pPr>
              <a:r>
                <a:rPr b="0" i="0" lang="ko-KR" sz="5400" u="none" cap="none" strike="noStrike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i="0" sz="4400" u="none" cap="none" strike="noStrike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2" name="Google Shape;692;p14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3" name="Google Shape;693;p14"/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694" name="Google Shape;694;p14"/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프로젝트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 의도와의 부합 정도 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실무 활용 가능 정도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달성도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훈련생의 자체적인 평가 의견과 느낀</a:t>
              </a:r>
              <a:r>
                <a:rPr b="0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점</a:t>
              </a:r>
              <a:r>
                <a:rPr b="0" i="0" lang="ko-KR" sz="1800" u="none" cap="none" strike="noStrike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작성한다.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96" name="Google Shape;696;p1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8" name="Google Shape;698;p14"/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699" name="Google Shape;699;p14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41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0" name="Google Shape;700;p14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1" name="Google Shape;701;p14"/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r>
                <a:rPr b="0" i="0" lang="ko-KR" sz="16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(10점 만점)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2" name="Google Shape;702;p14"/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703" name="Google Shape;703;p14"/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51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4" name="Google Shape;704;p14"/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5" name="Google Shape;705;p14"/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ko-KR" sz="1800" u="none" cap="none" strike="noStrike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개선점이나 보완할 점</a:t>
              </a:r>
              <a:r>
                <a:rPr b="1" i="0" lang="ko-KR" sz="1800" u="none" cap="none" strike="noStrike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 내용 정리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6" name="Google Shape;706;p14"/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707" name="Google Shape;707;p14"/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2941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8" name="Google Shape;708;p14"/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9" name="Google Shape;709;p14"/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ko-KR" sz="1800" u="none" cap="none" strike="noStrike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r>
                <a:rPr b="0" i="0" lang="ko-KR" sz="16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(경력 계획 등과 연관) </a:t>
              </a:r>
              <a:endParaRPr b="0" i="0" sz="1800" u="none" cap="none" strike="noStrike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10" name="Google Shape;710;p14"/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711" name="Google Shape;711;p14"/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4314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51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2" name="Google Shape;712;p14"/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3" name="Google Shape;713;p14"/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ko-KR" sz="18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b="1" i="0" lang="ko-KR" sz="1800" u="none" cap="none" strike="noStrike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b="1" i="0" sz="1800" u="none" cap="none" strike="noStrike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4" name="Google Shape;714;p14"/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평가 결과, 정확도가 00.00%로</a:t>
              </a:r>
              <a:b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-KR" sz="1200" u="none" cap="none" strike="noStrik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향상을 위해 모델 추후 개선 필요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5" name="Google Shape;715;p14"/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ko-KR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예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6" name="Google Shape;7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7" name="Google Shape;717;p14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718" name="Google Shape;718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9" name="Google Shape;719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2023-12-20T03:00:25Z</dcterms:created>
  <dc:creator>김준영</dc:creator>
</cp:coreProperties>
</file>