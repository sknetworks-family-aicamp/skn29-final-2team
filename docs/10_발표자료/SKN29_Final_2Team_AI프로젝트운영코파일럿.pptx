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6858000" cy="12192000"/>
  <p:embeddedFontLst>
    <p:embeddedFont>
      <p:font typeface="Pretendard" panose="02000503000000020004" pitchFamily="2" charset="-127"/>
      <p:regular r:id="rId46"/>
      <p:bold r:id="rId47"/>
    </p:embeddedFont>
    <p:embeddedFont>
      <p:font typeface="Pretendard Light" panose="02000403000000020004" pitchFamily="2" charset="-127"/>
      <p:regular r:id="rId48"/>
    </p:embeddedFont>
    <p:embeddedFont>
      <p:font typeface="Consolas" panose="020B0609020204030204" pitchFamily="49" charset="0"/>
      <p:regular r:id="rId49"/>
      <p:bold r:id="rId50"/>
      <p:italic r:id="rId51"/>
      <p:boldItalic r:id="rId5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42424" autoAdjust="0"/>
  </p:normalViewPr>
  <p:slideViewPr>
    <p:cSldViewPr snapToGrid="0" snapToObjects="1">
      <p:cViewPr varScale="1">
        <p:scale>
          <a:sx n="47" d="100"/>
          <a:sy n="47" d="100"/>
        </p:scale>
        <p:origin x="299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333038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[1장 · </a:t>
            </a:r>
            <a:r>
              <a:rPr dirty="0" err="1"/>
              <a:t>표지</a:t>
            </a:r>
            <a:r>
              <a:rPr dirty="0"/>
              <a:t>]</a:t>
            </a:r>
          </a:p>
          <a:p>
            <a:endParaRPr dirty="0"/>
          </a:p>
          <a:p>
            <a:r>
              <a:rPr dirty="0" err="1"/>
              <a:t>안녕하십니까</a:t>
            </a:r>
            <a:r>
              <a:rPr dirty="0"/>
              <a:t>.</a:t>
            </a:r>
          </a:p>
          <a:p>
            <a:endParaRPr dirty="0"/>
          </a:p>
          <a:p>
            <a:r>
              <a:rPr lang="ko-KR" altLang="en-US" dirty="0"/>
              <a:t>발표를 맡은 </a:t>
            </a:r>
            <a:r>
              <a:rPr dirty="0"/>
              <a:t>HALI</a:t>
            </a:r>
            <a:r>
              <a:rPr lang="en-US" dirty="0"/>
              <a:t>L </a:t>
            </a:r>
            <a:r>
              <a:rPr lang="ko-KR" altLang="en-US" dirty="0"/>
              <a:t>팀의</a:t>
            </a:r>
            <a:r>
              <a:rPr dirty="0"/>
              <a:t> </a:t>
            </a:r>
            <a:r>
              <a:rPr dirty="0" err="1"/>
              <a:t>임준입니다</a:t>
            </a:r>
            <a:r>
              <a:rPr dirty="0"/>
              <a:t>.</a:t>
            </a:r>
          </a:p>
          <a:p>
            <a:endParaRPr dirty="0"/>
          </a:p>
          <a:p>
            <a:r>
              <a:rPr dirty="0" err="1"/>
              <a:t>저희</a:t>
            </a:r>
            <a:r>
              <a:rPr dirty="0"/>
              <a:t> </a:t>
            </a:r>
            <a:r>
              <a:rPr dirty="0" err="1"/>
              <a:t>팀은</a:t>
            </a:r>
            <a:r>
              <a:rPr dirty="0"/>
              <a:t> 「AI </a:t>
            </a:r>
            <a:r>
              <a:rPr dirty="0" err="1"/>
              <a:t>프로젝트</a:t>
            </a:r>
            <a:r>
              <a:rPr dirty="0"/>
              <a:t> </a:t>
            </a:r>
            <a:r>
              <a:rPr dirty="0" err="1"/>
              <a:t>운영</a:t>
            </a:r>
            <a:r>
              <a:rPr dirty="0"/>
              <a:t> </a:t>
            </a:r>
            <a:r>
              <a:rPr dirty="0" err="1"/>
              <a:t>코파일럿」이라는</a:t>
            </a:r>
            <a:r>
              <a:rPr dirty="0"/>
              <a:t> </a:t>
            </a:r>
            <a:r>
              <a:rPr dirty="0" err="1"/>
              <a:t>주제로</a:t>
            </a:r>
            <a:r>
              <a:rPr dirty="0"/>
              <a:t>, </a:t>
            </a:r>
            <a:r>
              <a:rPr dirty="0" err="1"/>
              <a:t>업무를</a:t>
            </a:r>
            <a:r>
              <a:rPr dirty="0"/>
              <a:t> </a:t>
            </a:r>
            <a:r>
              <a:rPr dirty="0" err="1"/>
              <a:t>누구에게</a:t>
            </a:r>
            <a:r>
              <a:rPr dirty="0"/>
              <a:t> </a:t>
            </a:r>
            <a:r>
              <a:rPr dirty="0" err="1"/>
              <a:t>맡길지</a:t>
            </a:r>
            <a:r>
              <a:rPr dirty="0"/>
              <a:t> </a:t>
            </a:r>
            <a:r>
              <a:rPr dirty="0" err="1"/>
              <a:t>판단할</a:t>
            </a:r>
            <a:r>
              <a:rPr dirty="0"/>
              <a:t> 때 그 </a:t>
            </a:r>
            <a:r>
              <a:rPr dirty="0" err="1"/>
              <a:t>근거를</a:t>
            </a:r>
            <a:r>
              <a:rPr dirty="0"/>
              <a:t> </a:t>
            </a:r>
            <a:r>
              <a:rPr dirty="0" err="1"/>
              <a:t>제공하는</a:t>
            </a:r>
            <a:r>
              <a:rPr dirty="0"/>
              <a:t> </a:t>
            </a:r>
            <a:r>
              <a:rPr dirty="0" err="1"/>
              <a:t>시스템을</a:t>
            </a:r>
            <a:r>
              <a:rPr dirty="0"/>
              <a:t> </a:t>
            </a:r>
            <a:r>
              <a:rPr dirty="0" err="1"/>
              <a:t>만들고</a:t>
            </a:r>
            <a:r>
              <a:rPr dirty="0"/>
              <a:t> </a:t>
            </a:r>
            <a:r>
              <a:rPr dirty="0" err="1"/>
              <a:t>있습니다</a:t>
            </a:r>
            <a:r>
              <a:rPr dirty="0"/>
              <a:t>.</a:t>
            </a:r>
          </a:p>
          <a:p>
            <a:endParaRPr dirty="0"/>
          </a:p>
          <a:p>
            <a:r>
              <a:rPr dirty="0"/>
              <a:t>▪ </a:t>
            </a:r>
            <a:r>
              <a:rPr dirty="0" err="1"/>
              <a:t>요점</a:t>
            </a:r>
            <a:endParaRPr dirty="0"/>
          </a:p>
          <a:p>
            <a:r>
              <a:rPr dirty="0"/>
              <a:t>· </a:t>
            </a:r>
            <a:r>
              <a:rPr dirty="0" err="1"/>
              <a:t>팀명</a:t>
            </a:r>
            <a:r>
              <a:rPr dirty="0"/>
              <a:t> · </a:t>
            </a:r>
            <a:r>
              <a:rPr dirty="0" err="1"/>
              <a:t>이름</a:t>
            </a:r>
            <a:r>
              <a:rPr dirty="0"/>
              <a:t> · 한 줄 </a:t>
            </a:r>
            <a:r>
              <a:rPr dirty="0" err="1"/>
              <a:t>정의</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[2장 · </a:t>
            </a:r>
            <a:r>
              <a:rPr dirty="0" err="1"/>
              <a:t>목차</a:t>
            </a:r>
            <a:r>
              <a:rPr dirty="0"/>
              <a:t>]</a:t>
            </a:r>
          </a:p>
          <a:p>
            <a:endParaRPr dirty="0"/>
          </a:p>
          <a:p>
            <a:r>
              <a:rPr dirty="0" err="1"/>
              <a:t>오늘은</a:t>
            </a:r>
            <a:r>
              <a:rPr dirty="0"/>
              <a:t> </a:t>
            </a:r>
            <a:r>
              <a:rPr dirty="0" err="1"/>
              <a:t>일곱</a:t>
            </a:r>
            <a:r>
              <a:rPr dirty="0"/>
              <a:t> </a:t>
            </a:r>
            <a:r>
              <a:rPr dirty="0" err="1"/>
              <a:t>부분으로</a:t>
            </a:r>
            <a:r>
              <a:rPr dirty="0"/>
              <a:t> </a:t>
            </a:r>
            <a:r>
              <a:rPr dirty="0" err="1"/>
              <a:t>말씀드리겠습니다</a:t>
            </a:r>
            <a:r>
              <a:rPr dirty="0"/>
              <a:t>.</a:t>
            </a:r>
          </a:p>
          <a:p>
            <a:endParaRPr dirty="0"/>
          </a:p>
          <a:p>
            <a:r>
              <a:rPr dirty="0" err="1"/>
              <a:t>문제와</a:t>
            </a:r>
            <a:r>
              <a:rPr dirty="0"/>
              <a:t> </a:t>
            </a:r>
            <a:r>
              <a:rPr dirty="0" err="1"/>
              <a:t>목표</a:t>
            </a:r>
            <a:r>
              <a:rPr dirty="0"/>
              <a:t>, </a:t>
            </a:r>
            <a:r>
              <a:rPr dirty="0" err="1"/>
              <a:t>시스템</a:t>
            </a:r>
            <a:r>
              <a:rPr dirty="0"/>
              <a:t> </a:t>
            </a:r>
            <a:r>
              <a:rPr dirty="0" err="1"/>
              <a:t>구성</a:t>
            </a:r>
            <a:r>
              <a:rPr dirty="0"/>
              <a:t>, </a:t>
            </a:r>
            <a:r>
              <a:rPr dirty="0" err="1"/>
              <a:t>그리고</a:t>
            </a:r>
            <a:r>
              <a:rPr dirty="0"/>
              <a:t> </a:t>
            </a:r>
            <a:r>
              <a:rPr dirty="0" err="1"/>
              <a:t>저희가</a:t>
            </a:r>
            <a:r>
              <a:rPr dirty="0"/>
              <a:t> </a:t>
            </a:r>
            <a:r>
              <a:rPr dirty="0" err="1"/>
              <a:t>가장</a:t>
            </a:r>
            <a:r>
              <a:rPr dirty="0"/>
              <a:t> </a:t>
            </a:r>
            <a:r>
              <a:rPr dirty="0" err="1"/>
              <a:t>많은</a:t>
            </a:r>
            <a:r>
              <a:rPr dirty="0"/>
              <a:t> </a:t>
            </a:r>
            <a:r>
              <a:rPr dirty="0" err="1"/>
              <a:t>시간을</a:t>
            </a:r>
            <a:r>
              <a:rPr dirty="0"/>
              <a:t> </a:t>
            </a:r>
            <a:r>
              <a:rPr dirty="0" err="1"/>
              <a:t>쏟은</a:t>
            </a:r>
            <a:r>
              <a:rPr dirty="0"/>
              <a:t> </a:t>
            </a:r>
            <a:r>
              <a:rPr dirty="0" err="1"/>
              <a:t>비정형</a:t>
            </a:r>
            <a:r>
              <a:rPr dirty="0"/>
              <a:t> </a:t>
            </a:r>
            <a:r>
              <a:rPr dirty="0" err="1"/>
              <a:t>문서</a:t>
            </a:r>
            <a:r>
              <a:rPr dirty="0"/>
              <a:t> </a:t>
            </a:r>
            <a:r>
              <a:rPr dirty="0" err="1"/>
              <a:t>처리</a:t>
            </a:r>
            <a:r>
              <a:rPr dirty="0"/>
              <a:t>, </a:t>
            </a:r>
            <a:r>
              <a:rPr dirty="0" err="1"/>
              <a:t>업무량과</a:t>
            </a:r>
            <a:r>
              <a:rPr dirty="0"/>
              <a:t> </a:t>
            </a:r>
            <a:r>
              <a:rPr dirty="0" err="1"/>
              <a:t>업무</a:t>
            </a:r>
            <a:r>
              <a:rPr dirty="0"/>
              <a:t> </a:t>
            </a:r>
            <a:r>
              <a:rPr dirty="0" err="1"/>
              <a:t>추출</a:t>
            </a:r>
            <a:r>
              <a:rPr dirty="0"/>
              <a:t>, </a:t>
            </a:r>
            <a:r>
              <a:rPr dirty="0" err="1"/>
              <a:t>현황과</a:t>
            </a:r>
            <a:r>
              <a:rPr dirty="0"/>
              <a:t> </a:t>
            </a:r>
            <a:r>
              <a:rPr dirty="0" err="1"/>
              <a:t>계획</a:t>
            </a:r>
            <a:r>
              <a:rPr dirty="0"/>
              <a:t>, </a:t>
            </a:r>
            <a:r>
              <a:rPr dirty="0" err="1"/>
              <a:t>중간</a:t>
            </a:r>
            <a:r>
              <a:rPr dirty="0"/>
              <a:t> </a:t>
            </a:r>
            <a:r>
              <a:rPr dirty="0" err="1"/>
              <a:t>결과</a:t>
            </a:r>
            <a:r>
              <a:rPr dirty="0"/>
              <a:t> </a:t>
            </a:r>
            <a:r>
              <a:rPr dirty="0" err="1"/>
              <a:t>순입니다</a:t>
            </a:r>
            <a:r>
              <a:rPr dirty="0"/>
              <a:t>.</a:t>
            </a:r>
          </a:p>
          <a:p>
            <a:endParaRPr dirty="0"/>
          </a:p>
          <a:p>
            <a:r>
              <a:rPr dirty="0"/>
              <a:t>▪ </a:t>
            </a:r>
            <a:r>
              <a:rPr dirty="0" err="1"/>
              <a:t>요점</a:t>
            </a:r>
            <a:endParaRPr dirty="0"/>
          </a:p>
          <a:p>
            <a:r>
              <a:rPr dirty="0"/>
              <a:t>· ▸ "</a:t>
            </a:r>
            <a:r>
              <a:rPr dirty="0" err="1"/>
              <a:t>가장</a:t>
            </a:r>
            <a:r>
              <a:rPr dirty="0"/>
              <a:t> </a:t>
            </a:r>
            <a:r>
              <a:rPr dirty="0" err="1"/>
              <a:t>많은</a:t>
            </a:r>
            <a:r>
              <a:rPr dirty="0"/>
              <a:t> </a:t>
            </a:r>
            <a:r>
              <a:rPr dirty="0" err="1"/>
              <a:t>시간을</a:t>
            </a:r>
            <a:r>
              <a:rPr dirty="0"/>
              <a:t> </a:t>
            </a:r>
            <a:r>
              <a:rPr dirty="0" err="1"/>
              <a:t>쏟은</a:t>
            </a:r>
            <a:r>
              <a:rPr dirty="0"/>
              <a:t> </a:t>
            </a:r>
            <a:r>
              <a:rPr dirty="0" err="1"/>
              <a:t>비정형</a:t>
            </a:r>
            <a:r>
              <a:rPr dirty="0"/>
              <a:t> </a:t>
            </a:r>
            <a:r>
              <a:rPr dirty="0" err="1"/>
              <a:t>문서</a:t>
            </a:r>
            <a:r>
              <a:rPr dirty="0"/>
              <a:t> </a:t>
            </a:r>
            <a:r>
              <a:rPr dirty="0" err="1"/>
              <a:t>처리</a:t>
            </a:r>
            <a:r>
              <a:rPr dirty="0"/>
              <a:t>" — </a:t>
            </a:r>
            <a:r>
              <a:rPr dirty="0" err="1"/>
              <a:t>여기서</a:t>
            </a:r>
            <a:r>
              <a:rPr dirty="0"/>
              <a:t> </a:t>
            </a:r>
            <a:r>
              <a:rPr dirty="0" err="1"/>
              <a:t>미리</a:t>
            </a:r>
            <a:r>
              <a:rPr dirty="0"/>
              <a:t> </a:t>
            </a:r>
            <a:r>
              <a:rPr dirty="0" err="1"/>
              <a:t>무게를</a:t>
            </a:r>
            <a:r>
              <a:rPr dirty="0"/>
              <a:t> </a:t>
            </a:r>
            <a:r>
              <a:rPr dirty="0" err="1"/>
              <a:t>실어둡니다</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[3장 · 팀 </a:t>
            </a:r>
            <a:r>
              <a:rPr dirty="0" err="1"/>
              <a:t>구성</a:t>
            </a:r>
            <a:r>
              <a:rPr dirty="0"/>
              <a:t> 및 </a:t>
            </a:r>
            <a:r>
              <a:rPr dirty="0" err="1"/>
              <a:t>역할</a:t>
            </a:r>
            <a:r>
              <a:rPr dirty="0"/>
              <a:t>]</a:t>
            </a:r>
          </a:p>
          <a:p>
            <a:endParaRPr dirty="0"/>
          </a:p>
          <a:p>
            <a:r>
              <a:rPr lang="ko-KR" altLang="en-US" dirty="0"/>
              <a:t>팀원은 총 </a:t>
            </a:r>
            <a:r>
              <a:rPr dirty="0" err="1"/>
              <a:t>다섯</a:t>
            </a:r>
            <a:r>
              <a:rPr dirty="0"/>
              <a:t> </a:t>
            </a:r>
            <a:r>
              <a:rPr dirty="0" err="1"/>
              <a:t>명이고</a:t>
            </a:r>
            <a:r>
              <a:rPr dirty="0"/>
              <a:t>, </a:t>
            </a:r>
            <a:r>
              <a:rPr lang="ko-KR" altLang="en-US" dirty="0"/>
              <a:t>역할을 나누어 각각의 업무를 담당 하였습니다</a:t>
            </a:r>
            <a:r>
              <a:rPr lang="en-US" altLang="ko-KR" dirty="0"/>
              <a:t>.</a:t>
            </a:r>
          </a:p>
          <a:p>
            <a:endParaRPr lang="en-US" altLang="ko-KR" dirty="0"/>
          </a:p>
          <a:p>
            <a:r>
              <a:rPr dirty="0" err="1"/>
              <a:t>저희는</a:t>
            </a:r>
            <a:r>
              <a:rPr dirty="0"/>
              <a:t> </a:t>
            </a:r>
            <a:r>
              <a:rPr dirty="0" err="1"/>
              <a:t>먼저</a:t>
            </a:r>
            <a:r>
              <a:rPr dirty="0"/>
              <a:t> </a:t>
            </a:r>
            <a:r>
              <a:rPr dirty="0" err="1"/>
              <a:t>설계</a:t>
            </a:r>
            <a:r>
              <a:rPr dirty="0"/>
              <a:t> </a:t>
            </a:r>
            <a:r>
              <a:rPr dirty="0" err="1"/>
              <a:t>문서로</a:t>
            </a:r>
            <a:r>
              <a:rPr dirty="0"/>
              <a:t> </a:t>
            </a:r>
            <a:r>
              <a:rPr dirty="0" err="1"/>
              <a:t>합의한</a:t>
            </a:r>
            <a:r>
              <a:rPr dirty="0"/>
              <a:t> </a:t>
            </a:r>
            <a:r>
              <a:rPr dirty="0" err="1"/>
              <a:t>다음</a:t>
            </a:r>
            <a:r>
              <a:rPr dirty="0"/>
              <a:t> </a:t>
            </a:r>
            <a:r>
              <a:rPr dirty="0" err="1"/>
              <a:t>병렬로</a:t>
            </a:r>
            <a:r>
              <a:rPr dirty="0"/>
              <a:t> </a:t>
            </a:r>
            <a:r>
              <a:rPr dirty="0" err="1"/>
              <a:t>구현하고</a:t>
            </a:r>
            <a:r>
              <a:rPr dirty="0"/>
              <a:t>, </a:t>
            </a:r>
            <a:r>
              <a:rPr dirty="0" err="1"/>
              <a:t>마지막에</a:t>
            </a:r>
            <a:r>
              <a:rPr dirty="0"/>
              <a:t> </a:t>
            </a:r>
            <a:r>
              <a:rPr dirty="0" err="1"/>
              <a:t>설계</a:t>
            </a:r>
            <a:r>
              <a:rPr dirty="0"/>
              <a:t> </a:t>
            </a:r>
            <a:r>
              <a:rPr dirty="0" err="1"/>
              <a:t>문서와</a:t>
            </a:r>
            <a:r>
              <a:rPr dirty="0"/>
              <a:t> </a:t>
            </a:r>
            <a:r>
              <a:rPr dirty="0" err="1"/>
              <a:t>대조해</a:t>
            </a:r>
            <a:r>
              <a:rPr dirty="0"/>
              <a:t> </a:t>
            </a:r>
            <a:r>
              <a:rPr dirty="0" err="1"/>
              <a:t>정합성을</a:t>
            </a:r>
            <a:r>
              <a:rPr dirty="0"/>
              <a:t> </a:t>
            </a:r>
            <a:r>
              <a:rPr dirty="0" err="1"/>
              <a:t>점검하는</a:t>
            </a:r>
            <a:r>
              <a:rPr dirty="0"/>
              <a:t> </a:t>
            </a:r>
            <a:r>
              <a:rPr dirty="0" err="1"/>
              <a:t>방식으로</a:t>
            </a:r>
            <a:r>
              <a:rPr dirty="0"/>
              <a:t> </a:t>
            </a:r>
            <a:r>
              <a:rPr dirty="0" err="1"/>
              <a:t>진행했습니다</a:t>
            </a:r>
            <a:r>
              <a:rPr dirty="0"/>
              <a:t>.</a:t>
            </a:r>
          </a:p>
          <a:p>
            <a:endParaRPr dirty="0"/>
          </a:p>
          <a:p>
            <a:r>
              <a:rPr dirty="0"/>
              <a:t>▪ </a:t>
            </a:r>
            <a:r>
              <a:rPr dirty="0" err="1"/>
              <a:t>요점</a:t>
            </a:r>
            <a:endParaRPr dirty="0"/>
          </a:p>
          <a:p>
            <a:r>
              <a:rPr dirty="0"/>
              <a:t>· </a:t>
            </a:r>
            <a:r>
              <a:rPr dirty="0" err="1"/>
              <a:t>이름·담당</a:t>
            </a:r>
            <a:r>
              <a:rPr dirty="0"/>
              <a:t> 한 </a:t>
            </a:r>
            <a:r>
              <a:rPr dirty="0" err="1"/>
              <a:t>번씩</a:t>
            </a:r>
            <a:r>
              <a:rPr dirty="0"/>
              <a:t> / ▸ </a:t>
            </a:r>
            <a:r>
              <a:rPr dirty="0" err="1"/>
              <a:t>설계</a:t>
            </a:r>
            <a:r>
              <a:rPr dirty="0"/>
              <a:t> </a:t>
            </a:r>
            <a:r>
              <a:rPr dirty="0" err="1"/>
              <a:t>문서</a:t>
            </a:r>
            <a:r>
              <a:rPr dirty="0"/>
              <a:t> → </a:t>
            </a:r>
            <a:r>
              <a:rPr dirty="0" err="1"/>
              <a:t>병렬</a:t>
            </a:r>
            <a:r>
              <a:rPr dirty="0"/>
              <a:t> </a:t>
            </a:r>
            <a:r>
              <a:rPr dirty="0" err="1"/>
              <a:t>구현</a:t>
            </a:r>
            <a:r>
              <a:rPr dirty="0"/>
              <a:t> → </a:t>
            </a:r>
            <a:r>
              <a:rPr dirty="0" err="1"/>
              <a:t>정합성</a:t>
            </a:r>
            <a:r>
              <a:rPr dirty="0"/>
              <a:t> </a:t>
            </a:r>
            <a:r>
              <a:rPr dirty="0" err="1"/>
              <a:t>점검</a:t>
            </a:r>
            <a:endParaRPr dirty="0"/>
          </a:p>
          <a:p>
            <a:endParaRPr dirty="0"/>
          </a:p>
          <a:p>
            <a:r>
              <a:rPr dirty="0"/>
              <a:t>─────────────  </a:t>
            </a:r>
            <a:r>
              <a:rPr dirty="0" err="1"/>
              <a:t>배경</a:t>
            </a:r>
            <a:r>
              <a:rPr dirty="0"/>
              <a:t> · </a:t>
            </a:r>
            <a:r>
              <a:rPr dirty="0" err="1"/>
              <a:t>질의응답</a:t>
            </a:r>
            <a:r>
              <a:rPr dirty="0"/>
              <a:t> </a:t>
            </a:r>
            <a:r>
              <a:rPr dirty="0" err="1"/>
              <a:t>대비</a:t>
            </a:r>
            <a:r>
              <a:rPr dirty="0"/>
              <a:t>  ─────────────</a:t>
            </a:r>
          </a:p>
          <a:p>
            <a:endParaRPr dirty="0"/>
          </a:p>
          <a:p>
            <a:r>
              <a:rPr dirty="0" err="1"/>
              <a:t>담당</a:t>
            </a:r>
            <a:r>
              <a:rPr dirty="0"/>
              <a:t> </a:t>
            </a:r>
            <a:r>
              <a:rPr dirty="0" err="1"/>
              <a:t>영역은</a:t>
            </a:r>
            <a:r>
              <a:rPr dirty="0"/>
              <a:t> git </a:t>
            </a:r>
            <a:r>
              <a:rPr dirty="0" err="1"/>
              <a:t>이력</a:t>
            </a:r>
            <a:r>
              <a:rPr dirty="0"/>
              <a:t>(189커밋, 7/20~8/5) </a:t>
            </a:r>
            <a:r>
              <a:rPr dirty="0" err="1"/>
              <a:t>기준으로</a:t>
            </a:r>
            <a:r>
              <a:rPr dirty="0"/>
              <a:t> </a:t>
            </a:r>
            <a:r>
              <a:rPr dirty="0" err="1"/>
              <a:t>정리했다</a:t>
            </a:r>
            <a:r>
              <a:rPr dirty="0"/>
              <a:t>.</a:t>
            </a:r>
          </a:p>
          <a:p>
            <a:r>
              <a:rPr dirty="0" err="1"/>
              <a:t>개인</a:t>
            </a:r>
            <a:r>
              <a:rPr dirty="0"/>
              <a:t> </a:t>
            </a:r>
            <a:r>
              <a:rPr dirty="0" err="1"/>
              <a:t>브랜치는</a:t>
            </a:r>
            <a:r>
              <a:rPr dirty="0"/>
              <a:t> </a:t>
            </a:r>
            <a:r>
              <a:rPr dirty="0" err="1"/>
              <a:t>전부</a:t>
            </a:r>
            <a:r>
              <a:rPr dirty="0"/>
              <a:t> </a:t>
            </a:r>
            <a:r>
              <a:rPr dirty="0" err="1"/>
              <a:t>main에</a:t>
            </a:r>
            <a:r>
              <a:rPr dirty="0"/>
              <a:t> </a:t>
            </a:r>
            <a:r>
              <a:rPr dirty="0" err="1"/>
              <a:t>머지돼</a:t>
            </a:r>
            <a:r>
              <a:rPr dirty="0"/>
              <a:t> </a:t>
            </a:r>
            <a:r>
              <a:rPr dirty="0" err="1"/>
              <a:t>있어</a:t>
            </a:r>
            <a:r>
              <a:rPr dirty="0"/>
              <a:t> </a:t>
            </a:r>
            <a:r>
              <a:rPr dirty="0" err="1"/>
              <a:t>누락된</a:t>
            </a:r>
            <a:r>
              <a:rPr dirty="0"/>
              <a:t> </a:t>
            </a:r>
            <a:r>
              <a:rPr dirty="0" err="1"/>
              <a:t>작업은</a:t>
            </a:r>
            <a:r>
              <a:rPr dirty="0"/>
              <a:t> </a:t>
            </a:r>
            <a:r>
              <a:rPr dirty="0" err="1"/>
              <a:t>없다</a:t>
            </a:r>
            <a:r>
              <a:rPr dirty="0"/>
              <a:t>.</a:t>
            </a:r>
          </a:p>
          <a:p>
            <a:r>
              <a:rPr dirty="0" err="1"/>
              <a:t>커밋</a:t>
            </a:r>
            <a:r>
              <a:rPr dirty="0"/>
              <a:t> </a:t>
            </a:r>
            <a:r>
              <a:rPr dirty="0" err="1"/>
              <a:t>수는</a:t>
            </a:r>
            <a:r>
              <a:rPr dirty="0"/>
              <a:t> </a:t>
            </a:r>
            <a:r>
              <a:rPr dirty="0" err="1"/>
              <a:t>저장소</a:t>
            </a:r>
            <a:r>
              <a:rPr dirty="0"/>
              <a:t> </a:t>
            </a:r>
            <a:r>
              <a:rPr dirty="0" err="1"/>
              <a:t>기준이라</a:t>
            </a:r>
            <a:r>
              <a:rPr dirty="0"/>
              <a:t> </a:t>
            </a:r>
            <a:r>
              <a:rPr dirty="0" err="1"/>
              <a:t>그대로</a:t>
            </a:r>
            <a:r>
              <a:rPr dirty="0"/>
              <a:t> </a:t>
            </a:r>
            <a:r>
              <a:rPr dirty="0" err="1"/>
              <a:t>읽으면</a:t>
            </a:r>
            <a:r>
              <a:rPr dirty="0"/>
              <a:t> 안 </a:t>
            </a:r>
            <a:r>
              <a:rPr dirty="0" err="1"/>
              <a:t>된다</a:t>
            </a:r>
            <a:r>
              <a:rPr dirty="0"/>
              <a:t> — </a:t>
            </a:r>
            <a:r>
              <a:rPr dirty="0" err="1"/>
              <a:t>최원빈의</a:t>
            </a:r>
            <a:r>
              <a:rPr dirty="0"/>
              <a:t> </a:t>
            </a:r>
            <a:r>
              <a:rPr dirty="0" err="1"/>
              <a:t>파싱·청킹·임베딩</a:t>
            </a:r>
            <a:r>
              <a:rPr dirty="0"/>
              <a:t> </a:t>
            </a:r>
            <a:r>
              <a:rPr dirty="0" err="1"/>
              <a:t>작업은</a:t>
            </a:r>
            <a:r>
              <a:rPr dirty="0"/>
              <a:t> </a:t>
            </a:r>
            <a:r>
              <a:rPr dirty="0" err="1"/>
              <a:t>별도</a:t>
            </a:r>
            <a:r>
              <a:rPr dirty="0"/>
              <a:t> </a:t>
            </a:r>
            <a:r>
              <a:rPr dirty="0" err="1"/>
              <a:t>저장소</a:t>
            </a:r>
            <a:r>
              <a:rPr dirty="0"/>
              <a:t>(choiwon10/SKN29-RUNPOD-WORKER)에 </a:t>
            </a:r>
            <a:r>
              <a:rPr dirty="0" err="1"/>
              <a:t>있고</a:t>
            </a:r>
            <a:r>
              <a:rPr dirty="0"/>
              <a:t> 이 </a:t>
            </a:r>
            <a:r>
              <a:rPr dirty="0" err="1"/>
              <a:t>저장소의</a:t>
            </a:r>
            <a:r>
              <a:rPr dirty="0"/>
              <a:t> </a:t>
            </a:r>
            <a:r>
              <a:rPr dirty="0" err="1"/>
              <a:t>runpod_worker</a:t>
            </a:r>
            <a:r>
              <a:rPr dirty="0"/>
              <a:t>/는 </a:t>
            </a:r>
            <a:r>
              <a:rPr dirty="0" err="1"/>
              <a:t>읽기용</a:t>
            </a:r>
            <a:r>
              <a:rPr dirty="0"/>
              <a:t> </a:t>
            </a:r>
            <a:r>
              <a:rPr dirty="0" err="1"/>
              <a:t>사본이다</a:t>
            </a:r>
            <a:r>
              <a:rPr dirty="0"/>
              <a:t>.</a:t>
            </a:r>
          </a:p>
          <a:p>
            <a:r>
              <a:rPr dirty="0" err="1"/>
              <a:t>성주연은</a:t>
            </a:r>
            <a:r>
              <a:rPr dirty="0"/>
              <a:t> </a:t>
            </a:r>
            <a:r>
              <a:rPr dirty="0" err="1"/>
              <a:t>운영자</a:t>
            </a:r>
            <a:r>
              <a:rPr dirty="0"/>
              <a:t> </a:t>
            </a:r>
            <a:r>
              <a:rPr dirty="0" err="1"/>
              <a:t>콘솔을</a:t>
            </a:r>
            <a:r>
              <a:rPr dirty="0"/>
              <a:t> </a:t>
            </a:r>
            <a:r>
              <a:rPr dirty="0" err="1"/>
              <a:t>백엔드</a:t>
            </a:r>
            <a:r>
              <a:rPr dirty="0"/>
              <a:t>(apps/ops)와 </a:t>
            </a:r>
            <a:r>
              <a:rPr dirty="0" err="1"/>
              <a:t>화면까지</a:t>
            </a:r>
            <a:r>
              <a:rPr dirty="0"/>
              <a:t> </a:t>
            </a:r>
            <a:r>
              <a:rPr dirty="0" err="1"/>
              <a:t>함께</a:t>
            </a:r>
            <a:r>
              <a:rPr dirty="0"/>
              <a:t> </a:t>
            </a:r>
            <a:r>
              <a:rPr dirty="0" err="1"/>
              <a:t>맡았다</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[4장 · 섹션 표지]</a:t>
            </a:r>
          </a:p>
          <a:p>
            <a:endParaRPr/>
          </a:p>
          <a:p>
            <a:r>
              <a:t>먼저 저희가 풀려는 문제부터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[5장 · </a:t>
            </a:r>
            <a:r>
              <a:rPr dirty="0" err="1"/>
              <a:t>문제</a:t>
            </a:r>
            <a:r>
              <a:rPr dirty="0"/>
              <a:t> </a:t>
            </a:r>
            <a:r>
              <a:rPr dirty="0" err="1"/>
              <a:t>상황</a:t>
            </a:r>
            <a:r>
              <a:rPr dirty="0"/>
              <a:t>]</a:t>
            </a:r>
          </a:p>
          <a:p>
            <a:endParaRPr dirty="0"/>
          </a:p>
          <a:p>
            <a:r>
              <a:rPr dirty="0" err="1"/>
              <a:t>직장인</a:t>
            </a:r>
            <a:r>
              <a:rPr dirty="0"/>
              <a:t> 598명에게 </a:t>
            </a:r>
            <a:r>
              <a:rPr dirty="0" err="1"/>
              <a:t>회사</a:t>
            </a:r>
            <a:r>
              <a:rPr dirty="0"/>
              <a:t> </a:t>
            </a:r>
            <a:r>
              <a:rPr dirty="0" err="1"/>
              <a:t>생활에서</a:t>
            </a:r>
            <a:r>
              <a:rPr dirty="0"/>
              <a:t> </a:t>
            </a:r>
            <a:r>
              <a:rPr dirty="0" err="1"/>
              <a:t>가장</a:t>
            </a:r>
            <a:r>
              <a:rPr dirty="0"/>
              <a:t> </a:t>
            </a:r>
            <a:r>
              <a:rPr dirty="0" err="1"/>
              <a:t>애매한</a:t>
            </a:r>
            <a:r>
              <a:rPr dirty="0"/>
              <a:t> </a:t>
            </a:r>
            <a:r>
              <a:rPr dirty="0" err="1"/>
              <a:t>문제가</a:t>
            </a:r>
            <a:r>
              <a:rPr dirty="0"/>
              <a:t> </a:t>
            </a:r>
            <a:r>
              <a:rPr dirty="0" err="1"/>
              <a:t>무엇인지</a:t>
            </a:r>
            <a:r>
              <a:rPr dirty="0"/>
              <a:t> </a:t>
            </a:r>
            <a:r>
              <a:rPr dirty="0" err="1"/>
              <a:t>물었더니</a:t>
            </a:r>
            <a:r>
              <a:rPr dirty="0"/>
              <a:t>, 73.4%가 </a:t>
            </a:r>
            <a:r>
              <a:rPr dirty="0" err="1"/>
              <a:t>업무</a:t>
            </a:r>
            <a:r>
              <a:rPr dirty="0"/>
              <a:t> </a:t>
            </a:r>
            <a:r>
              <a:rPr dirty="0" err="1"/>
              <a:t>분담을</a:t>
            </a:r>
            <a:r>
              <a:rPr dirty="0"/>
              <a:t> 1위로 </a:t>
            </a:r>
            <a:r>
              <a:rPr dirty="0" err="1"/>
              <a:t>꼽았습니다</a:t>
            </a:r>
            <a:r>
              <a:rPr dirty="0"/>
              <a:t>.</a:t>
            </a:r>
          </a:p>
          <a:p>
            <a:endParaRPr dirty="0"/>
          </a:p>
          <a:p>
            <a:r>
              <a:rPr dirty="0"/>
              <a:t>2위인 </a:t>
            </a:r>
            <a:r>
              <a:rPr dirty="0" err="1"/>
              <a:t>출퇴근</a:t>
            </a:r>
            <a:r>
              <a:rPr dirty="0"/>
              <a:t> </a:t>
            </a:r>
            <a:r>
              <a:rPr dirty="0" err="1"/>
              <a:t>시간</a:t>
            </a:r>
            <a:r>
              <a:rPr dirty="0"/>
              <a:t> 8.9%, </a:t>
            </a:r>
            <a:r>
              <a:rPr dirty="0" err="1"/>
              <a:t>회식</a:t>
            </a:r>
            <a:r>
              <a:rPr dirty="0"/>
              <a:t> </a:t>
            </a:r>
            <a:r>
              <a:rPr dirty="0" err="1"/>
              <a:t>참여</a:t>
            </a:r>
            <a:r>
              <a:rPr dirty="0"/>
              <a:t> 7.4%와 </a:t>
            </a:r>
            <a:r>
              <a:rPr dirty="0" err="1"/>
              <a:t>비교하면</a:t>
            </a:r>
            <a:r>
              <a:rPr dirty="0"/>
              <a:t> </a:t>
            </a:r>
            <a:r>
              <a:rPr lang="ko-KR" altLang="en-US" dirty="0"/>
              <a:t>굉장히 </a:t>
            </a:r>
            <a:r>
              <a:rPr dirty="0" err="1"/>
              <a:t>압도적입니다</a:t>
            </a:r>
            <a:r>
              <a:rPr dirty="0"/>
              <a:t>.</a:t>
            </a:r>
          </a:p>
          <a:p>
            <a:endParaRPr dirty="0"/>
          </a:p>
          <a:p>
            <a:r>
              <a:rPr dirty="0" err="1"/>
              <a:t>그리고</a:t>
            </a:r>
            <a:r>
              <a:rPr dirty="0"/>
              <a:t> </a:t>
            </a:r>
            <a:r>
              <a:rPr dirty="0" err="1"/>
              <a:t>다른</a:t>
            </a:r>
            <a:r>
              <a:rPr dirty="0"/>
              <a:t> </a:t>
            </a:r>
            <a:r>
              <a:rPr dirty="0" err="1"/>
              <a:t>조사에서</a:t>
            </a:r>
            <a:r>
              <a:rPr dirty="0"/>
              <a:t> </a:t>
            </a:r>
            <a:r>
              <a:rPr dirty="0" err="1"/>
              <a:t>팀원</a:t>
            </a:r>
            <a:r>
              <a:rPr dirty="0"/>
              <a:t> </a:t>
            </a:r>
            <a:r>
              <a:rPr dirty="0" err="1"/>
              <a:t>개개인의</a:t>
            </a:r>
            <a:r>
              <a:rPr dirty="0"/>
              <a:t> </a:t>
            </a:r>
            <a:r>
              <a:rPr dirty="0" err="1"/>
              <a:t>업무량이</a:t>
            </a:r>
            <a:r>
              <a:rPr dirty="0"/>
              <a:t> </a:t>
            </a:r>
            <a:r>
              <a:rPr dirty="0" err="1"/>
              <a:t>공정하다고</a:t>
            </a:r>
            <a:r>
              <a:rPr dirty="0"/>
              <a:t> </a:t>
            </a:r>
            <a:r>
              <a:rPr dirty="0" err="1"/>
              <a:t>느끼는</a:t>
            </a:r>
            <a:r>
              <a:rPr dirty="0"/>
              <a:t> </a:t>
            </a:r>
            <a:r>
              <a:rPr dirty="0" err="1"/>
              <a:t>사람은</a:t>
            </a:r>
            <a:r>
              <a:rPr dirty="0"/>
              <a:t> 7.9%뿐이었습니다.</a:t>
            </a:r>
          </a:p>
          <a:p>
            <a:endParaRPr dirty="0"/>
          </a:p>
          <a:p>
            <a:r>
              <a:rPr dirty="0" err="1"/>
              <a:t>여기서</a:t>
            </a:r>
            <a:r>
              <a:rPr dirty="0"/>
              <a:t> </a:t>
            </a:r>
            <a:r>
              <a:rPr dirty="0" err="1"/>
              <a:t>저희가</a:t>
            </a:r>
            <a:r>
              <a:rPr dirty="0"/>
              <a:t> </a:t>
            </a:r>
            <a:r>
              <a:rPr dirty="0" err="1"/>
              <a:t>주목한</a:t>
            </a:r>
            <a:r>
              <a:rPr dirty="0"/>
              <a:t> 건 </a:t>
            </a:r>
            <a:r>
              <a:rPr dirty="0" err="1"/>
              <a:t>마지막</a:t>
            </a:r>
            <a:r>
              <a:rPr dirty="0"/>
              <a:t> </a:t>
            </a:r>
            <a:r>
              <a:rPr dirty="0" err="1"/>
              <a:t>줄입니다</a:t>
            </a:r>
            <a:r>
              <a:rPr dirty="0"/>
              <a:t>.</a:t>
            </a:r>
          </a:p>
          <a:p>
            <a:endParaRPr dirty="0"/>
          </a:p>
          <a:p>
            <a:r>
              <a:rPr dirty="0" err="1"/>
              <a:t>불공정하다고</a:t>
            </a:r>
            <a:r>
              <a:rPr dirty="0"/>
              <a:t> </a:t>
            </a:r>
            <a:r>
              <a:rPr dirty="0" err="1"/>
              <a:t>느낀</a:t>
            </a:r>
            <a:r>
              <a:rPr dirty="0"/>
              <a:t> </a:t>
            </a:r>
            <a:r>
              <a:rPr dirty="0" err="1"/>
              <a:t>이유</a:t>
            </a:r>
            <a:r>
              <a:rPr dirty="0"/>
              <a:t> 1위가 </a:t>
            </a:r>
            <a:r>
              <a:rPr dirty="0" err="1"/>
              <a:t>역량도</a:t>
            </a:r>
            <a:r>
              <a:rPr dirty="0"/>
              <a:t> </a:t>
            </a:r>
            <a:r>
              <a:rPr dirty="0" err="1"/>
              <a:t>업무량도</a:t>
            </a:r>
            <a:r>
              <a:rPr dirty="0"/>
              <a:t> </a:t>
            </a:r>
            <a:r>
              <a:rPr dirty="0" err="1"/>
              <a:t>아닌</a:t>
            </a:r>
            <a:r>
              <a:rPr dirty="0"/>
              <a:t> 「</a:t>
            </a:r>
            <a:r>
              <a:rPr dirty="0" err="1"/>
              <a:t>팀장과의</a:t>
            </a:r>
            <a:r>
              <a:rPr dirty="0"/>
              <a:t> </a:t>
            </a:r>
            <a:r>
              <a:rPr dirty="0" err="1"/>
              <a:t>관계</a:t>
            </a:r>
            <a:r>
              <a:rPr dirty="0"/>
              <a:t>」 46% </a:t>
            </a:r>
            <a:r>
              <a:rPr dirty="0" err="1"/>
              <a:t>였습니다</a:t>
            </a:r>
            <a:r>
              <a:rPr dirty="0"/>
              <a:t>.</a:t>
            </a:r>
          </a:p>
          <a:p>
            <a:endParaRPr dirty="0"/>
          </a:p>
          <a:p>
            <a:r>
              <a:rPr dirty="0"/>
              <a:t>▪ </a:t>
            </a:r>
            <a:r>
              <a:rPr dirty="0" err="1"/>
              <a:t>요점</a:t>
            </a:r>
            <a:endParaRPr dirty="0"/>
          </a:p>
          <a:p>
            <a:r>
              <a:rPr dirty="0"/>
              <a:t>· 73.4% → 7.9% → ▸ </a:t>
            </a:r>
            <a:r>
              <a:rPr dirty="0" err="1"/>
              <a:t>불공정</a:t>
            </a:r>
            <a:r>
              <a:rPr dirty="0"/>
              <a:t> </a:t>
            </a:r>
            <a:r>
              <a:rPr dirty="0" err="1"/>
              <a:t>이유</a:t>
            </a:r>
            <a:r>
              <a:rPr dirty="0"/>
              <a:t> 1위가 「</a:t>
            </a:r>
            <a:r>
              <a:rPr dirty="0" err="1"/>
              <a:t>관계</a:t>
            </a:r>
            <a:r>
              <a:rPr dirty="0"/>
              <a:t>」</a:t>
            </a:r>
          </a:p>
          <a:p>
            <a:r>
              <a:rPr dirty="0"/>
              <a:t>· (</a:t>
            </a:r>
            <a:r>
              <a:rPr dirty="0" err="1"/>
              <a:t>주의</a:t>
            </a:r>
            <a:r>
              <a:rPr dirty="0"/>
              <a:t>: 두 </a:t>
            </a:r>
            <a:r>
              <a:rPr dirty="0" err="1"/>
              <a:t>조사는</a:t>
            </a:r>
            <a:r>
              <a:rPr dirty="0"/>
              <a:t> </a:t>
            </a:r>
            <a:r>
              <a:rPr dirty="0" err="1"/>
              <a:t>표본이</a:t>
            </a:r>
            <a:r>
              <a:rPr dirty="0"/>
              <a:t> </a:t>
            </a:r>
            <a:r>
              <a:rPr dirty="0" err="1"/>
              <a:t>다릅니다</a:t>
            </a:r>
            <a:r>
              <a:rPr dirty="0"/>
              <a:t>. </a:t>
            </a:r>
            <a:r>
              <a:rPr dirty="0" err="1"/>
              <a:t>합쳐서</a:t>
            </a:r>
            <a:r>
              <a:rPr dirty="0"/>
              <a:t> </a:t>
            </a:r>
            <a:r>
              <a:rPr dirty="0" err="1"/>
              <a:t>말하지</a:t>
            </a:r>
            <a:r>
              <a:rPr dirty="0"/>
              <a:t> </a:t>
            </a:r>
            <a:r>
              <a:rPr dirty="0" err="1"/>
              <a:t>마세요</a:t>
            </a:r>
            <a:r>
              <a:rPr dirty="0"/>
              <a:t>)</a:t>
            </a:r>
          </a:p>
          <a:p>
            <a:endParaRPr dirty="0"/>
          </a:p>
          <a:p>
            <a:r>
              <a:rPr dirty="0"/>
              <a:t>─────────────  </a:t>
            </a:r>
            <a:r>
              <a:rPr dirty="0" err="1"/>
              <a:t>배경</a:t>
            </a:r>
            <a:r>
              <a:rPr dirty="0"/>
              <a:t> · </a:t>
            </a:r>
            <a:r>
              <a:rPr dirty="0" err="1"/>
              <a:t>질의응답</a:t>
            </a:r>
            <a:r>
              <a:rPr dirty="0"/>
              <a:t> </a:t>
            </a:r>
            <a:r>
              <a:rPr dirty="0" err="1"/>
              <a:t>대비</a:t>
            </a:r>
            <a:r>
              <a:rPr dirty="0"/>
              <a:t>  ─────────────</a:t>
            </a:r>
          </a:p>
          <a:p>
            <a:endParaRPr dirty="0"/>
          </a:p>
          <a:p>
            <a:r>
              <a:rPr dirty="0"/>
              <a:t>두 </a:t>
            </a:r>
            <a:r>
              <a:rPr dirty="0" err="1"/>
              <a:t>조사는</a:t>
            </a:r>
            <a:r>
              <a:rPr dirty="0"/>
              <a:t> </a:t>
            </a:r>
            <a:r>
              <a:rPr dirty="0" err="1"/>
              <a:t>표본과</a:t>
            </a:r>
            <a:r>
              <a:rPr dirty="0"/>
              <a:t> </a:t>
            </a:r>
            <a:r>
              <a:rPr dirty="0" err="1"/>
              <a:t>조사</a:t>
            </a:r>
            <a:r>
              <a:rPr dirty="0"/>
              <a:t> </a:t>
            </a:r>
            <a:r>
              <a:rPr dirty="0" err="1"/>
              <a:t>시점이</a:t>
            </a:r>
            <a:r>
              <a:rPr dirty="0"/>
              <a:t> </a:t>
            </a:r>
            <a:r>
              <a:rPr dirty="0" err="1"/>
              <a:t>서로</a:t>
            </a:r>
            <a:r>
              <a:rPr dirty="0"/>
              <a:t> </a:t>
            </a:r>
            <a:r>
              <a:rPr dirty="0" err="1"/>
              <a:t>다르다</a:t>
            </a:r>
            <a:r>
              <a:rPr dirty="0"/>
              <a:t>.</a:t>
            </a:r>
          </a:p>
          <a:p>
            <a:r>
              <a:rPr dirty="0" err="1"/>
              <a:t>출처</a:t>
            </a:r>
            <a:r>
              <a:rPr dirty="0"/>
              <a:t> ① </a:t>
            </a:r>
            <a:r>
              <a:rPr dirty="0" err="1"/>
              <a:t>이지서베이</a:t>
            </a:r>
            <a:r>
              <a:rPr dirty="0"/>
              <a:t>, </a:t>
            </a:r>
            <a:r>
              <a:rPr dirty="0" err="1"/>
              <a:t>직장인</a:t>
            </a:r>
            <a:r>
              <a:rPr dirty="0"/>
              <a:t> 598명 — 「</a:t>
            </a:r>
            <a:r>
              <a:rPr dirty="0" err="1"/>
              <a:t>회사</a:t>
            </a:r>
            <a:r>
              <a:rPr dirty="0"/>
              <a:t> </a:t>
            </a:r>
            <a:r>
              <a:rPr dirty="0" err="1"/>
              <a:t>생활에서</a:t>
            </a:r>
            <a:r>
              <a:rPr dirty="0"/>
              <a:t> </a:t>
            </a:r>
            <a:r>
              <a:rPr dirty="0" err="1"/>
              <a:t>가장</a:t>
            </a:r>
            <a:r>
              <a:rPr dirty="0"/>
              <a:t> </a:t>
            </a:r>
            <a:r>
              <a:rPr dirty="0" err="1"/>
              <a:t>애매한</a:t>
            </a:r>
            <a:r>
              <a:rPr dirty="0"/>
              <a:t> </a:t>
            </a:r>
            <a:r>
              <a:rPr dirty="0" err="1"/>
              <a:t>문제</a:t>
            </a:r>
            <a:r>
              <a:rPr dirty="0"/>
              <a:t>」 1위 </a:t>
            </a:r>
            <a:r>
              <a:rPr dirty="0" err="1"/>
              <a:t>업무</a:t>
            </a:r>
            <a:r>
              <a:rPr dirty="0"/>
              <a:t> </a:t>
            </a:r>
            <a:r>
              <a:rPr dirty="0" err="1"/>
              <a:t>분담</a:t>
            </a:r>
            <a:r>
              <a:rPr dirty="0"/>
              <a:t> 73.4%(</a:t>
            </a:r>
            <a:r>
              <a:rPr dirty="0" err="1"/>
              <a:t>출퇴근</a:t>
            </a:r>
            <a:r>
              <a:rPr dirty="0"/>
              <a:t> 8.9%, </a:t>
            </a:r>
            <a:r>
              <a:rPr dirty="0" err="1"/>
              <a:t>회식</a:t>
            </a:r>
            <a:r>
              <a:rPr dirty="0"/>
              <a:t> 7.4%), </a:t>
            </a:r>
            <a:r>
              <a:rPr dirty="0" err="1"/>
              <a:t>한국경제</a:t>
            </a:r>
            <a:r>
              <a:rPr dirty="0"/>
              <a:t> </a:t>
            </a:r>
            <a:r>
              <a:rPr dirty="0" err="1"/>
              <a:t>보도</a:t>
            </a:r>
            <a:r>
              <a:rPr dirty="0"/>
              <a:t>.</a:t>
            </a:r>
          </a:p>
          <a:p>
            <a:r>
              <a:rPr dirty="0"/>
              <a:t>② </a:t>
            </a:r>
            <a:r>
              <a:rPr dirty="0" err="1"/>
              <a:t>커리어</a:t>
            </a:r>
            <a:r>
              <a:rPr dirty="0"/>
              <a:t>, </a:t>
            </a:r>
            <a:r>
              <a:rPr dirty="0" err="1"/>
              <a:t>직장인</a:t>
            </a:r>
            <a:r>
              <a:rPr dirty="0"/>
              <a:t> 406명 — </a:t>
            </a:r>
            <a:r>
              <a:rPr dirty="0" err="1"/>
              <a:t>공정하다</a:t>
            </a:r>
            <a:r>
              <a:rPr dirty="0"/>
              <a:t> 7.9% / </a:t>
            </a:r>
            <a:r>
              <a:rPr dirty="0" err="1"/>
              <a:t>때때로</a:t>
            </a:r>
            <a:r>
              <a:rPr dirty="0"/>
              <a:t> </a:t>
            </a:r>
            <a:r>
              <a:rPr dirty="0" err="1"/>
              <a:t>다르다</a:t>
            </a:r>
            <a:r>
              <a:rPr dirty="0"/>
              <a:t> 52.0% / </a:t>
            </a:r>
            <a:r>
              <a:rPr dirty="0" err="1"/>
              <a:t>공정하지</a:t>
            </a:r>
            <a:r>
              <a:rPr dirty="0"/>
              <a:t> </a:t>
            </a:r>
            <a:r>
              <a:rPr dirty="0" err="1"/>
              <a:t>않다</a:t>
            </a:r>
            <a:r>
              <a:rPr dirty="0"/>
              <a:t> 약 40%. </a:t>
            </a:r>
            <a:r>
              <a:rPr dirty="0" err="1"/>
              <a:t>불공정</a:t>
            </a:r>
            <a:r>
              <a:rPr dirty="0"/>
              <a:t> </a:t>
            </a:r>
            <a:r>
              <a:rPr dirty="0" err="1"/>
              <a:t>이유</a:t>
            </a:r>
            <a:r>
              <a:rPr dirty="0"/>
              <a:t> 1위 </a:t>
            </a:r>
            <a:r>
              <a:rPr dirty="0" err="1"/>
              <a:t>팀장과의</a:t>
            </a:r>
            <a:r>
              <a:rPr dirty="0"/>
              <a:t> </a:t>
            </a:r>
            <a:r>
              <a:rPr dirty="0" err="1"/>
              <a:t>관계</a:t>
            </a:r>
            <a:r>
              <a:rPr dirty="0"/>
              <a:t> 46.0%, </a:t>
            </a:r>
            <a:r>
              <a:rPr dirty="0" err="1"/>
              <a:t>능력별</a:t>
            </a:r>
            <a:r>
              <a:rPr dirty="0"/>
              <a:t> 28.8%, </a:t>
            </a:r>
            <a:r>
              <a:rPr dirty="0" err="1"/>
              <a:t>연차·직급별</a:t>
            </a:r>
            <a:r>
              <a:rPr dirty="0"/>
              <a:t> 23.9%, </a:t>
            </a:r>
            <a:r>
              <a:rPr dirty="0" err="1"/>
              <a:t>매거진한경</a:t>
            </a:r>
            <a:r>
              <a:rPr dirty="0"/>
              <a:t> </a:t>
            </a:r>
            <a:r>
              <a:rPr dirty="0" err="1"/>
              <a:t>보도</a:t>
            </a:r>
            <a:r>
              <a:rPr dirty="0"/>
              <a:t>.</a:t>
            </a:r>
          </a:p>
          <a:p>
            <a:r>
              <a:rPr dirty="0"/>
              <a:t>Q&amp;A </a:t>
            </a:r>
            <a:r>
              <a:rPr dirty="0" err="1"/>
              <a:t>예비</a:t>
            </a:r>
            <a:r>
              <a:rPr dirty="0"/>
              <a:t>: Gallup 2025 Q2(</a:t>
            </a:r>
            <a:r>
              <a:rPr dirty="0" err="1"/>
              <a:t>미국</a:t>
            </a:r>
            <a:r>
              <a:rPr dirty="0"/>
              <a:t> </a:t>
            </a:r>
            <a:r>
              <a:rPr dirty="0" err="1"/>
              <a:t>직장인</a:t>
            </a:r>
            <a:r>
              <a:rPr dirty="0"/>
              <a:t> 17,660명) </a:t>
            </a:r>
            <a:r>
              <a:rPr dirty="0" err="1"/>
              <a:t>자신에게</a:t>
            </a:r>
            <a:r>
              <a:rPr dirty="0"/>
              <a:t> </a:t>
            </a:r>
            <a:r>
              <a:rPr dirty="0" err="1"/>
              <a:t>기대되는</a:t>
            </a:r>
            <a:r>
              <a:rPr dirty="0"/>
              <a:t> </a:t>
            </a:r>
            <a:r>
              <a:rPr dirty="0" err="1"/>
              <a:t>바를</a:t>
            </a:r>
            <a:r>
              <a:rPr dirty="0"/>
              <a:t> </a:t>
            </a:r>
            <a:r>
              <a:rPr dirty="0" err="1"/>
              <a:t>안다에</a:t>
            </a:r>
            <a:r>
              <a:rPr dirty="0"/>
              <a:t> </a:t>
            </a:r>
            <a:r>
              <a:rPr dirty="0" err="1"/>
              <a:t>강한</a:t>
            </a:r>
            <a:r>
              <a:rPr dirty="0"/>
              <a:t> </a:t>
            </a:r>
            <a:r>
              <a:rPr dirty="0" err="1"/>
              <a:t>동의</a:t>
            </a:r>
            <a:r>
              <a:rPr dirty="0"/>
              <a:t> 47%. Sawhney et al.(2026) 60년 </a:t>
            </a:r>
            <a:r>
              <a:rPr dirty="0" err="1"/>
              <a:t>메타분석</a:t>
            </a:r>
            <a:r>
              <a:rPr dirty="0"/>
              <a:t> </a:t>
            </a:r>
            <a:r>
              <a:rPr dirty="0" err="1"/>
              <a:t>역할</a:t>
            </a:r>
            <a:r>
              <a:rPr dirty="0"/>
              <a:t> </a:t>
            </a:r>
            <a:r>
              <a:rPr dirty="0" err="1"/>
              <a:t>모호성이</a:t>
            </a:r>
            <a:r>
              <a:rPr dirty="0"/>
              <a:t> </a:t>
            </a:r>
            <a:r>
              <a:rPr dirty="0" err="1"/>
              <a:t>과업</a:t>
            </a:r>
            <a:r>
              <a:rPr dirty="0"/>
              <a:t> </a:t>
            </a:r>
            <a:r>
              <a:rPr dirty="0" err="1"/>
              <a:t>성과를</a:t>
            </a:r>
            <a:r>
              <a:rPr dirty="0"/>
              <a:t> </a:t>
            </a:r>
            <a:r>
              <a:rPr dirty="0" err="1"/>
              <a:t>설명하는</a:t>
            </a:r>
            <a:r>
              <a:rPr dirty="0"/>
              <a:t> </a:t>
            </a:r>
            <a:r>
              <a:rPr dirty="0" err="1"/>
              <a:t>비중</a:t>
            </a:r>
            <a:r>
              <a:rPr dirty="0"/>
              <a:t> 80.7%. Coraggio et al.(2025, JFE) </a:t>
            </a:r>
            <a:r>
              <a:rPr dirty="0" err="1"/>
              <a:t>직원-직무</a:t>
            </a:r>
            <a:r>
              <a:rPr dirty="0"/>
              <a:t> </a:t>
            </a:r>
            <a:r>
              <a:rPr dirty="0" err="1"/>
              <a:t>매칭</a:t>
            </a:r>
            <a:r>
              <a:rPr dirty="0"/>
              <a:t> 1SD </a:t>
            </a:r>
            <a:r>
              <a:rPr dirty="0" err="1"/>
              <a:t>차이에서</a:t>
            </a:r>
            <a:r>
              <a:rPr dirty="0"/>
              <a:t> 1인당 </a:t>
            </a:r>
            <a:r>
              <a:rPr dirty="0" err="1"/>
              <a:t>부가가치</a:t>
            </a:r>
            <a:r>
              <a:rPr dirty="0"/>
              <a:t> +6%.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[6장 · </a:t>
            </a:r>
            <a:r>
              <a:rPr dirty="0" err="1"/>
              <a:t>그로</a:t>
            </a:r>
            <a:r>
              <a:rPr dirty="0"/>
              <a:t> </a:t>
            </a:r>
            <a:r>
              <a:rPr dirty="0" err="1"/>
              <a:t>인해</a:t>
            </a:r>
            <a:r>
              <a:rPr dirty="0"/>
              <a:t> </a:t>
            </a:r>
            <a:r>
              <a:rPr dirty="0" err="1"/>
              <a:t>발생하는</a:t>
            </a:r>
            <a:r>
              <a:rPr dirty="0"/>
              <a:t> </a:t>
            </a:r>
            <a:r>
              <a:rPr dirty="0" err="1"/>
              <a:t>문제</a:t>
            </a:r>
            <a:r>
              <a:rPr dirty="0"/>
              <a:t>]</a:t>
            </a:r>
          </a:p>
          <a:p>
            <a:endParaRPr dirty="0"/>
          </a:p>
          <a:p>
            <a:r>
              <a:rPr dirty="0"/>
              <a:t>왜 </a:t>
            </a:r>
            <a:r>
              <a:rPr dirty="0" err="1"/>
              <a:t>관계로</a:t>
            </a:r>
            <a:r>
              <a:rPr dirty="0"/>
              <a:t> </a:t>
            </a:r>
            <a:r>
              <a:rPr dirty="0" err="1"/>
              <a:t>정해질까요</a:t>
            </a:r>
            <a:r>
              <a:rPr dirty="0"/>
              <a:t>.</a:t>
            </a:r>
          </a:p>
          <a:p>
            <a:endParaRPr dirty="0"/>
          </a:p>
          <a:p>
            <a:r>
              <a:rPr dirty="0" err="1"/>
              <a:t>저희가</a:t>
            </a:r>
            <a:r>
              <a:rPr dirty="0"/>
              <a:t> 본 </a:t>
            </a:r>
            <a:r>
              <a:rPr dirty="0" err="1"/>
              <a:t>원인은</a:t>
            </a:r>
            <a:r>
              <a:rPr dirty="0"/>
              <a:t> 두 </a:t>
            </a:r>
            <a:r>
              <a:rPr dirty="0" err="1"/>
              <a:t>가지입니다</a:t>
            </a:r>
            <a:r>
              <a:rPr dirty="0"/>
              <a:t>.</a:t>
            </a:r>
          </a:p>
          <a:p>
            <a:endParaRPr dirty="0"/>
          </a:p>
          <a:p>
            <a:r>
              <a:rPr dirty="0"/>
              <a:t>첫</a:t>
            </a:r>
            <a:r>
              <a:rPr lang="ko-KR" altLang="en-US" dirty="0"/>
              <a:t>번</a:t>
            </a:r>
            <a:r>
              <a:rPr dirty="0"/>
              <a:t>째, 이 </a:t>
            </a:r>
            <a:r>
              <a:rPr dirty="0" err="1"/>
              <a:t>업무에</a:t>
            </a:r>
            <a:r>
              <a:rPr dirty="0"/>
              <a:t> </a:t>
            </a:r>
            <a:r>
              <a:rPr dirty="0" err="1"/>
              <a:t>어떤</a:t>
            </a:r>
            <a:r>
              <a:rPr dirty="0"/>
              <a:t> </a:t>
            </a:r>
            <a:r>
              <a:rPr dirty="0" err="1"/>
              <a:t>역할과</a:t>
            </a:r>
            <a:r>
              <a:rPr dirty="0"/>
              <a:t> </a:t>
            </a:r>
            <a:r>
              <a:rPr dirty="0" err="1"/>
              <a:t>역량이</a:t>
            </a:r>
            <a:r>
              <a:rPr dirty="0"/>
              <a:t> </a:t>
            </a:r>
            <a:r>
              <a:rPr dirty="0" err="1"/>
              <a:t>필요한지가</a:t>
            </a:r>
            <a:r>
              <a:rPr dirty="0"/>
              <a:t> </a:t>
            </a:r>
            <a:r>
              <a:rPr lang="ko-KR" altLang="en-US" dirty="0"/>
              <a:t>정확하게 </a:t>
            </a:r>
            <a:r>
              <a:rPr dirty="0" err="1"/>
              <a:t>정의되어</a:t>
            </a:r>
            <a:r>
              <a:rPr dirty="0"/>
              <a:t> </a:t>
            </a:r>
            <a:r>
              <a:rPr dirty="0" err="1"/>
              <a:t>있지</a:t>
            </a:r>
            <a:r>
              <a:rPr dirty="0"/>
              <a:t> </a:t>
            </a:r>
            <a:r>
              <a:rPr dirty="0" err="1"/>
              <a:t>않습니다</a:t>
            </a:r>
            <a:r>
              <a:rPr dirty="0"/>
              <a:t>.</a:t>
            </a:r>
          </a:p>
          <a:p>
            <a:endParaRPr dirty="0"/>
          </a:p>
          <a:p>
            <a:r>
              <a:rPr lang="ko-KR" altLang="en-US" dirty="0"/>
              <a:t>두번째</a:t>
            </a:r>
            <a:r>
              <a:rPr dirty="0"/>
              <a:t>, </a:t>
            </a:r>
            <a:r>
              <a:rPr dirty="0" err="1"/>
              <a:t>사람의</a:t>
            </a:r>
            <a:r>
              <a:rPr dirty="0"/>
              <a:t> </a:t>
            </a:r>
            <a:r>
              <a:rPr dirty="0" err="1"/>
              <a:t>역량과</a:t>
            </a:r>
            <a:r>
              <a:rPr dirty="0"/>
              <a:t> </a:t>
            </a:r>
            <a:r>
              <a:rPr dirty="0" err="1"/>
              <a:t>경험</a:t>
            </a:r>
            <a:r>
              <a:rPr dirty="0"/>
              <a:t>, </a:t>
            </a:r>
            <a:r>
              <a:rPr dirty="0" err="1"/>
              <a:t>남은</a:t>
            </a:r>
            <a:r>
              <a:rPr dirty="0"/>
              <a:t> </a:t>
            </a:r>
            <a:r>
              <a:rPr dirty="0" err="1"/>
              <a:t>시간을</a:t>
            </a:r>
            <a:r>
              <a:rPr dirty="0"/>
              <a:t> </a:t>
            </a:r>
            <a:r>
              <a:rPr dirty="0" err="1"/>
              <a:t>비교할</a:t>
            </a:r>
            <a:r>
              <a:rPr dirty="0"/>
              <a:t> </a:t>
            </a:r>
            <a:r>
              <a:rPr lang="ko-KR" altLang="en-US" dirty="0"/>
              <a:t>기준이</a:t>
            </a:r>
            <a:r>
              <a:rPr dirty="0"/>
              <a:t> </a:t>
            </a:r>
            <a:r>
              <a:rPr dirty="0" err="1"/>
              <a:t>없습니다</a:t>
            </a:r>
            <a:r>
              <a:rPr dirty="0"/>
              <a:t>.</a:t>
            </a:r>
          </a:p>
          <a:p>
            <a:endParaRPr dirty="0"/>
          </a:p>
          <a:p>
            <a:r>
              <a:rPr dirty="0" err="1"/>
              <a:t>판단할</a:t>
            </a:r>
            <a:r>
              <a:rPr dirty="0"/>
              <a:t> </a:t>
            </a:r>
            <a:r>
              <a:rPr dirty="0" err="1"/>
              <a:t>재료가</a:t>
            </a:r>
            <a:r>
              <a:rPr dirty="0"/>
              <a:t> </a:t>
            </a:r>
            <a:r>
              <a:rPr dirty="0" err="1"/>
              <a:t>없으니</a:t>
            </a:r>
            <a:r>
              <a:rPr dirty="0"/>
              <a:t> </a:t>
            </a:r>
            <a:r>
              <a:rPr dirty="0" err="1"/>
              <a:t>PM은</a:t>
            </a:r>
            <a:r>
              <a:rPr dirty="0"/>
              <a:t> </a:t>
            </a:r>
            <a:r>
              <a:rPr dirty="0" err="1"/>
              <a:t>결국</a:t>
            </a:r>
            <a:r>
              <a:rPr dirty="0"/>
              <a:t> </a:t>
            </a:r>
            <a:r>
              <a:rPr dirty="0" err="1"/>
              <a:t>기억에</a:t>
            </a:r>
            <a:r>
              <a:rPr dirty="0"/>
              <a:t> </a:t>
            </a:r>
            <a:r>
              <a:rPr dirty="0" err="1"/>
              <a:t>의존합니다</a:t>
            </a:r>
            <a:r>
              <a:rPr dirty="0"/>
              <a:t>.</a:t>
            </a:r>
          </a:p>
          <a:p>
            <a:endParaRPr dirty="0"/>
          </a:p>
          <a:p>
            <a:r>
              <a:rPr dirty="0"/>
              <a:t>"</a:t>
            </a:r>
            <a:r>
              <a:rPr dirty="0" err="1"/>
              <a:t>지난번에</a:t>
            </a:r>
            <a:r>
              <a:rPr dirty="0"/>
              <a:t> </a:t>
            </a:r>
            <a:r>
              <a:rPr dirty="0" err="1"/>
              <a:t>잘했던</a:t>
            </a:r>
            <a:r>
              <a:rPr dirty="0"/>
              <a:t> </a:t>
            </a:r>
            <a:r>
              <a:rPr dirty="0" err="1"/>
              <a:t>사람에게</a:t>
            </a:r>
            <a:r>
              <a:rPr dirty="0"/>
              <a:t>" 가 </a:t>
            </a:r>
            <a:r>
              <a:rPr dirty="0" err="1"/>
              <a:t>되는</a:t>
            </a:r>
            <a:r>
              <a:rPr dirty="0"/>
              <a:t> </a:t>
            </a:r>
            <a:r>
              <a:rPr dirty="0" err="1"/>
              <a:t>거죠</a:t>
            </a:r>
            <a:r>
              <a:rPr dirty="0"/>
              <a:t>.</a:t>
            </a:r>
          </a:p>
          <a:p>
            <a:endParaRPr dirty="0"/>
          </a:p>
          <a:p>
            <a:r>
              <a:rPr dirty="0"/>
              <a:t>그 </a:t>
            </a:r>
            <a:r>
              <a:rPr dirty="0" err="1"/>
              <a:t>결과</a:t>
            </a:r>
            <a:r>
              <a:rPr dirty="0"/>
              <a:t> </a:t>
            </a:r>
            <a:r>
              <a:rPr dirty="0" err="1"/>
              <a:t>역할과</a:t>
            </a:r>
            <a:r>
              <a:rPr dirty="0"/>
              <a:t> </a:t>
            </a:r>
            <a:r>
              <a:rPr dirty="0" err="1"/>
              <a:t>사람이</a:t>
            </a:r>
            <a:r>
              <a:rPr dirty="0"/>
              <a:t> </a:t>
            </a:r>
            <a:r>
              <a:rPr lang="ko-KR" altLang="en-US" dirty="0"/>
              <a:t>정확하게 맞지 않거나</a:t>
            </a:r>
            <a:r>
              <a:rPr dirty="0"/>
              <a:t>, </a:t>
            </a:r>
            <a:r>
              <a:rPr dirty="0" err="1"/>
              <a:t>익숙한</a:t>
            </a:r>
            <a:r>
              <a:rPr dirty="0"/>
              <a:t> </a:t>
            </a:r>
            <a:r>
              <a:rPr dirty="0" err="1"/>
              <a:t>사람에게</a:t>
            </a:r>
            <a:r>
              <a:rPr dirty="0"/>
              <a:t> </a:t>
            </a:r>
            <a:r>
              <a:rPr dirty="0" err="1"/>
              <a:t>일이</a:t>
            </a:r>
            <a:r>
              <a:rPr dirty="0"/>
              <a:t> </a:t>
            </a:r>
            <a:r>
              <a:rPr dirty="0" err="1"/>
              <a:t>몰리</a:t>
            </a:r>
            <a:r>
              <a:rPr lang="ko-KR" altLang="en-US" dirty="0"/>
              <a:t>거나</a:t>
            </a:r>
            <a:r>
              <a:rPr dirty="0"/>
              <a:t>, 왜 </a:t>
            </a:r>
            <a:r>
              <a:rPr dirty="0" err="1"/>
              <a:t>그렇게</a:t>
            </a:r>
            <a:r>
              <a:rPr dirty="0"/>
              <a:t> </a:t>
            </a:r>
            <a:r>
              <a:rPr dirty="0" err="1"/>
              <a:t>정했는지가</a:t>
            </a:r>
            <a:r>
              <a:rPr dirty="0"/>
              <a:t> </a:t>
            </a:r>
            <a:r>
              <a:rPr dirty="0" err="1"/>
              <a:t>어디에도</a:t>
            </a:r>
            <a:r>
              <a:rPr dirty="0"/>
              <a:t> </a:t>
            </a:r>
            <a:r>
              <a:rPr dirty="0" err="1"/>
              <a:t>남지</a:t>
            </a:r>
            <a:r>
              <a:rPr dirty="0"/>
              <a:t> </a:t>
            </a:r>
            <a:r>
              <a:rPr dirty="0" err="1"/>
              <a:t>않습니다</a:t>
            </a:r>
            <a:r>
              <a:rPr dirty="0"/>
              <a:t>.</a:t>
            </a:r>
          </a:p>
          <a:p>
            <a:endParaRPr dirty="0"/>
          </a:p>
          <a:p>
            <a:r>
              <a:rPr dirty="0"/>
              <a:t>▪ </a:t>
            </a:r>
            <a:r>
              <a:rPr dirty="0" err="1"/>
              <a:t>요점</a:t>
            </a:r>
            <a:endParaRPr dirty="0"/>
          </a:p>
          <a:p>
            <a:r>
              <a:rPr dirty="0"/>
              <a:t>· </a:t>
            </a:r>
            <a:r>
              <a:rPr dirty="0" err="1"/>
              <a:t>기준</a:t>
            </a:r>
            <a:r>
              <a:rPr dirty="0"/>
              <a:t> </a:t>
            </a:r>
            <a:r>
              <a:rPr dirty="0" err="1"/>
              <a:t>없음</a:t>
            </a:r>
            <a:r>
              <a:rPr dirty="0"/>
              <a:t> + </a:t>
            </a:r>
            <a:r>
              <a:rPr dirty="0" err="1"/>
              <a:t>비교</a:t>
            </a:r>
            <a:r>
              <a:rPr dirty="0"/>
              <a:t> </a:t>
            </a:r>
            <a:r>
              <a:rPr dirty="0" err="1"/>
              <a:t>잣대</a:t>
            </a:r>
            <a:r>
              <a:rPr dirty="0"/>
              <a:t> </a:t>
            </a:r>
            <a:r>
              <a:rPr dirty="0" err="1"/>
              <a:t>없음</a:t>
            </a:r>
            <a:r>
              <a:rPr dirty="0"/>
              <a:t> → </a:t>
            </a:r>
            <a:r>
              <a:rPr dirty="0" err="1"/>
              <a:t>기억에</a:t>
            </a:r>
            <a:r>
              <a:rPr dirty="0"/>
              <a:t> </a:t>
            </a:r>
            <a:r>
              <a:rPr dirty="0" err="1"/>
              <a:t>의존</a:t>
            </a:r>
            <a:r>
              <a:rPr dirty="0"/>
              <a:t> → ▸ </a:t>
            </a:r>
            <a:r>
              <a:rPr dirty="0" err="1"/>
              <a:t>미스매치</a:t>
            </a:r>
            <a:r>
              <a:rPr dirty="0"/>
              <a:t> · </a:t>
            </a:r>
            <a:r>
              <a:rPr dirty="0" err="1"/>
              <a:t>편중</a:t>
            </a:r>
            <a:r>
              <a:rPr dirty="0"/>
              <a:t> · </a:t>
            </a:r>
            <a:r>
              <a:rPr dirty="0" err="1"/>
              <a:t>근거</a:t>
            </a:r>
            <a:r>
              <a:rPr dirty="0"/>
              <a:t> </a:t>
            </a:r>
            <a:r>
              <a:rPr dirty="0" err="1"/>
              <a:t>미기록</a:t>
            </a:r>
            <a:endParaRPr dirty="0"/>
          </a:p>
          <a:p>
            <a:endParaRPr dirty="0"/>
          </a:p>
          <a:p>
            <a:r>
              <a:rPr dirty="0"/>
              <a:t>─────────────  </a:t>
            </a:r>
            <a:r>
              <a:rPr dirty="0" err="1"/>
              <a:t>배경</a:t>
            </a:r>
            <a:r>
              <a:rPr dirty="0"/>
              <a:t> · </a:t>
            </a:r>
            <a:r>
              <a:rPr dirty="0" err="1"/>
              <a:t>질의응답</a:t>
            </a:r>
            <a:r>
              <a:rPr dirty="0"/>
              <a:t> </a:t>
            </a:r>
            <a:r>
              <a:rPr dirty="0" err="1"/>
              <a:t>대비</a:t>
            </a:r>
            <a:r>
              <a:rPr dirty="0"/>
              <a:t>  ─────────────</a:t>
            </a:r>
          </a:p>
          <a:p>
            <a:endParaRPr dirty="0"/>
          </a:p>
          <a:p>
            <a:r>
              <a:rPr dirty="0"/>
              <a:t>Asana Anatomy of Work Global Index 2023, </a:t>
            </a:r>
            <a:r>
              <a:rPr dirty="0" err="1"/>
              <a:t>지식노동자</a:t>
            </a:r>
            <a:r>
              <a:rPr dirty="0"/>
              <a:t> 9,615명 · 6개국(</a:t>
            </a:r>
            <a:r>
              <a:rPr dirty="0" err="1"/>
              <a:t>호주·프랑스·독일·일본·영국·미국</a:t>
            </a:r>
            <a:r>
              <a:rPr dirty="0"/>
              <a:t>). </a:t>
            </a:r>
            <a:r>
              <a:rPr dirty="0" err="1"/>
              <a:t>공식</a:t>
            </a:r>
            <a:r>
              <a:rPr dirty="0"/>
              <a:t> </a:t>
            </a:r>
            <a:r>
              <a:rPr dirty="0" err="1"/>
              <a:t>배포자료에서</a:t>
            </a:r>
            <a:r>
              <a:rPr dirty="0"/>
              <a:t> </a:t>
            </a:r>
            <a:r>
              <a:rPr dirty="0" err="1"/>
              <a:t>확인되는</a:t>
            </a:r>
            <a:r>
              <a:rPr dirty="0"/>
              <a:t> </a:t>
            </a:r>
            <a:r>
              <a:rPr dirty="0" err="1"/>
              <a:t>수치</a:t>
            </a:r>
            <a:r>
              <a:rPr dirty="0"/>
              <a:t> — </a:t>
            </a:r>
            <a:r>
              <a:rPr dirty="0" err="1"/>
              <a:t>업무</a:t>
            </a:r>
            <a:r>
              <a:rPr dirty="0"/>
              <a:t> </a:t>
            </a:r>
            <a:r>
              <a:rPr dirty="0" err="1"/>
              <a:t>시간의</a:t>
            </a:r>
            <a:r>
              <a:rPr dirty="0"/>
              <a:t> 58%를 </a:t>
            </a:r>
            <a:r>
              <a:rPr dirty="0" err="1"/>
              <a:t>조율성</a:t>
            </a:r>
            <a:r>
              <a:rPr dirty="0"/>
              <a:t> </a:t>
            </a:r>
            <a:r>
              <a:rPr dirty="0" err="1"/>
              <a:t>업무에</a:t>
            </a:r>
            <a:r>
              <a:rPr dirty="0"/>
              <a:t> </a:t>
            </a:r>
            <a:r>
              <a:rPr dirty="0" err="1"/>
              <a:t>사용</a:t>
            </a:r>
            <a:r>
              <a:rPr dirty="0"/>
              <a:t>, </a:t>
            </a:r>
            <a:r>
              <a:rPr dirty="0" err="1"/>
              <a:t>주당</a:t>
            </a:r>
            <a:r>
              <a:rPr dirty="0"/>
              <a:t> </a:t>
            </a:r>
            <a:r>
              <a:rPr dirty="0" err="1"/>
              <a:t>불필요</a:t>
            </a:r>
            <a:r>
              <a:rPr dirty="0"/>
              <a:t> </a:t>
            </a:r>
            <a:r>
              <a:rPr dirty="0" err="1"/>
              <a:t>회의</a:t>
            </a:r>
            <a:r>
              <a:rPr dirty="0"/>
              <a:t> 2.8시간(</a:t>
            </a:r>
            <a:r>
              <a:rPr dirty="0" err="1"/>
              <a:t>임원</a:t>
            </a:r>
            <a:r>
              <a:rPr dirty="0"/>
              <a:t> 3.6시간), </a:t>
            </a:r>
            <a:r>
              <a:rPr dirty="0" err="1"/>
              <a:t>개선하면</a:t>
            </a:r>
            <a:r>
              <a:rPr dirty="0"/>
              <a:t> </a:t>
            </a:r>
            <a:r>
              <a:rPr dirty="0" err="1"/>
              <a:t>주당</a:t>
            </a:r>
            <a:r>
              <a:rPr dirty="0"/>
              <a:t> 4.9시간 </a:t>
            </a:r>
            <a:r>
              <a:rPr dirty="0" err="1"/>
              <a:t>회수</a:t>
            </a:r>
            <a:r>
              <a:rPr dirty="0"/>
              <a:t> </a:t>
            </a:r>
            <a:r>
              <a:rPr dirty="0" err="1"/>
              <a:t>가능</a:t>
            </a:r>
            <a:r>
              <a:rPr dirty="0"/>
              <a:t>.</a:t>
            </a:r>
          </a:p>
          <a:p>
            <a:r>
              <a:rPr dirty="0"/>
              <a:t>「</a:t>
            </a:r>
            <a:r>
              <a:rPr dirty="0" err="1"/>
              <a:t>중복</a:t>
            </a:r>
            <a:r>
              <a:rPr dirty="0"/>
              <a:t> </a:t>
            </a:r>
            <a:r>
              <a:rPr dirty="0" err="1"/>
              <a:t>업무</a:t>
            </a:r>
            <a:r>
              <a:rPr dirty="0"/>
              <a:t> 연 209시간」·「</a:t>
            </a:r>
            <a:r>
              <a:rPr dirty="0" err="1"/>
              <a:t>지연·누락</a:t>
            </a:r>
            <a:r>
              <a:rPr dirty="0"/>
              <a:t> 88%」는 </a:t>
            </a:r>
            <a:r>
              <a:rPr dirty="0" err="1"/>
              <a:t>공식</a:t>
            </a:r>
            <a:r>
              <a:rPr dirty="0"/>
              <a:t> </a:t>
            </a:r>
            <a:r>
              <a:rPr dirty="0" err="1"/>
              <a:t>배포자료에서</a:t>
            </a:r>
            <a:r>
              <a:rPr dirty="0"/>
              <a:t> </a:t>
            </a:r>
            <a:r>
              <a:rPr dirty="0" err="1"/>
              <a:t>확인되지</a:t>
            </a:r>
            <a:r>
              <a:rPr dirty="0"/>
              <a:t> </a:t>
            </a:r>
            <a:r>
              <a:rPr dirty="0" err="1"/>
              <a:t>않아</a:t>
            </a:r>
            <a:r>
              <a:rPr dirty="0"/>
              <a:t> </a:t>
            </a:r>
            <a:r>
              <a:rPr dirty="0" err="1"/>
              <a:t>슬라이드에서</a:t>
            </a:r>
            <a:r>
              <a:rPr dirty="0"/>
              <a:t> </a:t>
            </a:r>
            <a:r>
              <a:rPr dirty="0" err="1"/>
              <a:t>뺐다</a:t>
            </a:r>
            <a:r>
              <a:rPr dirty="0"/>
              <a:t>.</a:t>
            </a:r>
          </a:p>
          <a:p>
            <a:r>
              <a:rPr dirty="0" err="1"/>
              <a:t>글로벌</a:t>
            </a:r>
            <a:r>
              <a:rPr dirty="0"/>
              <a:t> </a:t>
            </a:r>
            <a:r>
              <a:rPr dirty="0" err="1"/>
              <a:t>조사</a:t>
            </a:r>
            <a:r>
              <a:rPr dirty="0"/>
              <a:t> </a:t>
            </a:r>
            <a:r>
              <a:rPr dirty="0" err="1"/>
              <a:t>수치를</a:t>
            </a:r>
            <a:r>
              <a:rPr dirty="0"/>
              <a:t> </a:t>
            </a:r>
            <a:r>
              <a:rPr dirty="0" err="1"/>
              <a:t>우리</a:t>
            </a:r>
            <a:r>
              <a:rPr dirty="0"/>
              <a:t> 팀 </a:t>
            </a:r>
            <a:r>
              <a:rPr dirty="0" err="1"/>
              <a:t>규모에</a:t>
            </a:r>
            <a:r>
              <a:rPr dirty="0"/>
              <a:t> </a:t>
            </a:r>
            <a:r>
              <a:rPr dirty="0" err="1"/>
              <a:t>곱해</a:t>
            </a:r>
            <a:r>
              <a:rPr dirty="0"/>
              <a:t> </a:t>
            </a:r>
            <a:r>
              <a:rPr dirty="0" err="1"/>
              <a:t>제시하지</a:t>
            </a:r>
            <a:r>
              <a:rPr dirty="0"/>
              <a:t> </a:t>
            </a:r>
            <a:r>
              <a:rPr dirty="0" err="1"/>
              <a:t>않고</a:t>
            </a:r>
            <a:r>
              <a:rPr dirty="0"/>
              <a:t> </a:t>
            </a:r>
            <a:r>
              <a:rPr dirty="0" err="1"/>
              <a:t>문제의</a:t>
            </a:r>
            <a:r>
              <a:rPr dirty="0"/>
              <a:t> </a:t>
            </a:r>
            <a:r>
              <a:rPr dirty="0" err="1"/>
              <a:t>크기를</a:t>
            </a:r>
            <a:r>
              <a:rPr dirty="0"/>
              <a:t> </a:t>
            </a:r>
            <a:r>
              <a:rPr dirty="0" err="1"/>
              <a:t>보여주는</a:t>
            </a:r>
            <a:r>
              <a:rPr dirty="0"/>
              <a:t> </a:t>
            </a:r>
            <a:r>
              <a:rPr dirty="0" err="1"/>
              <a:t>참고치로만</a:t>
            </a:r>
            <a:r>
              <a:rPr dirty="0"/>
              <a:t> </a:t>
            </a:r>
            <a:r>
              <a:rPr dirty="0" err="1"/>
              <a:t>설명한다</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[7장 · </a:t>
            </a:r>
            <a:r>
              <a:rPr dirty="0" err="1"/>
              <a:t>시장</a:t>
            </a:r>
            <a:r>
              <a:rPr dirty="0"/>
              <a:t> </a:t>
            </a:r>
            <a:r>
              <a:rPr dirty="0" err="1"/>
              <a:t>조사</a:t>
            </a:r>
            <a:r>
              <a:rPr dirty="0"/>
              <a:t>]</a:t>
            </a:r>
          </a:p>
          <a:p>
            <a:endParaRPr dirty="0"/>
          </a:p>
          <a:p>
            <a:r>
              <a:rPr dirty="0" err="1"/>
              <a:t>그럼</a:t>
            </a:r>
            <a:r>
              <a:rPr dirty="0"/>
              <a:t> </a:t>
            </a:r>
            <a:r>
              <a:rPr dirty="0" err="1"/>
              <a:t>지금</a:t>
            </a:r>
            <a:r>
              <a:rPr dirty="0"/>
              <a:t> </a:t>
            </a:r>
            <a:r>
              <a:rPr lang="ko-KR" altLang="en-US" dirty="0"/>
              <a:t>시장에 출시된 </a:t>
            </a:r>
            <a:r>
              <a:rPr dirty="0" err="1"/>
              <a:t>도구들은</a:t>
            </a:r>
            <a:r>
              <a:rPr dirty="0"/>
              <a:t> </a:t>
            </a:r>
            <a:r>
              <a:rPr dirty="0" err="1"/>
              <a:t>이걸</a:t>
            </a:r>
            <a:r>
              <a:rPr dirty="0"/>
              <a:t> </a:t>
            </a:r>
            <a:r>
              <a:rPr dirty="0" err="1"/>
              <a:t>어떻게</a:t>
            </a:r>
            <a:r>
              <a:rPr dirty="0"/>
              <a:t> </a:t>
            </a:r>
            <a:r>
              <a:rPr lang="ko-KR" altLang="en-US" dirty="0"/>
              <a:t>해결하려고 하는지 조사를 먼저 진행했습니다</a:t>
            </a:r>
            <a:r>
              <a:rPr lang="en-US" altLang="ko-KR" dirty="0"/>
              <a:t>.</a:t>
            </a:r>
            <a:endParaRPr dirty="0"/>
          </a:p>
          <a:p>
            <a:endParaRPr dirty="0"/>
          </a:p>
          <a:p>
            <a:r>
              <a:rPr dirty="0" err="1"/>
              <a:t>문서에서</a:t>
            </a:r>
            <a:r>
              <a:rPr dirty="0"/>
              <a:t> </a:t>
            </a:r>
            <a:r>
              <a:rPr dirty="0" err="1"/>
              <a:t>업무를</a:t>
            </a:r>
            <a:r>
              <a:rPr dirty="0"/>
              <a:t> </a:t>
            </a:r>
            <a:r>
              <a:rPr dirty="0" err="1"/>
              <a:t>뽑는</a:t>
            </a:r>
            <a:r>
              <a:rPr dirty="0"/>
              <a:t> </a:t>
            </a:r>
            <a:r>
              <a:rPr dirty="0" err="1"/>
              <a:t>기능은</a:t>
            </a:r>
            <a:r>
              <a:rPr dirty="0"/>
              <a:t> </a:t>
            </a:r>
            <a:r>
              <a:rPr dirty="0" err="1"/>
              <a:t>이미</a:t>
            </a:r>
            <a:r>
              <a:rPr dirty="0"/>
              <a:t> </a:t>
            </a:r>
            <a:r>
              <a:rPr dirty="0" err="1"/>
              <a:t>여러</a:t>
            </a:r>
            <a:r>
              <a:rPr dirty="0"/>
              <a:t> </a:t>
            </a:r>
            <a:r>
              <a:rPr dirty="0" err="1"/>
              <a:t>제품에</a:t>
            </a:r>
            <a:r>
              <a:rPr dirty="0"/>
              <a:t> </a:t>
            </a:r>
            <a:r>
              <a:rPr dirty="0" err="1"/>
              <a:t>있습니다</a:t>
            </a:r>
            <a:r>
              <a:rPr dirty="0"/>
              <a:t>.</a:t>
            </a:r>
          </a:p>
          <a:p>
            <a:endParaRPr dirty="0"/>
          </a:p>
          <a:p>
            <a:r>
              <a:rPr dirty="0" err="1"/>
              <a:t>역량</a:t>
            </a:r>
            <a:r>
              <a:rPr dirty="0"/>
              <a:t> </a:t>
            </a:r>
            <a:r>
              <a:rPr dirty="0" err="1"/>
              <a:t>기반</a:t>
            </a:r>
            <a:r>
              <a:rPr dirty="0"/>
              <a:t> </a:t>
            </a:r>
            <a:r>
              <a:rPr dirty="0" err="1"/>
              <a:t>추천도</a:t>
            </a:r>
            <a:r>
              <a:rPr dirty="0"/>
              <a:t> </a:t>
            </a:r>
            <a:r>
              <a:rPr dirty="0" err="1"/>
              <a:t>있고</a:t>
            </a:r>
            <a:r>
              <a:rPr dirty="0"/>
              <a:t>, </a:t>
            </a:r>
            <a:r>
              <a:rPr dirty="0" err="1"/>
              <a:t>가용량</a:t>
            </a:r>
            <a:r>
              <a:rPr dirty="0"/>
              <a:t> </a:t>
            </a:r>
            <a:r>
              <a:rPr dirty="0" err="1"/>
              <a:t>기반</a:t>
            </a:r>
            <a:r>
              <a:rPr dirty="0"/>
              <a:t> </a:t>
            </a:r>
            <a:r>
              <a:rPr dirty="0" err="1"/>
              <a:t>추천도</a:t>
            </a:r>
            <a:r>
              <a:rPr dirty="0"/>
              <a:t> </a:t>
            </a:r>
            <a:r>
              <a:rPr dirty="0" err="1"/>
              <a:t>있습니다</a:t>
            </a:r>
            <a:r>
              <a:rPr dirty="0"/>
              <a:t>.</a:t>
            </a:r>
          </a:p>
          <a:p>
            <a:endParaRPr dirty="0"/>
          </a:p>
          <a:p>
            <a:r>
              <a:rPr dirty="0" err="1"/>
              <a:t>그런데</a:t>
            </a:r>
            <a:r>
              <a:rPr dirty="0"/>
              <a:t> </a:t>
            </a:r>
            <a:r>
              <a:rPr dirty="0" err="1"/>
              <a:t>문서에서</a:t>
            </a:r>
            <a:r>
              <a:rPr dirty="0"/>
              <a:t> </a:t>
            </a:r>
            <a:r>
              <a:rPr dirty="0" err="1"/>
              <a:t>시작한</a:t>
            </a:r>
            <a:r>
              <a:rPr dirty="0"/>
              <a:t> </a:t>
            </a:r>
            <a:r>
              <a:rPr dirty="0" err="1"/>
              <a:t>정보가</a:t>
            </a:r>
            <a:r>
              <a:rPr dirty="0"/>
              <a:t> </a:t>
            </a:r>
            <a:r>
              <a:rPr dirty="0" err="1"/>
              <a:t>업무와</a:t>
            </a:r>
            <a:r>
              <a:rPr dirty="0"/>
              <a:t> </a:t>
            </a:r>
            <a:r>
              <a:rPr dirty="0" err="1"/>
              <a:t>역할을</a:t>
            </a:r>
            <a:r>
              <a:rPr dirty="0"/>
              <a:t> </a:t>
            </a:r>
            <a:r>
              <a:rPr dirty="0" err="1"/>
              <a:t>거쳐</a:t>
            </a:r>
            <a:r>
              <a:rPr dirty="0"/>
              <a:t> </a:t>
            </a:r>
            <a:r>
              <a:rPr dirty="0" err="1"/>
              <a:t>후보</a:t>
            </a:r>
            <a:r>
              <a:rPr lang="ko-KR" altLang="en-US" dirty="0"/>
              <a:t>를 추천하고</a:t>
            </a:r>
            <a:r>
              <a:rPr dirty="0"/>
              <a:t> 그 </a:t>
            </a:r>
            <a:r>
              <a:rPr dirty="0" err="1"/>
              <a:t>근거</a:t>
            </a:r>
            <a:r>
              <a:rPr lang="ko-KR" altLang="en-US" dirty="0"/>
              <a:t>를 저장하는 것 까지 </a:t>
            </a:r>
            <a:r>
              <a:rPr dirty="0" err="1"/>
              <a:t>이어지는</a:t>
            </a:r>
            <a:r>
              <a:rPr dirty="0"/>
              <a:t> </a:t>
            </a:r>
            <a:r>
              <a:rPr dirty="0" err="1"/>
              <a:t>흐름은</a:t>
            </a:r>
            <a:r>
              <a:rPr dirty="0"/>
              <a:t> </a:t>
            </a:r>
            <a:r>
              <a:rPr dirty="0" err="1"/>
              <a:t>확인하지</a:t>
            </a:r>
            <a:r>
              <a:rPr dirty="0"/>
              <a:t> </a:t>
            </a:r>
            <a:r>
              <a:rPr dirty="0" err="1"/>
              <a:t>못했습니다</a:t>
            </a:r>
            <a:r>
              <a:rPr dirty="0"/>
              <a:t>.</a:t>
            </a:r>
          </a:p>
          <a:p>
            <a:endParaRPr dirty="0"/>
          </a:p>
          <a:p>
            <a:r>
              <a:rPr dirty="0"/>
              <a:t>▪ </a:t>
            </a:r>
            <a:r>
              <a:rPr dirty="0" err="1"/>
              <a:t>요점</a:t>
            </a:r>
            <a:endParaRPr dirty="0"/>
          </a:p>
          <a:p>
            <a:r>
              <a:rPr dirty="0"/>
              <a:t>· ▸ </a:t>
            </a:r>
            <a:r>
              <a:rPr dirty="0" err="1"/>
              <a:t>개별</a:t>
            </a:r>
            <a:r>
              <a:rPr dirty="0"/>
              <a:t> </a:t>
            </a:r>
            <a:r>
              <a:rPr dirty="0" err="1"/>
              <a:t>기능은</a:t>
            </a:r>
            <a:r>
              <a:rPr dirty="0"/>
              <a:t> </a:t>
            </a:r>
            <a:r>
              <a:rPr dirty="0" err="1"/>
              <a:t>있다</a:t>
            </a:r>
            <a:r>
              <a:rPr dirty="0"/>
              <a:t> / </a:t>
            </a:r>
            <a:r>
              <a:rPr dirty="0" err="1"/>
              <a:t>이어진</a:t>
            </a:r>
            <a:r>
              <a:rPr dirty="0"/>
              <a:t> </a:t>
            </a:r>
            <a:r>
              <a:rPr dirty="0" err="1"/>
              <a:t>흐름이</a:t>
            </a:r>
            <a:r>
              <a:rPr dirty="0"/>
              <a:t> </a:t>
            </a:r>
            <a:r>
              <a:rPr dirty="0" err="1"/>
              <a:t>없다</a:t>
            </a:r>
            <a:r>
              <a:rPr dirty="0"/>
              <a:t> — </a:t>
            </a:r>
            <a:r>
              <a:rPr dirty="0" err="1"/>
              <a:t>표를</a:t>
            </a:r>
            <a:r>
              <a:rPr dirty="0"/>
              <a:t> </a:t>
            </a:r>
            <a:r>
              <a:rPr dirty="0" err="1"/>
              <a:t>하나씩</a:t>
            </a:r>
            <a:r>
              <a:rPr dirty="0"/>
              <a:t> </a:t>
            </a:r>
            <a:r>
              <a:rPr dirty="0" err="1"/>
              <a:t>읽지</a:t>
            </a:r>
            <a:r>
              <a:rPr dirty="0"/>
              <a:t> 말 것</a:t>
            </a:r>
          </a:p>
          <a:p>
            <a:r>
              <a:rPr dirty="0"/>
              <a:t>· (</a:t>
            </a:r>
            <a:r>
              <a:rPr dirty="0" err="1"/>
              <a:t>질문</a:t>
            </a:r>
            <a:r>
              <a:rPr dirty="0"/>
              <a:t> </a:t>
            </a:r>
            <a:r>
              <a:rPr dirty="0" err="1"/>
              <a:t>대비</a:t>
            </a:r>
            <a:r>
              <a:rPr dirty="0"/>
              <a:t>: </a:t>
            </a:r>
            <a:r>
              <a:rPr dirty="0" err="1"/>
              <a:t>판정은</a:t>
            </a:r>
            <a:r>
              <a:rPr dirty="0"/>
              <a:t> 각 </a:t>
            </a:r>
            <a:r>
              <a:rPr dirty="0" err="1"/>
              <a:t>제품</a:t>
            </a:r>
            <a:r>
              <a:rPr dirty="0"/>
              <a:t> </a:t>
            </a:r>
            <a:r>
              <a:rPr dirty="0" err="1"/>
              <a:t>공개</a:t>
            </a:r>
            <a:r>
              <a:rPr dirty="0"/>
              <a:t> </a:t>
            </a:r>
            <a:r>
              <a:rPr dirty="0" err="1"/>
              <a:t>문서</a:t>
            </a:r>
            <a:r>
              <a:rPr dirty="0"/>
              <a:t> </a:t>
            </a:r>
            <a:r>
              <a:rPr dirty="0" err="1"/>
              <a:t>기준</a:t>
            </a:r>
            <a:r>
              <a:rPr dirty="0"/>
              <a:t>, </a:t>
            </a:r>
            <a:r>
              <a:rPr dirty="0" err="1"/>
              <a:t>조사일</a:t>
            </a:r>
            <a:r>
              <a:rPr dirty="0"/>
              <a:t> 2026-08-05)</a:t>
            </a:r>
          </a:p>
          <a:p>
            <a:endParaRPr dirty="0"/>
          </a:p>
          <a:p>
            <a:r>
              <a:rPr dirty="0"/>
              <a:t>─────────────  </a:t>
            </a:r>
            <a:r>
              <a:rPr dirty="0" err="1"/>
              <a:t>배경</a:t>
            </a:r>
            <a:r>
              <a:rPr dirty="0"/>
              <a:t> · </a:t>
            </a:r>
            <a:r>
              <a:rPr dirty="0" err="1"/>
              <a:t>질의응답</a:t>
            </a:r>
            <a:r>
              <a:rPr dirty="0"/>
              <a:t> </a:t>
            </a:r>
            <a:r>
              <a:rPr dirty="0" err="1"/>
              <a:t>대비</a:t>
            </a:r>
            <a:r>
              <a:rPr dirty="0"/>
              <a:t>  ─────────────</a:t>
            </a:r>
          </a:p>
          <a:p>
            <a:endParaRPr dirty="0"/>
          </a:p>
          <a:p>
            <a:r>
              <a:rPr dirty="0" err="1"/>
              <a:t>조사</a:t>
            </a:r>
            <a:r>
              <a:rPr dirty="0"/>
              <a:t> </a:t>
            </a:r>
            <a:r>
              <a:rPr dirty="0" err="1"/>
              <a:t>기준일</a:t>
            </a:r>
            <a:r>
              <a:rPr dirty="0"/>
              <a:t> 2026-08-04, 각 </a:t>
            </a:r>
            <a:r>
              <a:rPr dirty="0" err="1"/>
              <a:t>제품</a:t>
            </a:r>
            <a:r>
              <a:rPr dirty="0"/>
              <a:t> </a:t>
            </a:r>
            <a:r>
              <a:rPr dirty="0" err="1"/>
              <a:t>공식</a:t>
            </a:r>
            <a:r>
              <a:rPr dirty="0"/>
              <a:t> </a:t>
            </a:r>
            <a:r>
              <a:rPr dirty="0" err="1"/>
              <a:t>문서</a:t>
            </a:r>
            <a:r>
              <a:rPr dirty="0"/>
              <a:t> </a:t>
            </a:r>
            <a:r>
              <a:rPr dirty="0" err="1"/>
              <a:t>기준</a:t>
            </a:r>
            <a:r>
              <a:rPr dirty="0"/>
              <a:t>.</a:t>
            </a:r>
          </a:p>
          <a:p>
            <a:r>
              <a:rPr dirty="0" err="1"/>
              <a:t>Asana가</a:t>
            </a:r>
            <a:r>
              <a:rPr dirty="0"/>
              <a:t> </a:t>
            </a:r>
            <a:r>
              <a:rPr dirty="0" err="1"/>
              <a:t>가장</a:t>
            </a:r>
            <a:r>
              <a:rPr dirty="0"/>
              <a:t> </a:t>
            </a:r>
            <a:r>
              <a:rPr dirty="0" err="1"/>
              <a:t>가까운</a:t>
            </a:r>
            <a:r>
              <a:rPr dirty="0"/>
              <a:t> </a:t>
            </a:r>
            <a:r>
              <a:rPr dirty="0" err="1"/>
              <a:t>비교</a:t>
            </a:r>
            <a:r>
              <a:rPr dirty="0"/>
              <a:t> </a:t>
            </a:r>
            <a:r>
              <a:rPr dirty="0" err="1"/>
              <a:t>대상</a:t>
            </a:r>
            <a:r>
              <a:rPr dirty="0"/>
              <a:t> — </a:t>
            </a:r>
            <a:r>
              <a:rPr dirty="0" err="1"/>
              <a:t>문서</a:t>
            </a:r>
            <a:r>
              <a:rPr dirty="0"/>
              <a:t> </a:t>
            </a:r>
            <a:r>
              <a:rPr dirty="0" err="1"/>
              <a:t>구조화와</a:t>
            </a:r>
            <a:r>
              <a:rPr dirty="0"/>
              <a:t> </a:t>
            </a:r>
            <a:r>
              <a:rPr dirty="0" err="1"/>
              <a:t>워크로드</a:t>
            </a:r>
            <a:r>
              <a:rPr dirty="0"/>
              <a:t> </a:t>
            </a:r>
            <a:r>
              <a:rPr dirty="0" err="1"/>
              <a:t>기반</a:t>
            </a:r>
            <a:r>
              <a:rPr dirty="0"/>
              <a:t> </a:t>
            </a:r>
            <a:r>
              <a:rPr dirty="0" err="1"/>
              <a:t>배정을</a:t>
            </a:r>
            <a:r>
              <a:rPr dirty="0"/>
              <a:t> </a:t>
            </a:r>
            <a:r>
              <a:rPr dirty="0" err="1"/>
              <a:t>설정형</a:t>
            </a:r>
            <a:r>
              <a:rPr dirty="0"/>
              <a:t> </a:t>
            </a:r>
            <a:r>
              <a:rPr dirty="0" err="1"/>
              <a:t>워크플로우로</a:t>
            </a:r>
            <a:r>
              <a:rPr dirty="0"/>
              <a:t> </a:t>
            </a:r>
            <a:r>
              <a:rPr dirty="0" err="1"/>
              <a:t>연결할</a:t>
            </a:r>
            <a:r>
              <a:rPr dirty="0"/>
              <a:t> 수 </a:t>
            </a:r>
            <a:r>
              <a:rPr dirty="0" err="1"/>
              <a:t>있다</a:t>
            </a:r>
            <a:r>
              <a:rPr dirty="0"/>
              <a:t>.</a:t>
            </a:r>
          </a:p>
          <a:p>
            <a:r>
              <a:rPr dirty="0" err="1"/>
              <a:t>monday·Kantata는</a:t>
            </a:r>
            <a:r>
              <a:rPr dirty="0"/>
              <a:t> </a:t>
            </a:r>
            <a:r>
              <a:rPr dirty="0" err="1"/>
              <a:t>역량·가용성</a:t>
            </a:r>
            <a:r>
              <a:rPr dirty="0"/>
              <a:t> </a:t>
            </a:r>
            <a:r>
              <a:rPr dirty="0" err="1"/>
              <a:t>매칭이</a:t>
            </a:r>
            <a:r>
              <a:rPr dirty="0"/>
              <a:t> </a:t>
            </a:r>
            <a:r>
              <a:rPr dirty="0" err="1"/>
              <a:t>강하지만</a:t>
            </a:r>
            <a:r>
              <a:rPr dirty="0"/>
              <a:t> </a:t>
            </a:r>
            <a:r>
              <a:rPr dirty="0" err="1"/>
              <a:t>역할이</a:t>
            </a:r>
            <a:r>
              <a:rPr dirty="0"/>
              <a:t> </a:t>
            </a:r>
            <a:r>
              <a:rPr dirty="0" err="1"/>
              <a:t>사전에</a:t>
            </a:r>
            <a:r>
              <a:rPr dirty="0"/>
              <a:t> </a:t>
            </a:r>
            <a:r>
              <a:rPr dirty="0" err="1"/>
              <a:t>정의돼</a:t>
            </a:r>
            <a:r>
              <a:rPr dirty="0"/>
              <a:t> </a:t>
            </a:r>
            <a:r>
              <a:rPr dirty="0" err="1"/>
              <a:t>있어야</a:t>
            </a:r>
            <a:r>
              <a:rPr dirty="0"/>
              <a:t> </a:t>
            </a:r>
            <a:r>
              <a:rPr dirty="0" err="1"/>
              <a:t>작동한다</a:t>
            </a:r>
            <a:r>
              <a:rPr dirty="0"/>
              <a:t>.</a:t>
            </a:r>
          </a:p>
          <a:p>
            <a:r>
              <a:rPr dirty="0" err="1"/>
              <a:t>결론은</a:t>
            </a:r>
            <a:r>
              <a:rPr dirty="0"/>
              <a:t> </a:t>
            </a:r>
            <a:r>
              <a:rPr dirty="0" err="1"/>
              <a:t>경쟁</a:t>
            </a:r>
            <a:r>
              <a:rPr dirty="0"/>
              <a:t> </a:t>
            </a:r>
            <a:r>
              <a:rPr dirty="0" err="1"/>
              <a:t>제품에</a:t>
            </a:r>
            <a:r>
              <a:rPr dirty="0"/>
              <a:t> </a:t>
            </a:r>
            <a:r>
              <a:rPr dirty="0" err="1"/>
              <a:t>기능이</a:t>
            </a:r>
            <a:r>
              <a:rPr dirty="0"/>
              <a:t> </a:t>
            </a:r>
            <a:r>
              <a:rPr dirty="0" err="1"/>
              <a:t>없다는</a:t>
            </a:r>
            <a:r>
              <a:rPr dirty="0"/>
              <a:t> </a:t>
            </a:r>
            <a:r>
              <a:rPr dirty="0" err="1"/>
              <a:t>것이</a:t>
            </a:r>
            <a:r>
              <a:rPr dirty="0"/>
              <a:t> </a:t>
            </a:r>
            <a:r>
              <a:rPr dirty="0" err="1"/>
              <a:t>아니라</a:t>
            </a:r>
            <a:r>
              <a:rPr dirty="0"/>
              <a:t>, </a:t>
            </a:r>
            <a:r>
              <a:rPr dirty="0" err="1"/>
              <a:t>원문</a:t>
            </a:r>
            <a:r>
              <a:rPr dirty="0"/>
              <a:t> </a:t>
            </a:r>
            <a:r>
              <a:rPr dirty="0" err="1"/>
              <a:t>근거에서</a:t>
            </a:r>
            <a:r>
              <a:rPr dirty="0"/>
              <a:t> </a:t>
            </a:r>
            <a:r>
              <a:rPr dirty="0" err="1"/>
              <a:t>역할·역량을</a:t>
            </a:r>
            <a:r>
              <a:rPr dirty="0"/>
              <a:t> </a:t>
            </a:r>
            <a:r>
              <a:rPr dirty="0" err="1"/>
              <a:t>도출해</a:t>
            </a:r>
            <a:r>
              <a:rPr dirty="0"/>
              <a:t> </a:t>
            </a:r>
            <a:r>
              <a:rPr dirty="0" err="1"/>
              <a:t>후보</a:t>
            </a:r>
            <a:r>
              <a:rPr dirty="0"/>
              <a:t> </a:t>
            </a:r>
            <a:r>
              <a:rPr dirty="0" err="1"/>
              <a:t>비교와</a:t>
            </a:r>
            <a:r>
              <a:rPr dirty="0"/>
              <a:t> </a:t>
            </a:r>
            <a:r>
              <a:rPr dirty="0" err="1"/>
              <a:t>추천</a:t>
            </a:r>
            <a:r>
              <a:rPr dirty="0"/>
              <a:t> </a:t>
            </a:r>
            <a:r>
              <a:rPr dirty="0" err="1"/>
              <a:t>이유까지</a:t>
            </a:r>
            <a:r>
              <a:rPr dirty="0"/>
              <a:t> </a:t>
            </a:r>
            <a:r>
              <a:rPr dirty="0" err="1"/>
              <a:t>연결하는</a:t>
            </a:r>
            <a:r>
              <a:rPr dirty="0"/>
              <a:t> </a:t>
            </a:r>
            <a:r>
              <a:rPr dirty="0" err="1"/>
              <a:t>기본</a:t>
            </a:r>
            <a:r>
              <a:rPr dirty="0"/>
              <a:t> </a:t>
            </a:r>
            <a:r>
              <a:rPr dirty="0" err="1"/>
              <a:t>제공</a:t>
            </a:r>
            <a:r>
              <a:rPr dirty="0"/>
              <a:t> </a:t>
            </a:r>
            <a:r>
              <a:rPr dirty="0" err="1"/>
              <a:t>흐름을</a:t>
            </a:r>
            <a:r>
              <a:rPr dirty="0"/>
              <a:t> </a:t>
            </a:r>
            <a:r>
              <a:rPr dirty="0" err="1"/>
              <a:t>확인하지</a:t>
            </a:r>
            <a:r>
              <a:rPr dirty="0"/>
              <a:t> </a:t>
            </a:r>
            <a:r>
              <a:rPr dirty="0" err="1"/>
              <a:t>못했다는</a:t>
            </a:r>
            <a:r>
              <a:rPr dirty="0"/>
              <a:t> 것.</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[8장 · </a:t>
            </a:r>
            <a:r>
              <a:rPr dirty="0" err="1"/>
              <a:t>프로젝트</a:t>
            </a:r>
            <a:r>
              <a:rPr dirty="0"/>
              <a:t> </a:t>
            </a:r>
            <a:r>
              <a:rPr dirty="0" err="1"/>
              <a:t>목표</a:t>
            </a:r>
            <a:r>
              <a:rPr dirty="0"/>
              <a:t>]</a:t>
            </a:r>
          </a:p>
          <a:p>
            <a:endParaRPr dirty="0"/>
          </a:p>
          <a:p>
            <a:r>
              <a:rPr dirty="0" err="1"/>
              <a:t>그래서</a:t>
            </a:r>
            <a:r>
              <a:rPr dirty="0"/>
              <a:t> </a:t>
            </a:r>
            <a:r>
              <a:rPr lang="ko-KR" altLang="en-US" dirty="0"/>
              <a:t>저희는 </a:t>
            </a:r>
            <a:r>
              <a:rPr dirty="0" err="1"/>
              <a:t>목표를</a:t>
            </a:r>
            <a:r>
              <a:rPr dirty="0"/>
              <a:t> 세 </a:t>
            </a:r>
            <a:r>
              <a:rPr dirty="0" err="1"/>
              <a:t>단계로</a:t>
            </a:r>
            <a:r>
              <a:rPr dirty="0"/>
              <a:t> 잡</a:t>
            </a:r>
            <a:r>
              <a:rPr lang="ko-KR" altLang="en-US" dirty="0" err="1"/>
              <a:t>았습니다</a:t>
            </a:r>
            <a:r>
              <a:rPr dirty="0"/>
              <a:t>.</a:t>
            </a:r>
          </a:p>
          <a:p>
            <a:endParaRPr dirty="0"/>
          </a:p>
          <a:p>
            <a:r>
              <a:rPr dirty="0" err="1"/>
              <a:t>첫째</a:t>
            </a:r>
            <a:r>
              <a:rPr dirty="0"/>
              <a:t>, </a:t>
            </a:r>
            <a:r>
              <a:rPr lang="ko-KR" altLang="en-US" dirty="0"/>
              <a:t>문서 구조화</a:t>
            </a:r>
            <a:r>
              <a:rPr lang="en-US" altLang="ko-KR" dirty="0"/>
              <a:t>. </a:t>
            </a:r>
            <a:r>
              <a:rPr dirty="0" err="1"/>
              <a:t>비정형</a:t>
            </a:r>
            <a:r>
              <a:rPr dirty="0"/>
              <a:t> </a:t>
            </a:r>
            <a:r>
              <a:rPr dirty="0" err="1"/>
              <a:t>문서에서</a:t>
            </a:r>
            <a:r>
              <a:rPr dirty="0"/>
              <a:t> </a:t>
            </a:r>
            <a:r>
              <a:rPr dirty="0" err="1"/>
              <a:t>업무와</a:t>
            </a:r>
            <a:r>
              <a:rPr dirty="0"/>
              <a:t> </a:t>
            </a:r>
            <a:r>
              <a:rPr dirty="0" err="1"/>
              <a:t>역할</a:t>
            </a:r>
            <a:r>
              <a:rPr dirty="0"/>
              <a:t>, </a:t>
            </a:r>
            <a:r>
              <a:rPr dirty="0" err="1"/>
              <a:t>필요</a:t>
            </a:r>
            <a:r>
              <a:rPr dirty="0"/>
              <a:t> </a:t>
            </a:r>
            <a:r>
              <a:rPr dirty="0" err="1"/>
              <a:t>역량을</a:t>
            </a:r>
            <a:r>
              <a:rPr dirty="0"/>
              <a:t> </a:t>
            </a:r>
            <a:r>
              <a:rPr dirty="0" err="1"/>
              <a:t>공통</a:t>
            </a:r>
            <a:r>
              <a:rPr dirty="0"/>
              <a:t> </a:t>
            </a:r>
            <a:r>
              <a:rPr dirty="0" err="1"/>
              <a:t>구조로</a:t>
            </a:r>
            <a:r>
              <a:rPr dirty="0"/>
              <a:t> </a:t>
            </a:r>
            <a:r>
              <a:rPr dirty="0" err="1"/>
              <a:t>뽑고</a:t>
            </a:r>
            <a:r>
              <a:rPr dirty="0"/>
              <a:t> </a:t>
            </a:r>
            <a:r>
              <a:rPr dirty="0" err="1"/>
              <a:t>원문</a:t>
            </a:r>
            <a:r>
              <a:rPr dirty="0"/>
              <a:t> </a:t>
            </a:r>
            <a:r>
              <a:rPr dirty="0" err="1"/>
              <a:t>근거를</a:t>
            </a:r>
            <a:r>
              <a:rPr dirty="0"/>
              <a:t> </a:t>
            </a:r>
            <a:r>
              <a:rPr dirty="0" err="1"/>
              <a:t>남깁니다</a:t>
            </a:r>
            <a:r>
              <a:rPr dirty="0"/>
              <a:t>.</a:t>
            </a:r>
          </a:p>
          <a:p>
            <a:endParaRPr dirty="0"/>
          </a:p>
          <a:p>
            <a:r>
              <a:rPr dirty="0" err="1"/>
              <a:t>둘째</a:t>
            </a:r>
            <a:r>
              <a:rPr dirty="0"/>
              <a:t>, </a:t>
            </a:r>
            <a:r>
              <a:rPr lang="ko-KR" altLang="en-US" dirty="0"/>
              <a:t>업무 </a:t>
            </a:r>
            <a:r>
              <a:rPr lang="ko-KR" altLang="en-US" dirty="0" err="1"/>
              <a:t>분배안</a:t>
            </a:r>
            <a:r>
              <a:rPr lang="ko-KR" altLang="en-US" dirty="0"/>
              <a:t> 제시</a:t>
            </a:r>
            <a:r>
              <a:rPr lang="en-US" altLang="ko-KR" dirty="0"/>
              <a:t>. </a:t>
            </a:r>
            <a:r>
              <a:rPr dirty="0"/>
              <a:t>그 </a:t>
            </a:r>
            <a:r>
              <a:rPr dirty="0" err="1"/>
              <a:t>요구와</a:t>
            </a:r>
            <a:r>
              <a:rPr dirty="0"/>
              <a:t> </a:t>
            </a:r>
            <a:r>
              <a:rPr dirty="0" err="1"/>
              <a:t>구성원의</a:t>
            </a:r>
            <a:r>
              <a:rPr dirty="0"/>
              <a:t> </a:t>
            </a:r>
            <a:r>
              <a:rPr dirty="0" err="1"/>
              <a:t>경험·역량·가용량을</a:t>
            </a:r>
            <a:r>
              <a:rPr dirty="0"/>
              <a:t> </a:t>
            </a:r>
            <a:r>
              <a:rPr dirty="0" err="1"/>
              <a:t>같은</a:t>
            </a:r>
            <a:r>
              <a:rPr dirty="0"/>
              <a:t> </a:t>
            </a:r>
            <a:r>
              <a:rPr dirty="0" err="1"/>
              <a:t>기준으로</a:t>
            </a:r>
            <a:r>
              <a:rPr dirty="0"/>
              <a:t> </a:t>
            </a:r>
            <a:r>
              <a:rPr dirty="0" err="1"/>
              <a:t>비교해</a:t>
            </a:r>
            <a:r>
              <a:rPr dirty="0"/>
              <a:t> </a:t>
            </a:r>
            <a:r>
              <a:rPr dirty="0" err="1"/>
              <a:t>후보를</a:t>
            </a:r>
            <a:r>
              <a:rPr dirty="0"/>
              <a:t> </a:t>
            </a:r>
            <a:r>
              <a:rPr dirty="0" err="1"/>
              <a:t>여러</a:t>
            </a:r>
            <a:r>
              <a:rPr dirty="0"/>
              <a:t> 명 </a:t>
            </a:r>
            <a:r>
              <a:rPr dirty="0" err="1"/>
              <a:t>제시합니다</a:t>
            </a:r>
            <a:r>
              <a:rPr dirty="0"/>
              <a:t>.</a:t>
            </a:r>
          </a:p>
          <a:p>
            <a:endParaRPr dirty="0"/>
          </a:p>
          <a:p>
            <a:r>
              <a:rPr dirty="0" err="1"/>
              <a:t>셋째</a:t>
            </a:r>
            <a:r>
              <a:rPr dirty="0"/>
              <a:t>, </a:t>
            </a:r>
            <a:r>
              <a:rPr lang="ko-KR" altLang="en-US" dirty="0"/>
              <a:t>근거 기록</a:t>
            </a:r>
            <a:r>
              <a:rPr lang="en-US" altLang="ko-KR" dirty="0"/>
              <a:t>. </a:t>
            </a:r>
            <a:r>
              <a:rPr dirty="0" err="1"/>
              <a:t>매칭</a:t>
            </a:r>
            <a:r>
              <a:rPr dirty="0"/>
              <a:t> </a:t>
            </a:r>
            <a:r>
              <a:rPr dirty="0" err="1"/>
              <a:t>근거와</a:t>
            </a:r>
            <a:r>
              <a:rPr dirty="0"/>
              <a:t> </a:t>
            </a:r>
            <a:r>
              <a:rPr dirty="0" err="1"/>
              <a:t>PM이</a:t>
            </a:r>
            <a:r>
              <a:rPr dirty="0"/>
              <a:t> </a:t>
            </a:r>
            <a:r>
              <a:rPr dirty="0" err="1"/>
              <a:t>최종적으로</a:t>
            </a:r>
            <a:r>
              <a:rPr dirty="0"/>
              <a:t> </a:t>
            </a:r>
            <a:r>
              <a:rPr dirty="0" err="1"/>
              <a:t>무엇을</a:t>
            </a:r>
            <a:r>
              <a:rPr dirty="0"/>
              <a:t> </a:t>
            </a:r>
            <a:r>
              <a:rPr dirty="0" err="1"/>
              <a:t>선택했는지</a:t>
            </a:r>
            <a:r>
              <a:rPr dirty="0"/>
              <a:t>, </a:t>
            </a:r>
            <a:r>
              <a:rPr dirty="0" err="1"/>
              <a:t>바꿨다면</a:t>
            </a:r>
            <a:r>
              <a:rPr dirty="0"/>
              <a:t> 왜 </a:t>
            </a:r>
            <a:r>
              <a:rPr dirty="0" err="1"/>
              <a:t>바꿨는지를</a:t>
            </a:r>
            <a:r>
              <a:rPr dirty="0"/>
              <a:t> </a:t>
            </a:r>
            <a:r>
              <a:rPr dirty="0" err="1"/>
              <a:t>기록합니다</a:t>
            </a:r>
            <a:r>
              <a:rPr dirty="0"/>
              <a:t>.</a:t>
            </a:r>
          </a:p>
          <a:p>
            <a:endParaRPr dirty="0"/>
          </a:p>
          <a:p>
            <a:r>
              <a:rPr dirty="0" err="1"/>
              <a:t>중요한</a:t>
            </a:r>
            <a:r>
              <a:rPr dirty="0"/>
              <a:t> 건 </a:t>
            </a:r>
            <a:r>
              <a:rPr dirty="0" err="1"/>
              <a:t>자동</a:t>
            </a:r>
            <a:r>
              <a:rPr dirty="0"/>
              <a:t> </a:t>
            </a:r>
            <a:r>
              <a:rPr dirty="0" err="1"/>
              <a:t>배정이</a:t>
            </a:r>
            <a:r>
              <a:rPr dirty="0"/>
              <a:t> </a:t>
            </a:r>
            <a:r>
              <a:rPr dirty="0" err="1"/>
              <a:t>아니라는</a:t>
            </a:r>
            <a:r>
              <a:rPr dirty="0"/>
              <a:t> </a:t>
            </a:r>
            <a:r>
              <a:rPr dirty="0" err="1"/>
              <a:t>점입니다</a:t>
            </a:r>
            <a:r>
              <a:rPr dirty="0"/>
              <a:t>.</a:t>
            </a:r>
          </a:p>
          <a:p>
            <a:endParaRPr dirty="0"/>
          </a:p>
          <a:p>
            <a:r>
              <a:rPr dirty="0" err="1"/>
              <a:t>결정은</a:t>
            </a:r>
            <a:r>
              <a:rPr dirty="0"/>
              <a:t> </a:t>
            </a:r>
            <a:r>
              <a:rPr dirty="0" err="1"/>
              <a:t>PM이</a:t>
            </a:r>
            <a:r>
              <a:rPr dirty="0"/>
              <a:t> </a:t>
            </a:r>
            <a:r>
              <a:rPr dirty="0" err="1"/>
              <a:t>하고</a:t>
            </a:r>
            <a:r>
              <a:rPr dirty="0"/>
              <a:t>, </a:t>
            </a:r>
            <a:r>
              <a:rPr dirty="0" err="1"/>
              <a:t>저희는</a:t>
            </a:r>
            <a:r>
              <a:rPr dirty="0"/>
              <a:t> 그 </a:t>
            </a:r>
            <a:r>
              <a:rPr dirty="0" err="1"/>
              <a:t>결정을</a:t>
            </a:r>
            <a:r>
              <a:rPr dirty="0"/>
              <a:t> </a:t>
            </a:r>
            <a:r>
              <a:rPr dirty="0" err="1"/>
              <a:t>설명할</a:t>
            </a:r>
            <a:r>
              <a:rPr dirty="0"/>
              <a:t> 수 </a:t>
            </a:r>
            <a:r>
              <a:rPr dirty="0" err="1"/>
              <a:t>있게</a:t>
            </a:r>
            <a:r>
              <a:rPr dirty="0"/>
              <a:t> </a:t>
            </a:r>
            <a:r>
              <a:rPr dirty="0" err="1"/>
              <a:t>만드는</a:t>
            </a:r>
            <a:r>
              <a:rPr dirty="0"/>
              <a:t> </a:t>
            </a:r>
            <a:r>
              <a:rPr dirty="0" err="1"/>
              <a:t>것이</a:t>
            </a:r>
            <a:r>
              <a:rPr dirty="0"/>
              <a:t> </a:t>
            </a:r>
            <a:r>
              <a:rPr lang="ko-KR" altLang="en-US" dirty="0"/>
              <a:t>이번 프로젝트의 </a:t>
            </a:r>
            <a:r>
              <a:rPr dirty="0" err="1"/>
              <a:t>목표입니다</a:t>
            </a:r>
            <a:r>
              <a:rPr dirty="0"/>
              <a:t>.</a:t>
            </a:r>
          </a:p>
          <a:p>
            <a:endParaRPr dirty="0"/>
          </a:p>
          <a:p>
            <a:r>
              <a:rPr dirty="0"/>
              <a:t>▪ </a:t>
            </a:r>
            <a:r>
              <a:rPr dirty="0" err="1"/>
              <a:t>요점</a:t>
            </a:r>
            <a:endParaRPr dirty="0"/>
          </a:p>
          <a:p>
            <a:r>
              <a:rPr dirty="0"/>
              <a:t>· </a:t>
            </a:r>
            <a:r>
              <a:rPr dirty="0" err="1"/>
              <a:t>구조화</a:t>
            </a:r>
            <a:r>
              <a:rPr dirty="0"/>
              <a:t> → </a:t>
            </a:r>
            <a:r>
              <a:rPr dirty="0" err="1"/>
              <a:t>비교</a:t>
            </a:r>
            <a:r>
              <a:rPr dirty="0"/>
              <a:t> → </a:t>
            </a:r>
            <a:r>
              <a:rPr dirty="0" err="1"/>
              <a:t>기록</a:t>
            </a:r>
            <a:r>
              <a:rPr dirty="0"/>
              <a:t> / ▸ </a:t>
            </a:r>
            <a:r>
              <a:rPr dirty="0" err="1"/>
              <a:t>자동</a:t>
            </a:r>
            <a:r>
              <a:rPr dirty="0"/>
              <a:t> </a:t>
            </a:r>
            <a:r>
              <a:rPr dirty="0" err="1"/>
              <a:t>배정이</a:t>
            </a:r>
            <a:r>
              <a:rPr dirty="0"/>
              <a:t> </a:t>
            </a:r>
            <a:r>
              <a:rPr dirty="0" err="1"/>
              <a:t>아니라</a:t>
            </a:r>
            <a:r>
              <a:rPr dirty="0"/>
              <a:t> </a:t>
            </a:r>
            <a:r>
              <a:rPr dirty="0" err="1"/>
              <a:t>설명</a:t>
            </a:r>
            <a:r>
              <a:rPr dirty="0"/>
              <a:t> </a:t>
            </a:r>
            <a:r>
              <a:rPr dirty="0" err="1"/>
              <a:t>가능한</a:t>
            </a:r>
            <a:r>
              <a:rPr dirty="0"/>
              <a:t> </a:t>
            </a:r>
            <a:r>
              <a:rPr dirty="0" err="1"/>
              <a:t>의사결정</a:t>
            </a:r>
            <a:r>
              <a:rPr dirty="0"/>
              <a:t> </a:t>
            </a:r>
            <a:r>
              <a:rPr dirty="0" err="1"/>
              <a:t>지원</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[9장 · 섹션 표지]</a:t>
            </a:r>
          </a:p>
          <a:p>
            <a:endParaRPr/>
          </a:p>
          <a:p>
            <a:r>
              <a:t>이제 시스템이 어떻게 구성되어 있는지 보시겠습니다.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[10장 · </a:t>
            </a:r>
            <a:r>
              <a:rPr dirty="0" err="1"/>
              <a:t>구성요소</a:t>
            </a:r>
            <a:r>
              <a:rPr dirty="0"/>
              <a:t> 및 </a:t>
            </a:r>
            <a:r>
              <a:rPr dirty="0" err="1"/>
              <a:t>기술</a:t>
            </a:r>
            <a:r>
              <a:rPr dirty="0"/>
              <a:t> </a:t>
            </a:r>
            <a:r>
              <a:rPr dirty="0" err="1"/>
              <a:t>스택</a:t>
            </a:r>
            <a:r>
              <a:rPr dirty="0"/>
              <a:t>]</a:t>
            </a:r>
          </a:p>
          <a:p>
            <a:endParaRPr dirty="0"/>
          </a:p>
          <a:p>
            <a:r>
              <a:rPr dirty="0" err="1"/>
              <a:t>프론트는</a:t>
            </a:r>
            <a:r>
              <a:rPr dirty="0"/>
              <a:t> React 19와 Vite, </a:t>
            </a:r>
            <a:r>
              <a:rPr dirty="0" err="1"/>
              <a:t>백엔드는</a:t>
            </a:r>
            <a:r>
              <a:rPr dirty="0"/>
              <a:t> </a:t>
            </a:r>
            <a:r>
              <a:rPr dirty="0" err="1"/>
              <a:t>Django와</a:t>
            </a:r>
            <a:r>
              <a:rPr dirty="0"/>
              <a:t> </a:t>
            </a:r>
            <a:r>
              <a:rPr dirty="0" err="1"/>
              <a:t>DRF입니다</a:t>
            </a:r>
            <a:r>
              <a:rPr dirty="0"/>
              <a:t>.</a:t>
            </a:r>
          </a:p>
          <a:p>
            <a:endParaRPr dirty="0"/>
          </a:p>
          <a:p>
            <a:r>
              <a:rPr dirty="0" err="1"/>
              <a:t>데이터는</a:t>
            </a:r>
            <a:r>
              <a:rPr dirty="0"/>
              <a:t> PostgreSQL 17에 </a:t>
            </a:r>
            <a:r>
              <a:rPr dirty="0" err="1"/>
              <a:t>pgvector를</a:t>
            </a:r>
            <a:r>
              <a:rPr dirty="0"/>
              <a:t> </a:t>
            </a:r>
            <a:r>
              <a:rPr dirty="0" err="1"/>
              <a:t>얹어</a:t>
            </a:r>
            <a:r>
              <a:rPr dirty="0"/>
              <a:t> </a:t>
            </a:r>
            <a:r>
              <a:rPr dirty="0" err="1"/>
              <a:t>테이블</a:t>
            </a:r>
            <a:r>
              <a:rPr lang="ko-KR" altLang="en-US" dirty="0"/>
              <a:t>을</a:t>
            </a:r>
            <a:r>
              <a:rPr dirty="0"/>
              <a:t> </a:t>
            </a:r>
            <a:r>
              <a:rPr dirty="0" err="1"/>
              <a:t>설계했고</a:t>
            </a:r>
            <a:r>
              <a:rPr dirty="0"/>
              <a:t>, </a:t>
            </a:r>
            <a:r>
              <a:rPr dirty="0" err="1"/>
              <a:t>문서</a:t>
            </a:r>
            <a:r>
              <a:rPr dirty="0"/>
              <a:t> </a:t>
            </a:r>
            <a:r>
              <a:rPr dirty="0" err="1"/>
              <a:t>처리는</a:t>
            </a:r>
            <a:r>
              <a:rPr dirty="0"/>
              <a:t> </a:t>
            </a:r>
            <a:r>
              <a:rPr dirty="0" err="1"/>
              <a:t>RunPod</a:t>
            </a:r>
            <a:r>
              <a:rPr dirty="0"/>
              <a:t> </a:t>
            </a:r>
            <a:r>
              <a:rPr dirty="0" err="1"/>
              <a:t>서버리스에서</a:t>
            </a:r>
            <a:r>
              <a:rPr dirty="0"/>
              <a:t> </a:t>
            </a:r>
            <a:r>
              <a:rPr dirty="0" err="1"/>
              <a:t>Docling과</a:t>
            </a:r>
            <a:r>
              <a:rPr dirty="0"/>
              <a:t> </a:t>
            </a:r>
            <a:r>
              <a:rPr dirty="0" err="1"/>
              <a:t>EmbeddingGemma</a:t>
            </a:r>
            <a:r>
              <a:rPr lang="ko-KR" altLang="en-US" dirty="0"/>
              <a:t>를 사용합니다</a:t>
            </a:r>
            <a:r>
              <a:rPr dirty="0"/>
              <a:t>.</a:t>
            </a:r>
          </a:p>
          <a:p>
            <a:endParaRPr dirty="0"/>
          </a:p>
          <a:p>
            <a:r>
              <a:rPr dirty="0" err="1"/>
              <a:t>외부</a:t>
            </a:r>
            <a:r>
              <a:rPr dirty="0"/>
              <a:t> </a:t>
            </a:r>
            <a:r>
              <a:rPr dirty="0" err="1"/>
              <a:t>연동은</a:t>
            </a:r>
            <a:r>
              <a:rPr dirty="0"/>
              <a:t> Google </a:t>
            </a:r>
            <a:r>
              <a:rPr dirty="0" err="1"/>
              <a:t>Drive와</a:t>
            </a:r>
            <a:r>
              <a:rPr dirty="0"/>
              <a:t> Jira, </a:t>
            </a:r>
            <a:r>
              <a:rPr dirty="0" err="1"/>
              <a:t>그리고</a:t>
            </a:r>
            <a:r>
              <a:rPr dirty="0"/>
              <a:t> OpenAI</a:t>
            </a:r>
            <a:r>
              <a:rPr lang="ko-KR" altLang="en-US" dirty="0"/>
              <a:t>를 연결하였습니다</a:t>
            </a:r>
            <a:r>
              <a:rPr dirty="0"/>
              <a:t>.</a:t>
            </a:r>
          </a:p>
          <a:p>
            <a:endParaRPr dirty="0"/>
          </a:p>
          <a:p>
            <a:r>
              <a:rPr dirty="0"/>
              <a:t>▪ </a:t>
            </a:r>
            <a:r>
              <a:rPr dirty="0" err="1"/>
              <a:t>요점</a:t>
            </a:r>
            <a:endParaRPr dirty="0"/>
          </a:p>
          <a:p>
            <a:r>
              <a:rPr dirty="0"/>
              <a:t>· React/Django / ▸ ORM </a:t>
            </a:r>
            <a:r>
              <a:rPr dirty="0" err="1"/>
              <a:t>없이</a:t>
            </a:r>
            <a:r>
              <a:rPr dirty="0"/>
              <a:t> </a:t>
            </a:r>
            <a:r>
              <a:rPr dirty="0" err="1"/>
              <a:t>직접</a:t>
            </a:r>
            <a:r>
              <a:rPr dirty="0"/>
              <a:t> SQL / </a:t>
            </a:r>
            <a:r>
              <a:rPr dirty="0" err="1"/>
              <a:t>pgvector</a:t>
            </a:r>
            <a:r>
              <a:rPr dirty="0"/>
              <a:t> 48테이블 / </a:t>
            </a:r>
            <a:r>
              <a:rPr dirty="0" err="1"/>
              <a:t>RunPod</a:t>
            </a:r>
            <a:endParaRPr dirty="0"/>
          </a:p>
          <a:p>
            <a:r>
              <a:rPr dirty="0"/>
              <a:t>· (</a:t>
            </a:r>
            <a:r>
              <a:rPr dirty="0" err="1"/>
              <a:t>질문</a:t>
            </a:r>
            <a:r>
              <a:rPr dirty="0"/>
              <a:t> </a:t>
            </a:r>
            <a:r>
              <a:rPr dirty="0" err="1"/>
              <a:t>대비</a:t>
            </a:r>
            <a:r>
              <a:rPr dirty="0"/>
              <a:t>: </a:t>
            </a:r>
            <a:r>
              <a:rPr dirty="0" err="1"/>
              <a:t>ORM을</a:t>
            </a:r>
            <a:r>
              <a:rPr dirty="0"/>
              <a:t> 안 쓴 </a:t>
            </a:r>
            <a:r>
              <a:rPr dirty="0" err="1"/>
              <a:t>이유</a:t>
            </a:r>
            <a:r>
              <a:rPr dirty="0"/>
              <a:t> — </a:t>
            </a:r>
            <a:r>
              <a:rPr dirty="0" err="1"/>
              <a:t>벡터</a:t>
            </a:r>
            <a:r>
              <a:rPr dirty="0"/>
              <a:t> </a:t>
            </a:r>
            <a:r>
              <a:rPr dirty="0" err="1"/>
              <a:t>검색과</a:t>
            </a:r>
            <a:r>
              <a:rPr dirty="0"/>
              <a:t> </a:t>
            </a:r>
            <a:r>
              <a:rPr dirty="0" err="1"/>
              <a:t>통계</a:t>
            </a:r>
            <a:r>
              <a:rPr dirty="0"/>
              <a:t> </a:t>
            </a:r>
            <a:r>
              <a:rPr dirty="0" err="1"/>
              <a:t>쿼리를</a:t>
            </a:r>
            <a:r>
              <a:rPr dirty="0"/>
              <a:t> </a:t>
            </a:r>
            <a:r>
              <a:rPr dirty="0" err="1"/>
              <a:t>손으로</a:t>
            </a:r>
            <a:r>
              <a:rPr dirty="0"/>
              <a:t> </a:t>
            </a:r>
            <a:r>
              <a:rPr dirty="0" err="1"/>
              <a:t>튜닝하기</a:t>
            </a:r>
            <a:r>
              <a:rPr dirty="0"/>
              <a:t> </a:t>
            </a:r>
            <a:r>
              <a:rPr dirty="0" err="1"/>
              <a:t>위해</a:t>
            </a:r>
            <a:r>
              <a:rPr dirty="0"/>
              <a:t>)</a:t>
            </a:r>
          </a:p>
          <a:p>
            <a:endParaRPr dirty="0"/>
          </a:p>
          <a:p>
            <a:r>
              <a:rPr dirty="0"/>
              <a:t>─────────────  </a:t>
            </a:r>
            <a:r>
              <a:rPr dirty="0" err="1"/>
              <a:t>배경</a:t>
            </a:r>
            <a:r>
              <a:rPr dirty="0"/>
              <a:t> · </a:t>
            </a:r>
            <a:r>
              <a:rPr dirty="0" err="1"/>
              <a:t>질의응답</a:t>
            </a:r>
            <a:r>
              <a:rPr dirty="0"/>
              <a:t> </a:t>
            </a:r>
            <a:r>
              <a:rPr dirty="0" err="1"/>
              <a:t>대비</a:t>
            </a:r>
            <a:r>
              <a:rPr dirty="0"/>
              <a:t>  ─────────────</a:t>
            </a:r>
          </a:p>
          <a:p>
            <a:endParaRPr dirty="0"/>
          </a:p>
          <a:p>
            <a:r>
              <a:rPr dirty="0"/>
              <a:t>Django </a:t>
            </a:r>
            <a:r>
              <a:rPr dirty="0" err="1"/>
              <a:t>ORM을</a:t>
            </a:r>
            <a:r>
              <a:rPr dirty="0"/>
              <a:t> </a:t>
            </a:r>
            <a:r>
              <a:rPr dirty="0" err="1"/>
              <a:t>쓰지</a:t>
            </a:r>
            <a:r>
              <a:rPr dirty="0"/>
              <a:t> </a:t>
            </a:r>
            <a:r>
              <a:rPr dirty="0" err="1"/>
              <a:t>않는다</a:t>
            </a:r>
            <a:r>
              <a:rPr dirty="0"/>
              <a:t> — </a:t>
            </a:r>
            <a:r>
              <a:rPr dirty="0" err="1"/>
              <a:t>DATABASES가</a:t>
            </a:r>
            <a:r>
              <a:rPr dirty="0"/>
              <a:t> </a:t>
            </a:r>
            <a:r>
              <a:rPr dirty="0" err="1"/>
              <a:t>비어</a:t>
            </a:r>
            <a:r>
              <a:rPr dirty="0"/>
              <a:t> </a:t>
            </a:r>
            <a:r>
              <a:rPr dirty="0" err="1"/>
              <a:t>있고</a:t>
            </a:r>
            <a:r>
              <a:rPr dirty="0"/>
              <a:t> </a:t>
            </a:r>
            <a:r>
              <a:rPr dirty="0" err="1"/>
              <a:t>repositories.py가</a:t>
            </a:r>
            <a:r>
              <a:rPr dirty="0"/>
              <a:t> </a:t>
            </a:r>
            <a:r>
              <a:rPr dirty="0" err="1"/>
              <a:t>psycopg로</a:t>
            </a:r>
            <a:r>
              <a:rPr dirty="0"/>
              <a:t> </a:t>
            </a:r>
            <a:r>
              <a:rPr dirty="0" err="1"/>
              <a:t>직접</a:t>
            </a:r>
            <a:r>
              <a:rPr dirty="0"/>
              <a:t> </a:t>
            </a:r>
            <a:r>
              <a:rPr dirty="0" err="1"/>
              <a:t>SQL을</a:t>
            </a:r>
            <a:r>
              <a:rPr dirty="0"/>
              <a:t> </a:t>
            </a:r>
            <a:r>
              <a:rPr dirty="0" err="1"/>
              <a:t>쓴다</a:t>
            </a:r>
            <a:r>
              <a:rPr dirty="0"/>
              <a:t>.</a:t>
            </a:r>
          </a:p>
          <a:p>
            <a:r>
              <a:rPr dirty="0" err="1"/>
              <a:t>마이그레이션은</a:t>
            </a:r>
            <a:r>
              <a:rPr dirty="0"/>
              <a:t> </a:t>
            </a:r>
            <a:r>
              <a:rPr dirty="0" err="1"/>
              <a:t>멱등</a:t>
            </a:r>
            <a:r>
              <a:rPr dirty="0"/>
              <a:t> SQL </a:t>
            </a:r>
            <a:r>
              <a:rPr dirty="0" err="1"/>
              <a:t>스크립트</a:t>
            </a:r>
            <a:r>
              <a:rPr dirty="0"/>
              <a:t>.</a:t>
            </a:r>
          </a:p>
          <a:p>
            <a:r>
              <a:rPr dirty="0" err="1"/>
              <a:t>RunPod</a:t>
            </a:r>
            <a:r>
              <a:rPr dirty="0"/>
              <a:t> </a:t>
            </a:r>
            <a:r>
              <a:rPr dirty="0" err="1"/>
              <a:t>Worker는</a:t>
            </a:r>
            <a:r>
              <a:rPr dirty="0"/>
              <a:t> </a:t>
            </a:r>
            <a:r>
              <a:rPr dirty="0" err="1"/>
              <a:t>별도</a:t>
            </a:r>
            <a:r>
              <a:rPr dirty="0"/>
              <a:t> </a:t>
            </a:r>
            <a:r>
              <a:rPr dirty="0" err="1"/>
              <a:t>저장소이며</a:t>
            </a:r>
            <a:r>
              <a:rPr dirty="0"/>
              <a:t> </a:t>
            </a:r>
            <a:r>
              <a:rPr dirty="0" err="1"/>
              <a:t>콘솔</a:t>
            </a:r>
            <a:r>
              <a:rPr dirty="0"/>
              <a:t> </a:t>
            </a:r>
            <a:r>
              <a:rPr dirty="0" err="1"/>
              <a:t>빌드로</a:t>
            </a:r>
            <a:r>
              <a:rPr dirty="0"/>
              <a:t> </a:t>
            </a:r>
            <a:r>
              <a:rPr dirty="0" err="1"/>
              <a:t>반영된다</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[11장 · </a:t>
            </a:r>
            <a:r>
              <a:rPr dirty="0" err="1"/>
              <a:t>기본</a:t>
            </a:r>
            <a:r>
              <a:rPr dirty="0"/>
              <a:t> </a:t>
            </a:r>
            <a:r>
              <a:rPr dirty="0" err="1"/>
              <a:t>플로우차트</a:t>
            </a:r>
            <a:r>
              <a:rPr dirty="0"/>
              <a:t>]</a:t>
            </a:r>
          </a:p>
          <a:p>
            <a:endParaRPr dirty="0"/>
          </a:p>
          <a:p>
            <a:r>
              <a:rPr dirty="0" err="1"/>
              <a:t>전체</a:t>
            </a:r>
            <a:r>
              <a:rPr dirty="0"/>
              <a:t> </a:t>
            </a:r>
            <a:r>
              <a:rPr dirty="0" err="1"/>
              <a:t>흐름입니다</a:t>
            </a:r>
            <a:r>
              <a:rPr dirty="0"/>
              <a:t>.</a:t>
            </a:r>
          </a:p>
          <a:p>
            <a:endParaRPr dirty="0"/>
          </a:p>
          <a:p>
            <a:r>
              <a:rPr dirty="0" err="1"/>
              <a:t>수집과</a:t>
            </a:r>
            <a:r>
              <a:rPr dirty="0"/>
              <a:t> </a:t>
            </a:r>
            <a:r>
              <a:rPr dirty="0" err="1"/>
              <a:t>처리</a:t>
            </a:r>
            <a:r>
              <a:rPr lang="en-US" dirty="0"/>
              <a:t> </a:t>
            </a:r>
            <a:r>
              <a:rPr lang="ko-KR" altLang="en-US" dirty="0"/>
              <a:t>그리고 데이터 활용으로 크게 나눌 수 있습니다</a:t>
            </a:r>
            <a:r>
              <a:rPr lang="en-US" altLang="ko-KR" dirty="0"/>
              <a:t>.</a:t>
            </a:r>
            <a:endParaRPr dirty="0"/>
          </a:p>
          <a:p>
            <a:endParaRPr dirty="0"/>
          </a:p>
          <a:p>
            <a:r>
              <a:rPr dirty="0" err="1"/>
              <a:t>Drive와</a:t>
            </a:r>
            <a:r>
              <a:rPr dirty="0"/>
              <a:t> </a:t>
            </a:r>
            <a:r>
              <a:rPr dirty="0" err="1"/>
              <a:t>Jira를</a:t>
            </a:r>
            <a:r>
              <a:rPr dirty="0"/>
              <a:t> </a:t>
            </a:r>
            <a:r>
              <a:rPr dirty="0" err="1"/>
              <a:t>연결하면</a:t>
            </a:r>
            <a:r>
              <a:rPr dirty="0"/>
              <a:t> </a:t>
            </a:r>
            <a:r>
              <a:rPr dirty="0" err="1"/>
              <a:t>신규</a:t>
            </a:r>
            <a:r>
              <a:rPr dirty="0"/>
              <a:t> </a:t>
            </a:r>
            <a:r>
              <a:rPr dirty="0" err="1"/>
              <a:t>파일을</a:t>
            </a:r>
            <a:r>
              <a:rPr dirty="0"/>
              <a:t> </a:t>
            </a:r>
            <a:r>
              <a:rPr dirty="0" err="1"/>
              <a:t>스캔해</a:t>
            </a:r>
            <a:r>
              <a:rPr dirty="0"/>
              <a:t> </a:t>
            </a:r>
            <a:r>
              <a:rPr dirty="0" err="1"/>
              <a:t>등록하고</a:t>
            </a:r>
            <a:r>
              <a:rPr dirty="0"/>
              <a:t>, </a:t>
            </a:r>
            <a:r>
              <a:rPr dirty="0" err="1"/>
              <a:t>원문을</a:t>
            </a:r>
            <a:r>
              <a:rPr dirty="0"/>
              <a:t> </a:t>
            </a:r>
            <a:r>
              <a:rPr dirty="0" err="1"/>
              <a:t>만료형</a:t>
            </a:r>
            <a:r>
              <a:rPr dirty="0"/>
              <a:t> </a:t>
            </a:r>
            <a:r>
              <a:rPr dirty="0" err="1"/>
              <a:t>서명</a:t>
            </a:r>
            <a:r>
              <a:rPr dirty="0"/>
              <a:t> </a:t>
            </a:r>
            <a:r>
              <a:rPr dirty="0" err="1"/>
              <a:t>URL로</a:t>
            </a:r>
            <a:r>
              <a:rPr dirty="0"/>
              <a:t> </a:t>
            </a:r>
            <a:r>
              <a:rPr dirty="0" err="1"/>
              <a:t>받아</a:t>
            </a:r>
            <a:r>
              <a:rPr dirty="0"/>
              <a:t> </a:t>
            </a:r>
            <a:r>
              <a:rPr dirty="0" err="1"/>
              <a:t>RunPod에서</a:t>
            </a:r>
            <a:r>
              <a:rPr dirty="0"/>
              <a:t> </a:t>
            </a:r>
            <a:r>
              <a:rPr dirty="0" err="1"/>
              <a:t>파싱</a:t>
            </a:r>
            <a:r>
              <a:rPr lang="en-US" dirty="0"/>
              <a:t> </a:t>
            </a:r>
            <a:r>
              <a:rPr dirty="0"/>
              <a:t>·</a:t>
            </a:r>
            <a:r>
              <a:rPr lang="en-US" dirty="0"/>
              <a:t> </a:t>
            </a:r>
            <a:r>
              <a:rPr dirty="0" err="1"/>
              <a:t>청킹</a:t>
            </a:r>
            <a:r>
              <a:rPr lang="en-US" dirty="0"/>
              <a:t> </a:t>
            </a:r>
            <a:r>
              <a:rPr dirty="0"/>
              <a:t>·</a:t>
            </a:r>
            <a:r>
              <a:rPr lang="en-US" dirty="0"/>
              <a:t> </a:t>
            </a:r>
            <a:r>
              <a:rPr dirty="0" err="1"/>
              <a:t>임베딩을</a:t>
            </a:r>
            <a:r>
              <a:rPr dirty="0"/>
              <a:t> </a:t>
            </a:r>
            <a:r>
              <a:rPr dirty="0" err="1"/>
              <a:t>거쳐</a:t>
            </a:r>
            <a:r>
              <a:rPr dirty="0"/>
              <a:t> </a:t>
            </a:r>
            <a:r>
              <a:rPr dirty="0" err="1"/>
              <a:t>적재합니다</a:t>
            </a:r>
            <a:r>
              <a:rPr dirty="0"/>
              <a:t>.</a:t>
            </a:r>
          </a:p>
          <a:p>
            <a:endParaRPr dirty="0"/>
          </a:p>
          <a:p>
            <a:r>
              <a:rPr lang="ko-KR" altLang="en-US" dirty="0"/>
              <a:t>신규 프로젝트의 기준 문서와 보조 문서를 가지고 </a:t>
            </a:r>
            <a:r>
              <a:rPr dirty="0" err="1"/>
              <a:t>에이전트가</a:t>
            </a:r>
            <a:r>
              <a:rPr dirty="0"/>
              <a:t> 5단계로 </a:t>
            </a:r>
            <a:r>
              <a:rPr dirty="0" err="1"/>
              <a:t>업무를</a:t>
            </a:r>
            <a:r>
              <a:rPr dirty="0"/>
              <a:t> </a:t>
            </a:r>
            <a:r>
              <a:rPr lang="ko-KR" altLang="en-US" dirty="0"/>
              <a:t>추출하여</a:t>
            </a:r>
            <a:r>
              <a:rPr dirty="0"/>
              <a:t> </a:t>
            </a:r>
            <a:r>
              <a:rPr dirty="0" err="1"/>
              <a:t>근거를</a:t>
            </a:r>
            <a:r>
              <a:rPr dirty="0"/>
              <a:t> </a:t>
            </a:r>
            <a:r>
              <a:rPr dirty="0" err="1"/>
              <a:t>함께</a:t>
            </a:r>
            <a:r>
              <a:rPr dirty="0"/>
              <a:t> </a:t>
            </a:r>
            <a:r>
              <a:rPr dirty="0" err="1"/>
              <a:t>보여줍니다</a:t>
            </a:r>
            <a:r>
              <a:rPr dirty="0"/>
              <a:t>.</a:t>
            </a:r>
          </a:p>
          <a:p>
            <a:endParaRPr dirty="0"/>
          </a:p>
          <a:p>
            <a:r>
              <a:rPr lang="ko-KR" altLang="en-US" dirty="0"/>
              <a:t>현재 업무량 비교 </a:t>
            </a:r>
            <a:r>
              <a:rPr lang="en-US" altLang="ko-KR" dirty="0"/>
              <a:t>, </a:t>
            </a:r>
            <a:r>
              <a:rPr lang="ko-KR" altLang="en-US" dirty="0"/>
              <a:t>후보 추천 및 </a:t>
            </a:r>
            <a:r>
              <a:rPr lang="en-US" altLang="ko-KR" dirty="0"/>
              <a:t>PM </a:t>
            </a:r>
            <a:r>
              <a:rPr lang="ko-KR" altLang="en-US" dirty="0"/>
              <a:t>결정</a:t>
            </a:r>
            <a:r>
              <a:rPr dirty="0"/>
              <a:t> </a:t>
            </a:r>
            <a:r>
              <a:rPr dirty="0" err="1"/>
              <a:t>단계는</a:t>
            </a:r>
            <a:r>
              <a:rPr dirty="0"/>
              <a:t> 아</a:t>
            </a:r>
            <a:r>
              <a:rPr lang="ko-KR" altLang="en-US" dirty="0"/>
              <a:t>직 </a:t>
            </a:r>
            <a:r>
              <a:rPr dirty="0" err="1"/>
              <a:t>구현</a:t>
            </a:r>
            <a:r>
              <a:rPr dirty="0"/>
              <a:t> </a:t>
            </a:r>
            <a:r>
              <a:rPr dirty="0" err="1"/>
              <a:t>전입니다</a:t>
            </a:r>
            <a:r>
              <a:rPr dirty="0"/>
              <a:t>.</a:t>
            </a:r>
          </a:p>
          <a:p>
            <a:endParaRPr dirty="0"/>
          </a:p>
          <a:p>
            <a:r>
              <a:rPr dirty="0"/>
              <a:t>▪ </a:t>
            </a:r>
            <a:r>
              <a:rPr dirty="0" err="1"/>
              <a:t>요점</a:t>
            </a:r>
            <a:endParaRPr dirty="0"/>
          </a:p>
          <a:p>
            <a:r>
              <a:rPr dirty="0"/>
              <a:t>· </a:t>
            </a:r>
            <a:r>
              <a:rPr dirty="0" err="1"/>
              <a:t>수집·처리</a:t>
            </a:r>
            <a:r>
              <a:rPr dirty="0"/>
              <a:t> 5단계 → </a:t>
            </a:r>
            <a:r>
              <a:rPr dirty="0" err="1"/>
              <a:t>활용</a:t>
            </a:r>
            <a:r>
              <a:rPr dirty="0"/>
              <a:t> 5단계 / ▸ </a:t>
            </a:r>
            <a:r>
              <a:rPr dirty="0" err="1"/>
              <a:t>PM이</a:t>
            </a:r>
            <a:r>
              <a:rPr dirty="0"/>
              <a:t> </a:t>
            </a:r>
            <a:r>
              <a:rPr dirty="0" err="1"/>
              <a:t>고르는</a:t>
            </a:r>
            <a:r>
              <a:rPr dirty="0"/>
              <a:t> 건 </a:t>
            </a:r>
            <a:r>
              <a:rPr dirty="0" err="1"/>
              <a:t>기준</a:t>
            </a:r>
            <a:r>
              <a:rPr dirty="0"/>
              <a:t> </a:t>
            </a:r>
            <a:r>
              <a:rPr dirty="0" err="1"/>
              <a:t>문서</a:t>
            </a:r>
            <a:r>
              <a:rPr dirty="0"/>
              <a:t> 1건뿐</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[12장 · </a:t>
            </a:r>
            <a:r>
              <a:rPr dirty="0" err="1"/>
              <a:t>시스템</a:t>
            </a:r>
            <a:r>
              <a:rPr dirty="0"/>
              <a:t> </a:t>
            </a:r>
            <a:r>
              <a:rPr dirty="0" err="1"/>
              <a:t>특징</a:t>
            </a:r>
            <a:r>
              <a:rPr dirty="0"/>
              <a:t>]</a:t>
            </a:r>
          </a:p>
          <a:p>
            <a:endParaRPr dirty="0"/>
          </a:p>
          <a:p>
            <a:r>
              <a:rPr dirty="0" err="1"/>
              <a:t>설계할</a:t>
            </a:r>
            <a:r>
              <a:rPr dirty="0"/>
              <a:t> 때 </a:t>
            </a:r>
            <a:r>
              <a:rPr dirty="0" err="1"/>
              <a:t>정한</a:t>
            </a:r>
            <a:r>
              <a:rPr dirty="0"/>
              <a:t> 것 </a:t>
            </a:r>
            <a:r>
              <a:rPr dirty="0" err="1"/>
              <a:t>다섯</a:t>
            </a:r>
            <a:r>
              <a:rPr dirty="0"/>
              <a:t> </a:t>
            </a:r>
            <a:r>
              <a:rPr dirty="0" err="1"/>
              <a:t>가지만</a:t>
            </a:r>
            <a:r>
              <a:rPr dirty="0"/>
              <a:t> </a:t>
            </a:r>
            <a:r>
              <a:rPr dirty="0" err="1"/>
              <a:t>짚겠습니다</a:t>
            </a:r>
            <a:r>
              <a:rPr dirty="0"/>
              <a:t>.</a:t>
            </a:r>
          </a:p>
          <a:p>
            <a:endParaRPr dirty="0"/>
          </a:p>
          <a:p>
            <a:r>
              <a:rPr dirty="0" err="1"/>
              <a:t>첫째</a:t>
            </a:r>
            <a:r>
              <a:rPr dirty="0"/>
              <a:t>, </a:t>
            </a:r>
            <a:r>
              <a:rPr dirty="0" err="1"/>
              <a:t>권한</a:t>
            </a:r>
            <a:r>
              <a:rPr dirty="0"/>
              <a:t> </a:t>
            </a:r>
            <a:r>
              <a:rPr dirty="0" err="1"/>
              <a:t>단위는</a:t>
            </a:r>
            <a:r>
              <a:rPr dirty="0"/>
              <a:t> </a:t>
            </a:r>
            <a:r>
              <a:rPr dirty="0" err="1"/>
              <a:t>회사가</a:t>
            </a:r>
            <a:r>
              <a:rPr dirty="0"/>
              <a:t> </a:t>
            </a:r>
            <a:r>
              <a:rPr dirty="0" err="1"/>
              <a:t>아니라</a:t>
            </a:r>
            <a:r>
              <a:rPr dirty="0"/>
              <a:t> </a:t>
            </a:r>
            <a:r>
              <a:rPr dirty="0" err="1"/>
              <a:t>팀입니다</a:t>
            </a:r>
            <a:r>
              <a:rPr dirty="0"/>
              <a:t>.</a:t>
            </a:r>
          </a:p>
          <a:p>
            <a:endParaRPr dirty="0"/>
          </a:p>
          <a:p>
            <a:r>
              <a:rPr dirty="0" err="1"/>
              <a:t>문서도</a:t>
            </a:r>
            <a:r>
              <a:rPr dirty="0"/>
              <a:t> </a:t>
            </a:r>
            <a:r>
              <a:rPr dirty="0" err="1"/>
              <a:t>폴더도</a:t>
            </a:r>
            <a:r>
              <a:rPr dirty="0"/>
              <a:t> 팀 </a:t>
            </a:r>
            <a:r>
              <a:rPr dirty="0" err="1"/>
              <a:t>기준으로</a:t>
            </a:r>
            <a:r>
              <a:rPr dirty="0"/>
              <a:t> </a:t>
            </a:r>
            <a:r>
              <a:rPr dirty="0" err="1"/>
              <a:t>조회하고</a:t>
            </a:r>
            <a:r>
              <a:rPr dirty="0"/>
              <a:t>, </a:t>
            </a:r>
            <a:r>
              <a:rPr dirty="0" err="1"/>
              <a:t>업무를</a:t>
            </a:r>
            <a:r>
              <a:rPr dirty="0"/>
              <a:t> </a:t>
            </a:r>
            <a:r>
              <a:rPr dirty="0" err="1"/>
              <a:t>배정할</a:t>
            </a:r>
            <a:r>
              <a:rPr dirty="0"/>
              <a:t> </a:t>
            </a:r>
            <a:r>
              <a:rPr dirty="0" err="1"/>
              <a:t>후보</a:t>
            </a:r>
            <a:r>
              <a:rPr dirty="0"/>
              <a:t> </a:t>
            </a:r>
            <a:r>
              <a:rPr dirty="0" err="1"/>
              <a:t>범위도</a:t>
            </a:r>
            <a:r>
              <a:rPr dirty="0"/>
              <a:t> 이 팀</a:t>
            </a:r>
            <a:r>
              <a:rPr lang="en-US" dirty="0"/>
              <a:t> </a:t>
            </a:r>
            <a:r>
              <a:rPr lang="ko-KR" altLang="en-US" dirty="0"/>
              <a:t>기준으로 축소하였습니다</a:t>
            </a:r>
            <a:r>
              <a:rPr dirty="0"/>
              <a:t>.</a:t>
            </a:r>
          </a:p>
          <a:p>
            <a:endParaRPr dirty="0"/>
          </a:p>
          <a:p>
            <a:r>
              <a:rPr dirty="0" err="1"/>
              <a:t>둘째</a:t>
            </a:r>
            <a:r>
              <a:rPr dirty="0"/>
              <a:t>, </a:t>
            </a:r>
            <a:r>
              <a:rPr dirty="0" err="1"/>
              <a:t>등록하면</a:t>
            </a:r>
            <a:r>
              <a:rPr dirty="0"/>
              <a:t> </a:t>
            </a:r>
            <a:r>
              <a:rPr dirty="0" err="1"/>
              <a:t>바로</a:t>
            </a:r>
            <a:r>
              <a:rPr dirty="0"/>
              <a:t> </a:t>
            </a:r>
            <a:r>
              <a:rPr dirty="0" err="1"/>
              <a:t>검색됩니다</a:t>
            </a:r>
            <a:r>
              <a:rPr dirty="0"/>
              <a:t>.</a:t>
            </a:r>
          </a:p>
          <a:p>
            <a:endParaRPr dirty="0"/>
          </a:p>
          <a:p>
            <a:r>
              <a:rPr dirty="0" err="1"/>
              <a:t>등록과</a:t>
            </a:r>
            <a:r>
              <a:rPr dirty="0"/>
              <a:t> </a:t>
            </a:r>
            <a:r>
              <a:rPr dirty="0" err="1"/>
              <a:t>색인을</a:t>
            </a:r>
            <a:r>
              <a:rPr dirty="0"/>
              <a:t> </a:t>
            </a:r>
            <a:r>
              <a:rPr dirty="0" err="1"/>
              <a:t>나누면</a:t>
            </a:r>
            <a:r>
              <a:rPr dirty="0"/>
              <a:t> 「</a:t>
            </a:r>
            <a:r>
              <a:rPr dirty="0" err="1"/>
              <a:t>등록은</a:t>
            </a:r>
            <a:r>
              <a:rPr dirty="0"/>
              <a:t> </a:t>
            </a:r>
            <a:r>
              <a:rPr dirty="0" err="1"/>
              <a:t>됐는데</a:t>
            </a:r>
            <a:r>
              <a:rPr dirty="0"/>
              <a:t> 못 </a:t>
            </a:r>
            <a:r>
              <a:rPr dirty="0" err="1"/>
              <a:t>쓰는</a:t>
            </a:r>
            <a:r>
              <a:rPr dirty="0"/>
              <a:t> </a:t>
            </a:r>
            <a:r>
              <a:rPr dirty="0" err="1"/>
              <a:t>문서」가</a:t>
            </a:r>
            <a:r>
              <a:rPr dirty="0"/>
              <a:t> </a:t>
            </a:r>
            <a:r>
              <a:rPr dirty="0" err="1"/>
              <a:t>남습니다</a:t>
            </a:r>
            <a:r>
              <a:rPr dirty="0"/>
              <a:t>.</a:t>
            </a:r>
          </a:p>
          <a:p>
            <a:endParaRPr dirty="0"/>
          </a:p>
          <a:p>
            <a:r>
              <a:rPr dirty="0" err="1"/>
              <a:t>셋째</a:t>
            </a:r>
            <a:r>
              <a:rPr dirty="0"/>
              <a:t>, </a:t>
            </a:r>
            <a:r>
              <a:rPr dirty="0" err="1"/>
              <a:t>계산은</a:t>
            </a:r>
            <a:r>
              <a:rPr dirty="0"/>
              <a:t> </a:t>
            </a:r>
            <a:r>
              <a:rPr dirty="0" err="1"/>
              <a:t>코드가</a:t>
            </a:r>
            <a:r>
              <a:rPr dirty="0"/>
              <a:t>, </a:t>
            </a:r>
            <a:r>
              <a:rPr dirty="0" err="1"/>
              <a:t>해석은</a:t>
            </a:r>
            <a:r>
              <a:rPr dirty="0"/>
              <a:t> </a:t>
            </a:r>
            <a:r>
              <a:rPr dirty="0" err="1"/>
              <a:t>LLM이</a:t>
            </a:r>
            <a:r>
              <a:rPr dirty="0"/>
              <a:t> </a:t>
            </a:r>
            <a:r>
              <a:rPr dirty="0" err="1"/>
              <a:t>합니다</a:t>
            </a:r>
            <a:r>
              <a:rPr dirty="0"/>
              <a:t>.</a:t>
            </a:r>
          </a:p>
          <a:p>
            <a:endParaRPr dirty="0"/>
          </a:p>
          <a:p>
            <a:r>
              <a:rPr dirty="0" err="1"/>
              <a:t>시간과</a:t>
            </a:r>
            <a:r>
              <a:rPr dirty="0"/>
              <a:t> </a:t>
            </a:r>
            <a:r>
              <a:rPr dirty="0" err="1"/>
              <a:t>부하율은</a:t>
            </a:r>
            <a:r>
              <a:rPr dirty="0"/>
              <a:t> </a:t>
            </a:r>
            <a:r>
              <a:rPr dirty="0" err="1"/>
              <a:t>코드로</a:t>
            </a:r>
            <a:r>
              <a:rPr dirty="0"/>
              <a:t> </a:t>
            </a:r>
            <a:r>
              <a:rPr dirty="0" err="1"/>
              <a:t>계산해서</a:t>
            </a:r>
            <a:r>
              <a:rPr dirty="0"/>
              <a:t> </a:t>
            </a:r>
            <a:r>
              <a:rPr dirty="0" err="1"/>
              <a:t>같은</a:t>
            </a:r>
            <a:r>
              <a:rPr dirty="0"/>
              <a:t> </a:t>
            </a:r>
            <a:r>
              <a:rPr dirty="0" err="1"/>
              <a:t>입력이면</a:t>
            </a:r>
            <a:r>
              <a:rPr dirty="0"/>
              <a:t> </a:t>
            </a:r>
            <a:r>
              <a:rPr dirty="0" err="1"/>
              <a:t>같은</a:t>
            </a:r>
            <a:r>
              <a:rPr dirty="0"/>
              <a:t> </a:t>
            </a:r>
            <a:r>
              <a:rPr dirty="0" err="1"/>
              <a:t>결과가</a:t>
            </a:r>
            <a:r>
              <a:rPr dirty="0"/>
              <a:t> 나</a:t>
            </a:r>
            <a:r>
              <a:rPr lang="ko-KR" altLang="en-US" dirty="0"/>
              <a:t>올 수 있도록 일관성을 유지하였습니다</a:t>
            </a:r>
            <a:r>
              <a:rPr dirty="0"/>
              <a:t>.</a:t>
            </a:r>
          </a:p>
          <a:p>
            <a:endParaRPr dirty="0"/>
          </a:p>
          <a:p>
            <a:r>
              <a:rPr dirty="0" err="1"/>
              <a:t>넷째</a:t>
            </a:r>
            <a:r>
              <a:rPr dirty="0"/>
              <a:t>, </a:t>
            </a:r>
            <a:r>
              <a:rPr dirty="0" err="1"/>
              <a:t>문서에</a:t>
            </a:r>
            <a:r>
              <a:rPr dirty="0"/>
              <a:t> </a:t>
            </a:r>
            <a:r>
              <a:rPr dirty="0" err="1"/>
              <a:t>없는</a:t>
            </a:r>
            <a:r>
              <a:rPr dirty="0"/>
              <a:t> </a:t>
            </a:r>
            <a:r>
              <a:rPr dirty="0" err="1"/>
              <a:t>값은</a:t>
            </a:r>
            <a:r>
              <a:rPr dirty="0"/>
              <a:t> </a:t>
            </a:r>
            <a:r>
              <a:rPr dirty="0" err="1"/>
              <a:t>지어내지</a:t>
            </a:r>
            <a:r>
              <a:rPr dirty="0"/>
              <a:t> </a:t>
            </a:r>
            <a:r>
              <a:rPr dirty="0" err="1"/>
              <a:t>않고</a:t>
            </a:r>
            <a:r>
              <a:rPr dirty="0"/>
              <a:t> </a:t>
            </a:r>
            <a:r>
              <a:rPr dirty="0" err="1"/>
              <a:t>비워</a:t>
            </a:r>
            <a:r>
              <a:rPr dirty="0"/>
              <a:t> 둔 채 </a:t>
            </a:r>
            <a:r>
              <a:rPr dirty="0" err="1"/>
              <a:t>표시합니다</a:t>
            </a:r>
            <a:r>
              <a:rPr dirty="0"/>
              <a:t>.</a:t>
            </a:r>
          </a:p>
          <a:p>
            <a:endParaRPr dirty="0"/>
          </a:p>
          <a:p>
            <a:r>
              <a:rPr dirty="0" err="1"/>
              <a:t>다섯째</a:t>
            </a:r>
            <a:r>
              <a:rPr dirty="0"/>
              <a:t>, </a:t>
            </a:r>
            <a:r>
              <a:rPr dirty="0" err="1"/>
              <a:t>원문은</a:t>
            </a:r>
            <a:r>
              <a:rPr dirty="0"/>
              <a:t> </a:t>
            </a:r>
            <a:r>
              <a:rPr dirty="0" err="1"/>
              <a:t>외부에</a:t>
            </a:r>
            <a:r>
              <a:rPr dirty="0"/>
              <a:t> </a:t>
            </a:r>
            <a:r>
              <a:rPr dirty="0" err="1"/>
              <a:t>남지</a:t>
            </a:r>
            <a:r>
              <a:rPr dirty="0"/>
              <a:t> </a:t>
            </a:r>
            <a:r>
              <a:rPr dirty="0" err="1"/>
              <a:t>않습니다</a:t>
            </a:r>
            <a:r>
              <a:rPr dirty="0"/>
              <a:t>.</a:t>
            </a:r>
          </a:p>
          <a:p>
            <a:endParaRPr dirty="0"/>
          </a:p>
          <a:p>
            <a:r>
              <a:rPr dirty="0"/>
              <a:t>GPU </a:t>
            </a:r>
            <a:r>
              <a:rPr dirty="0" err="1"/>
              <a:t>워커에는</a:t>
            </a:r>
            <a:r>
              <a:rPr dirty="0"/>
              <a:t> </a:t>
            </a:r>
            <a:r>
              <a:rPr dirty="0" err="1"/>
              <a:t>만료되는</a:t>
            </a:r>
            <a:r>
              <a:rPr dirty="0"/>
              <a:t> </a:t>
            </a:r>
            <a:r>
              <a:rPr dirty="0" err="1"/>
              <a:t>서명</a:t>
            </a:r>
            <a:r>
              <a:rPr dirty="0"/>
              <a:t> </a:t>
            </a:r>
            <a:r>
              <a:rPr dirty="0" err="1"/>
              <a:t>URL로</a:t>
            </a:r>
            <a:r>
              <a:rPr dirty="0"/>
              <a:t> </a:t>
            </a:r>
            <a:r>
              <a:rPr dirty="0" err="1"/>
              <a:t>원문만</a:t>
            </a:r>
            <a:r>
              <a:rPr dirty="0"/>
              <a:t> </a:t>
            </a:r>
            <a:r>
              <a:rPr dirty="0" err="1"/>
              <a:t>넘기고</a:t>
            </a:r>
            <a:r>
              <a:rPr dirty="0"/>
              <a:t>, </a:t>
            </a:r>
            <a:r>
              <a:rPr dirty="0" err="1"/>
              <a:t>워커는</a:t>
            </a:r>
            <a:r>
              <a:rPr dirty="0"/>
              <a:t> </a:t>
            </a:r>
            <a:r>
              <a:rPr dirty="0" err="1"/>
              <a:t>우리</a:t>
            </a:r>
            <a:r>
              <a:rPr dirty="0"/>
              <a:t> </a:t>
            </a:r>
            <a:r>
              <a:rPr dirty="0" err="1"/>
              <a:t>DB에</a:t>
            </a:r>
            <a:r>
              <a:rPr dirty="0"/>
              <a:t> </a:t>
            </a:r>
            <a:r>
              <a:rPr lang="ko-KR" altLang="en-US" dirty="0"/>
              <a:t>절대 </a:t>
            </a:r>
            <a:r>
              <a:rPr dirty="0" err="1"/>
              <a:t>접근하지</a:t>
            </a:r>
            <a:r>
              <a:rPr dirty="0"/>
              <a:t> </a:t>
            </a:r>
            <a:r>
              <a:rPr dirty="0" err="1"/>
              <a:t>않습니다</a:t>
            </a:r>
            <a:r>
              <a:rPr dirty="0"/>
              <a:t>.</a:t>
            </a:r>
          </a:p>
          <a:p>
            <a:endParaRPr dirty="0"/>
          </a:p>
          <a:p>
            <a:r>
              <a:rPr dirty="0"/>
              <a:t>▪ </a:t>
            </a:r>
            <a:r>
              <a:rPr dirty="0" err="1"/>
              <a:t>요점</a:t>
            </a:r>
            <a:endParaRPr dirty="0"/>
          </a:p>
          <a:p>
            <a:r>
              <a:rPr dirty="0"/>
              <a:t>· 팀 / </a:t>
            </a:r>
            <a:r>
              <a:rPr dirty="0" err="1"/>
              <a:t>등록</a:t>
            </a:r>
            <a:r>
              <a:rPr dirty="0"/>
              <a:t>=</a:t>
            </a:r>
            <a:r>
              <a:rPr dirty="0" err="1"/>
              <a:t>검색</a:t>
            </a:r>
            <a:r>
              <a:rPr dirty="0"/>
              <a:t> / ▸ </a:t>
            </a:r>
            <a:r>
              <a:rPr dirty="0" err="1"/>
              <a:t>계산은</a:t>
            </a:r>
            <a:r>
              <a:rPr dirty="0"/>
              <a:t> </a:t>
            </a:r>
            <a:r>
              <a:rPr dirty="0" err="1"/>
              <a:t>코드·해석은</a:t>
            </a:r>
            <a:r>
              <a:rPr dirty="0"/>
              <a:t> LLM / </a:t>
            </a:r>
            <a:r>
              <a:rPr dirty="0" err="1"/>
              <a:t>없는</a:t>
            </a:r>
            <a:r>
              <a:rPr dirty="0"/>
              <a:t> </a:t>
            </a:r>
            <a:r>
              <a:rPr dirty="0" err="1"/>
              <a:t>값은</a:t>
            </a:r>
            <a:r>
              <a:rPr dirty="0"/>
              <a:t> 안 </a:t>
            </a:r>
            <a:r>
              <a:rPr dirty="0" err="1"/>
              <a:t>만듦</a:t>
            </a:r>
            <a:r>
              <a:rPr dirty="0"/>
              <a:t> / </a:t>
            </a:r>
            <a:r>
              <a:rPr dirty="0" err="1"/>
              <a:t>원문</a:t>
            </a:r>
            <a:r>
              <a:rPr dirty="0"/>
              <a:t> </a:t>
            </a:r>
            <a:r>
              <a:rPr dirty="0" err="1"/>
              <a:t>미체류</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[13장 · </a:t>
            </a:r>
            <a:r>
              <a:rPr dirty="0" err="1"/>
              <a:t>섹션</a:t>
            </a:r>
            <a:r>
              <a:rPr dirty="0"/>
              <a:t> </a:t>
            </a:r>
            <a:r>
              <a:rPr dirty="0" err="1"/>
              <a:t>표지</a:t>
            </a:r>
            <a:r>
              <a:rPr dirty="0"/>
              <a:t>]</a:t>
            </a:r>
          </a:p>
          <a:p>
            <a:endParaRPr dirty="0"/>
          </a:p>
          <a:p>
            <a:r>
              <a:rPr dirty="0" err="1"/>
              <a:t>저희가</a:t>
            </a:r>
            <a:r>
              <a:rPr dirty="0"/>
              <a:t> </a:t>
            </a:r>
            <a:r>
              <a:rPr dirty="0" err="1"/>
              <a:t>가장</a:t>
            </a:r>
            <a:r>
              <a:rPr dirty="0"/>
              <a:t> </a:t>
            </a:r>
            <a:r>
              <a:rPr dirty="0" err="1"/>
              <a:t>많은</a:t>
            </a:r>
            <a:r>
              <a:rPr dirty="0"/>
              <a:t> </a:t>
            </a:r>
            <a:r>
              <a:rPr dirty="0" err="1"/>
              <a:t>시간을</a:t>
            </a:r>
            <a:r>
              <a:rPr dirty="0"/>
              <a:t> </a:t>
            </a:r>
            <a:r>
              <a:rPr dirty="0" err="1"/>
              <a:t>들인</a:t>
            </a:r>
            <a:r>
              <a:rPr dirty="0"/>
              <a:t> </a:t>
            </a:r>
            <a:r>
              <a:rPr dirty="0" err="1"/>
              <a:t>구간입니다</a:t>
            </a:r>
            <a:r>
              <a:rPr dirty="0"/>
              <a:t>.</a:t>
            </a:r>
          </a:p>
          <a:p>
            <a:endParaRPr dirty="0"/>
          </a:p>
          <a:p>
            <a:r>
              <a:rPr dirty="0" err="1"/>
              <a:t>파싱</a:t>
            </a:r>
            <a:r>
              <a:rPr dirty="0"/>
              <a:t>, </a:t>
            </a:r>
            <a:r>
              <a:rPr dirty="0" err="1"/>
              <a:t>청킹</a:t>
            </a:r>
            <a:r>
              <a:rPr dirty="0"/>
              <a:t>, </a:t>
            </a:r>
            <a:r>
              <a:rPr dirty="0" err="1"/>
              <a:t>임베딩</a:t>
            </a:r>
            <a:r>
              <a:rPr dirty="0"/>
              <a:t> </a:t>
            </a:r>
            <a:r>
              <a:rPr dirty="0" err="1"/>
              <a:t>순으로</a:t>
            </a:r>
            <a:r>
              <a:rPr dirty="0"/>
              <a:t> </a:t>
            </a:r>
            <a:r>
              <a:rPr dirty="0" err="1"/>
              <a:t>말씀드리겠습니다</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[14장 · </a:t>
            </a:r>
            <a:r>
              <a:rPr dirty="0" err="1"/>
              <a:t>파싱</a:t>
            </a:r>
            <a:r>
              <a:rPr dirty="0"/>
              <a:t> — </a:t>
            </a:r>
            <a:r>
              <a:rPr dirty="0" err="1"/>
              <a:t>파이프라인</a:t>
            </a:r>
            <a:r>
              <a:rPr dirty="0"/>
              <a:t> </a:t>
            </a:r>
            <a:r>
              <a:rPr dirty="0" err="1"/>
              <a:t>사용</a:t>
            </a:r>
            <a:r>
              <a:rPr dirty="0"/>
              <a:t> </a:t>
            </a:r>
            <a:r>
              <a:rPr dirty="0" err="1"/>
              <a:t>방식</a:t>
            </a:r>
            <a:r>
              <a:rPr dirty="0"/>
              <a:t>]</a:t>
            </a:r>
          </a:p>
          <a:p>
            <a:endParaRPr dirty="0"/>
          </a:p>
          <a:p>
            <a:r>
              <a:rPr dirty="0" err="1"/>
              <a:t>파싱은</a:t>
            </a:r>
            <a:r>
              <a:rPr dirty="0"/>
              <a:t> </a:t>
            </a:r>
            <a:r>
              <a:rPr dirty="0" err="1"/>
              <a:t>Docling</a:t>
            </a:r>
            <a:r>
              <a:rPr lang="en-US" dirty="0"/>
              <a:t> SDK</a:t>
            </a:r>
            <a:r>
              <a:rPr lang="ko-KR" altLang="en-US" dirty="0"/>
              <a:t>를 사용하였습니다</a:t>
            </a:r>
            <a:r>
              <a:rPr dirty="0"/>
              <a:t>.</a:t>
            </a:r>
          </a:p>
          <a:p>
            <a:endParaRPr dirty="0"/>
          </a:p>
          <a:p>
            <a:r>
              <a:rPr lang="ko-KR" altLang="en-US" dirty="0"/>
              <a:t>총 </a:t>
            </a:r>
            <a:r>
              <a:rPr dirty="0" err="1"/>
              <a:t>다섯</a:t>
            </a:r>
            <a:r>
              <a:rPr dirty="0"/>
              <a:t> </a:t>
            </a:r>
            <a:r>
              <a:rPr dirty="0" err="1"/>
              <a:t>단계를</a:t>
            </a:r>
            <a:r>
              <a:rPr dirty="0"/>
              <a:t> </a:t>
            </a:r>
            <a:r>
              <a:rPr dirty="0" err="1"/>
              <a:t>거치는데</a:t>
            </a:r>
            <a:r>
              <a:rPr dirty="0"/>
              <a:t>, </a:t>
            </a:r>
            <a:r>
              <a:rPr lang="ko-KR" altLang="en-US" dirty="0" err="1"/>
              <a:t>백엔드</a:t>
            </a:r>
            <a:r>
              <a:rPr lang="ko-KR" altLang="en-US" dirty="0"/>
              <a:t> </a:t>
            </a:r>
            <a:r>
              <a:rPr lang="en-US" altLang="ko-KR" dirty="0"/>
              <a:t>, </a:t>
            </a:r>
            <a:r>
              <a:rPr lang="ko-KR" altLang="en-US" dirty="0"/>
              <a:t>레이아웃 </a:t>
            </a:r>
            <a:r>
              <a:rPr lang="en-US" altLang="ko-KR" dirty="0"/>
              <a:t>, OCR , </a:t>
            </a:r>
            <a:r>
              <a:rPr lang="ko-KR" altLang="en-US" dirty="0"/>
              <a:t>테이블 </a:t>
            </a:r>
            <a:r>
              <a:rPr lang="en-US" altLang="ko-KR" dirty="0"/>
              <a:t>, </a:t>
            </a:r>
            <a:r>
              <a:rPr lang="ko-KR" altLang="en-US" dirty="0"/>
              <a:t>이미지의 과정을 거치게 됩니다</a:t>
            </a:r>
            <a:r>
              <a:rPr lang="en-US" altLang="ko-KR" dirty="0"/>
              <a:t>.</a:t>
            </a:r>
            <a:endParaRPr lang="en-US" dirty="0"/>
          </a:p>
          <a:p>
            <a:endParaRPr lang="en-US" dirty="0"/>
          </a:p>
          <a:p>
            <a:r>
              <a:rPr dirty="0" err="1"/>
              <a:t>저희는</a:t>
            </a:r>
            <a:r>
              <a:rPr dirty="0"/>
              <a:t> </a:t>
            </a:r>
            <a:r>
              <a:rPr lang="en-US" altLang="ko-KR" dirty="0" err="1"/>
              <a:t>Docling</a:t>
            </a:r>
            <a:r>
              <a:rPr lang="en-US" altLang="ko-KR" dirty="0"/>
              <a:t> </a:t>
            </a:r>
            <a:r>
              <a:rPr dirty="0" err="1"/>
              <a:t>기본값을</a:t>
            </a:r>
            <a:r>
              <a:rPr dirty="0"/>
              <a:t> </a:t>
            </a:r>
            <a:r>
              <a:rPr dirty="0" err="1"/>
              <a:t>그대로</a:t>
            </a:r>
            <a:r>
              <a:rPr dirty="0"/>
              <a:t> </a:t>
            </a:r>
            <a:r>
              <a:rPr lang="ko-KR" altLang="en-US" dirty="0"/>
              <a:t>사용하지</a:t>
            </a:r>
            <a:r>
              <a:rPr dirty="0"/>
              <a:t> </a:t>
            </a:r>
            <a:r>
              <a:rPr dirty="0" err="1"/>
              <a:t>않고</a:t>
            </a:r>
            <a:r>
              <a:rPr lang="en-US" dirty="0"/>
              <a:t> </a:t>
            </a:r>
            <a:r>
              <a:rPr lang="ko-KR" altLang="en-US" dirty="0" err="1"/>
              <a:t>하이퍼</a:t>
            </a:r>
            <a:r>
              <a:rPr lang="ko-KR" altLang="en-US" dirty="0"/>
              <a:t> 파라미터를</a:t>
            </a:r>
            <a:r>
              <a:rPr dirty="0"/>
              <a:t> </a:t>
            </a:r>
            <a:r>
              <a:rPr lang="ko-KR" altLang="en-US" dirty="0"/>
              <a:t>기준 </a:t>
            </a:r>
            <a:r>
              <a:rPr dirty="0" err="1"/>
              <a:t>문서에</a:t>
            </a:r>
            <a:r>
              <a:rPr dirty="0"/>
              <a:t> </a:t>
            </a:r>
            <a:r>
              <a:rPr dirty="0" err="1"/>
              <a:t>맞춰</a:t>
            </a:r>
            <a:r>
              <a:rPr dirty="0"/>
              <a:t> </a:t>
            </a:r>
            <a:r>
              <a:rPr dirty="0" err="1"/>
              <a:t>조정했습니다</a:t>
            </a:r>
            <a:r>
              <a:rPr dirty="0"/>
              <a:t>.</a:t>
            </a:r>
          </a:p>
          <a:p>
            <a:endParaRPr dirty="0"/>
          </a:p>
          <a:p>
            <a:r>
              <a:rPr dirty="0" err="1"/>
              <a:t>OCR은</a:t>
            </a:r>
            <a:r>
              <a:rPr dirty="0"/>
              <a:t> </a:t>
            </a:r>
            <a:r>
              <a:rPr dirty="0" err="1"/>
              <a:t>국문</a:t>
            </a:r>
            <a:r>
              <a:rPr dirty="0"/>
              <a:t> </a:t>
            </a:r>
            <a:r>
              <a:rPr dirty="0" err="1"/>
              <a:t>문서에</a:t>
            </a:r>
            <a:r>
              <a:rPr dirty="0"/>
              <a:t> </a:t>
            </a:r>
            <a:r>
              <a:rPr dirty="0" err="1"/>
              <a:t>영문</a:t>
            </a:r>
            <a:r>
              <a:rPr dirty="0"/>
              <a:t> </a:t>
            </a:r>
            <a:r>
              <a:rPr dirty="0" err="1"/>
              <a:t>용어와</a:t>
            </a:r>
            <a:r>
              <a:rPr dirty="0"/>
              <a:t> </a:t>
            </a:r>
            <a:r>
              <a:rPr dirty="0" err="1"/>
              <a:t>수치가</a:t>
            </a:r>
            <a:r>
              <a:rPr dirty="0"/>
              <a:t> </a:t>
            </a:r>
            <a:r>
              <a:rPr dirty="0" err="1"/>
              <a:t>섞여</a:t>
            </a:r>
            <a:r>
              <a:rPr dirty="0"/>
              <a:t> </a:t>
            </a:r>
            <a:r>
              <a:rPr dirty="0" err="1"/>
              <a:t>있기</a:t>
            </a:r>
            <a:r>
              <a:rPr dirty="0"/>
              <a:t> </a:t>
            </a:r>
            <a:r>
              <a:rPr dirty="0" err="1"/>
              <a:t>때문</a:t>
            </a:r>
            <a:r>
              <a:rPr lang="ko-KR" altLang="en-US" dirty="0"/>
              <a:t>에 한국어와 영어를 동시에 인식하게 설정하였습니다</a:t>
            </a:r>
            <a:r>
              <a:rPr dirty="0"/>
              <a:t>.</a:t>
            </a:r>
          </a:p>
          <a:p>
            <a:endParaRPr dirty="0"/>
          </a:p>
          <a:p>
            <a:r>
              <a:rPr dirty="0"/>
              <a:t>OCR </a:t>
            </a:r>
            <a:r>
              <a:rPr dirty="0" err="1"/>
              <a:t>영역은</a:t>
            </a:r>
            <a:r>
              <a:rPr dirty="0"/>
              <a:t> </a:t>
            </a:r>
            <a:r>
              <a:rPr dirty="0" err="1"/>
              <a:t>페이지</a:t>
            </a:r>
            <a:r>
              <a:rPr dirty="0"/>
              <a:t> </a:t>
            </a:r>
            <a:r>
              <a:rPr dirty="0" err="1"/>
              <a:t>전체가</a:t>
            </a:r>
            <a:r>
              <a:rPr dirty="0"/>
              <a:t> </a:t>
            </a:r>
            <a:r>
              <a:rPr dirty="0" err="1"/>
              <a:t>아니라</a:t>
            </a:r>
            <a:r>
              <a:rPr dirty="0"/>
              <a:t> </a:t>
            </a:r>
            <a:r>
              <a:rPr dirty="0" err="1"/>
              <a:t>레이아웃이</a:t>
            </a:r>
            <a:r>
              <a:rPr dirty="0"/>
              <a:t> </a:t>
            </a:r>
            <a:r>
              <a:rPr dirty="0" err="1"/>
              <a:t>찾은</a:t>
            </a:r>
            <a:r>
              <a:rPr dirty="0"/>
              <a:t> </a:t>
            </a:r>
            <a:r>
              <a:rPr dirty="0" err="1"/>
              <a:t>영역만</a:t>
            </a:r>
            <a:r>
              <a:rPr dirty="0"/>
              <a:t> </a:t>
            </a:r>
            <a:r>
              <a:rPr lang="ko-KR" altLang="en-US" dirty="0"/>
              <a:t>처리합니다</a:t>
            </a:r>
            <a:r>
              <a:rPr dirty="0"/>
              <a:t>.</a:t>
            </a:r>
          </a:p>
          <a:p>
            <a:endParaRPr dirty="0"/>
          </a:p>
          <a:p>
            <a:r>
              <a:rPr dirty="0" err="1"/>
              <a:t>그리고</a:t>
            </a:r>
            <a:r>
              <a:rPr dirty="0"/>
              <a:t> </a:t>
            </a:r>
            <a:r>
              <a:rPr dirty="0" err="1"/>
              <a:t>텍스트</a:t>
            </a:r>
            <a:r>
              <a:rPr dirty="0"/>
              <a:t> </a:t>
            </a:r>
            <a:r>
              <a:rPr dirty="0" err="1"/>
              <a:t>레이어가</a:t>
            </a:r>
            <a:r>
              <a:rPr dirty="0"/>
              <a:t> </a:t>
            </a:r>
            <a:r>
              <a:rPr dirty="0" err="1"/>
              <a:t>있는</a:t>
            </a:r>
            <a:r>
              <a:rPr dirty="0"/>
              <a:t> </a:t>
            </a:r>
            <a:r>
              <a:rPr dirty="0" err="1"/>
              <a:t>PDF는</a:t>
            </a:r>
            <a:r>
              <a:rPr dirty="0"/>
              <a:t> </a:t>
            </a:r>
            <a:r>
              <a:rPr dirty="0" err="1"/>
              <a:t>아예</a:t>
            </a:r>
            <a:r>
              <a:rPr dirty="0"/>
              <a:t> </a:t>
            </a:r>
            <a:r>
              <a:rPr dirty="0" err="1"/>
              <a:t>OCR을</a:t>
            </a:r>
            <a:r>
              <a:rPr dirty="0"/>
              <a:t> </a:t>
            </a:r>
            <a:r>
              <a:rPr lang="ko-KR" altLang="en-US" dirty="0"/>
              <a:t>사용하지 않았습니다</a:t>
            </a:r>
            <a:r>
              <a:rPr dirty="0"/>
              <a:t>.</a:t>
            </a:r>
          </a:p>
          <a:p>
            <a:endParaRPr dirty="0"/>
          </a:p>
          <a:p>
            <a:r>
              <a:rPr dirty="0" err="1"/>
              <a:t>표는</a:t>
            </a:r>
            <a:r>
              <a:rPr dirty="0"/>
              <a:t> </a:t>
            </a:r>
            <a:r>
              <a:rPr dirty="0" err="1"/>
              <a:t>파싱이</a:t>
            </a:r>
            <a:r>
              <a:rPr dirty="0"/>
              <a:t> </a:t>
            </a:r>
            <a:r>
              <a:rPr dirty="0" err="1"/>
              <a:t>아니라</a:t>
            </a:r>
            <a:r>
              <a:rPr dirty="0"/>
              <a:t> </a:t>
            </a:r>
            <a:r>
              <a:rPr dirty="0" err="1"/>
              <a:t>청킹</a:t>
            </a:r>
            <a:r>
              <a:rPr dirty="0"/>
              <a:t> </a:t>
            </a:r>
            <a:r>
              <a:rPr dirty="0" err="1"/>
              <a:t>단계에서</a:t>
            </a:r>
            <a:r>
              <a:rPr dirty="0"/>
              <a:t> </a:t>
            </a:r>
            <a:r>
              <a:rPr lang="ko-KR" altLang="en-US" dirty="0"/>
              <a:t>재구성 하기</a:t>
            </a:r>
            <a:r>
              <a:rPr dirty="0"/>
              <a:t> </a:t>
            </a:r>
            <a:r>
              <a:rPr dirty="0" err="1"/>
              <a:t>때문</a:t>
            </a:r>
            <a:r>
              <a:rPr lang="ko-KR" altLang="en-US" dirty="0"/>
              <a:t>에 현재 </a:t>
            </a:r>
            <a:r>
              <a:rPr lang="en-US" altLang="ko-KR" dirty="0" err="1"/>
              <a:t>Docling</a:t>
            </a:r>
            <a:r>
              <a:rPr lang="en-US" altLang="ko-KR" dirty="0"/>
              <a:t> </a:t>
            </a:r>
            <a:r>
              <a:rPr lang="ko-KR" altLang="en-US" dirty="0"/>
              <a:t>기본값을 사용하였습니다</a:t>
            </a:r>
            <a:r>
              <a:rPr dirty="0"/>
              <a:t>.</a:t>
            </a:r>
          </a:p>
          <a:p>
            <a:endParaRPr dirty="0"/>
          </a:p>
          <a:p>
            <a:r>
              <a:rPr dirty="0"/>
              <a:t>▪ </a:t>
            </a:r>
            <a:r>
              <a:rPr dirty="0" err="1"/>
              <a:t>요점</a:t>
            </a:r>
            <a:endParaRPr dirty="0"/>
          </a:p>
          <a:p>
            <a:r>
              <a:rPr dirty="0"/>
              <a:t>· ▸ OCR </a:t>
            </a:r>
            <a:r>
              <a:rPr dirty="0" err="1"/>
              <a:t>실행</a:t>
            </a:r>
            <a:r>
              <a:rPr dirty="0"/>
              <a:t> </a:t>
            </a:r>
            <a:r>
              <a:rPr dirty="0" err="1"/>
              <a:t>조건</a:t>
            </a:r>
            <a:r>
              <a:rPr dirty="0"/>
              <a:t> — 「</a:t>
            </a:r>
            <a:r>
              <a:rPr dirty="0" err="1"/>
              <a:t>중도탈락을</a:t>
            </a:r>
            <a:r>
              <a:rPr dirty="0"/>
              <a:t>」→「</a:t>
            </a:r>
            <a:r>
              <a:rPr dirty="0" err="1"/>
              <a:t>중도달락올</a:t>
            </a:r>
            <a:r>
              <a:rPr dirty="0"/>
              <a:t>」 </a:t>
            </a:r>
            <a:r>
              <a:rPr dirty="0" err="1"/>
              <a:t>실제</a:t>
            </a:r>
            <a:r>
              <a:rPr dirty="0"/>
              <a:t> </a:t>
            </a:r>
            <a:r>
              <a:rPr dirty="0" err="1"/>
              <a:t>사례</a:t>
            </a:r>
            <a:endParaRPr dirty="0"/>
          </a:p>
          <a:p>
            <a:r>
              <a:rPr dirty="0"/>
              <a:t>· ▸ </a:t>
            </a:r>
            <a:r>
              <a:rPr dirty="0" err="1"/>
              <a:t>표는</a:t>
            </a:r>
            <a:r>
              <a:rPr dirty="0"/>
              <a:t> </a:t>
            </a:r>
            <a:r>
              <a:rPr dirty="0" err="1"/>
              <a:t>파싱</a:t>
            </a:r>
            <a:r>
              <a:rPr dirty="0"/>
              <a:t> </a:t>
            </a:r>
            <a:r>
              <a:rPr dirty="0" err="1"/>
              <a:t>옵션이</a:t>
            </a:r>
            <a:r>
              <a:rPr dirty="0"/>
              <a:t> </a:t>
            </a:r>
            <a:r>
              <a:rPr dirty="0" err="1"/>
              <a:t>아니라</a:t>
            </a:r>
            <a:r>
              <a:rPr dirty="0"/>
              <a:t> </a:t>
            </a:r>
            <a:r>
              <a:rPr dirty="0" err="1"/>
              <a:t>청킹에서</a:t>
            </a:r>
            <a:r>
              <a:rPr dirty="0"/>
              <a:t> </a:t>
            </a:r>
            <a:r>
              <a:rPr dirty="0" err="1"/>
              <a:t>다룬다</a:t>
            </a:r>
            <a:r>
              <a:rPr dirty="0"/>
              <a:t> (21장 </a:t>
            </a:r>
            <a:r>
              <a:rPr dirty="0" err="1"/>
              <a:t>복선</a:t>
            </a:r>
            <a:r>
              <a:rPr dirty="0"/>
              <a:t>)</a:t>
            </a:r>
          </a:p>
          <a:p>
            <a:endParaRPr dirty="0"/>
          </a:p>
          <a:p>
            <a:r>
              <a:rPr dirty="0"/>
              <a:t>─────────────  </a:t>
            </a:r>
            <a:r>
              <a:rPr dirty="0" err="1"/>
              <a:t>배경</a:t>
            </a:r>
            <a:r>
              <a:rPr dirty="0"/>
              <a:t> · </a:t>
            </a:r>
            <a:r>
              <a:rPr dirty="0" err="1"/>
              <a:t>질의응답</a:t>
            </a:r>
            <a:r>
              <a:rPr dirty="0"/>
              <a:t> </a:t>
            </a:r>
            <a:r>
              <a:rPr dirty="0" err="1"/>
              <a:t>대비</a:t>
            </a:r>
            <a:r>
              <a:rPr dirty="0"/>
              <a:t>  ─────────────</a:t>
            </a:r>
          </a:p>
          <a:p>
            <a:endParaRPr dirty="0"/>
          </a:p>
          <a:p>
            <a:r>
              <a:rPr dirty="0" err="1"/>
              <a:t>도클링을</a:t>
            </a:r>
            <a:r>
              <a:rPr dirty="0"/>
              <a:t> </a:t>
            </a:r>
            <a:r>
              <a:rPr dirty="0" err="1"/>
              <a:t>고른</a:t>
            </a:r>
            <a:r>
              <a:rPr dirty="0"/>
              <a:t> </a:t>
            </a:r>
            <a:r>
              <a:rPr dirty="0" err="1"/>
              <a:t>이유는</a:t>
            </a:r>
            <a:r>
              <a:rPr dirty="0"/>
              <a:t> </a:t>
            </a:r>
            <a:r>
              <a:rPr dirty="0" err="1"/>
              <a:t>부록에</a:t>
            </a:r>
            <a:r>
              <a:rPr dirty="0"/>
              <a:t> </a:t>
            </a:r>
            <a:r>
              <a:rPr dirty="0" err="1"/>
              <a:t>비교표로</a:t>
            </a:r>
            <a:r>
              <a:rPr dirty="0"/>
              <a:t> </a:t>
            </a:r>
            <a:r>
              <a:rPr dirty="0" err="1"/>
              <a:t>정리했다</a:t>
            </a:r>
            <a:r>
              <a:rPr dirty="0"/>
              <a:t> — </a:t>
            </a:r>
            <a:r>
              <a:rPr dirty="0" err="1"/>
              <a:t>입력</a:t>
            </a:r>
            <a:r>
              <a:rPr dirty="0"/>
              <a:t> </a:t>
            </a:r>
            <a:r>
              <a:rPr dirty="0" err="1"/>
              <a:t>형식</a:t>
            </a:r>
            <a:r>
              <a:rPr dirty="0"/>
              <a:t> </a:t>
            </a:r>
            <a:r>
              <a:rPr dirty="0" err="1"/>
              <a:t>범위</a:t>
            </a:r>
            <a:r>
              <a:rPr dirty="0"/>
              <a:t>, </a:t>
            </a:r>
            <a:r>
              <a:rPr dirty="0" err="1"/>
              <a:t>문서</a:t>
            </a:r>
            <a:r>
              <a:rPr dirty="0"/>
              <a:t> </a:t>
            </a:r>
            <a:r>
              <a:rPr dirty="0" err="1"/>
              <a:t>계층·요소</a:t>
            </a:r>
            <a:r>
              <a:rPr dirty="0"/>
              <a:t> </a:t>
            </a:r>
            <a:r>
              <a:rPr dirty="0" err="1"/>
              <a:t>관계</a:t>
            </a:r>
            <a:r>
              <a:rPr dirty="0"/>
              <a:t> </a:t>
            </a:r>
            <a:r>
              <a:rPr dirty="0" err="1"/>
              <a:t>보존</a:t>
            </a:r>
            <a:r>
              <a:rPr dirty="0"/>
              <a:t>, </a:t>
            </a:r>
            <a:r>
              <a:rPr dirty="0" err="1"/>
              <a:t>OCR·레이아웃·표</a:t>
            </a:r>
            <a:r>
              <a:rPr dirty="0"/>
              <a:t> </a:t>
            </a:r>
            <a:r>
              <a:rPr dirty="0" err="1"/>
              <a:t>처리</a:t>
            </a:r>
            <a:r>
              <a:rPr dirty="0"/>
              <a:t> </a:t>
            </a:r>
            <a:r>
              <a:rPr dirty="0" err="1"/>
              <a:t>단계</a:t>
            </a:r>
            <a:r>
              <a:rPr dirty="0"/>
              <a:t> </a:t>
            </a:r>
            <a:r>
              <a:rPr dirty="0" err="1"/>
              <a:t>조정</a:t>
            </a:r>
            <a:r>
              <a:rPr dirty="0"/>
              <a:t>, </a:t>
            </a:r>
            <a:r>
              <a:rPr dirty="0" err="1"/>
              <a:t>로컬</a:t>
            </a:r>
            <a:r>
              <a:rPr dirty="0"/>
              <a:t> </a:t>
            </a:r>
            <a:r>
              <a:rPr dirty="0" err="1"/>
              <a:t>구동</a:t>
            </a:r>
            <a:r>
              <a:rPr dirty="0"/>
              <a:t> 네 </a:t>
            </a:r>
            <a:r>
              <a:rPr dirty="0" err="1"/>
              <a:t>가지</a:t>
            </a:r>
            <a:r>
              <a:rPr dirty="0"/>
              <a:t> </a:t>
            </a:r>
            <a:r>
              <a:rPr dirty="0" err="1"/>
              <a:t>기준에서</a:t>
            </a:r>
            <a:r>
              <a:rPr dirty="0"/>
              <a:t> </a:t>
            </a:r>
            <a:r>
              <a:rPr dirty="0" err="1"/>
              <a:t>유일하게</a:t>
            </a:r>
            <a:r>
              <a:rPr dirty="0"/>
              <a:t> </a:t>
            </a:r>
            <a:r>
              <a:rPr dirty="0" err="1"/>
              <a:t>모두</a:t>
            </a:r>
            <a:r>
              <a:rPr dirty="0"/>
              <a:t> </a:t>
            </a:r>
            <a:r>
              <a:rPr dirty="0" err="1"/>
              <a:t>충족했다</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[15장 · </a:t>
            </a:r>
            <a:r>
              <a:rPr dirty="0" err="1"/>
              <a:t>문제</a:t>
            </a:r>
            <a:r>
              <a:rPr dirty="0"/>
              <a:t> ① Text]</a:t>
            </a:r>
          </a:p>
          <a:p>
            <a:endParaRPr dirty="0"/>
          </a:p>
          <a:p>
            <a:r>
              <a:rPr dirty="0" err="1"/>
              <a:t>실제</a:t>
            </a:r>
            <a:r>
              <a:rPr dirty="0"/>
              <a:t> </a:t>
            </a:r>
            <a:r>
              <a:rPr dirty="0" err="1"/>
              <a:t>문서를</a:t>
            </a:r>
            <a:r>
              <a:rPr dirty="0"/>
              <a:t> </a:t>
            </a:r>
            <a:r>
              <a:rPr dirty="0" err="1"/>
              <a:t>넣어</a:t>
            </a:r>
            <a:r>
              <a:rPr dirty="0"/>
              <a:t> </a:t>
            </a:r>
            <a:r>
              <a:rPr lang="ko-KR" altLang="en-US" dirty="0"/>
              <a:t>테스트를 진행하며 총</a:t>
            </a:r>
            <a:r>
              <a:rPr dirty="0"/>
              <a:t> 세 </a:t>
            </a:r>
            <a:r>
              <a:rPr dirty="0" err="1"/>
              <a:t>가지</a:t>
            </a:r>
            <a:r>
              <a:rPr dirty="0"/>
              <a:t> </a:t>
            </a:r>
            <a:r>
              <a:rPr dirty="0" err="1"/>
              <a:t>문제를</a:t>
            </a:r>
            <a:r>
              <a:rPr dirty="0"/>
              <a:t> </a:t>
            </a:r>
            <a:r>
              <a:rPr dirty="0" err="1"/>
              <a:t>찾았습니다</a:t>
            </a:r>
            <a:r>
              <a:rPr dirty="0"/>
              <a:t>.</a:t>
            </a:r>
          </a:p>
          <a:p>
            <a:endParaRPr dirty="0"/>
          </a:p>
          <a:p>
            <a:r>
              <a:rPr dirty="0" err="1"/>
              <a:t>검증에</a:t>
            </a:r>
            <a:r>
              <a:rPr dirty="0"/>
              <a:t> </a:t>
            </a:r>
            <a:r>
              <a:rPr lang="ko-KR" altLang="en-US" dirty="0"/>
              <a:t>사용한</a:t>
            </a:r>
            <a:r>
              <a:rPr dirty="0"/>
              <a:t> </a:t>
            </a:r>
            <a:r>
              <a:rPr dirty="0" err="1"/>
              <a:t>문서는</a:t>
            </a:r>
            <a:r>
              <a:rPr dirty="0"/>
              <a:t> </a:t>
            </a:r>
            <a:r>
              <a:rPr dirty="0" err="1"/>
              <a:t>다단</a:t>
            </a:r>
            <a:r>
              <a:rPr dirty="0"/>
              <a:t> </a:t>
            </a:r>
            <a:r>
              <a:rPr dirty="0" err="1"/>
              <a:t>편집과</a:t>
            </a:r>
            <a:r>
              <a:rPr dirty="0"/>
              <a:t> 표, </a:t>
            </a:r>
            <a:r>
              <a:rPr dirty="0" err="1"/>
              <a:t>차트</a:t>
            </a:r>
            <a:r>
              <a:rPr dirty="0"/>
              <a:t>, </a:t>
            </a:r>
            <a:r>
              <a:rPr dirty="0" err="1"/>
              <a:t>복합</a:t>
            </a:r>
            <a:r>
              <a:rPr dirty="0"/>
              <a:t> </a:t>
            </a:r>
            <a:r>
              <a:rPr dirty="0" err="1"/>
              <a:t>그림이</a:t>
            </a:r>
            <a:r>
              <a:rPr dirty="0"/>
              <a:t> 한 </a:t>
            </a:r>
            <a:r>
              <a:rPr dirty="0" err="1"/>
              <a:t>문서에</a:t>
            </a:r>
            <a:r>
              <a:rPr dirty="0"/>
              <a:t> </a:t>
            </a:r>
            <a:r>
              <a:rPr lang="ko-KR" altLang="en-US" dirty="0"/>
              <a:t>모두 포함 되어있는</a:t>
            </a:r>
            <a:r>
              <a:rPr dirty="0"/>
              <a:t> </a:t>
            </a:r>
            <a:r>
              <a:rPr dirty="0" err="1"/>
              <a:t>기업</a:t>
            </a:r>
            <a:r>
              <a:rPr dirty="0"/>
              <a:t> </a:t>
            </a:r>
            <a:r>
              <a:rPr dirty="0" err="1"/>
              <a:t>리서치</a:t>
            </a:r>
            <a:r>
              <a:rPr dirty="0"/>
              <a:t> </a:t>
            </a:r>
            <a:r>
              <a:rPr dirty="0" err="1"/>
              <a:t>보고서입니다</a:t>
            </a:r>
            <a:r>
              <a:rPr dirty="0"/>
              <a:t>.</a:t>
            </a:r>
          </a:p>
          <a:p>
            <a:endParaRPr dirty="0"/>
          </a:p>
          <a:p>
            <a:r>
              <a:rPr dirty="0"/>
              <a:t>첫 </a:t>
            </a:r>
            <a:r>
              <a:rPr dirty="0" err="1"/>
              <a:t>번째</a:t>
            </a:r>
            <a:r>
              <a:rPr dirty="0"/>
              <a:t>, </a:t>
            </a:r>
            <a:r>
              <a:rPr dirty="0" err="1"/>
              <a:t>제목과</a:t>
            </a:r>
            <a:r>
              <a:rPr dirty="0"/>
              <a:t> </a:t>
            </a:r>
            <a:r>
              <a:rPr dirty="0" err="1"/>
              <a:t>본문</a:t>
            </a:r>
            <a:r>
              <a:rPr dirty="0"/>
              <a:t> </a:t>
            </a:r>
            <a:r>
              <a:rPr dirty="0" err="1"/>
              <a:t>구분이</a:t>
            </a:r>
            <a:r>
              <a:rPr dirty="0"/>
              <a:t> </a:t>
            </a:r>
            <a:r>
              <a:rPr dirty="0" err="1"/>
              <a:t>정확하지</a:t>
            </a:r>
            <a:r>
              <a:rPr dirty="0"/>
              <a:t> </a:t>
            </a:r>
            <a:r>
              <a:rPr dirty="0" err="1"/>
              <a:t>않습니다</a:t>
            </a:r>
            <a:r>
              <a:rPr dirty="0"/>
              <a:t>.</a:t>
            </a:r>
          </a:p>
          <a:p>
            <a:endParaRPr dirty="0"/>
          </a:p>
          <a:p>
            <a:r>
              <a:rPr lang="ko-KR" altLang="en-US" dirty="0"/>
              <a:t>위의 이미지가</a:t>
            </a:r>
            <a:r>
              <a:rPr dirty="0"/>
              <a:t> </a:t>
            </a:r>
            <a:r>
              <a:rPr dirty="0" err="1"/>
              <a:t>모델의</a:t>
            </a:r>
            <a:r>
              <a:rPr dirty="0"/>
              <a:t> 1차 </a:t>
            </a:r>
            <a:r>
              <a:rPr dirty="0" err="1"/>
              <a:t>판단</a:t>
            </a:r>
            <a:r>
              <a:rPr lang="ko-KR" altLang="en-US" dirty="0"/>
              <a:t>을 표현한 것 입니다</a:t>
            </a:r>
            <a:r>
              <a:rPr lang="en-US" altLang="ko-KR" dirty="0"/>
              <a:t>.</a:t>
            </a:r>
          </a:p>
          <a:p>
            <a:endParaRPr lang="en-US" dirty="0"/>
          </a:p>
          <a:p>
            <a:r>
              <a:rPr dirty="0" err="1"/>
              <a:t>같은</a:t>
            </a:r>
            <a:r>
              <a:rPr dirty="0"/>
              <a:t> </a:t>
            </a:r>
            <a:r>
              <a:rPr dirty="0" err="1"/>
              <a:t>자리에</a:t>
            </a:r>
            <a:r>
              <a:rPr dirty="0"/>
              <a:t> TITLE, SECTION_HEADER, TEXT </a:t>
            </a:r>
            <a:r>
              <a:rPr dirty="0" err="1"/>
              <a:t>후보가</a:t>
            </a:r>
            <a:r>
              <a:rPr dirty="0"/>
              <a:t> </a:t>
            </a:r>
            <a:r>
              <a:rPr dirty="0" err="1"/>
              <a:t>겹쳐</a:t>
            </a:r>
            <a:r>
              <a:rPr dirty="0"/>
              <a:t> </a:t>
            </a:r>
            <a:r>
              <a:rPr dirty="0" err="1"/>
              <a:t>있고</a:t>
            </a:r>
            <a:r>
              <a:rPr dirty="0"/>
              <a:t> </a:t>
            </a:r>
            <a:r>
              <a:rPr dirty="0" err="1"/>
              <a:t>신뢰도가</a:t>
            </a:r>
            <a:r>
              <a:rPr dirty="0"/>
              <a:t> 0.39, 0.59로 </a:t>
            </a:r>
            <a:r>
              <a:rPr dirty="0" err="1"/>
              <a:t>낮습니다</a:t>
            </a:r>
            <a:r>
              <a:rPr dirty="0"/>
              <a:t>.</a:t>
            </a:r>
          </a:p>
          <a:p>
            <a:endParaRPr dirty="0"/>
          </a:p>
          <a:p>
            <a:r>
              <a:rPr lang="ko-KR" altLang="en-US" dirty="0"/>
              <a:t>이후 </a:t>
            </a:r>
            <a:r>
              <a:rPr dirty="0" err="1"/>
              <a:t>후처리를</a:t>
            </a:r>
            <a:r>
              <a:rPr dirty="0"/>
              <a:t> 하</a:t>
            </a:r>
            <a:r>
              <a:rPr lang="ko-KR" altLang="en-US" dirty="0"/>
              <a:t>게 되면</a:t>
            </a:r>
            <a:r>
              <a:rPr dirty="0"/>
              <a:t> </a:t>
            </a:r>
            <a:r>
              <a:rPr dirty="0" err="1"/>
              <a:t>후보는</a:t>
            </a:r>
            <a:r>
              <a:rPr dirty="0"/>
              <a:t> </a:t>
            </a:r>
            <a:r>
              <a:rPr dirty="0" err="1"/>
              <a:t>하나로</a:t>
            </a:r>
            <a:r>
              <a:rPr dirty="0"/>
              <a:t> </a:t>
            </a:r>
            <a:r>
              <a:rPr dirty="0" err="1"/>
              <a:t>정리되지만</a:t>
            </a:r>
            <a:r>
              <a:rPr dirty="0"/>
              <a:t>, </a:t>
            </a:r>
            <a:r>
              <a:rPr dirty="0" err="1"/>
              <a:t>보시다시피</a:t>
            </a:r>
            <a:r>
              <a:rPr dirty="0"/>
              <a:t> </a:t>
            </a:r>
            <a:r>
              <a:rPr dirty="0" err="1"/>
              <a:t>신뢰도는</a:t>
            </a:r>
            <a:r>
              <a:rPr dirty="0"/>
              <a:t> 0.51로 </a:t>
            </a:r>
            <a:r>
              <a:rPr dirty="0" err="1"/>
              <a:t>여전히</a:t>
            </a:r>
            <a:r>
              <a:rPr dirty="0"/>
              <a:t> </a:t>
            </a:r>
            <a:r>
              <a:rPr dirty="0" err="1"/>
              <a:t>낮습니다</a:t>
            </a:r>
            <a:r>
              <a:rPr dirty="0"/>
              <a:t>.</a:t>
            </a:r>
          </a:p>
          <a:p>
            <a:endParaRPr dirty="0"/>
          </a:p>
          <a:p>
            <a:r>
              <a:rPr dirty="0"/>
              <a:t>▪ </a:t>
            </a:r>
            <a:r>
              <a:rPr dirty="0" err="1"/>
              <a:t>요점</a:t>
            </a:r>
            <a:endParaRPr dirty="0"/>
          </a:p>
          <a:p>
            <a:r>
              <a:rPr dirty="0"/>
              <a:t>· ▸ </a:t>
            </a:r>
            <a:r>
              <a:rPr dirty="0" err="1"/>
              <a:t>후처리해도</a:t>
            </a:r>
            <a:r>
              <a:rPr dirty="0"/>
              <a:t> 0.51 — </a:t>
            </a:r>
            <a:r>
              <a:rPr dirty="0" err="1"/>
              <a:t>정리는</a:t>
            </a:r>
            <a:r>
              <a:rPr dirty="0"/>
              <a:t> </a:t>
            </a:r>
            <a:r>
              <a:rPr dirty="0" err="1"/>
              <a:t>되지만</a:t>
            </a:r>
            <a:r>
              <a:rPr dirty="0"/>
              <a:t> </a:t>
            </a:r>
            <a:r>
              <a:rPr dirty="0" err="1"/>
              <a:t>확신은</a:t>
            </a:r>
            <a:r>
              <a:rPr dirty="0"/>
              <a:t> </a:t>
            </a:r>
            <a:r>
              <a:rPr dirty="0" err="1"/>
              <a:t>없다</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[16장 · </a:t>
            </a:r>
            <a:r>
              <a:rPr dirty="0" err="1"/>
              <a:t>문제</a:t>
            </a:r>
            <a:r>
              <a:rPr dirty="0"/>
              <a:t> ② Table]</a:t>
            </a:r>
          </a:p>
          <a:p>
            <a:endParaRPr dirty="0"/>
          </a:p>
          <a:p>
            <a:r>
              <a:rPr dirty="0"/>
              <a:t>두 </a:t>
            </a:r>
            <a:r>
              <a:rPr dirty="0" err="1"/>
              <a:t>번째</a:t>
            </a:r>
            <a:r>
              <a:rPr dirty="0"/>
              <a:t>, 표 </a:t>
            </a:r>
            <a:r>
              <a:rPr dirty="0" err="1"/>
              <a:t>하나가</a:t>
            </a:r>
            <a:r>
              <a:rPr dirty="0"/>
              <a:t> </a:t>
            </a:r>
            <a:r>
              <a:rPr dirty="0" err="1"/>
              <a:t>개별</a:t>
            </a:r>
            <a:r>
              <a:rPr dirty="0"/>
              <a:t> </a:t>
            </a:r>
            <a:r>
              <a:rPr dirty="0" err="1"/>
              <a:t>텍스트로</a:t>
            </a:r>
            <a:r>
              <a:rPr dirty="0"/>
              <a:t> </a:t>
            </a:r>
            <a:r>
              <a:rPr dirty="0" err="1"/>
              <a:t>흩어집니다</a:t>
            </a:r>
            <a:r>
              <a:rPr dirty="0"/>
              <a:t>.</a:t>
            </a:r>
          </a:p>
          <a:p>
            <a:endParaRPr dirty="0"/>
          </a:p>
          <a:p>
            <a:r>
              <a:rPr dirty="0"/>
              <a:t>이 </a:t>
            </a:r>
            <a:r>
              <a:rPr dirty="0" err="1"/>
              <a:t>페이지는</a:t>
            </a:r>
            <a:r>
              <a:rPr dirty="0"/>
              <a:t> 2단 </a:t>
            </a:r>
            <a:r>
              <a:rPr dirty="0" err="1"/>
              <a:t>구성인데</a:t>
            </a:r>
            <a:r>
              <a:rPr dirty="0"/>
              <a:t>, </a:t>
            </a:r>
            <a:r>
              <a:rPr dirty="0" err="1"/>
              <a:t>TABLE로</a:t>
            </a:r>
            <a:r>
              <a:rPr dirty="0"/>
              <a:t> </a:t>
            </a:r>
            <a:r>
              <a:rPr dirty="0" err="1"/>
              <a:t>잡힌</a:t>
            </a:r>
            <a:r>
              <a:rPr dirty="0"/>
              <a:t> </a:t>
            </a:r>
            <a:r>
              <a:rPr dirty="0" err="1"/>
              <a:t>영역</a:t>
            </a:r>
            <a:r>
              <a:rPr dirty="0"/>
              <a:t> </a:t>
            </a:r>
            <a:r>
              <a:rPr dirty="0" err="1"/>
              <a:t>안이</a:t>
            </a:r>
            <a:r>
              <a:rPr dirty="0"/>
              <a:t> TEXT </a:t>
            </a:r>
            <a:r>
              <a:rPr dirty="0" err="1"/>
              <a:t>박스</a:t>
            </a:r>
            <a:r>
              <a:rPr dirty="0"/>
              <a:t> </a:t>
            </a:r>
            <a:r>
              <a:rPr dirty="0" err="1"/>
              <a:t>수십</a:t>
            </a:r>
            <a:r>
              <a:rPr dirty="0"/>
              <a:t> </a:t>
            </a:r>
            <a:r>
              <a:rPr dirty="0" err="1"/>
              <a:t>개로</a:t>
            </a:r>
            <a:r>
              <a:rPr dirty="0"/>
              <a:t> </a:t>
            </a:r>
            <a:r>
              <a:rPr dirty="0" err="1"/>
              <a:t>덮여</a:t>
            </a:r>
            <a:r>
              <a:rPr dirty="0"/>
              <a:t> </a:t>
            </a:r>
            <a:r>
              <a:rPr dirty="0" err="1"/>
              <a:t>있습니다</a:t>
            </a:r>
            <a:r>
              <a:rPr dirty="0"/>
              <a:t>.</a:t>
            </a:r>
          </a:p>
          <a:p>
            <a:endParaRPr dirty="0"/>
          </a:p>
          <a:p>
            <a:r>
              <a:rPr dirty="0" err="1"/>
              <a:t>표가</a:t>
            </a:r>
            <a:r>
              <a:rPr dirty="0"/>
              <a:t> </a:t>
            </a:r>
            <a:r>
              <a:rPr dirty="0" err="1"/>
              <a:t>하나의</a:t>
            </a:r>
            <a:r>
              <a:rPr dirty="0"/>
              <a:t> </a:t>
            </a:r>
            <a:r>
              <a:rPr dirty="0" err="1"/>
              <a:t>구조가</a:t>
            </a:r>
            <a:r>
              <a:rPr dirty="0"/>
              <a:t> </a:t>
            </a:r>
            <a:r>
              <a:rPr dirty="0" err="1"/>
              <a:t>아니라</a:t>
            </a:r>
            <a:r>
              <a:rPr dirty="0"/>
              <a:t> </a:t>
            </a:r>
            <a:r>
              <a:rPr dirty="0" err="1"/>
              <a:t>개별</a:t>
            </a:r>
            <a:r>
              <a:rPr dirty="0"/>
              <a:t> </a:t>
            </a:r>
            <a:r>
              <a:rPr dirty="0" err="1"/>
              <a:t>텍스트</a:t>
            </a:r>
            <a:r>
              <a:rPr dirty="0"/>
              <a:t> </a:t>
            </a:r>
            <a:r>
              <a:rPr dirty="0" err="1"/>
              <a:t>좌표</a:t>
            </a:r>
            <a:r>
              <a:rPr lang="ko-KR" altLang="en-US" dirty="0"/>
              <a:t>로 분리되는 것입니다</a:t>
            </a:r>
            <a:r>
              <a:rPr dirty="0"/>
              <a:t>.</a:t>
            </a:r>
          </a:p>
          <a:p>
            <a:endParaRPr dirty="0"/>
          </a:p>
          <a:p>
            <a:r>
              <a:rPr lang="ko-KR" altLang="en-US" dirty="0"/>
              <a:t>이 경우</a:t>
            </a:r>
            <a:r>
              <a:rPr dirty="0"/>
              <a:t> </a:t>
            </a:r>
            <a:r>
              <a:rPr lang="ko-KR" altLang="en-US" dirty="0"/>
              <a:t>추출된 데이터가 </a:t>
            </a:r>
            <a:r>
              <a:rPr dirty="0" err="1"/>
              <a:t>어느</a:t>
            </a:r>
            <a:r>
              <a:rPr dirty="0"/>
              <a:t> 행, </a:t>
            </a:r>
            <a:r>
              <a:rPr dirty="0" err="1"/>
              <a:t>어느</a:t>
            </a:r>
            <a:r>
              <a:rPr dirty="0"/>
              <a:t> </a:t>
            </a:r>
            <a:r>
              <a:rPr dirty="0" err="1"/>
              <a:t>열의</a:t>
            </a:r>
            <a:r>
              <a:rPr dirty="0"/>
              <a:t> </a:t>
            </a:r>
            <a:r>
              <a:rPr dirty="0" err="1"/>
              <a:t>것인지</a:t>
            </a:r>
            <a:r>
              <a:rPr dirty="0"/>
              <a:t> 알 수 </a:t>
            </a:r>
            <a:r>
              <a:rPr dirty="0" err="1"/>
              <a:t>없게</a:t>
            </a:r>
            <a:r>
              <a:rPr dirty="0"/>
              <a:t> </a:t>
            </a:r>
            <a:r>
              <a:rPr dirty="0" err="1"/>
              <a:t>됩니다</a:t>
            </a:r>
            <a:r>
              <a:rPr dirty="0"/>
              <a:t>.</a:t>
            </a:r>
          </a:p>
          <a:p>
            <a:endParaRPr dirty="0"/>
          </a:p>
          <a:p>
            <a:r>
              <a:rPr dirty="0" err="1"/>
              <a:t>이건</a:t>
            </a:r>
            <a:r>
              <a:rPr dirty="0"/>
              <a:t> </a:t>
            </a:r>
            <a:r>
              <a:rPr lang="ko-KR" altLang="en-US" dirty="0" err="1"/>
              <a:t>하이퍼</a:t>
            </a:r>
            <a:r>
              <a:rPr lang="ko-KR" altLang="en-US" dirty="0"/>
              <a:t> 파라미터 조정을 통해</a:t>
            </a:r>
            <a:r>
              <a:rPr dirty="0"/>
              <a:t> </a:t>
            </a:r>
            <a:r>
              <a:rPr lang="ko-KR" altLang="en-US" dirty="0"/>
              <a:t>해결할 수 있는</a:t>
            </a:r>
            <a:r>
              <a:rPr dirty="0"/>
              <a:t> </a:t>
            </a:r>
            <a:r>
              <a:rPr dirty="0" err="1"/>
              <a:t>문제가</a:t>
            </a:r>
            <a:r>
              <a:rPr dirty="0"/>
              <a:t> </a:t>
            </a:r>
            <a:r>
              <a:rPr dirty="0" err="1"/>
              <a:t>아니라</a:t>
            </a:r>
            <a:r>
              <a:rPr dirty="0"/>
              <a:t>, </a:t>
            </a:r>
            <a:r>
              <a:rPr dirty="0" err="1"/>
              <a:t>청킹에서</a:t>
            </a:r>
            <a:r>
              <a:rPr dirty="0"/>
              <a:t> </a:t>
            </a:r>
            <a:r>
              <a:rPr dirty="0" err="1"/>
              <a:t>표를</a:t>
            </a:r>
            <a:r>
              <a:rPr dirty="0"/>
              <a:t> </a:t>
            </a:r>
            <a:r>
              <a:rPr dirty="0" err="1"/>
              <a:t>따로</a:t>
            </a:r>
            <a:r>
              <a:rPr dirty="0"/>
              <a:t> </a:t>
            </a:r>
            <a:r>
              <a:rPr dirty="0" err="1"/>
              <a:t>다뤄야</a:t>
            </a:r>
            <a:r>
              <a:rPr dirty="0"/>
              <a:t> </a:t>
            </a:r>
            <a:r>
              <a:rPr dirty="0" err="1"/>
              <a:t>하는</a:t>
            </a:r>
            <a:r>
              <a:rPr dirty="0"/>
              <a:t> </a:t>
            </a:r>
            <a:r>
              <a:rPr dirty="0" err="1"/>
              <a:t>문제입니다</a:t>
            </a:r>
            <a:r>
              <a:rPr dirty="0"/>
              <a:t>.</a:t>
            </a:r>
          </a:p>
          <a:p>
            <a:endParaRPr dirty="0"/>
          </a:p>
          <a:p>
            <a:r>
              <a:rPr dirty="0"/>
              <a:t>▪ </a:t>
            </a:r>
            <a:r>
              <a:rPr dirty="0" err="1"/>
              <a:t>요점</a:t>
            </a:r>
            <a:endParaRPr dirty="0"/>
          </a:p>
          <a:p>
            <a:r>
              <a:rPr dirty="0"/>
              <a:t>· ▸ </a:t>
            </a:r>
            <a:r>
              <a:rPr dirty="0" err="1"/>
              <a:t>파싱</a:t>
            </a:r>
            <a:r>
              <a:rPr dirty="0"/>
              <a:t> </a:t>
            </a:r>
            <a:r>
              <a:rPr dirty="0" err="1"/>
              <a:t>옵션으로</a:t>
            </a:r>
            <a:r>
              <a:rPr dirty="0"/>
              <a:t> 풀 </a:t>
            </a:r>
            <a:r>
              <a:rPr dirty="0" err="1"/>
              <a:t>문제가</a:t>
            </a:r>
            <a:r>
              <a:rPr dirty="0"/>
              <a:t> </a:t>
            </a:r>
            <a:r>
              <a:rPr dirty="0" err="1"/>
              <a:t>아니다</a:t>
            </a:r>
            <a:r>
              <a:rPr dirty="0"/>
              <a:t> — 21장으로 </a:t>
            </a:r>
            <a:r>
              <a:rPr dirty="0" err="1"/>
              <a:t>넘기는</a:t>
            </a:r>
            <a:r>
              <a:rPr dirty="0"/>
              <a:t> </a:t>
            </a:r>
            <a:r>
              <a:rPr dirty="0" err="1"/>
              <a:t>다리</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[17장 · </a:t>
            </a:r>
            <a:r>
              <a:rPr dirty="0" err="1"/>
              <a:t>문제</a:t>
            </a:r>
            <a:r>
              <a:rPr dirty="0"/>
              <a:t> ③ Image]</a:t>
            </a:r>
          </a:p>
          <a:p>
            <a:endParaRPr dirty="0"/>
          </a:p>
          <a:p>
            <a:r>
              <a:rPr dirty="0"/>
              <a:t>세 </a:t>
            </a:r>
            <a:r>
              <a:rPr dirty="0" err="1"/>
              <a:t>번째</a:t>
            </a:r>
            <a:r>
              <a:rPr dirty="0"/>
              <a:t>, </a:t>
            </a:r>
            <a:r>
              <a:rPr lang="ko-KR" altLang="en-US" dirty="0"/>
              <a:t>이미지 </a:t>
            </a:r>
            <a:r>
              <a:rPr dirty="0" err="1"/>
              <a:t>입니다</a:t>
            </a:r>
            <a:r>
              <a:rPr dirty="0"/>
              <a:t>.</a:t>
            </a:r>
          </a:p>
          <a:p>
            <a:endParaRPr dirty="0"/>
          </a:p>
          <a:p>
            <a:r>
              <a:rPr dirty="0" err="1"/>
              <a:t>왼쪽은</a:t>
            </a:r>
            <a:r>
              <a:rPr dirty="0"/>
              <a:t> </a:t>
            </a:r>
            <a:r>
              <a:rPr dirty="0" err="1"/>
              <a:t>차트</a:t>
            </a:r>
            <a:r>
              <a:rPr lang="en-US" dirty="0"/>
              <a:t> </a:t>
            </a:r>
            <a:r>
              <a:rPr lang="ko-KR" altLang="en-US" dirty="0"/>
              <a:t>이미지의 파싱 결과로</a:t>
            </a:r>
            <a:r>
              <a:rPr dirty="0"/>
              <a:t> </a:t>
            </a:r>
            <a:r>
              <a:rPr dirty="0" err="1"/>
              <a:t>축과</a:t>
            </a:r>
            <a:r>
              <a:rPr dirty="0"/>
              <a:t> </a:t>
            </a:r>
            <a:r>
              <a:rPr dirty="0" err="1"/>
              <a:t>범례</a:t>
            </a:r>
            <a:r>
              <a:rPr dirty="0"/>
              <a:t>, </a:t>
            </a:r>
            <a:r>
              <a:rPr dirty="0" err="1"/>
              <a:t>숫자가</a:t>
            </a:r>
            <a:r>
              <a:rPr dirty="0"/>
              <a:t> </a:t>
            </a:r>
            <a:r>
              <a:rPr dirty="0" err="1"/>
              <a:t>수십</a:t>
            </a:r>
            <a:r>
              <a:rPr dirty="0"/>
              <a:t> </a:t>
            </a:r>
            <a:r>
              <a:rPr dirty="0" err="1"/>
              <a:t>개의</a:t>
            </a:r>
            <a:r>
              <a:rPr dirty="0"/>
              <a:t> </a:t>
            </a:r>
            <a:r>
              <a:rPr dirty="0" err="1"/>
              <a:t>개별</a:t>
            </a:r>
            <a:r>
              <a:rPr dirty="0"/>
              <a:t> </a:t>
            </a:r>
            <a:r>
              <a:rPr dirty="0" err="1"/>
              <a:t>텍스트로</a:t>
            </a:r>
            <a:r>
              <a:rPr lang="ko-KR" altLang="en-US" dirty="0"/>
              <a:t> 분리되었습니다</a:t>
            </a:r>
            <a:r>
              <a:rPr dirty="0"/>
              <a:t>.</a:t>
            </a:r>
          </a:p>
          <a:p>
            <a:endParaRPr dirty="0"/>
          </a:p>
          <a:p>
            <a:r>
              <a:rPr dirty="0" err="1"/>
              <a:t>오른쪽은</a:t>
            </a:r>
            <a:r>
              <a:rPr dirty="0"/>
              <a:t> </a:t>
            </a:r>
            <a:r>
              <a:rPr dirty="0" err="1"/>
              <a:t>복합</a:t>
            </a:r>
            <a:r>
              <a:rPr dirty="0"/>
              <a:t> </a:t>
            </a:r>
            <a:r>
              <a:rPr dirty="0" err="1"/>
              <a:t>그림</a:t>
            </a:r>
            <a:r>
              <a:rPr lang="ko-KR" altLang="en-US" dirty="0"/>
              <a:t>으로</a:t>
            </a:r>
            <a:r>
              <a:rPr dirty="0"/>
              <a:t> </a:t>
            </a:r>
            <a:r>
              <a:rPr dirty="0" err="1"/>
              <a:t>사진과</a:t>
            </a:r>
            <a:r>
              <a:rPr dirty="0"/>
              <a:t> </a:t>
            </a:r>
            <a:r>
              <a:rPr dirty="0" err="1"/>
              <a:t>라벨</a:t>
            </a:r>
            <a:r>
              <a:rPr dirty="0"/>
              <a:t>, </a:t>
            </a:r>
            <a:r>
              <a:rPr dirty="0" err="1"/>
              <a:t>목록이</a:t>
            </a:r>
            <a:r>
              <a:rPr dirty="0"/>
              <a:t> </a:t>
            </a:r>
            <a:r>
              <a:rPr dirty="0" err="1"/>
              <a:t>겹친</a:t>
            </a:r>
            <a:r>
              <a:rPr dirty="0"/>
              <a:t> 채 </a:t>
            </a:r>
            <a:r>
              <a:rPr dirty="0" err="1"/>
              <a:t>뒤섞여</a:t>
            </a:r>
            <a:r>
              <a:rPr dirty="0"/>
              <a:t> </a:t>
            </a:r>
            <a:r>
              <a:rPr dirty="0" err="1"/>
              <a:t>있습니다</a:t>
            </a:r>
            <a:r>
              <a:rPr dirty="0"/>
              <a:t>.</a:t>
            </a:r>
          </a:p>
          <a:p>
            <a:endParaRPr dirty="0"/>
          </a:p>
          <a:p>
            <a:r>
              <a:rPr dirty="0" err="1"/>
              <a:t>요소는</a:t>
            </a:r>
            <a:r>
              <a:rPr dirty="0"/>
              <a:t> </a:t>
            </a:r>
            <a:r>
              <a:rPr dirty="0" err="1"/>
              <a:t>찾아내지만</a:t>
            </a:r>
            <a:r>
              <a:rPr dirty="0"/>
              <a:t> </a:t>
            </a:r>
            <a:r>
              <a:rPr dirty="0" err="1"/>
              <a:t>요소</a:t>
            </a:r>
            <a:r>
              <a:rPr dirty="0"/>
              <a:t> </a:t>
            </a:r>
            <a:r>
              <a:rPr dirty="0" err="1"/>
              <a:t>사이의</a:t>
            </a:r>
            <a:r>
              <a:rPr dirty="0"/>
              <a:t> </a:t>
            </a:r>
            <a:r>
              <a:rPr dirty="0" err="1"/>
              <a:t>구조와</a:t>
            </a:r>
            <a:r>
              <a:rPr dirty="0"/>
              <a:t> </a:t>
            </a:r>
            <a:r>
              <a:rPr dirty="0" err="1"/>
              <a:t>순서를</a:t>
            </a:r>
            <a:r>
              <a:rPr dirty="0"/>
              <a:t> 놓</a:t>
            </a:r>
            <a:r>
              <a:rPr lang="ko-KR" altLang="en-US" dirty="0"/>
              <a:t>치게 되는 것입니다</a:t>
            </a:r>
            <a:r>
              <a:rPr lang="en-US" altLang="ko-KR" dirty="0"/>
              <a:t>.</a:t>
            </a:r>
            <a:endParaRPr dirty="0"/>
          </a:p>
          <a:p>
            <a:endParaRPr dirty="0"/>
          </a:p>
          <a:p>
            <a:r>
              <a:rPr lang="ko-KR" altLang="en-US" dirty="0"/>
              <a:t>결과적으로 세 개의 문제점이 </a:t>
            </a:r>
            <a:r>
              <a:rPr dirty="0" err="1"/>
              <a:t>하나</a:t>
            </a:r>
            <a:r>
              <a:rPr lang="ko-KR" altLang="en-US" dirty="0"/>
              <a:t>의 큰 공통점을 가지게 되는데</a:t>
            </a:r>
            <a:endParaRPr dirty="0"/>
          </a:p>
          <a:p>
            <a:endParaRPr dirty="0"/>
          </a:p>
          <a:p>
            <a:r>
              <a:rPr lang="ko-KR" altLang="en-US" dirty="0"/>
              <a:t>파싱 시 </a:t>
            </a:r>
            <a:r>
              <a:rPr dirty="0" err="1"/>
              <a:t>개별</a:t>
            </a:r>
            <a:r>
              <a:rPr dirty="0"/>
              <a:t> </a:t>
            </a:r>
            <a:r>
              <a:rPr dirty="0" err="1"/>
              <a:t>요소는</a:t>
            </a:r>
            <a:r>
              <a:rPr dirty="0"/>
              <a:t> 찾</a:t>
            </a:r>
            <a:r>
              <a:rPr lang="ko-KR" altLang="en-US" dirty="0"/>
              <a:t>더라도</a:t>
            </a:r>
            <a:r>
              <a:rPr dirty="0"/>
              <a:t> </a:t>
            </a:r>
            <a:r>
              <a:rPr dirty="0" err="1"/>
              <a:t>요소</a:t>
            </a:r>
            <a:r>
              <a:rPr dirty="0"/>
              <a:t> </a:t>
            </a:r>
            <a:r>
              <a:rPr dirty="0" err="1"/>
              <a:t>사이의</a:t>
            </a:r>
            <a:r>
              <a:rPr dirty="0"/>
              <a:t> </a:t>
            </a:r>
            <a:r>
              <a:rPr dirty="0" err="1"/>
              <a:t>구조를</a:t>
            </a:r>
            <a:r>
              <a:rPr dirty="0"/>
              <a:t> </a:t>
            </a:r>
            <a:r>
              <a:rPr dirty="0" err="1"/>
              <a:t>보존하지</a:t>
            </a:r>
            <a:r>
              <a:rPr dirty="0"/>
              <a:t> 못</a:t>
            </a:r>
            <a:r>
              <a:rPr lang="ko-KR" altLang="en-US" dirty="0"/>
              <a:t> 하고 있다는 것 입니다</a:t>
            </a:r>
            <a:r>
              <a:rPr lang="en-US" altLang="ko-KR" dirty="0"/>
              <a:t>.</a:t>
            </a:r>
            <a:endParaRPr dirty="0"/>
          </a:p>
          <a:p>
            <a:endParaRPr dirty="0"/>
          </a:p>
          <a:p>
            <a:r>
              <a:rPr dirty="0"/>
              <a:t>▪ </a:t>
            </a:r>
            <a:r>
              <a:rPr dirty="0" err="1"/>
              <a:t>요점</a:t>
            </a:r>
            <a:endParaRPr dirty="0"/>
          </a:p>
          <a:p>
            <a:r>
              <a:rPr dirty="0"/>
              <a:t>· ▸ 세 </a:t>
            </a:r>
            <a:r>
              <a:rPr dirty="0" err="1"/>
              <a:t>문제의</a:t>
            </a:r>
            <a:r>
              <a:rPr dirty="0"/>
              <a:t> </a:t>
            </a:r>
            <a:r>
              <a:rPr dirty="0" err="1"/>
              <a:t>뿌리는</a:t>
            </a:r>
            <a:r>
              <a:rPr dirty="0"/>
              <a:t> </a:t>
            </a:r>
            <a:r>
              <a:rPr dirty="0" err="1"/>
              <a:t>하나</a:t>
            </a:r>
            <a:r>
              <a:rPr dirty="0"/>
              <a:t> — 이 </a:t>
            </a:r>
            <a:r>
              <a:rPr dirty="0" err="1"/>
              <a:t>문장으로</a:t>
            </a:r>
            <a:r>
              <a:rPr dirty="0"/>
              <a:t> </a:t>
            </a:r>
            <a:r>
              <a:rPr dirty="0" err="1"/>
              <a:t>마무리</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[18장 · </a:t>
            </a:r>
            <a:r>
              <a:rPr dirty="0" err="1"/>
              <a:t>파싱</a:t>
            </a:r>
            <a:r>
              <a:rPr dirty="0"/>
              <a:t> </a:t>
            </a:r>
            <a:r>
              <a:rPr dirty="0" err="1"/>
              <a:t>개선</a:t>
            </a:r>
            <a:r>
              <a:rPr dirty="0"/>
              <a:t> </a:t>
            </a:r>
            <a:r>
              <a:rPr dirty="0" err="1"/>
              <a:t>방향</a:t>
            </a:r>
            <a:r>
              <a:rPr dirty="0"/>
              <a:t>]</a:t>
            </a:r>
          </a:p>
          <a:p>
            <a:endParaRPr dirty="0"/>
          </a:p>
          <a:p>
            <a:r>
              <a:rPr lang="ko-KR" altLang="en-US" dirty="0"/>
              <a:t>이 문제점을 해결하기 위해</a:t>
            </a:r>
            <a:r>
              <a:rPr dirty="0"/>
              <a:t> </a:t>
            </a:r>
            <a:r>
              <a:rPr lang="ko-KR" altLang="en-US" dirty="0"/>
              <a:t>개선 방향으로 </a:t>
            </a:r>
            <a:r>
              <a:rPr dirty="0"/>
              <a:t>두 </a:t>
            </a:r>
            <a:r>
              <a:rPr dirty="0" err="1"/>
              <a:t>가지를</a:t>
            </a:r>
            <a:r>
              <a:rPr dirty="0"/>
              <a:t> 계</a:t>
            </a:r>
            <a:r>
              <a:rPr lang="ko-KR" altLang="en-US" dirty="0"/>
              <a:t>획 하였습니다</a:t>
            </a:r>
            <a:r>
              <a:rPr dirty="0"/>
              <a:t>.</a:t>
            </a:r>
          </a:p>
          <a:p>
            <a:endParaRPr dirty="0"/>
          </a:p>
          <a:p>
            <a:r>
              <a:rPr dirty="0" err="1"/>
              <a:t>하나는</a:t>
            </a:r>
            <a:r>
              <a:rPr dirty="0"/>
              <a:t> </a:t>
            </a:r>
            <a:r>
              <a:rPr dirty="0" err="1"/>
              <a:t>레이아웃과</a:t>
            </a:r>
            <a:r>
              <a:rPr dirty="0"/>
              <a:t> 표 </a:t>
            </a:r>
            <a:r>
              <a:rPr dirty="0" err="1"/>
              <a:t>모델을</a:t>
            </a:r>
            <a:r>
              <a:rPr dirty="0"/>
              <a:t> </a:t>
            </a:r>
            <a:r>
              <a:rPr dirty="0" err="1"/>
              <a:t>바꿔</a:t>
            </a:r>
            <a:r>
              <a:rPr dirty="0"/>
              <a:t> </a:t>
            </a:r>
            <a:r>
              <a:rPr dirty="0" err="1"/>
              <a:t>가며</a:t>
            </a:r>
            <a:r>
              <a:rPr dirty="0"/>
              <a:t> </a:t>
            </a:r>
            <a:r>
              <a:rPr dirty="0" err="1"/>
              <a:t>같은</a:t>
            </a:r>
            <a:r>
              <a:rPr dirty="0"/>
              <a:t> </a:t>
            </a:r>
            <a:r>
              <a:rPr dirty="0" err="1"/>
              <a:t>문서를</a:t>
            </a:r>
            <a:r>
              <a:rPr dirty="0"/>
              <a:t> </a:t>
            </a:r>
            <a:r>
              <a:rPr dirty="0" err="1"/>
              <a:t>돌려</a:t>
            </a:r>
            <a:r>
              <a:rPr dirty="0"/>
              <a:t> </a:t>
            </a:r>
            <a:r>
              <a:rPr dirty="0" err="1"/>
              <a:t>비교하는</a:t>
            </a:r>
            <a:r>
              <a:rPr dirty="0"/>
              <a:t> </a:t>
            </a:r>
            <a:r>
              <a:rPr dirty="0" err="1"/>
              <a:t>겁니다</a:t>
            </a:r>
            <a:r>
              <a:rPr dirty="0"/>
              <a:t>.</a:t>
            </a:r>
          </a:p>
          <a:p>
            <a:endParaRPr dirty="0"/>
          </a:p>
          <a:p>
            <a:r>
              <a:rPr lang="ko-KR" altLang="en-US" dirty="0"/>
              <a:t>최선의 결과를 찾기 위해서 더 많은 조합을 테스트 해보아야 합니다</a:t>
            </a:r>
            <a:r>
              <a:rPr lang="en-US" altLang="ko-KR" dirty="0"/>
              <a:t>.</a:t>
            </a:r>
            <a:endParaRPr dirty="0"/>
          </a:p>
          <a:p>
            <a:endParaRPr dirty="0"/>
          </a:p>
          <a:p>
            <a:r>
              <a:rPr dirty="0" err="1"/>
              <a:t>다른</a:t>
            </a:r>
            <a:r>
              <a:rPr dirty="0"/>
              <a:t> </a:t>
            </a:r>
            <a:r>
              <a:rPr dirty="0" err="1"/>
              <a:t>하나는</a:t>
            </a:r>
            <a:r>
              <a:rPr dirty="0"/>
              <a:t> </a:t>
            </a:r>
            <a:r>
              <a:rPr dirty="0" err="1"/>
              <a:t>파싱</a:t>
            </a:r>
            <a:r>
              <a:rPr dirty="0"/>
              <a:t> </a:t>
            </a:r>
            <a:r>
              <a:rPr dirty="0" err="1"/>
              <a:t>결과를</a:t>
            </a:r>
            <a:r>
              <a:rPr dirty="0"/>
              <a:t> </a:t>
            </a:r>
            <a:r>
              <a:rPr dirty="0" err="1"/>
              <a:t>그대로</a:t>
            </a:r>
            <a:r>
              <a:rPr dirty="0"/>
              <a:t> </a:t>
            </a:r>
            <a:r>
              <a:rPr dirty="0" err="1"/>
              <a:t>믿지</a:t>
            </a:r>
            <a:r>
              <a:rPr dirty="0"/>
              <a:t> </a:t>
            </a:r>
            <a:r>
              <a:rPr dirty="0" err="1"/>
              <a:t>않고</a:t>
            </a:r>
            <a:r>
              <a:rPr dirty="0"/>
              <a:t> 한 </a:t>
            </a:r>
            <a:r>
              <a:rPr lang="ko-KR" altLang="en-US" dirty="0"/>
              <a:t>번</a:t>
            </a:r>
            <a:r>
              <a:rPr dirty="0"/>
              <a:t> 더 </a:t>
            </a:r>
            <a:r>
              <a:rPr dirty="0" err="1"/>
              <a:t>검사하는</a:t>
            </a:r>
            <a:r>
              <a:rPr dirty="0"/>
              <a:t> </a:t>
            </a:r>
            <a:r>
              <a:rPr dirty="0" err="1"/>
              <a:t>레이어입니다</a:t>
            </a:r>
            <a:r>
              <a:rPr dirty="0"/>
              <a:t>.</a:t>
            </a:r>
          </a:p>
          <a:p>
            <a:endParaRPr dirty="0"/>
          </a:p>
          <a:p>
            <a:r>
              <a:rPr dirty="0" err="1"/>
              <a:t>파싱이</a:t>
            </a:r>
            <a:r>
              <a:rPr dirty="0"/>
              <a:t> </a:t>
            </a:r>
            <a:r>
              <a:rPr dirty="0" err="1"/>
              <a:t>틀리면</a:t>
            </a:r>
            <a:r>
              <a:rPr dirty="0"/>
              <a:t> </a:t>
            </a:r>
            <a:r>
              <a:rPr dirty="0" err="1"/>
              <a:t>청킹과</a:t>
            </a:r>
            <a:r>
              <a:rPr dirty="0"/>
              <a:t> </a:t>
            </a:r>
            <a:r>
              <a:rPr dirty="0" err="1"/>
              <a:t>검색까지</a:t>
            </a:r>
            <a:r>
              <a:rPr dirty="0"/>
              <a:t> </a:t>
            </a:r>
            <a:r>
              <a:rPr dirty="0" err="1"/>
              <a:t>그대로</a:t>
            </a:r>
            <a:r>
              <a:rPr dirty="0"/>
              <a:t> </a:t>
            </a:r>
            <a:r>
              <a:rPr dirty="0" err="1"/>
              <a:t>따라가기</a:t>
            </a:r>
            <a:r>
              <a:rPr dirty="0"/>
              <a:t> </a:t>
            </a:r>
            <a:r>
              <a:rPr dirty="0" err="1"/>
              <a:t>때문에</a:t>
            </a:r>
            <a:r>
              <a:rPr dirty="0"/>
              <a:t>, </a:t>
            </a:r>
            <a:r>
              <a:rPr dirty="0" err="1"/>
              <a:t>파싱</a:t>
            </a:r>
            <a:r>
              <a:rPr dirty="0"/>
              <a:t> </a:t>
            </a:r>
            <a:r>
              <a:rPr dirty="0" err="1"/>
              <a:t>단계에서</a:t>
            </a:r>
            <a:r>
              <a:rPr dirty="0"/>
              <a:t> </a:t>
            </a:r>
            <a:r>
              <a:rPr dirty="0" err="1"/>
              <a:t>걸러내야</a:t>
            </a:r>
            <a:r>
              <a:rPr dirty="0"/>
              <a:t> </a:t>
            </a:r>
            <a:r>
              <a:rPr dirty="0" err="1"/>
              <a:t>합니다</a:t>
            </a:r>
            <a:r>
              <a:rPr dirty="0"/>
              <a:t>.</a:t>
            </a:r>
          </a:p>
          <a:p>
            <a:endParaRPr dirty="0"/>
          </a:p>
          <a:p>
            <a:r>
              <a:rPr dirty="0"/>
              <a:t>▪ </a:t>
            </a:r>
            <a:r>
              <a:rPr dirty="0" err="1"/>
              <a:t>요점</a:t>
            </a:r>
            <a:endParaRPr dirty="0"/>
          </a:p>
          <a:p>
            <a:r>
              <a:rPr dirty="0"/>
              <a:t>· </a:t>
            </a:r>
            <a:r>
              <a:rPr dirty="0" err="1"/>
              <a:t>모델</a:t>
            </a:r>
            <a:r>
              <a:rPr dirty="0"/>
              <a:t> </a:t>
            </a:r>
            <a:r>
              <a:rPr dirty="0" err="1"/>
              <a:t>교체</a:t>
            </a:r>
            <a:r>
              <a:rPr dirty="0"/>
              <a:t> </a:t>
            </a:r>
            <a:r>
              <a:rPr dirty="0" err="1"/>
              <a:t>비교</a:t>
            </a:r>
            <a:r>
              <a:rPr dirty="0"/>
              <a:t> / ▸ 못 </a:t>
            </a:r>
            <a:r>
              <a:rPr dirty="0" err="1"/>
              <a:t>고치면</a:t>
            </a:r>
            <a:r>
              <a:rPr dirty="0"/>
              <a:t> </a:t>
            </a:r>
            <a:r>
              <a:rPr dirty="0" err="1"/>
              <a:t>실패로</a:t>
            </a:r>
            <a:r>
              <a:rPr dirty="0"/>
              <a:t> </a:t>
            </a:r>
            <a:r>
              <a:rPr dirty="0" err="1"/>
              <a:t>남긴다</a:t>
            </a:r>
            <a:endParaRPr dirty="0"/>
          </a:p>
          <a:p>
            <a:endParaRPr dirty="0"/>
          </a:p>
          <a:p>
            <a:r>
              <a:rPr dirty="0"/>
              <a:t>─────────────  </a:t>
            </a:r>
            <a:r>
              <a:rPr dirty="0" err="1"/>
              <a:t>배경</a:t>
            </a:r>
            <a:r>
              <a:rPr dirty="0"/>
              <a:t> · </a:t>
            </a:r>
            <a:r>
              <a:rPr dirty="0" err="1"/>
              <a:t>질의응답</a:t>
            </a:r>
            <a:r>
              <a:rPr dirty="0"/>
              <a:t> </a:t>
            </a:r>
            <a:r>
              <a:rPr dirty="0" err="1"/>
              <a:t>대비</a:t>
            </a:r>
            <a:r>
              <a:rPr dirty="0"/>
              <a:t>  ─────────────</a:t>
            </a:r>
          </a:p>
          <a:p>
            <a:endParaRPr dirty="0"/>
          </a:p>
          <a:p>
            <a:r>
              <a:rPr dirty="0"/>
              <a:t>이 </a:t>
            </a:r>
            <a:r>
              <a:rPr dirty="0" err="1"/>
              <a:t>검증·보완</a:t>
            </a:r>
            <a:r>
              <a:rPr dirty="0"/>
              <a:t> </a:t>
            </a:r>
            <a:r>
              <a:rPr dirty="0" err="1"/>
              <a:t>레이어는</a:t>
            </a:r>
            <a:r>
              <a:rPr dirty="0"/>
              <a:t> </a:t>
            </a:r>
            <a:r>
              <a:rPr dirty="0" err="1"/>
              <a:t>청킹</a:t>
            </a:r>
            <a:r>
              <a:rPr dirty="0"/>
              <a:t> </a:t>
            </a:r>
            <a:r>
              <a:rPr dirty="0" err="1"/>
              <a:t>단계에서도</a:t>
            </a:r>
            <a:r>
              <a:rPr dirty="0"/>
              <a:t> </a:t>
            </a:r>
            <a:r>
              <a:rPr dirty="0" err="1"/>
              <a:t>그대로</a:t>
            </a:r>
            <a:r>
              <a:rPr dirty="0"/>
              <a:t> </a:t>
            </a:r>
            <a:r>
              <a:rPr dirty="0" err="1"/>
              <a:t>필요하다</a:t>
            </a:r>
            <a:r>
              <a:rPr dirty="0"/>
              <a:t> — </a:t>
            </a:r>
            <a:r>
              <a:rPr dirty="0" err="1"/>
              <a:t>파싱</a:t>
            </a:r>
            <a:r>
              <a:rPr dirty="0"/>
              <a:t> </a:t>
            </a:r>
            <a:r>
              <a:rPr dirty="0" err="1"/>
              <a:t>오류가</a:t>
            </a:r>
            <a:r>
              <a:rPr dirty="0"/>
              <a:t> </a:t>
            </a:r>
            <a:r>
              <a:rPr dirty="0" err="1"/>
              <a:t>청킹으로</a:t>
            </a:r>
            <a:r>
              <a:rPr dirty="0"/>
              <a:t> </a:t>
            </a:r>
            <a:r>
              <a:rPr dirty="0" err="1"/>
              <a:t>전파되기</a:t>
            </a:r>
            <a:r>
              <a:rPr dirty="0"/>
              <a:t> </a:t>
            </a:r>
            <a:r>
              <a:rPr dirty="0" err="1"/>
              <a:t>때문이다</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[19장 · </a:t>
            </a:r>
            <a:r>
              <a:rPr dirty="0" err="1"/>
              <a:t>청킹</a:t>
            </a:r>
            <a:r>
              <a:rPr dirty="0"/>
              <a:t> — </a:t>
            </a:r>
            <a:r>
              <a:rPr dirty="0" err="1"/>
              <a:t>HybridChunker가</a:t>
            </a:r>
            <a:r>
              <a:rPr dirty="0"/>
              <a:t> </a:t>
            </a:r>
            <a:r>
              <a:rPr dirty="0" err="1"/>
              <a:t>하는</a:t>
            </a:r>
            <a:r>
              <a:rPr dirty="0"/>
              <a:t> 일]</a:t>
            </a:r>
            <a:endParaRPr lang="en-US" dirty="0"/>
          </a:p>
          <a:p>
            <a:endParaRPr lang="en-US" dirty="0"/>
          </a:p>
          <a:p>
            <a:r>
              <a:rPr lang="ko-KR" altLang="en-US" dirty="0"/>
              <a:t>이후 </a:t>
            </a:r>
            <a:r>
              <a:rPr lang="ko-KR" altLang="en-US" dirty="0" err="1"/>
              <a:t>파싱된</a:t>
            </a:r>
            <a:r>
              <a:rPr lang="ko-KR" altLang="en-US" dirty="0"/>
              <a:t> 데이터는 </a:t>
            </a:r>
            <a:r>
              <a:rPr lang="ko-KR" altLang="en-US" dirty="0" err="1"/>
              <a:t>청킹에서</a:t>
            </a:r>
            <a:r>
              <a:rPr lang="ko-KR" altLang="en-US" dirty="0"/>
              <a:t> 이어집니다</a:t>
            </a:r>
            <a:r>
              <a:rPr lang="en-US" altLang="ko-KR" dirty="0"/>
              <a:t>.</a:t>
            </a:r>
            <a:endParaRPr dirty="0"/>
          </a:p>
          <a:p>
            <a:endParaRPr dirty="0"/>
          </a:p>
          <a:p>
            <a:r>
              <a:rPr dirty="0" err="1"/>
              <a:t>청킹은</a:t>
            </a:r>
            <a:r>
              <a:rPr dirty="0"/>
              <a:t> </a:t>
            </a:r>
            <a:r>
              <a:rPr dirty="0" err="1"/>
              <a:t>Docling의</a:t>
            </a:r>
            <a:r>
              <a:rPr dirty="0"/>
              <a:t> </a:t>
            </a:r>
            <a:r>
              <a:rPr dirty="0" err="1"/>
              <a:t>HybridChunker를</a:t>
            </a:r>
            <a:r>
              <a:rPr dirty="0"/>
              <a:t> </a:t>
            </a:r>
            <a:r>
              <a:rPr lang="ko-KR" altLang="en-US" dirty="0"/>
              <a:t>사용하였습니다</a:t>
            </a:r>
            <a:r>
              <a:rPr dirty="0"/>
              <a:t>.</a:t>
            </a:r>
          </a:p>
          <a:p>
            <a:endParaRPr dirty="0"/>
          </a:p>
          <a:p>
            <a:r>
              <a:rPr dirty="0" err="1"/>
              <a:t>하는</a:t>
            </a:r>
            <a:r>
              <a:rPr dirty="0"/>
              <a:t> </a:t>
            </a:r>
            <a:r>
              <a:rPr dirty="0" err="1"/>
              <a:t>일은</a:t>
            </a:r>
            <a:r>
              <a:rPr dirty="0"/>
              <a:t> 세 </a:t>
            </a:r>
            <a:r>
              <a:rPr dirty="0" err="1"/>
              <a:t>가지입니다</a:t>
            </a:r>
            <a:r>
              <a:rPr dirty="0"/>
              <a:t>.</a:t>
            </a:r>
          </a:p>
          <a:p>
            <a:endParaRPr dirty="0"/>
          </a:p>
          <a:p>
            <a:r>
              <a:rPr dirty="0" err="1"/>
              <a:t>먼저</a:t>
            </a:r>
            <a:r>
              <a:rPr dirty="0"/>
              <a:t> </a:t>
            </a:r>
            <a:r>
              <a:rPr dirty="0" err="1"/>
              <a:t>제목</a:t>
            </a:r>
            <a:r>
              <a:rPr dirty="0"/>
              <a:t>, </a:t>
            </a:r>
            <a:r>
              <a:rPr dirty="0" err="1"/>
              <a:t>문단</a:t>
            </a:r>
            <a:r>
              <a:rPr dirty="0"/>
              <a:t>, 표 </a:t>
            </a:r>
            <a:r>
              <a:rPr dirty="0" err="1"/>
              <a:t>같은</a:t>
            </a:r>
            <a:r>
              <a:rPr dirty="0"/>
              <a:t> </a:t>
            </a:r>
            <a:r>
              <a:rPr dirty="0" err="1"/>
              <a:t>문서</a:t>
            </a:r>
            <a:r>
              <a:rPr dirty="0"/>
              <a:t> </a:t>
            </a:r>
            <a:r>
              <a:rPr dirty="0" err="1"/>
              <a:t>구조</a:t>
            </a:r>
            <a:r>
              <a:rPr dirty="0"/>
              <a:t> </a:t>
            </a:r>
            <a:r>
              <a:rPr dirty="0" err="1"/>
              <a:t>단위로</a:t>
            </a:r>
            <a:r>
              <a:rPr dirty="0"/>
              <a:t> </a:t>
            </a:r>
            <a:r>
              <a:rPr dirty="0" err="1"/>
              <a:t>자릅니다</a:t>
            </a:r>
            <a:r>
              <a:rPr dirty="0"/>
              <a:t>.</a:t>
            </a:r>
          </a:p>
          <a:p>
            <a:endParaRPr dirty="0"/>
          </a:p>
          <a:p>
            <a:r>
              <a:rPr dirty="0" err="1"/>
              <a:t>그중</a:t>
            </a:r>
            <a:r>
              <a:rPr dirty="0"/>
              <a:t> 512 </a:t>
            </a:r>
            <a:r>
              <a:rPr dirty="0" err="1"/>
              <a:t>토큰을</a:t>
            </a:r>
            <a:r>
              <a:rPr dirty="0"/>
              <a:t> </a:t>
            </a:r>
            <a:r>
              <a:rPr dirty="0" err="1"/>
              <a:t>넘는</a:t>
            </a:r>
            <a:r>
              <a:rPr dirty="0"/>
              <a:t> </a:t>
            </a:r>
            <a:r>
              <a:rPr dirty="0" err="1"/>
              <a:t>것만</a:t>
            </a:r>
            <a:r>
              <a:rPr dirty="0"/>
              <a:t> </a:t>
            </a:r>
            <a:r>
              <a:rPr dirty="0" err="1"/>
              <a:t>토큰</a:t>
            </a:r>
            <a:r>
              <a:rPr dirty="0"/>
              <a:t> </a:t>
            </a:r>
            <a:r>
              <a:rPr dirty="0" err="1"/>
              <a:t>기준으로</a:t>
            </a:r>
            <a:r>
              <a:rPr dirty="0"/>
              <a:t> </a:t>
            </a:r>
            <a:r>
              <a:rPr dirty="0" err="1"/>
              <a:t>다시</a:t>
            </a:r>
            <a:r>
              <a:rPr dirty="0"/>
              <a:t> </a:t>
            </a:r>
            <a:r>
              <a:rPr dirty="0" err="1"/>
              <a:t>나눕니다</a:t>
            </a:r>
            <a:r>
              <a:rPr dirty="0"/>
              <a:t>.</a:t>
            </a:r>
          </a:p>
          <a:p>
            <a:endParaRPr dirty="0"/>
          </a:p>
          <a:p>
            <a:r>
              <a:rPr dirty="0" err="1"/>
              <a:t>반대로</a:t>
            </a:r>
            <a:r>
              <a:rPr dirty="0"/>
              <a:t> </a:t>
            </a:r>
            <a:r>
              <a:rPr dirty="0" err="1"/>
              <a:t>너무</a:t>
            </a:r>
            <a:r>
              <a:rPr dirty="0"/>
              <a:t> </a:t>
            </a:r>
            <a:r>
              <a:rPr dirty="0" err="1"/>
              <a:t>짧은</a:t>
            </a:r>
            <a:r>
              <a:rPr dirty="0"/>
              <a:t> </a:t>
            </a:r>
            <a:r>
              <a:rPr dirty="0" err="1"/>
              <a:t>조각은</a:t>
            </a:r>
            <a:r>
              <a:rPr dirty="0"/>
              <a:t> </a:t>
            </a:r>
            <a:r>
              <a:rPr dirty="0" err="1"/>
              <a:t>같은</a:t>
            </a:r>
            <a:r>
              <a:rPr dirty="0"/>
              <a:t> </a:t>
            </a:r>
            <a:r>
              <a:rPr dirty="0" err="1"/>
              <a:t>제목</a:t>
            </a:r>
            <a:r>
              <a:rPr dirty="0"/>
              <a:t> </a:t>
            </a:r>
            <a:r>
              <a:rPr dirty="0" err="1"/>
              <a:t>아래</a:t>
            </a:r>
            <a:r>
              <a:rPr dirty="0"/>
              <a:t> </a:t>
            </a:r>
            <a:r>
              <a:rPr dirty="0" err="1"/>
              <a:t>붙어</a:t>
            </a:r>
            <a:r>
              <a:rPr dirty="0"/>
              <a:t> </a:t>
            </a:r>
            <a:r>
              <a:rPr dirty="0" err="1"/>
              <a:t>있는</a:t>
            </a:r>
            <a:r>
              <a:rPr dirty="0"/>
              <a:t> </a:t>
            </a:r>
            <a:r>
              <a:rPr dirty="0" err="1"/>
              <a:t>것끼리</a:t>
            </a:r>
            <a:r>
              <a:rPr dirty="0"/>
              <a:t> </a:t>
            </a:r>
            <a:r>
              <a:rPr dirty="0" err="1"/>
              <a:t>한도</a:t>
            </a:r>
            <a:r>
              <a:rPr dirty="0"/>
              <a:t> </a:t>
            </a:r>
            <a:r>
              <a:rPr dirty="0" err="1"/>
              <a:t>안에서</a:t>
            </a:r>
            <a:r>
              <a:rPr dirty="0"/>
              <a:t> </a:t>
            </a:r>
            <a:r>
              <a:rPr dirty="0" err="1"/>
              <a:t>다시</a:t>
            </a:r>
            <a:r>
              <a:rPr dirty="0"/>
              <a:t> </a:t>
            </a:r>
            <a:r>
              <a:rPr dirty="0" err="1"/>
              <a:t>합칩니다</a:t>
            </a:r>
            <a:r>
              <a:rPr dirty="0"/>
              <a:t>.</a:t>
            </a:r>
          </a:p>
          <a:p>
            <a:endParaRPr dirty="0"/>
          </a:p>
          <a:p>
            <a:r>
              <a:rPr dirty="0" err="1"/>
              <a:t>핵심은</a:t>
            </a:r>
            <a:r>
              <a:rPr dirty="0"/>
              <a:t> </a:t>
            </a:r>
            <a:r>
              <a:rPr dirty="0" err="1"/>
              <a:t>글자</a:t>
            </a:r>
            <a:r>
              <a:rPr dirty="0"/>
              <a:t> </a:t>
            </a:r>
            <a:r>
              <a:rPr dirty="0" err="1"/>
              <a:t>수가</a:t>
            </a:r>
            <a:r>
              <a:rPr dirty="0"/>
              <a:t> </a:t>
            </a:r>
            <a:r>
              <a:rPr dirty="0" err="1"/>
              <a:t>아니라</a:t>
            </a:r>
            <a:r>
              <a:rPr dirty="0"/>
              <a:t> </a:t>
            </a:r>
            <a:r>
              <a:rPr dirty="0" err="1"/>
              <a:t>임베딩</a:t>
            </a:r>
            <a:r>
              <a:rPr dirty="0"/>
              <a:t> </a:t>
            </a:r>
            <a:r>
              <a:rPr dirty="0" err="1"/>
              <a:t>모델과</a:t>
            </a:r>
            <a:r>
              <a:rPr dirty="0"/>
              <a:t> </a:t>
            </a:r>
            <a:r>
              <a:rPr dirty="0" err="1"/>
              <a:t>같은</a:t>
            </a:r>
            <a:r>
              <a:rPr dirty="0"/>
              <a:t> </a:t>
            </a:r>
            <a:r>
              <a:rPr dirty="0" err="1"/>
              <a:t>tokenizer로</a:t>
            </a:r>
            <a:r>
              <a:rPr dirty="0"/>
              <a:t> </a:t>
            </a:r>
            <a:r>
              <a:rPr dirty="0" err="1"/>
              <a:t>토큰을</a:t>
            </a:r>
            <a:r>
              <a:rPr dirty="0"/>
              <a:t> </a:t>
            </a:r>
            <a:r>
              <a:rPr dirty="0" err="1"/>
              <a:t>센다는</a:t>
            </a:r>
            <a:r>
              <a:rPr dirty="0"/>
              <a:t> </a:t>
            </a:r>
            <a:r>
              <a:rPr dirty="0" err="1"/>
              <a:t>점입니다</a:t>
            </a:r>
            <a:r>
              <a:rPr dirty="0"/>
              <a:t>.</a:t>
            </a:r>
          </a:p>
          <a:p>
            <a:endParaRPr dirty="0"/>
          </a:p>
          <a:p>
            <a:r>
              <a:rPr dirty="0" err="1"/>
              <a:t>그리고</a:t>
            </a:r>
            <a:r>
              <a:rPr dirty="0"/>
              <a:t> </a:t>
            </a:r>
            <a:r>
              <a:rPr dirty="0" err="1"/>
              <a:t>한도를</a:t>
            </a:r>
            <a:r>
              <a:rPr dirty="0"/>
              <a:t> </a:t>
            </a:r>
            <a:r>
              <a:rPr dirty="0" err="1"/>
              <a:t>넘는</a:t>
            </a:r>
            <a:r>
              <a:rPr dirty="0"/>
              <a:t> </a:t>
            </a:r>
            <a:r>
              <a:rPr dirty="0" err="1"/>
              <a:t>청크가</a:t>
            </a:r>
            <a:r>
              <a:rPr dirty="0"/>
              <a:t> </a:t>
            </a:r>
            <a:r>
              <a:rPr dirty="0" err="1"/>
              <a:t>하나라도</a:t>
            </a:r>
            <a:r>
              <a:rPr dirty="0"/>
              <a:t> </a:t>
            </a:r>
            <a:r>
              <a:rPr dirty="0" err="1"/>
              <a:t>남으면</a:t>
            </a:r>
            <a:r>
              <a:rPr dirty="0"/>
              <a:t> </a:t>
            </a:r>
            <a:r>
              <a:rPr dirty="0" err="1"/>
              <a:t>적재하지</a:t>
            </a:r>
            <a:r>
              <a:rPr dirty="0"/>
              <a:t> </a:t>
            </a:r>
            <a:r>
              <a:rPr dirty="0" err="1"/>
              <a:t>않고</a:t>
            </a:r>
            <a:r>
              <a:rPr dirty="0"/>
              <a:t> </a:t>
            </a:r>
            <a:r>
              <a:rPr dirty="0" err="1"/>
              <a:t>실패로</a:t>
            </a:r>
            <a:r>
              <a:rPr dirty="0"/>
              <a:t> </a:t>
            </a:r>
            <a:r>
              <a:rPr dirty="0" err="1"/>
              <a:t>돌립니다</a:t>
            </a:r>
            <a:r>
              <a:rPr dirty="0"/>
              <a:t>.</a:t>
            </a:r>
          </a:p>
          <a:p>
            <a:endParaRPr dirty="0"/>
          </a:p>
          <a:p>
            <a:r>
              <a:rPr dirty="0"/>
              <a:t>▪ </a:t>
            </a:r>
            <a:r>
              <a:rPr dirty="0" err="1"/>
              <a:t>요점</a:t>
            </a:r>
            <a:endParaRPr dirty="0"/>
          </a:p>
          <a:p>
            <a:r>
              <a:rPr dirty="0"/>
              <a:t>· </a:t>
            </a:r>
            <a:r>
              <a:rPr dirty="0" err="1"/>
              <a:t>구조대로</a:t>
            </a:r>
            <a:r>
              <a:rPr dirty="0"/>
              <a:t> → </a:t>
            </a:r>
            <a:r>
              <a:rPr dirty="0" err="1"/>
              <a:t>넘치면</a:t>
            </a:r>
            <a:r>
              <a:rPr dirty="0"/>
              <a:t> </a:t>
            </a:r>
            <a:r>
              <a:rPr dirty="0" err="1"/>
              <a:t>나눔</a:t>
            </a:r>
            <a:r>
              <a:rPr dirty="0"/>
              <a:t> → </a:t>
            </a:r>
            <a:r>
              <a:rPr dirty="0" err="1"/>
              <a:t>모자라면</a:t>
            </a:r>
            <a:r>
              <a:rPr dirty="0"/>
              <a:t> </a:t>
            </a:r>
            <a:r>
              <a:rPr dirty="0" err="1"/>
              <a:t>붙임</a:t>
            </a:r>
            <a:r>
              <a:rPr dirty="0"/>
              <a:t> / ▸ </a:t>
            </a:r>
            <a:r>
              <a:rPr dirty="0" err="1"/>
              <a:t>같은</a:t>
            </a:r>
            <a:r>
              <a:rPr dirty="0"/>
              <a:t> tokenizer / ▸ </a:t>
            </a:r>
            <a:r>
              <a:rPr dirty="0" err="1"/>
              <a:t>초과하면</a:t>
            </a:r>
            <a:r>
              <a:rPr dirty="0"/>
              <a:t> </a:t>
            </a:r>
            <a:r>
              <a:rPr dirty="0" err="1"/>
              <a:t>실패</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[20장 · </a:t>
            </a:r>
            <a:r>
              <a:rPr dirty="0" err="1"/>
              <a:t>청킹에서</a:t>
            </a:r>
            <a:r>
              <a:rPr dirty="0"/>
              <a:t> </a:t>
            </a:r>
            <a:r>
              <a:rPr dirty="0" err="1"/>
              <a:t>확인된</a:t>
            </a:r>
            <a:r>
              <a:rPr dirty="0"/>
              <a:t> </a:t>
            </a:r>
            <a:r>
              <a:rPr dirty="0" err="1"/>
              <a:t>문제</a:t>
            </a:r>
            <a:r>
              <a:rPr dirty="0"/>
              <a:t>]</a:t>
            </a:r>
          </a:p>
          <a:p>
            <a:endParaRPr dirty="0"/>
          </a:p>
          <a:p>
            <a:r>
              <a:rPr dirty="0" err="1"/>
              <a:t>여기서도</a:t>
            </a:r>
            <a:r>
              <a:rPr dirty="0"/>
              <a:t> </a:t>
            </a:r>
            <a:r>
              <a:rPr dirty="0" err="1"/>
              <a:t>문제를</a:t>
            </a:r>
            <a:r>
              <a:rPr dirty="0"/>
              <a:t> 세 </a:t>
            </a:r>
            <a:r>
              <a:rPr dirty="0" err="1"/>
              <a:t>가지</a:t>
            </a:r>
            <a:r>
              <a:rPr dirty="0"/>
              <a:t> </a:t>
            </a:r>
            <a:r>
              <a:rPr dirty="0" err="1"/>
              <a:t>찾았습니다</a:t>
            </a:r>
            <a:r>
              <a:rPr dirty="0"/>
              <a:t>.</a:t>
            </a:r>
          </a:p>
          <a:p>
            <a:endParaRPr dirty="0"/>
          </a:p>
          <a:p>
            <a:r>
              <a:rPr dirty="0" err="1"/>
              <a:t>원인은</a:t>
            </a:r>
            <a:r>
              <a:rPr dirty="0"/>
              <a:t> </a:t>
            </a:r>
            <a:r>
              <a:rPr dirty="0" err="1"/>
              <a:t>하나입니다</a:t>
            </a:r>
            <a:r>
              <a:rPr dirty="0"/>
              <a:t>.</a:t>
            </a:r>
          </a:p>
          <a:p>
            <a:endParaRPr dirty="0"/>
          </a:p>
          <a:p>
            <a:r>
              <a:rPr dirty="0" err="1"/>
              <a:t>파싱이</a:t>
            </a:r>
            <a:r>
              <a:rPr dirty="0"/>
              <a:t> 준 </a:t>
            </a:r>
            <a:r>
              <a:rPr dirty="0" err="1"/>
              <a:t>문서</a:t>
            </a:r>
            <a:r>
              <a:rPr dirty="0"/>
              <a:t> </a:t>
            </a:r>
            <a:r>
              <a:rPr dirty="0" err="1"/>
              <a:t>구조를</a:t>
            </a:r>
            <a:r>
              <a:rPr dirty="0"/>
              <a:t> </a:t>
            </a:r>
            <a:r>
              <a:rPr dirty="0" err="1"/>
              <a:t>그대로</a:t>
            </a:r>
            <a:r>
              <a:rPr dirty="0"/>
              <a:t> </a:t>
            </a:r>
            <a:r>
              <a:rPr dirty="0" err="1"/>
              <a:t>믿고</a:t>
            </a:r>
            <a:r>
              <a:rPr dirty="0"/>
              <a:t>, </a:t>
            </a:r>
            <a:r>
              <a:rPr dirty="0" err="1"/>
              <a:t>모든</a:t>
            </a:r>
            <a:r>
              <a:rPr dirty="0"/>
              <a:t> </a:t>
            </a:r>
            <a:r>
              <a:rPr dirty="0" err="1"/>
              <a:t>유형을</a:t>
            </a:r>
            <a:r>
              <a:rPr dirty="0"/>
              <a:t> </a:t>
            </a:r>
            <a:r>
              <a:rPr dirty="0" err="1"/>
              <a:t>같은</a:t>
            </a:r>
            <a:r>
              <a:rPr dirty="0"/>
              <a:t> </a:t>
            </a:r>
            <a:r>
              <a:rPr dirty="0" err="1"/>
              <a:t>방식으로</a:t>
            </a:r>
            <a:r>
              <a:rPr dirty="0"/>
              <a:t> </a:t>
            </a:r>
            <a:r>
              <a:rPr dirty="0" err="1"/>
              <a:t>직렬화합니다</a:t>
            </a:r>
            <a:r>
              <a:rPr dirty="0"/>
              <a:t>.</a:t>
            </a:r>
          </a:p>
          <a:p>
            <a:endParaRPr dirty="0"/>
          </a:p>
          <a:p>
            <a:r>
              <a:rPr dirty="0" err="1"/>
              <a:t>첫째</a:t>
            </a:r>
            <a:r>
              <a:rPr dirty="0"/>
              <a:t>, </a:t>
            </a:r>
            <a:r>
              <a:rPr dirty="0" err="1"/>
              <a:t>제목이</a:t>
            </a:r>
            <a:r>
              <a:rPr dirty="0"/>
              <a:t> 몇 </a:t>
            </a:r>
            <a:r>
              <a:rPr dirty="0" err="1"/>
              <a:t>단계인지</a:t>
            </a:r>
            <a:r>
              <a:rPr dirty="0"/>
              <a:t> </a:t>
            </a:r>
            <a:r>
              <a:rPr dirty="0" err="1"/>
              <a:t>사라집니다</a:t>
            </a:r>
            <a:r>
              <a:rPr dirty="0"/>
              <a:t>.</a:t>
            </a:r>
          </a:p>
          <a:p>
            <a:endParaRPr dirty="0"/>
          </a:p>
          <a:p>
            <a:r>
              <a:rPr dirty="0" err="1"/>
              <a:t>원문에서는</a:t>
            </a:r>
            <a:r>
              <a:rPr dirty="0"/>
              <a:t> </a:t>
            </a:r>
            <a:r>
              <a:rPr dirty="0" err="1"/>
              <a:t>제품군</a:t>
            </a:r>
            <a:r>
              <a:rPr dirty="0"/>
              <a:t> </a:t>
            </a:r>
            <a:r>
              <a:rPr dirty="0" err="1"/>
              <a:t>아래</a:t>
            </a:r>
            <a:r>
              <a:rPr dirty="0"/>
              <a:t> </a:t>
            </a:r>
            <a:r>
              <a:rPr dirty="0" err="1"/>
              <a:t>세부</a:t>
            </a:r>
            <a:r>
              <a:rPr dirty="0"/>
              <a:t> </a:t>
            </a:r>
            <a:r>
              <a:rPr dirty="0" err="1"/>
              <a:t>제품</a:t>
            </a:r>
            <a:r>
              <a:rPr dirty="0"/>
              <a:t> </a:t>
            </a:r>
            <a:r>
              <a:rPr dirty="0" err="1"/>
              <a:t>아래</a:t>
            </a:r>
            <a:r>
              <a:rPr dirty="0"/>
              <a:t> </a:t>
            </a:r>
            <a:r>
              <a:rPr lang="ko-KR" altLang="en-US" dirty="0"/>
              <a:t>특징</a:t>
            </a:r>
            <a:r>
              <a:rPr dirty="0" err="1"/>
              <a:t>인데</a:t>
            </a:r>
            <a:r>
              <a:rPr dirty="0"/>
              <a:t>, </a:t>
            </a:r>
            <a:r>
              <a:rPr dirty="0" err="1"/>
              <a:t>청크에는</a:t>
            </a:r>
            <a:r>
              <a:rPr dirty="0"/>
              <a:t> </a:t>
            </a:r>
            <a:r>
              <a:rPr lang="ko-KR" altLang="en-US" dirty="0"/>
              <a:t>특징</a:t>
            </a:r>
            <a:r>
              <a:rPr dirty="0"/>
              <a:t>만 </a:t>
            </a:r>
            <a:r>
              <a:rPr dirty="0" err="1"/>
              <a:t>남습니다</a:t>
            </a:r>
            <a:r>
              <a:rPr dirty="0"/>
              <a:t>.</a:t>
            </a:r>
          </a:p>
          <a:p>
            <a:endParaRPr dirty="0"/>
          </a:p>
          <a:p>
            <a:r>
              <a:rPr lang="ko-KR" altLang="en-US" dirty="0"/>
              <a:t>데이터가 </a:t>
            </a:r>
            <a:r>
              <a:rPr dirty="0" err="1"/>
              <a:t>어느</a:t>
            </a:r>
            <a:r>
              <a:rPr dirty="0"/>
              <a:t> </a:t>
            </a:r>
            <a:r>
              <a:rPr dirty="0" err="1"/>
              <a:t>제품</a:t>
            </a:r>
            <a:r>
              <a:rPr lang="ko-KR" altLang="en-US" dirty="0"/>
              <a:t>의 정보</a:t>
            </a:r>
            <a:r>
              <a:rPr dirty="0" err="1"/>
              <a:t>인지</a:t>
            </a:r>
            <a:r>
              <a:rPr dirty="0"/>
              <a:t> </a:t>
            </a:r>
            <a:r>
              <a:rPr dirty="0" err="1"/>
              <a:t>모른</a:t>
            </a:r>
            <a:r>
              <a:rPr dirty="0"/>
              <a:t> 채 </a:t>
            </a:r>
            <a:r>
              <a:rPr dirty="0" err="1"/>
              <a:t>검색되는</a:t>
            </a:r>
            <a:r>
              <a:rPr dirty="0"/>
              <a:t> </a:t>
            </a:r>
            <a:r>
              <a:rPr dirty="0" err="1"/>
              <a:t>겁니다</a:t>
            </a:r>
            <a:r>
              <a:rPr dirty="0"/>
              <a:t>.</a:t>
            </a:r>
          </a:p>
          <a:p>
            <a:endParaRPr dirty="0"/>
          </a:p>
          <a:p>
            <a:r>
              <a:rPr dirty="0" err="1"/>
              <a:t>둘째</a:t>
            </a:r>
            <a:r>
              <a:rPr dirty="0"/>
              <a:t>, </a:t>
            </a:r>
            <a:r>
              <a:rPr dirty="0" err="1"/>
              <a:t>표가</a:t>
            </a:r>
            <a:r>
              <a:rPr dirty="0"/>
              <a:t> </a:t>
            </a:r>
            <a:r>
              <a:rPr dirty="0" err="1"/>
              <a:t>글자로</a:t>
            </a:r>
            <a:r>
              <a:rPr dirty="0"/>
              <a:t> </a:t>
            </a:r>
            <a:r>
              <a:rPr dirty="0" err="1"/>
              <a:t>펴진</a:t>
            </a:r>
            <a:r>
              <a:rPr dirty="0"/>
              <a:t> 뒤 </a:t>
            </a:r>
            <a:r>
              <a:rPr lang="ko-KR" altLang="en-US" dirty="0"/>
              <a:t>잘리는 문제 입니다</a:t>
            </a:r>
            <a:r>
              <a:rPr lang="en-US" altLang="ko-KR" dirty="0"/>
              <a:t>.</a:t>
            </a:r>
            <a:endParaRPr dirty="0"/>
          </a:p>
          <a:p>
            <a:endParaRPr dirty="0"/>
          </a:p>
          <a:p>
            <a:r>
              <a:rPr dirty="0" err="1"/>
              <a:t>원본에</a:t>
            </a:r>
            <a:r>
              <a:rPr dirty="0"/>
              <a:t> 5,700 </a:t>
            </a:r>
            <a:r>
              <a:rPr dirty="0" err="1"/>
              <a:t>곱하기</a:t>
            </a:r>
            <a:r>
              <a:rPr dirty="0"/>
              <a:t> 2,800 </a:t>
            </a:r>
            <a:r>
              <a:rPr dirty="0" err="1"/>
              <a:t>곱하기</a:t>
            </a:r>
            <a:r>
              <a:rPr dirty="0"/>
              <a:t> 2,950으로 </a:t>
            </a:r>
            <a:r>
              <a:rPr dirty="0" err="1"/>
              <a:t>되어</a:t>
            </a:r>
            <a:r>
              <a:rPr dirty="0"/>
              <a:t> </a:t>
            </a:r>
            <a:r>
              <a:rPr dirty="0" err="1"/>
              <a:t>있던</a:t>
            </a:r>
            <a:r>
              <a:rPr dirty="0"/>
              <a:t> </a:t>
            </a:r>
            <a:r>
              <a:rPr dirty="0" err="1"/>
              <a:t>치수가</a:t>
            </a:r>
            <a:r>
              <a:rPr dirty="0"/>
              <a:t> </a:t>
            </a:r>
            <a:r>
              <a:rPr dirty="0" err="1"/>
              <a:t>중간에서</a:t>
            </a:r>
            <a:r>
              <a:rPr dirty="0"/>
              <a:t> </a:t>
            </a:r>
            <a:r>
              <a:rPr dirty="0" err="1"/>
              <a:t>끊깁니다</a:t>
            </a:r>
            <a:r>
              <a:rPr dirty="0"/>
              <a:t>.</a:t>
            </a:r>
          </a:p>
          <a:p>
            <a:endParaRPr dirty="0"/>
          </a:p>
          <a:p>
            <a:r>
              <a:rPr dirty="0" err="1"/>
              <a:t>셋째</a:t>
            </a:r>
            <a:r>
              <a:rPr dirty="0"/>
              <a:t>, </a:t>
            </a:r>
            <a:r>
              <a:rPr dirty="0" err="1"/>
              <a:t>그림에서</a:t>
            </a:r>
            <a:r>
              <a:rPr dirty="0"/>
              <a:t> </a:t>
            </a:r>
            <a:r>
              <a:rPr dirty="0" err="1"/>
              <a:t>나온</a:t>
            </a:r>
            <a:r>
              <a:rPr dirty="0"/>
              <a:t> </a:t>
            </a:r>
            <a:r>
              <a:rPr dirty="0" err="1"/>
              <a:t>글자가</a:t>
            </a:r>
            <a:r>
              <a:rPr dirty="0"/>
              <a:t> </a:t>
            </a:r>
            <a:r>
              <a:rPr dirty="0" err="1"/>
              <a:t>섞여</a:t>
            </a:r>
            <a:r>
              <a:rPr dirty="0"/>
              <a:t> </a:t>
            </a:r>
            <a:r>
              <a:rPr dirty="0" err="1"/>
              <a:t>듭니다</a:t>
            </a:r>
            <a:r>
              <a:rPr dirty="0"/>
              <a:t>.</a:t>
            </a:r>
          </a:p>
          <a:p>
            <a:endParaRPr dirty="0"/>
          </a:p>
          <a:p>
            <a:r>
              <a:rPr dirty="0"/>
              <a:t>Logo, Icon, Engineering drawing </a:t>
            </a:r>
            <a:r>
              <a:rPr dirty="0" err="1"/>
              <a:t>같은</a:t>
            </a:r>
            <a:r>
              <a:rPr dirty="0"/>
              <a:t> 뜻 </a:t>
            </a:r>
            <a:r>
              <a:rPr dirty="0" err="1"/>
              <a:t>없는</a:t>
            </a:r>
            <a:r>
              <a:rPr dirty="0"/>
              <a:t> </a:t>
            </a:r>
            <a:r>
              <a:rPr dirty="0" err="1"/>
              <a:t>조각이</a:t>
            </a:r>
            <a:r>
              <a:rPr dirty="0"/>
              <a:t> </a:t>
            </a:r>
            <a:r>
              <a:rPr dirty="0" err="1"/>
              <a:t>본문과</a:t>
            </a:r>
            <a:r>
              <a:rPr dirty="0"/>
              <a:t> </a:t>
            </a:r>
            <a:r>
              <a:rPr dirty="0" err="1"/>
              <a:t>같은</a:t>
            </a:r>
            <a:r>
              <a:rPr dirty="0"/>
              <a:t> </a:t>
            </a:r>
            <a:r>
              <a:rPr dirty="0" err="1"/>
              <a:t>자격으로</a:t>
            </a:r>
            <a:r>
              <a:rPr dirty="0"/>
              <a:t> </a:t>
            </a:r>
            <a:r>
              <a:rPr dirty="0" err="1"/>
              <a:t>검색됩니다</a:t>
            </a:r>
            <a:r>
              <a:rPr dirty="0"/>
              <a:t>.</a:t>
            </a:r>
          </a:p>
          <a:p>
            <a:endParaRPr dirty="0"/>
          </a:p>
          <a:p>
            <a:r>
              <a:rPr dirty="0"/>
              <a:t>▪ </a:t>
            </a:r>
            <a:r>
              <a:rPr dirty="0" err="1"/>
              <a:t>요점</a:t>
            </a:r>
            <a:endParaRPr dirty="0"/>
          </a:p>
          <a:p>
            <a:r>
              <a:rPr dirty="0"/>
              <a:t>· ▸ </a:t>
            </a:r>
            <a:r>
              <a:rPr dirty="0" err="1"/>
              <a:t>공통</a:t>
            </a:r>
            <a:r>
              <a:rPr dirty="0"/>
              <a:t> </a:t>
            </a:r>
            <a:r>
              <a:rPr dirty="0" err="1"/>
              <a:t>원인</a:t>
            </a:r>
            <a:r>
              <a:rPr dirty="0"/>
              <a:t> 한 줄 — </a:t>
            </a:r>
            <a:r>
              <a:rPr dirty="0" err="1"/>
              <a:t>파싱이</a:t>
            </a:r>
            <a:r>
              <a:rPr dirty="0"/>
              <a:t> 준 </a:t>
            </a:r>
            <a:r>
              <a:rPr dirty="0" err="1"/>
              <a:t>구조를</a:t>
            </a:r>
            <a:r>
              <a:rPr dirty="0"/>
              <a:t> </a:t>
            </a:r>
            <a:r>
              <a:rPr dirty="0" err="1"/>
              <a:t>그대로</a:t>
            </a:r>
            <a:r>
              <a:rPr dirty="0"/>
              <a:t> </a:t>
            </a:r>
            <a:r>
              <a:rPr dirty="0" err="1"/>
              <a:t>믿고</a:t>
            </a:r>
            <a:r>
              <a:rPr dirty="0"/>
              <a:t> </a:t>
            </a:r>
            <a:r>
              <a:rPr dirty="0" err="1"/>
              <a:t>모든</a:t>
            </a:r>
            <a:r>
              <a:rPr dirty="0"/>
              <a:t> </a:t>
            </a:r>
            <a:r>
              <a:rPr dirty="0" err="1"/>
              <a:t>유형을</a:t>
            </a:r>
            <a:r>
              <a:rPr dirty="0"/>
              <a:t> </a:t>
            </a:r>
            <a:r>
              <a:rPr dirty="0" err="1"/>
              <a:t>같은</a:t>
            </a:r>
            <a:r>
              <a:rPr dirty="0"/>
              <a:t> </a:t>
            </a:r>
            <a:r>
              <a:rPr dirty="0" err="1"/>
              <a:t>방식으로</a:t>
            </a:r>
            <a:r>
              <a:rPr dirty="0"/>
              <a:t> </a:t>
            </a:r>
            <a:r>
              <a:rPr dirty="0" err="1"/>
              <a:t>자른다</a:t>
            </a:r>
            <a:endParaRPr dirty="0"/>
          </a:p>
          <a:p>
            <a:endParaRPr dirty="0"/>
          </a:p>
          <a:p>
            <a:r>
              <a:rPr dirty="0"/>
              <a:t>─────────────  </a:t>
            </a:r>
            <a:r>
              <a:rPr dirty="0" err="1"/>
              <a:t>배경</a:t>
            </a:r>
            <a:r>
              <a:rPr dirty="0"/>
              <a:t> · </a:t>
            </a:r>
            <a:r>
              <a:rPr dirty="0" err="1"/>
              <a:t>질의응답</a:t>
            </a:r>
            <a:r>
              <a:rPr dirty="0"/>
              <a:t> </a:t>
            </a:r>
            <a:r>
              <a:rPr dirty="0" err="1"/>
              <a:t>대비</a:t>
            </a:r>
            <a:r>
              <a:rPr dirty="0"/>
              <a:t>  ─────────────</a:t>
            </a:r>
          </a:p>
          <a:p>
            <a:endParaRPr dirty="0"/>
          </a:p>
          <a:p>
            <a:r>
              <a:rPr dirty="0" err="1"/>
              <a:t>MiniLM에서</a:t>
            </a:r>
            <a:r>
              <a:rPr dirty="0"/>
              <a:t> </a:t>
            </a:r>
            <a:r>
              <a:rPr dirty="0" err="1"/>
              <a:t>EmbeddingGemma로</a:t>
            </a:r>
            <a:r>
              <a:rPr dirty="0"/>
              <a:t> </a:t>
            </a:r>
            <a:r>
              <a:rPr dirty="0" err="1"/>
              <a:t>모델과</a:t>
            </a:r>
            <a:r>
              <a:rPr dirty="0"/>
              <a:t> </a:t>
            </a:r>
            <a:r>
              <a:rPr dirty="0" err="1"/>
              <a:t>토크나이저를</a:t>
            </a:r>
            <a:r>
              <a:rPr dirty="0"/>
              <a:t> </a:t>
            </a:r>
            <a:r>
              <a:rPr dirty="0" err="1"/>
              <a:t>바꾼</a:t>
            </a:r>
            <a:r>
              <a:rPr dirty="0"/>
              <a:t> </a:t>
            </a:r>
            <a:r>
              <a:rPr dirty="0" err="1"/>
              <a:t>뒤에도</a:t>
            </a:r>
            <a:r>
              <a:rPr dirty="0"/>
              <a:t> 표 </a:t>
            </a:r>
            <a:r>
              <a:rPr dirty="0" err="1"/>
              <a:t>분절이</a:t>
            </a:r>
            <a:r>
              <a:rPr dirty="0"/>
              <a:t> </a:t>
            </a:r>
            <a:r>
              <a:rPr dirty="0" err="1"/>
              <a:t>동일하게</a:t>
            </a:r>
            <a:r>
              <a:rPr dirty="0"/>
              <a:t> </a:t>
            </a:r>
            <a:r>
              <a:rPr dirty="0" err="1"/>
              <a:t>나타났다</a:t>
            </a:r>
            <a:r>
              <a:rPr dirty="0"/>
              <a:t>.</a:t>
            </a:r>
          </a:p>
          <a:p>
            <a:r>
              <a:rPr dirty="0" err="1"/>
              <a:t>따라서</a:t>
            </a:r>
            <a:r>
              <a:rPr dirty="0"/>
              <a:t> </a:t>
            </a:r>
            <a:r>
              <a:rPr dirty="0" err="1"/>
              <a:t>임베딩</a:t>
            </a:r>
            <a:r>
              <a:rPr dirty="0"/>
              <a:t> </a:t>
            </a:r>
            <a:r>
              <a:rPr dirty="0" err="1"/>
              <a:t>모델의</a:t>
            </a:r>
            <a:r>
              <a:rPr dirty="0"/>
              <a:t> </a:t>
            </a:r>
            <a:r>
              <a:rPr dirty="0" err="1"/>
              <a:t>문제가</a:t>
            </a:r>
            <a:r>
              <a:rPr dirty="0"/>
              <a:t> </a:t>
            </a:r>
            <a:r>
              <a:rPr dirty="0" err="1"/>
              <a:t>아니라</a:t>
            </a:r>
            <a:r>
              <a:rPr dirty="0"/>
              <a:t>, </a:t>
            </a:r>
            <a:r>
              <a:rPr dirty="0" err="1"/>
              <a:t>표를</a:t>
            </a:r>
            <a:r>
              <a:rPr dirty="0"/>
              <a:t> </a:t>
            </a:r>
            <a:r>
              <a:rPr dirty="0" err="1"/>
              <a:t>직렬화해</a:t>
            </a:r>
            <a:r>
              <a:rPr dirty="0"/>
              <a:t> </a:t>
            </a:r>
            <a:r>
              <a:rPr dirty="0" err="1"/>
              <a:t>일반</a:t>
            </a:r>
            <a:r>
              <a:rPr dirty="0"/>
              <a:t> </a:t>
            </a:r>
            <a:r>
              <a:rPr dirty="0" err="1"/>
              <a:t>HybridChunker에</a:t>
            </a:r>
            <a:r>
              <a:rPr dirty="0"/>
              <a:t> </a:t>
            </a:r>
            <a:r>
              <a:rPr dirty="0" err="1"/>
              <a:t>넘기는</a:t>
            </a:r>
            <a:r>
              <a:rPr dirty="0"/>
              <a:t> </a:t>
            </a:r>
            <a:r>
              <a:rPr dirty="0" err="1"/>
              <a:t>처리</a:t>
            </a:r>
            <a:r>
              <a:rPr dirty="0"/>
              <a:t> </a:t>
            </a:r>
            <a:r>
              <a:rPr dirty="0" err="1"/>
              <a:t>방식의</a:t>
            </a:r>
            <a:r>
              <a:rPr dirty="0"/>
              <a:t> </a:t>
            </a:r>
            <a:r>
              <a:rPr dirty="0" err="1"/>
              <a:t>한계로</a:t>
            </a:r>
            <a:r>
              <a:rPr dirty="0"/>
              <a:t> </a:t>
            </a:r>
            <a:r>
              <a:rPr dirty="0" err="1"/>
              <a:t>판단했다</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[21장 · </a:t>
            </a:r>
            <a:r>
              <a:rPr dirty="0" err="1"/>
              <a:t>청킹</a:t>
            </a:r>
            <a:r>
              <a:rPr dirty="0"/>
              <a:t> </a:t>
            </a:r>
            <a:r>
              <a:rPr dirty="0" err="1"/>
              <a:t>남은</a:t>
            </a:r>
            <a:r>
              <a:rPr dirty="0"/>
              <a:t> </a:t>
            </a:r>
            <a:r>
              <a:rPr dirty="0" err="1"/>
              <a:t>개선</a:t>
            </a:r>
            <a:r>
              <a:rPr dirty="0"/>
              <a:t> </a:t>
            </a:r>
            <a:r>
              <a:rPr dirty="0" err="1"/>
              <a:t>방향</a:t>
            </a:r>
            <a:r>
              <a:rPr dirty="0"/>
              <a:t>]</a:t>
            </a:r>
          </a:p>
          <a:p>
            <a:endParaRPr dirty="0"/>
          </a:p>
          <a:p>
            <a:r>
              <a:rPr dirty="0"/>
              <a:t>세 </a:t>
            </a:r>
            <a:r>
              <a:rPr dirty="0" err="1"/>
              <a:t>문제의</a:t>
            </a:r>
            <a:r>
              <a:rPr dirty="0"/>
              <a:t> </a:t>
            </a:r>
            <a:r>
              <a:rPr dirty="0" err="1"/>
              <a:t>원인은</a:t>
            </a:r>
            <a:r>
              <a:rPr dirty="0"/>
              <a:t> </a:t>
            </a:r>
            <a:r>
              <a:rPr dirty="0" err="1"/>
              <a:t>하나입니다</a:t>
            </a:r>
            <a:r>
              <a:rPr dirty="0"/>
              <a:t>.</a:t>
            </a:r>
          </a:p>
          <a:p>
            <a:endParaRPr dirty="0"/>
          </a:p>
          <a:p>
            <a:r>
              <a:rPr dirty="0" err="1"/>
              <a:t>텍스트도</a:t>
            </a:r>
            <a:r>
              <a:rPr dirty="0"/>
              <a:t> </a:t>
            </a:r>
            <a:r>
              <a:rPr dirty="0" err="1"/>
              <a:t>표도</a:t>
            </a:r>
            <a:r>
              <a:rPr dirty="0"/>
              <a:t> </a:t>
            </a:r>
            <a:r>
              <a:rPr dirty="0" err="1"/>
              <a:t>이미지도</a:t>
            </a:r>
            <a:r>
              <a:rPr dirty="0"/>
              <a:t> </a:t>
            </a:r>
            <a:r>
              <a:rPr dirty="0" err="1"/>
              <a:t>같은</a:t>
            </a:r>
            <a:r>
              <a:rPr dirty="0"/>
              <a:t> </a:t>
            </a:r>
            <a:r>
              <a:rPr dirty="0" err="1"/>
              <a:t>방식으로</a:t>
            </a:r>
            <a:r>
              <a:rPr dirty="0"/>
              <a:t> </a:t>
            </a:r>
            <a:r>
              <a:rPr dirty="0" err="1"/>
              <a:t>글자로</a:t>
            </a:r>
            <a:r>
              <a:rPr dirty="0"/>
              <a:t> </a:t>
            </a:r>
            <a:r>
              <a:rPr dirty="0" err="1"/>
              <a:t>펴서</a:t>
            </a:r>
            <a:r>
              <a:rPr dirty="0"/>
              <a:t> </a:t>
            </a:r>
            <a:r>
              <a:rPr dirty="0" err="1"/>
              <a:t>자릅니다</a:t>
            </a:r>
            <a:r>
              <a:rPr dirty="0"/>
              <a:t>.</a:t>
            </a:r>
          </a:p>
          <a:p>
            <a:endParaRPr dirty="0"/>
          </a:p>
          <a:p>
            <a:r>
              <a:rPr dirty="0" err="1"/>
              <a:t>그래서</a:t>
            </a:r>
            <a:r>
              <a:rPr dirty="0"/>
              <a:t> </a:t>
            </a:r>
            <a:r>
              <a:rPr dirty="0" err="1"/>
              <a:t>유형별로</a:t>
            </a:r>
            <a:r>
              <a:rPr dirty="0"/>
              <a:t> </a:t>
            </a:r>
            <a:r>
              <a:rPr dirty="0" err="1"/>
              <a:t>다른</a:t>
            </a:r>
            <a:r>
              <a:rPr dirty="0"/>
              <a:t> </a:t>
            </a:r>
            <a:r>
              <a:rPr dirty="0" err="1"/>
              <a:t>파이프라인을</a:t>
            </a:r>
            <a:r>
              <a:rPr dirty="0"/>
              <a:t> </a:t>
            </a:r>
            <a:r>
              <a:rPr dirty="0" err="1"/>
              <a:t>검토하고</a:t>
            </a:r>
            <a:r>
              <a:rPr dirty="0"/>
              <a:t> </a:t>
            </a:r>
            <a:r>
              <a:rPr dirty="0" err="1"/>
              <a:t>있습니다</a:t>
            </a:r>
            <a:r>
              <a:rPr dirty="0"/>
              <a:t>.</a:t>
            </a:r>
          </a:p>
          <a:p>
            <a:endParaRPr dirty="0"/>
          </a:p>
          <a:p>
            <a:r>
              <a:rPr dirty="0" err="1"/>
              <a:t>제목은</a:t>
            </a:r>
            <a:r>
              <a:rPr dirty="0"/>
              <a:t> </a:t>
            </a:r>
            <a:r>
              <a:rPr dirty="0" err="1"/>
              <a:t>글자만</a:t>
            </a:r>
            <a:r>
              <a:rPr dirty="0"/>
              <a:t> </a:t>
            </a:r>
            <a:r>
              <a:rPr dirty="0" err="1"/>
              <a:t>보고</a:t>
            </a:r>
            <a:r>
              <a:rPr dirty="0"/>
              <a:t> </a:t>
            </a:r>
            <a:r>
              <a:rPr dirty="0" err="1"/>
              <a:t>단계를</a:t>
            </a:r>
            <a:r>
              <a:rPr dirty="0"/>
              <a:t> </a:t>
            </a:r>
            <a:r>
              <a:rPr dirty="0" err="1"/>
              <a:t>정하지</a:t>
            </a:r>
            <a:r>
              <a:rPr dirty="0"/>
              <a:t> </a:t>
            </a:r>
            <a:r>
              <a:rPr dirty="0" err="1"/>
              <a:t>않고</a:t>
            </a:r>
            <a:r>
              <a:rPr dirty="0"/>
              <a:t>, </a:t>
            </a:r>
            <a:r>
              <a:rPr dirty="0" err="1"/>
              <a:t>페이지</a:t>
            </a:r>
            <a:r>
              <a:rPr dirty="0"/>
              <a:t> </a:t>
            </a:r>
            <a:r>
              <a:rPr dirty="0" err="1"/>
              <a:t>안에서의</a:t>
            </a:r>
            <a:r>
              <a:rPr dirty="0"/>
              <a:t> </a:t>
            </a:r>
            <a:r>
              <a:rPr dirty="0" err="1"/>
              <a:t>위치와</a:t>
            </a:r>
            <a:r>
              <a:rPr dirty="0"/>
              <a:t> </a:t>
            </a:r>
            <a:r>
              <a:rPr dirty="0" err="1"/>
              <a:t>글꼴</a:t>
            </a:r>
            <a:r>
              <a:rPr dirty="0"/>
              <a:t> </a:t>
            </a:r>
            <a:r>
              <a:rPr dirty="0" err="1"/>
              <a:t>크기</a:t>
            </a:r>
            <a:r>
              <a:rPr dirty="0"/>
              <a:t>, </a:t>
            </a:r>
            <a:r>
              <a:rPr dirty="0" err="1"/>
              <a:t>굵기까지</a:t>
            </a:r>
            <a:r>
              <a:rPr dirty="0"/>
              <a:t> </a:t>
            </a:r>
            <a:r>
              <a:rPr dirty="0" err="1"/>
              <a:t>함께</a:t>
            </a:r>
            <a:r>
              <a:rPr dirty="0"/>
              <a:t> </a:t>
            </a:r>
            <a:r>
              <a:rPr dirty="0" err="1"/>
              <a:t>봅니다</a:t>
            </a:r>
            <a:r>
              <a:rPr dirty="0"/>
              <a:t>.</a:t>
            </a:r>
          </a:p>
          <a:p>
            <a:endParaRPr dirty="0"/>
          </a:p>
          <a:p>
            <a:r>
              <a:rPr dirty="0" err="1"/>
              <a:t>같은</a:t>
            </a:r>
            <a:r>
              <a:rPr dirty="0"/>
              <a:t> </a:t>
            </a:r>
            <a:r>
              <a:rPr dirty="0" err="1"/>
              <a:t>데이터셋에서</a:t>
            </a:r>
            <a:r>
              <a:rPr dirty="0"/>
              <a:t> </a:t>
            </a:r>
            <a:r>
              <a:rPr dirty="0" err="1"/>
              <a:t>글자만</a:t>
            </a:r>
            <a:r>
              <a:rPr dirty="0"/>
              <a:t> </a:t>
            </a:r>
            <a:r>
              <a:rPr dirty="0" err="1"/>
              <a:t>봤을</a:t>
            </a:r>
            <a:r>
              <a:rPr dirty="0"/>
              <a:t> 때 </a:t>
            </a:r>
            <a:r>
              <a:rPr dirty="0" err="1"/>
              <a:t>부모</a:t>
            </a:r>
            <a:r>
              <a:rPr dirty="0"/>
              <a:t> </a:t>
            </a:r>
            <a:r>
              <a:rPr dirty="0" err="1"/>
              <a:t>제목을</a:t>
            </a:r>
            <a:r>
              <a:rPr dirty="0"/>
              <a:t> </a:t>
            </a:r>
            <a:r>
              <a:rPr dirty="0" err="1"/>
              <a:t>맞춘</a:t>
            </a:r>
            <a:r>
              <a:rPr dirty="0"/>
              <a:t> </a:t>
            </a:r>
            <a:r>
              <a:rPr lang="ko-KR" altLang="en-US" dirty="0"/>
              <a:t>적중률</a:t>
            </a:r>
            <a:r>
              <a:rPr dirty="0"/>
              <a:t>이 56.96%인데, </a:t>
            </a:r>
            <a:r>
              <a:rPr dirty="0" err="1"/>
              <a:t>위치를</a:t>
            </a:r>
            <a:r>
              <a:rPr dirty="0"/>
              <a:t> </a:t>
            </a:r>
            <a:r>
              <a:rPr dirty="0" err="1"/>
              <a:t>더하면</a:t>
            </a:r>
            <a:r>
              <a:rPr dirty="0"/>
              <a:t> 84.85%, </a:t>
            </a:r>
            <a:r>
              <a:rPr dirty="0" err="1"/>
              <a:t>글꼴까지</a:t>
            </a:r>
            <a:r>
              <a:rPr dirty="0"/>
              <a:t> </a:t>
            </a:r>
            <a:r>
              <a:rPr dirty="0" err="1"/>
              <a:t>더하면</a:t>
            </a:r>
            <a:r>
              <a:rPr dirty="0"/>
              <a:t> 88.41%까지 </a:t>
            </a:r>
            <a:r>
              <a:rPr lang="ko-KR" altLang="en-US" dirty="0"/>
              <a:t>올라간다는 논문 결과가 있었습니다</a:t>
            </a:r>
            <a:r>
              <a:rPr lang="en-US" altLang="ko-KR" dirty="0"/>
              <a:t>.</a:t>
            </a:r>
            <a:endParaRPr dirty="0"/>
          </a:p>
          <a:p>
            <a:endParaRPr dirty="0"/>
          </a:p>
          <a:p>
            <a:r>
              <a:rPr dirty="0" err="1"/>
              <a:t>표는</a:t>
            </a:r>
            <a:r>
              <a:rPr dirty="0"/>
              <a:t> 셀 </a:t>
            </a:r>
            <a:r>
              <a:rPr dirty="0" err="1"/>
              <a:t>좌표를</a:t>
            </a:r>
            <a:r>
              <a:rPr dirty="0"/>
              <a:t> </a:t>
            </a:r>
            <a:r>
              <a:rPr dirty="0" err="1"/>
              <a:t>읽어서</a:t>
            </a:r>
            <a:r>
              <a:rPr dirty="0"/>
              <a:t> </a:t>
            </a:r>
            <a:r>
              <a:rPr dirty="0" err="1"/>
              <a:t>행과</a:t>
            </a:r>
            <a:r>
              <a:rPr dirty="0"/>
              <a:t> </a:t>
            </a:r>
            <a:r>
              <a:rPr dirty="0" err="1"/>
              <a:t>제품</a:t>
            </a:r>
            <a:r>
              <a:rPr dirty="0"/>
              <a:t> </a:t>
            </a:r>
            <a:r>
              <a:rPr dirty="0" err="1"/>
              <a:t>단위로</a:t>
            </a:r>
            <a:r>
              <a:rPr dirty="0"/>
              <a:t> </a:t>
            </a:r>
            <a:r>
              <a:rPr dirty="0" err="1"/>
              <a:t>다시</a:t>
            </a:r>
            <a:r>
              <a:rPr dirty="0"/>
              <a:t> </a:t>
            </a:r>
            <a:r>
              <a:rPr dirty="0" err="1"/>
              <a:t>만듭니다</a:t>
            </a:r>
            <a:r>
              <a:rPr dirty="0"/>
              <a:t>.</a:t>
            </a:r>
          </a:p>
          <a:p>
            <a:endParaRPr dirty="0"/>
          </a:p>
          <a:p>
            <a:r>
              <a:rPr dirty="0"/>
              <a:t>셀 </a:t>
            </a:r>
            <a:r>
              <a:rPr dirty="0" err="1"/>
              <a:t>하나를</a:t>
            </a:r>
            <a:r>
              <a:rPr dirty="0"/>
              <a:t> </a:t>
            </a:r>
            <a:r>
              <a:rPr dirty="0" err="1"/>
              <a:t>원자</a:t>
            </a:r>
            <a:r>
              <a:rPr dirty="0"/>
              <a:t> </a:t>
            </a:r>
            <a:r>
              <a:rPr dirty="0" err="1"/>
              <a:t>단위로</a:t>
            </a:r>
            <a:r>
              <a:rPr dirty="0"/>
              <a:t> </a:t>
            </a:r>
            <a:r>
              <a:rPr dirty="0" err="1"/>
              <a:t>두면</a:t>
            </a:r>
            <a:r>
              <a:rPr dirty="0"/>
              <a:t> </a:t>
            </a:r>
            <a:r>
              <a:rPr dirty="0" err="1"/>
              <a:t>값이</a:t>
            </a:r>
            <a:r>
              <a:rPr dirty="0"/>
              <a:t> </a:t>
            </a:r>
            <a:r>
              <a:rPr dirty="0" err="1"/>
              <a:t>중간에서</a:t>
            </a:r>
            <a:r>
              <a:rPr dirty="0"/>
              <a:t> </a:t>
            </a:r>
            <a:r>
              <a:rPr dirty="0" err="1"/>
              <a:t>나뉘지</a:t>
            </a:r>
            <a:r>
              <a:rPr dirty="0"/>
              <a:t> </a:t>
            </a:r>
            <a:r>
              <a:rPr dirty="0" err="1"/>
              <a:t>않습니다</a:t>
            </a:r>
            <a:r>
              <a:rPr dirty="0"/>
              <a:t>.</a:t>
            </a:r>
          </a:p>
          <a:p>
            <a:endParaRPr dirty="0"/>
          </a:p>
          <a:p>
            <a:r>
              <a:rPr dirty="0" err="1"/>
              <a:t>다만</a:t>
            </a:r>
            <a:r>
              <a:rPr dirty="0"/>
              <a:t> 행 </a:t>
            </a:r>
            <a:r>
              <a:rPr dirty="0" err="1"/>
              <a:t>방향</a:t>
            </a:r>
            <a:r>
              <a:rPr dirty="0"/>
              <a:t> </a:t>
            </a:r>
            <a:r>
              <a:rPr dirty="0" err="1"/>
              <a:t>표나</a:t>
            </a:r>
            <a:r>
              <a:rPr dirty="0"/>
              <a:t> </a:t>
            </a:r>
            <a:r>
              <a:rPr dirty="0" err="1"/>
              <a:t>다단</a:t>
            </a:r>
            <a:r>
              <a:rPr dirty="0"/>
              <a:t> </a:t>
            </a:r>
            <a:r>
              <a:rPr dirty="0" err="1"/>
              <a:t>헤더</a:t>
            </a:r>
            <a:r>
              <a:rPr dirty="0"/>
              <a:t>, </a:t>
            </a:r>
            <a:r>
              <a:rPr dirty="0" err="1"/>
              <a:t>여러</a:t>
            </a:r>
            <a:r>
              <a:rPr dirty="0"/>
              <a:t> </a:t>
            </a:r>
            <a:r>
              <a:rPr dirty="0" err="1"/>
              <a:t>페이지에</a:t>
            </a:r>
            <a:r>
              <a:rPr dirty="0"/>
              <a:t> </a:t>
            </a:r>
            <a:r>
              <a:rPr dirty="0" err="1"/>
              <a:t>걸친</a:t>
            </a:r>
            <a:r>
              <a:rPr dirty="0"/>
              <a:t> </a:t>
            </a:r>
            <a:r>
              <a:rPr dirty="0" err="1"/>
              <a:t>표는</a:t>
            </a:r>
            <a:r>
              <a:rPr dirty="0"/>
              <a:t> </a:t>
            </a:r>
            <a:r>
              <a:rPr dirty="0" err="1"/>
              <a:t>아직</a:t>
            </a:r>
            <a:r>
              <a:rPr dirty="0"/>
              <a:t> </a:t>
            </a:r>
            <a:r>
              <a:rPr dirty="0" err="1"/>
              <a:t>별도</a:t>
            </a:r>
            <a:r>
              <a:rPr dirty="0"/>
              <a:t> </a:t>
            </a:r>
            <a:r>
              <a:rPr dirty="0" err="1"/>
              <a:t>설계가</a:t>
            </a:r>
            <a:r>
              <a:rPr dirty="0"/>
              <a:t> </a:t>
            </a:r>
            <a:r>
              <a:rPr dirty="0" err="1"/>
              <a:t>필요합니다</a:t>
            </a:r>
            <a:r>
              <a:rPr dirty="0"/>
              <a:t>.</a:t>
            </a:r>
          </a:p>
          <a:p>
            <a:endParaRPr dirty="0"/>
          </a:p>
          <a:p>
            <a:r>
              <a:rPr dirty="0" err="1"/>
              <a:t>이미지는</a:t>
            </a:r>
            <a:r>
              <a:rPr dirty="0"/>
              <a:t> </a:t>
            </a:r>
            <a:r>
              <a:rPr dirty="0" err="1"/>
              <a:t>지금</a:t>
            </a:r>
            <a:r>
              <a:rPr dirty="0"/>
              <a:t> </a:t>
            </a:r>
            <a:r>
              <a:rPr dirty="0" err="1"/>
              <a:t>검색에서</a:t>
            </a:r>
            <a:r>
              <a:rPr dirty="0"/>
              <a:t> 빼 </a:t>
            </a:r>
            <a:r>
              <a:rPr dirty="0" err="1"/>
              <a:t>두는</a:t>
            </a:r>
            <a:r>
              <a:rPr dirty="0"/>
              <a:t> </a:t>
            </a:r>
            <a:r>
              <a:rPr dirty="0" err="1"/>
              <a:t>것으로</a:t>
            </a:r>
            <a:r>
              <a:rPr dirty="0"/>
              <a:t> </a:t>
            </a:r>
            <a:r>
              <a:rPr dirty="0" err="1"/>
              <a:t>막고</a:t>
            </a:r>
            <a:r>
              <a:rPr dirty="0"/>
              <a:t> </a:t>
            </a:r>
            <a:r>
              <a:rPr dirty="0" err="1"/>
              <a:t>있는데</a:t>
            </a:r>
            <a:r>
              <a:rPr dirty="0"/>
              <a:t>, </a:t>
            </a:r>
            <a:r>
              <a:rPr dirty="0" err="1"/>
              <a:t>종류별로</a:t>
            </a:r>
            <a:r>
              <a:rPr dirty="0"/>
              <a:t> </a:t>
            </a:r>
            <a:r>
              <a:rPr dirty="0" err="1"/>
              <a:t>다르게</a:t>
            </a:r>
            <a:r>
              <a:rPr dirty="0"/>
              <a:t> </a:t>
            </a:r>
            <a:r>
              <a:rPr dirty="0" err="1"/>
              <a:t>다루고</a:t>
            </a:r>
            <a:r>
              <a:rPr dirty="0"/>
              <a:t> </a:t>
            </a:r>
            <a:r>
              <a:rPr dirty="0" err="1"/>
              <a:t>주변</a:t>
            </a:r>
            <a:r>
              <a:rPr dirty="0"/>
              <a:t> </a:t>
            </a:r>
            <a:r>
              <a:rPr dirty="0" err="1"/>
              <a:t>문맥과</a:t>
            </a:r>
            <a:r>
              <a:rPr dirty="0"/>
              <a:t> </a:t>
            </a:r>
            <a:r>
              <a:rPr dirty="0" err="1"/>
              <a:t>묶는</a:t>
            </a:r>
            <a:r>
              <a:rPr dirty="0"/>
              <a:t> </a:t>
            </a:r>
            <a:r>
              <a:rPr dirty="0" err="1"/>
              <a:t>쪽으로</a:t>
            </a:r>
            <a:r>
              <a:rPr dirty="0"/>
              <a:t> 갈 </a:t>
            </a:r>
            <a:r>
              <a:rPr dirty="0" err="1"/>
              <a:t>계획입니다</a:t>
            </a:r>
            <a:r>
              <a:rPr dirty="0"/>
              <a:t>.</a:t>
            </a:r>
          </a:p>
          <a:p>
            <a:endParaRPr dirty="0"/>
          </a:p>
          <a:p>
            <a:r>
              <a:rPr dirty="0"/>
              <a:t>▪ </a:t>
            </a:r>
            <a:r>
              <a:rPr dirty="0" err="1"/>
              <a:t>요점</a:t>
            </a:r>
            <a:endParaRPr dirty="0"/>
          </a:p>
          <a:p>
            <a:r>
              <a:rPr dirty="0"/>
              <a:t>· ▸ 한 </a:t>
            </a:r>
            <a:r>
              <a:rPr dirty="0" err="1"/>
              <a:t>방식으로</a:t>
            </a:r>
            <a:r>
              <a:rPr dirty="0"/>
              <a:t> </a:t>
            </a:r>
            <a:r>
              <a:rPr dirty="0" err="1"/>
              <a:t>직렬화하는</a:t>
            </a:r>
            <a:r>
              <a:rPr dirty="0"/>
              <a:t> </a:t>
            </a:r>
            <a:r>
              <a:rPr dirty="0" err="1"/>
              <a:t>것이</a:t>
            </a:r>
            <a:r>
              <a:rPr dirty="0"/>
              <a:t> </a:t>
            </a:r>
            <a:r>
              <a:rPr dirty="0" err="1"/>
              <a:t>문제</a:t>
            </a:r>
            <a:r>
              <a:rPr dirty="0"/>
              <a:t> / </a:t>
            </a:r>
            <a:r>
              <a:rPr dirty="0" err="1"/>
              <a:t>제목</a:t>
            </a:r>
            <a:r>
              <a:rPr dirty="0"/>
              <a:t> 56.96 → 84.85 → 88.41 / </a:t>
            </a:r>
            <a:r>
              <a:rPr dirty="0" err="1"/>
              <a:t>표는</a:t>
            </a:r>
            <a:r>
              <a:rPr dirty="0"/>
              <a:t> 셀 </a:t>
            </a:r>
            <a:r>
              <a:rPr dirty="0" err="1"/>
              <a:t>좌표로</a:t>
            </a:r>
            <a:r>
              <a:rPr dirty="0"/>
              <a:t> / </a:t>
            </a:r>
            <a:r>
              <a:rPr dirty="0" err="1"/>
              <a:t>이미지는</a:t>
            </a:r>
            <a:r>
              <a:rPr dirty="0"/>
              <a:t> </a:t>
            </a:r>
            <a:r>
              <a:rPr dirty="0" err="1"/>
              <a:t>아직</a:t>
            </a:r>
            <a:r>
              <a:rPr dirty="0"/>
              <a:t> </a:t>
            </a:r>
            <a:r>
              <a:rPr dirty="0" err="1"/>
              <a:t>제외</a:t>
            </a:r>
            <a:r>
              <a:rPr dirty="0"/>
              <a:t> </a:t>
            </a:r>
            <a:r>
              <a:rPr dirty="0" err="1"/>
              <a:t>단계</a:t>
            </a:r>
            <a:endParaRPr dirty="0"/>
          </a:p>
          <a:p>
            <a:endParaRPr dirty="0"/>
          </a:p>
          <a:p>
            <a:r>
              <a:rPr dirty="0"/>
              <a:t>─────────────  </a:t>
            </a:r>
            <a:r>
              <a:rPr dirty="0" err="1"/>
              <a:t>배경</a:t>
            </a:r>
            <a:r>
              <a:rPr dirty="0"/>
              <a:t> · </a:t>
            </a:r>
            <a:r>
              <a:rPr dirty="0" err="1"/>
              <a:t>질의응답</a:t>
            </a:r>
            <a:r>
              <a:rPr dirty="0"/>
              <a:t> </a:t>
            </a:r>
            <a:r>
              <a:rPr dirty="0" err="1"/>
              <a:t>대비</a:t>
            </a:r>
            <a:r>
              <a:rPr dirty="0"/>
              <a:t>  ─────────────</a:t>
            </a:r>
          </a:p>
          <a:p>
            <a:endParaRPr dirty="0"/>
          </a:p>
          <a:p>
            <a:r>
              <a:rPr dirty="0"/>
              <a:t>표 </a:t>
            </a:r>
            <a:r>
              <a:rPr dirty="0" err="1"/>
              <a:t>청킹은</a:t>
            </a:r>
            <a:r>
              <a:rPr dirty="0"/>
              <a:t> </a:t>
            </a:r>
            <a:r>
              <a:rPr dirty="0" err="1"/>
              <a:t>현재</a:t>
            </a:r>
            <a:r>
              <a:rPr dirty="0"/>
              <a:t> </a:t>
            </a:r>
            <a:r>
              <a:rPr dirty="0" err="1"/>
              <a:t>파이프라인에</a:t>
            </a:r>
            <a:r>
              <a:rPr dirty="0"/>
              <a:t> </a:t>
            </a:r>
            <a:r>
              <a:rPr dirty="0" err="1"/>
              <a:t>이미</a:t>
            </a:r>
            <a:r>
              <a:rPr dirty="0"/>
              <a:t> </a:t>
            </a:r>
            <a:r>
              <a:rPr dirty="0" err="1"/>
              <a:t>들어가</a:t>
            </a:r>
            <a:r>
              <a:rPr dirty="0"/>
              <a:t> </a:t>
            </a:r>
            <a:r>
              <a:rPr dirty="0" err="1"/>
              <a:t>있다</a:t>
            </a:r>
            <a:r>
              <a:rPr dirty="0"/>
              <a:t> — </a:t>
            </a:r>
            <a:r>
              <a:rPr dirty="0" err="1"/>
              <a:t>원본</a:t>
            </a:r>
            <a:r>
              <a:rPr dirty="0"/>
              <a:t> </a:t>
            </a:r>
            <a:r>
              <a:rPr dirty="0" err="1"/>
              <a:t>그대로</a:t>
            </a:r>
            <a:r>
              <a:rPr dirty="0"/>
              <a:t> </a:t>
            </a:r>
            <a:r>
              <a:rPr dirty="0" err="1"/>
              <a:t>청킹한</a:t>
            </a:r>
            <a:r>
              <a:rPr dirty="0"/>
              <a:t> 뒤 </a:t>
            </a:r>
            <a:r>
              <a:rPr dirty="0" err="1"/>
              <a:t>모든</a:t>
            </a:r>
            <a:r>
              <a:rPr dirty="0"/>
              <a:t> </a:t>
            </a:r>
            <a:r>
              <a:rPr dirty="0" err="1"/>
              <a:t>근거가</a:t>
            </a:r>
            <a:r>
              <a:rPr dirty="0"/>
              <a:t> </a:t>
            </a:r>
            <a:r>
              <a:rPr dirty="0" err="1"/>
              <a:t>표인</a:t>
            </a:r>
            <a:r>
              <a:rPr dirty="0"/>
              <a:t> </a:t>
            </a:r>
            <a:r>
              <a:rPr dirty="0" err="1"/>
              <a:t>청크만</a:t>
            </a:r>
            <a:r>
              <a:rPr dirty="0"/>
              <a:t> </a:t>
            </a:r>
            <a:r>
              <a:rPr dirty="0" err="1"/>
              <a:t>버리고</a:t>
            </a:r>
            <a:r>
              <a:rPr dirty="0"/>
              <a:t>, </a:t>
            </a:r>
            <a:r>
              <a:rPr dirty="0" err="1"/>
              <a:t>표는</a:t>
            </a:r>
            <a:r>
              <a:rPr dirty="0"/>
              <a:t> 셀 </a:t>
            </a:r>
            <a:r>
              <a:rPr dirty="0" err="1"/>
              <a:t>좌표로</a:t>
            </a:r>
            <a:r>
              <a:rPr dirty="0"/>
              <a:t> </a:t>
            </a:r>
            <a:r>
              <a:rPr dirty="0" err="1"/>
              <a:t>행·제품</a:t>
            </a:r>
            <a:r>
              <a:rPr dirty="0"/>
              <a:t> </a:t>
            </a:r>
            <a:r>
              <a:rPr dirty="0" err="1"/>
              <a:t>단위로</a:t>
            </a:r>
            <a:r>
              <a:rPr dirty="0"/>
              <a:t> </a:t>
            </a:r>
            <a:r>
              <a:rPr dirty="0" err="1"/>
              <a:t>다시</a:t>
            </a:r>
            <a:r>
              <a:rPr dirty="0"/>
              <a:t> </a:t>
            </a:r>
            <a:r>
              <a:rPr dirty="0" err="1"/>
              <a:t>만든다</a:t>
            </a:r>
            <a:r>
              <a:rPr dirty="0"/>
              <a:t>(</a:t>
            </a:r>
            <a:r>
              <a:rPr dirty="0" err="1"/>
              <a:t>runpod_worker</a:t>
            </a:r>
            <a:r>
              <a:rPr dirty="0"/>
              <a:t>/pipeline.py:227-334, :398-401). </a:t>
            </a:r>
            <a:r>
              <a:rPr dirty="0" err="1"/>
              <a:t>다만</a:t>
            </a:r>
            <a:r>
              <a:rPr dirty="0"/>
              <a:t> 열 </a:t>
            </a:r>
            <a:r>
              <a:rPr dirty="0" err="1"/>
              <a:t>방향</a:t>
            </a:r>
            <a:r>
              <a:rPr dirty="0"/>
              <a:t> </a:t>
            </a:r>
            <a:r>
              <a:rPr dirty="0" err="1"/>
              <a:t>사양표</a:t>
            </a:r>
            <a:r>
              <a:rPr dirty="0"/>
              <a:t> </a:t>
            </a:r>
            <a:r>
              <a:rPr dirty="0" err="1"/>
              <a:t>기준이라</a:t>
            </a:r>
            <a:r>
              <a:rPr dirty="0"/>
              <a:t> 행 </a:t>
            </a:r>
            <a:r>
              <a:rPr dirty="0" err="1"/>
              <a:t>방향</a:t>
            </a:r>
            <a:r>
              <a:rPr dirty="0"/>
              <a:t> </a:t>
            </a:r>
            <a:r>
              <a:rPr dirty="0" err="1"/>
              <a:t>표·다단</a:t>
            </a:r>
            <a:r>
              <a:rPr dirty="0"/>
              <a:t> </a:t>
            </a:r>
            <a:r>
              <a:rPr dirty="0" err="1"/>
              <a:t>헤더·다중</a:t>
            </a:r>
            <a:r>
              <a:rPr dirty="0"/>
              <a:t> </a:t>
            </a:r>
            <a:r>
              <a:rPr dirty="0" err="1"/>
              <a:t>페이지</a:t>
            </a:r>
            <a:r>
              <a:rPr dirty="0"/>
              <a:t> </a:t>
            </a:r>
            <a:r>
              <a:rPr dirty="0" err="1"/>
              <a:t>표는</a:t>
            </a:r>
            <a:r>
              <a:rPr dirty="0"/>
              <a:t> </a:t>
            </a:r>
            <a:r>
              <a:rPr dirty="0" err="1"/>
              <a:t>아직</a:t>
            </a:r>
            <a:r>
              <a:rPr dirty="0"/>
              <a:t> </a:t>
            </a:r>
            <a:r>
              <a:rPr dirty="0" err="1"/>
              <a:t>별도</a:t>
            </a:r>
            <a:r>
              <a:rPr dirty="0"/>
              <a:t> </a:t>
            </a:r>
            <a:r>
              <a:rPr dirty="0" err="1"/>
              <a:t>설계가</a:t>
            </a:r>
            <a:r>
              <a:rPr dirty="0"/>
              <a:t> </a:t>
            </a:r>
            <a:r>
              <a:rPr dirty="0" err="1"/>
              <a:t>필요해</a:t>
            </a:r>
            <a:r>
              <a:rPr dirty="0"/>
              <a:t> </a:t>
            </a:r>
            <a:r>
              <a:rPr dirty="0" err="1"/>
              <a:t>개선</a:t>
            </a:r>
            <a:r>
              <a:rPr dirty="0"/>
              <a:t> </a:t>
            </a:r>
            <a:r>
              <a:rPr dirty="0" err="1"/>
              <a:t>방향으로</a:t>
            </a:r>
            <a:r>
              <a:rPr dirty="0"/>
              <a:t> </a:t>
            </a:r>
            <a:r>
              <a:rPr dirty="0" err="1"/>
              <a:t>둔다</a:t>
            </a:r>
            <a:r>
              <a:rPr dirty="0"/>
              <a:t>.</a:t>
            </a:r>
          </a:p>
          <a:p>
            <a:r>
              <a:rPr dirty="0" err="1"/>
              <a:t>출처</a:t>
            </a:r>
            <a:r>
              <a:rPr dirty="0"/>
              <a:t>: Wang et al., </a:t>
            </a:r>
            <a:r>
              <a:rPr dirty="0" err="1"/>
              <a:t>DocStruct</a:t>
            </a:r>
            <a:r>
              <a:rPr dirty="0"/>
              <a:t>, Findings of EMNLP 2020 — </a:t>
            </a:r>
            <a:r>
              <a:rPr dirty="0" err="1"/>
              <a:t>MedForm</a:t>
            </a:r>
            <a:r>
              <a:rPr dirty="0"/>
              <a:t> Detection Hit@1.</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[22장 · </a:t>
            </a:r>
            <a:r>
              <a:rPr dirty="0" err="1"/>
              <a:t>임베딩</a:t>
            </a:r>
            <a:r>
              <a:rPr dirty="0"/>
              <a:t> — </a:t>
            </a:r>
            <a:r>
              <a:rPr dirty="0" err="1"/>
              <a:t>기준</a:t>
            </a:r>
            <a:r>
              <a:rPr dirty="0"/>
              <a:t> </a:t>
            </a:r>
            <a:r>
              <a:rPr dirty="0" err="1"/>
              <a:t>모델</a:t>
            </a:r>
            <a:r>
              <a:rPr dirty="0"/>
              <a:t> </a:t>
            </a:r>
            <a:r>
              <a:rPr dirty="0" err="1"/>
              <a:t>변경</a:t>
            </a:r>
            <a:r>
              <a:rPr dirty="0"/>
              <a:t>]</a:t>
            </a:r>
          </a:p>
          <a:p>
            <a:endParaRPr dirty="0"/>
          </a:p>
          <a:p>
            <a:r>
              <a:rPr dirty="0" err="1"/>
              <a:t>임베딩</a:t>
            </a:r>
            <a:r>
              <a:rPr dirty="0"/>
              <a:t> </a:t>
            </a:r>
            <a:r>
              <a:rPr dirty="0" err="1"/>
              <a:t>모델은</a:t>
            </a:r>
            <a:r>
              <a:rPr dirty="0"/>
              <a:t> </a:t>
            </a:r>
            <a:r>
              <a:rPr lang="ko-KR" altLang="en-US" dirty="0"/>
              <a:t>중간에 변경 되었습니다</a:t>
            </a:r>
            <a:r>
              <a:rPr lang="en-US" altLang="ko-KR" dirty="0"/>
              <a:t>. </a:t>
            </a:r>
            <a:r>
              <a:rPr dirty="0" err="1"/>
              <a:t>이전</a:t>
            </a:r>
            <a:r>
              <a:rPr dirty="0"/>
              <a:t> </a:t>
            </a:r>
            <a:r>
              <a:rPr dirty="0" err="1"/>
              <a:t>모델은</a:t>
            </a:r>
            <a:r>
              <a:rPr dirty="0"/>
              <a:t> </a:t>
            </a:r>
            <a:r>
              <a:rPr dirty="0" err="1"/>
              <a:t>최대</a:t>
            </a:r>
            <a:r>
              <a:rPr dirty="0"/>
              <a:t> </a:t>
            </a:r>
            <a:r>
              <a:rPr dirty="0" err="1"/>
              <a:t>입력이</a:t>
            </a:r>
            <a:r>
              <a:rPr dirty="0"/>
              <a:t> 128 </a:t>
            </a:r>
            <a:r>
              <a:rPr dirty="0" err="1"/>
              <a:t>토큰</a:t>
            </a:r>
            <a:r>
              <a:rPr dirty="0"/>
              <a:t>, 384 </a:t>
            </a:r>
            <a:r>
              <a:rPr dirty="0" err="1"/>
              <a:t>차원이었</a:t>
            </a:r>
            <a:r>
              <a:rPr lang="ko-KR" altLang="en-US" dirty="0"/>
              <a:t>습니다</a:t>
            </a:r>
            <a:r>
              <a:rPr lang="en-US" altLang="ko-KR" dirty="0"/>
              <a:t>.</a:t>
            </a:r>
            <a:endParaRPr dirty="0"/>
          </a:p>
          <a:p>
            <a:endParaRPr dirty="0"/>
          </a:p>
          <a:p>
            <a:r>
              <a:rPr lang="ko-KR" altLang="en-US" dirty="0"/>
              <a:t>하지만 </a:t>
            </a:r>
            <a:r>
              <a:rPr dirty="0" err="1"/>
              <a:t>제목</a:t>
            </a:r>
            <a:r>
              <a:rPr dirty="0"/>
              <a:t> </a:t>
            </a:r>
            <a:r>
              <a:rPr dirty="0" err="1"/>
              <a:t>계층과</a:t>
            </a:r>
            <a:r>
              <a:rPr dirty="0"/>
              <a:t> 표 </a:t>
            </a:r>
            <a:r>
              <a:rPr dirty="0" err="1"/>
              <a:t>헤더</a:t>
            </a:r>
            <a:r>
              <a:rPr dirty="0"/>
              <a:t>, 긴 표 </a:t>
            </a:r>
            <a:r>
              <a:rPr dirty="0" err="1"/>
              <a:t>행을</a:t>
            </a:r>
            <a:r>
              <a:rPr dirty="0"/>
              <a:t> </a:t>
            </a:r>
            <a:r>
              <a:rPr dirty="0" err="1"/>
              <a:t>함께</a:t>
            </a:r>
            <a:r>
              <a:rPr dirty="0"/>
              <a:t> </a:t>
            </a:r>
            <a:r>
              <a:rPr dirty="0" err="1"/>
              <a:t>담는</a:t>
            </a:r>
            <a:r>
              <a:rPr dirty="0"/>
              <a:t> </a:t>
            </a:r>
            <a:r>
              <a:rPr dirty="0" err="1"/>
              <a:t>청킹을</a:t>
            </a:r>
            <a:r>
              <a:rPr dirty="0"/>
              <a:t> </a:t>
            </a:r>
            <a:r>
              <a:rPr dirty="0" err="1"/>
              <a:t>실험하기에는</a:t>
            </a:r>
            <a:r>
              <a:rPr dirty="0"/>
              <a:t> 128 </a:t>
            </a:r>
            <a:r>
              <a:rPr dirty="0" err="1"/>
              <a:t>토큰이</a:t>
            </a:r>
            <a:r>
              <a:rPr dirty="0"/>
              <a:t> </a:t>
            </a:r>
            <a:r>
              <a:rPr dirty="0" err="1"/>
              <a:t>너무</a:t>
            </a:r>
            <a:r>
              <a:rPr dirty="0"/>
              <a:t> </a:t>
            </a:r>
            <a:r>
              <a:rPr dirty="0" err="1"/>
              <a:t>좁았습니다</a:t>
            </a:r>
            <a:r>
              <a:rPr dirty="0"/>
              <a:t>.</a:t>
            </a:r>
          </a:p>
          <a:p>
            <a:endParaRPr dirty="0"/>
          </a:p>
          <a:p>
            <a:r>
              <a:rPr dirty="0" err="1"/>
              <a:t>지금은</a:t>
            </a:r>
            <a:r>
              <a:rPr dirty="0"/>
              <a:t> </a:t>
            </a:r>
            <a:r>
              <a:rPr dirty="0" err="1"/>
              <a:t>EmbeddingGemma</a:t>
            </a:r>
            <a:r>
              <a:rPr dirty="0"/>
              <a:t> 300m으로, </a:t>
            </a:r>
            <a:r>
              <a:rPr lang="ko-KR" altLang="en-US" dirty="0"/>
              <a:t>최대 </a:t>
            </a:r>
            <a:r>
              <a:rPr dirty="0"/>
              <a:t>2,048 </a:t>
            </a:r>
            <a:r>
              <a:rPr dirty="0" err="1"/>
              <a:t>토큰에</a:t>
            </a:r>
            <a:r>
              <a:rPr dirty="0"/>
              <a:t> 768 </a:t>
            </a:r>
            <a:r>
              <a:rPr dirty="0" err="1"/>
              <a:t>차원입니다</a:t>
            </a:r>
            <a:r>
              <a:rPr dirty="0"/>
              <a:t>.</a:t>
            </a:r>
          </a:p>
          <a:p>
            <a:endParaRPr dirty="0"/>
          </a:p>
          <a:p>
            <a:r>
              <a:rPr dirty="0" err="1"/>
              <a:t>오해가</a:t>
            </a:r>
            <a:r>
              <a:rPr dirty="0"/>
              <a:t> </a:t>
            </a:r>
            <a:r>
              <a:rPr dirty="0" err="1"/>
              <a:t>없도록</a:t>
            </a:r>
            <a:r>
              <a:rPr dirty="0"/>
              <a:t> </a:t>
            </a:r>
            <a:r>
              <a:rPr dirty="0" err="1"/>
              <a:t>말씀드리면</a:t>
            </a:r>
            <a:r>
              <a:rPr dirty="0"/>
              <a:t>, </a:t>
            </a:r>
            <a:r>
              <a:rPr dirty="0" err="1"/>
              <a:t>모델을</a:t>
            </a:r>
            <a:r>
              <a:rPr dirty="0"/>
              <a:t> </a:t>
            </a:r>
            <a:r>
              <a:rPr dirty="0" err="1"/>
              <a:t>키워서</a:t>
            </a:r>
            <a:r>
              <a:rPr dirty="0"/>
              <a:t> </a:t>
            </a:r>
            <a:r>
              <a:rPr dirty="0" err="1"/>
              <a:t>성능을</a:t>
            </a:r>
            <a:r>
              <a:rPr dirty="0"/>
              <a:t> </a:t>
            </a:r>
            <a:r>
              <a:rPr dirty="0" err="1"/>
              <a:t>얻으려는</a:t>
            </a:r>
            <a:r>
              <a:rPr dirty="0"/>
              <a:t> </a:t>
            </a:r>
            <a:r>
              <a:rPr dirty="0" err="1"/>
              <a:t>선택이</a:t>
            </a:r>
            <a:r>
              <a:rPr dirty="0"/>
              <a:t> </a:t>
            </a:r>
            <a:r>
              <a:rPr dirty="0" err="1"/>
              <a:t>아닙니다</a:t>
            </a:r>
            <a:r>
              <a:rPr dirty="0"/>
              <a:t>.</a:t>
            </a:r>
          </a:p>
          <a:p>
            <a:endParaRPr dirty="0"/>
          </a:p>
          <a:p>
            <a:r>
              <a:rPr dirty="0"/>
              <a:t>약 300M </a:t>
            </a:r>
            <a:r>
              <a:rPr dirty="0" err="1"/>
              <a:t>규모로</a:t>
            </a:r>
            <a:r>
              <a:rPr dirty="0"/>
              <a:t> </a:t>
            </a:r>
            <a:r>
              <a:rPr dirty="0" err="1"/>
              <a:t>기준을</a:t>
            </a:r>
            <a:r>
              <a:rPr dirty="0"/>
              <a:t> </a:t>
            </a:r>
            <a:r>
              <a:rPr dirty="0" err="1"/>
              <a:t>고정해</a:t>
            </a:r>
            <a:r>
              <a:rPr dirty="0"/>
              <a:t> </a:t>
            </a:r>
            <a:r>
              <a:rPr dirty="0" err="1"/>
              <a:t>놓고</a:t>
            </a:r>
            <a:r>
              <a:rPr dirty="0"/>
              <a:t>, </a:t>
            </a:r>
            <a:r>
              <a:rPr dirty="0" err="1"/>
              <a:t>제목·표·이미지</a:t>
            </a:r>
            <a:r>
              <a:rPr dirty="0"/>
              <a:t> </a:t>
            </a:r>
            <a:r>
              <a:rPr dirty="0" err="1"/>
              <a:t>청킹</a:t>
            </a:r>
            <a:r>
              <a:rPr dirty="0"/>
              <a:t> </a:t>
            </a:r>
            <a:r>
              <a:rPr dirty="0" err="1"/>
              <a:t>개선이</a:t>
            </a:r>
            <a:r>
              <a:rPr dirty="0"/>
              <a:t> </a:t>
            </a:r>
            <a:r>
              <a:rPr dirty="0" err="1"/>
              <a:t>검색에</a:t>
            </a:r>
            <a:r>
              <a:rPr dirty="0"/>
              <a:t> </a:t>
            </a:r>
            <a:r>
              <a:rPr dirty="0" err="1"/>
              <a:t>어떤</a:t>
            </a:r>
            <a:r>
              <a:rPr dirty="0"/>
              <a:t> </a:t>
            </a:r>
            <a:r>
              <a:rPr dirty="0" err="1"/>
              <a:t>영향을</a:t>
            </a:r>
            <a:r>
              <a:rPr dirty="0"/>
              <a:t> </a:t>
            </a:r>
            <a:r>
              <a:rPr dirty="0" err="1"/>
              <a:t>주는지</a:t>
            </a:r>
            <a:r>
              <a:rPr dirty="0"/>
              <a:t> </a:t>
            </a:r>
            <a:r>
              <a:rPr dirty="0" err="1"/>
              <a:t>보려는</a:t>
            </a:r>
            <a:r>
              <a:rPr dirty="0"/>
              <a:t> </a:t>
            </a:r>
            <a:r>
              <a:rPr dirty="0" err="1"/>
              <a:t>목적입니다</a:t>
            </a:r>
            <a:r>
              <a:rPr dirty="0"/>
              <a:t>.</a:t>
            </a:r>
          </a:p>
          <a:p>
            <a:endParaRPr dirty="0"/>
          </a:p>
          <a:p>
            <a:r>
              <a:rPr dirty="0" err="1"/>
              <a:t>모델을</a:t>
            </a:r>
            <a:r>
              <a:rPr dirty="0"/>
              <a:t> </a:t>
            </a:r>
            <a:r>
              <a:rPr dirty="0" err="1"/>
              <a:t>바꾸는</a:t>
            </a:r>
            <a:r>
              <a:rPr dirty="0"/>
              <a:t> </a:t>
            </a:r>
            <a:r>
              <a:rPr dirty="0" err="1"/>
              <a:t>것만으로</a:t>
            </a:r>
            <a:r>
              <a:rPr dirty="0"/>
              <a:t> </a:t>
            </a:r>
            <a:r>
              <a:rPr dirty="0" err="1"/>
              <a:t>성능이</a:t>
            </a:r>
            <a:r>
              <a:rPr dirty="0"/>
              <a:t> </a:t>
            </a:r>
            <a:r>
              <a:rPr dirty="0" err="1"/>
              <a:t>오른다고</a:t>
            </a:r>
            <a:r>
              <a:rPr dirty="0"/>
              <a:t> </a:t>
            </a:r>
            <a:r>
              <a:rPr dirty="0" err="1"/>
              <a:t>가정하지</a:t>
            </a:r>
            <a:r>
              <a:rPr lang="en-US" dirty="0"/>
              <a:t> </a:t>
            </a:r>
            <a:r>
              <a:rPr lang="ko-KR" altLang="en-US" dirty="0"/>
              <a:t>않았습니다</a:t>
            </a:r>
            <a:r>
              <a:rPr lang="en-US" altLang="ko-KR" dirty="0"/>
              <a:t>.</a:t>
            </a:r>
            <a:endParaRPr dirty="0"/>
          </a:p>
          <a:p>
            <a:endParaRPr dirty="0"/>
          </a:p>
          <a:p>
            <a:r>
              <a:rPr dirty="0"/>
              <a:t>▪ </a:t>
            </a:r>
            <a:r>
              <a:rPr dirty="0" err="1"/>
              <a:t>요점</a:t>
            </a:r>
            <a:endParaRPr dirty="0"/>
          </a:p>
          <a:p>
            <a:r>
              <a:rPr dirty="0"/>
              <a:t>· 128/384 → 2048/768 / ▸ </a:t>
            </a:r>
            <a:r>
              <a:rPr dirty="0" err="1"/>
              <a:t>모델을</a:t>
            </a:r>
            <a:r>
              <a:rPr dirty="0"/>
              <a:t> </a:t>
            </a:r>
            <a:r>
              <a:rPr dirty="0" err="1"/>
              <a:t>키우려는</a:t>
            </a:r>
            <a:r>
              <a:rPr dirty="0"/>
              <a:t> 게 </a:t>
            </a:r>
            <a:r>
              <a:rPr dirty="0" err="1"/>
              <a:t>아니라</a:t>
            </a:r>
            <a:r>
              <a:rPr dirty="0"/>
              <a:t> </a:t>
            </a:r>
            <a:r>
              <a:rPr dirty="0" err="1"/>
              <a:t>기준을</a:t>
            </a:r>
            <a:r>
              <a:rPr dirty="0"/>
              <a:t> </a:t>
            </a:r>
            <a:r>
              <a:rPr dirty="0" err="1"/>
              <a:t>고정하려는</a:t>
            </a:r>
            <a:r>
              <a:rPr dirty="0"/>
              <a:t> 것</a:t>
            </a:r>
          </a:p>
          <a:p>
            <a:endParaRPr dirty="0"/>
          </a:p>
          <a:p>
            <a:r>
              <a:rPr dirty="0"/>
              <a:t>─────────────  </a:t>
            </a:r>
            <a:r>
              <a:rPr dirty="0" err="1"/>
              <a:t>배경</a:t>
            </a:r>
            <a:r>
              <a:rPr dirty="0"/>
              <a:t> · </a:t>
            </a:r>
            <a:r>
              <a:rPr dirty="0" err="1"/>
              <a:t>질의응답</a:t>
            </a:r>
            <a:r>
              <a:rPr dirty="0"/>
              <a:t> </a:t>
            </a:r>
            <a:r>
              <a:rPr dirty="0" err="1"/>
              <a:t>대비</a:t>
            </a:r>
            <a:r>
              <a:rPr dirty="0"/>
              <a:t>  ─────────────</a:t>
            </a:r>
          </a:p>
          <a:p>
            <a:endParaRPr dirty="0"/>
          </a:p>
          <a:p>
            <a:r>
              <a:rPr dirty="0" err="1"/>
              <a:t>정확한</a:t>
            </a:r>
            <a:r>
              <a:rPr dirty="0"/>
              <a:t> </a:t>
            </a:r>
            <a:r>
              <a:rPr dirty="0" err="1"/>
              <a:t>모델명</a:t>
            </a:r>
            <a:r>
              <a:rPr dirty="0"/>
              <a:t>: </a:t>
            </a:r>
            <a:r>
              <a:rPr dirty="0" err="1"/>
              <a:t>이전</a:t>
            </a:r>
            <a:r>
              <a:rPr dirty="0"/>
              <a:t> sentence-transformers/paraphrase-multilingual-MiniLM-L12-v2 (128토큰·384차원), </a:t>
            </a:r>
            <a:r>
              <a:rPr dirty="0" err="1"/>
              <a:t>현재</a:t>
            </a:r>
            <a:r>
              <a:rPr dirty="0"/>
              <a:t> google/embeddinggemma-300m (2,048토큰·768차원). </a:t>
            </a:r>
            <a:r>
              <a:rPr dirty="0" err="1"/>
              <a:t>확정</a:t>
            </a:r>
            <a:r>
              <a:rPr dirty="0"/>
              <a:t> </a:t>
            </a:r>
            <a:r>
              <a:rPr dirty="0" err="1"/>
              <a:t>근거는</a:t>
            </a:r>
            <a:r>
              <a:rPr dirty="0"/>
              <a:t> DB/migrations/2026-08-04_embeddinggemma_768.sql. </a:t>
            </a:r>
            <a:r>
              <a:rPr dirty="0" err="1"/>
              <a:t>벡터는</a:t>
            </a:r>
            <a:r>
              <a:rPr dirty="0"/>
              <a:t> PostgreSQL 17 + </a:t>
            </a:r>
            <a:r>
              <a:rPr dirty="0" err="1"/>
              <a:t>pgvector에</a:t>
            </a:r>
            <a:r>
              <a:rPr dirty="0"/>
              <a:t> </a:t>
            </a:r>
            <a:r>
              <a:rPr dirty="0" err="1"/>
              <a:t>적재하고</a:t>
            </a:r>
            <a:r>
              <a:rPr dirty="0"/>
              <a:t> </a:t>
            </a:r>
            <a:r>
              <a:rPr dirty="0" err="1"/>
              <a:t>검색</a:t>
            </a:r>
            <a:r>
              <a:rPr dirty="0"/>
              <a:t> </a:t>
            </a:r>
            <a:r>
              <a:rPr dirty="0" err="1"/>
              <a:t>경계는</a:t>
            </a:r>
            <a:r>
              <a:rPr dirty="0"/>
              <a:t> 팀 </a:t>
            </a:r>
            <a:r>
              <a:rPr dirty="0" err="1"/>
              <a:t>단위다</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[23장 · 섹션 표지]</a:t>
            </a:r>
          </a:p>
          <a:p>
            <a:endParaRPr/>
          </a:p>
          <a:p>
            <a:r>
              <a:t>다음은 업무량을 어떻게 파악하고, 문서에서 업무를 어떻게 뽑는지입니다.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[24장 · </a:t>
            </a:r>
            <a:r>
              <a:rPr dirty="0" err="1"/>
              <a:t>업무량</a:t>
            </a:r>
            <a:r>
              <a:rPr dirty="0"/>
              <a:t> </a:t>
            </a:r>
            <a:r>
              <a:rPr dirty="0" err="1"/>
              <a:t>파악</a:t>
            </a:r>
            <a:r>
              <a:rPr dirty="0"/>
              <a:t>]</a:t>
            </a:r>
          </a:p>
          <a:p>
            <a:endParaRPr dirty="0"/>
          </a:p>
          <a:p>
            <a:r>
              <a:rPr lang="ko-KR" altLang="en-US" dirty="0"/>
              <a:t>우선 </a:t>
            </a:r>
            <a:r>
              <a:rPr dirty="0" err="1"/>
              <a:t>Jira에서</a:t>
            </a:r>
            <a:r>
              <a:rPr dirty="0"/>
              <a:t> </a:t>
            </a:r>
            <a:r>
              <a:rPr lang="ko-KR" altLang="en-US" dirty="0"/>
              <a:t>이전 프로젝트 정보를 </a:t>
            </a:r>
            <a:r>
              <a:rPr dirty="0" err="1"/>
              <a:t>가져옵니다</a:t>
            </a:r>
            <a:r>
              <a:rPr dirty="0"/>
              <a:t>.</a:t>
            </a:r>
          </a:p>
          <a:p>
            <a:endParaRPr dirty="0"/>
          </a:p>
          <a:p>
            <a:r>
              <a:rPr lang="ko-KR" altLang="en-US" dirty="0"/>
              <a:t>그리고 </a:t>
            </a:r>
            <a:r>
              <a:rPr dirty="0" err="1"/>
              <a:t>이미</a:t>
            </a:r>
            <a:r>
              <a:rPr dirty="0"/>
              <a:t> </a:t>
            </a:r>
            <a:r>
              <a:rPr dirty="0" err="1"/>
              <a:t>쌓여</a:t>
            </a:r>
            <a:r>
              <a:rPr dirty="0"/>
              <a:t> </a:t>
            </a:r>
            <a:r>
              <a:rPr dirty="0" err="1"/>
              <a:t>있는</a:t>
            </a:r>
            <a:r>
              <a:rPr dirty="0"/>
              <a:t> </a:t>
            </a:r>
            <a:r>
              <a:rPr dirty="0" err="1"/>
              <a:t>이슈만으로</a:t>
            </a:r>
            <a:r>
              <a:rPr dirty="0"/>
              <a:t> </a:t>
            </a:r>
            <a:r>
              <a:rPr dirty="0" err="1"/>
              <a:t>담당자</a:t>
            </a:r>
            <a:r>
              <a:rPr dirty="0"/>
              <a:t>, </a:t>
            </a:r>
            <a:r>
              <a:rPr dirty="0" err="1"/>
              <a:t>상태</a:t>
            </a:r>
            <a:r>
              <a:rPr dirty="0"/>
              <a:t>, </a:t>
            </a:r>
            <a:r>
              <a:rPr dirty="0" err="1"/>
              <a:t>추정</a:t>
            </a:r>
            <a:r>
              <a:rPr dirty="0"/>
              <a:t> </a:t>
            </a:r>
            <a:r>
              <a:rPr dirty="0" err="1"/>
              <a:t>시간</a:t>
            </a:r>
            <a:r>
              <a:rPr dirty="0"/>
              <a:t>, </a:t>
            </a:r>
            <a:r>
              <a:rPr dirty="0" err="1"/>
              <a:t>남은</a:t>
            </a:r>
            <a:r>
              <a:rPr dirty="0"/>
              <a:t> </a:t>
            </a:r>
            <a:r>
              <a:rPr dirty="0" err="1"/>
              <a:t>시간</a:t>
            </a:r>
            <a:r>
              <a:rPr dirty="0"/>
              <a:t>, </a:t>
            </a:r>
            <a:r>
              <a:rPr dirty="0" err="1"/>
              <a:t>마감을</a:t>
            </a:r>
            <a:r>
              <a:rPr dirty="0"/>
              <a:t> </a:t>
            </a:r>
            <a:r>
              <a:rPr dirty="0" err="1"/>
              <a:t>가져와</a:t>
            </a:r>
            <a:r>
              <a:rPr dirty="0"/>
              <a:t> </a:t>
            </a:r>
            <a:r>
              <a:rPr dirty="0" err="1"/>
              <a:t>사람별로</a:t>
            </a:r>
            <a:r>
              <a:rPr dirty="0"/>
              <a:t> </a:t>
            </a:r>
            <a:r>
              <a:rPr dirty="0" err="1"/>
              <a:t>계산합니다</a:t>
            </a:r>
            <a:r>
              <a:rPr dirty="0"/>
              <a:t>.</a:t>
            </a:r>
          </a:p>
          <a:p>
            <a:endParaRPr dirty="0"/>
          </a:p>
          <a:p>
            <a:r>
              <a:rPr dirty="0" err="1"/>
              <a:t>계산식은</a:t>
            </a:r>
            <a:r>
              <a:rPr dirty="0"/>
              <a:t> </a:t>
            </a:r>
            <a:r>
              <a:rPr dirty="0" err="1"/>
              <a:t>이렇습니다</a:t>
            </a:r>
            <a:r>
              <a:rPr dirty="0"/>
              <a:t>.</a:t>
            </a:r>
          </a:p>
          <a:p>
            <a:endParaRPr dirty="0"/>
          </a:p>
          <a:p>
            <a:r>
              <a:rPr dirty="0" err="1"/>
              <a:t>용량은</a:t>
            </a:r>
            <a:r>
              <a:rPr dirty="0"/>
              <a:t> 주 </a:t>
            </a:r>
            <a:r>
              <a:rPr dirty="0" err="1"/>
              <a:t>근무시간을</a:t>
            </a:r>
            <a:r>
              <a:rPr dirty="0"/>
              <a:t> 5로 </a:t>
            </a:r>
            <a:r>
              <a:rPr dirty="0" err="1"/>
              <a:t>나눈</a:t>
            </a:r>
            <a:r>
              <a:rPr dirty="0"/>
              <a:t> </a:t>
            </a:r>
            <a:r>
              <a:rPr dirty="0" err="1"/>
              <a:t>하루치에</a:t>
            </a:r>
            <a:r>
              <a:rPr dirty="0"/>
              <a:t> </a:t>
            </a:r>
            <a:r>
              <a:rPr dirty="0" err="1"/>
              <a:t>기간</a:t>
            </a:r>
            <a:r>
              <a:rPr dirty="0"/>
              <a:t> </a:t>
            </a:r>
            <a:r>
              <a:rPr dirty="0" err="1"/>
              <a:t>안의</a:t>
            </a:r>
            <a:r>
              <a:rPr dirty="0"/>
              <a:t> </a:t>
            </a:r>
            <a:r>
              <a:rPr dirty="0" err="1"/>
              <a:t>근무일을</a:t>
            </a:r>
            <a:r>
              <a:rPr dirty="0"/>
              <a:t> </a:t>
            </a:r>
            <a:r>
              <a:rPr dirty="0" err="1"/>
              <a:t>곱하고</a:t>
            </a:r>
            <a:r>
              <a:rPr dirty="0"/>
              <a:t> </a:t>
            </a:r>
            <a:r>
              <a:rPr dirty="0" err="1"/>
              <a:t>승인된</a:t>
            </a:r>
            <a:r>
              <a:rPr dirty="0"/>
              <a:t> </a:t>
            </a:r>
            <a:r>
              <a:rPr dirty="0" err="1"/>
              <a:t>휴가를</a:t>
            </a:r>
            <a:r>
              <a:rPr dirty="0"/>
              <a:t> </a:t>
            </a:r>
            <a:r>
              <a:rPr dirty="0" err="1"/>
              <a:t>뺍니다</a:t>
            </a:r>
            <a:r>
              <a:rPr dirty="0"/>
              <a:t>.</a:t>
            </a:r>
          </a:p>
          <a:p>
            <a:endParaRPr dirty="0"/>
          </a:p>
          <a:p>
            <a:r>
              <a:rPr dirty="0" err="1"/>
              <a:t>할당은</a:t>
            </a:r>
            <a:r>
              <a:rPr dirty="0"/>
              <a:t> </a:t>
            </a:r>
            <a:r>
              <a:rPr dirty="0" err="1"/>
              <a:t>기간</a:t>
            </a:r>
            <a:r>
              <a:rPr dirty="0"/>
              <a:t> </a:t>
            </a:r>
            <a:r>
              <a:rPr dirty="0" err="1"/>
              <a:t>안에</a:t>
            </a:r>
            <a:r>
              <a:rPr dirty="0"/>
              <a:t> </a:t>
            </a:r>
            <a:r>
              <a:rPr dirty="0" err="1"/>
              <a:t>마감이</a:t>
            </a:r>
            <a:r>
              <a:rPr dirty="0"/>
              <a:t> </a:t>
            </a:r>
            <a:r>
              <a:rPr dirty="0" err="1"/>
              <a:t>있거나</a:t>
            </a:r>
            <a:r>
              <a:rPr dirty="0"/>
              <a:t> </a:t>
            </a:r>
            <a:r>
              <a:rPr dirty="0" err="1"/>
              <a:t>이미</a:t>
            </a:r>
            <a:r>
              <a:rPr dirty="0"/>
              <a:t> </a:t>
            </a:r>
            <a:r>
              <a:rPr dirty="0" err="1"/>
              <a:t>진행</a:t>
            </a:r>
            <a:r>
              <a:rPr dirty="0"/>
              <a:t> </a:t>
            </a:r>
            <a:r>
              <a:rPr dirty="0" err="1"/>
              <a:t>중인</a:t>
            </a:r>
            <a:r>
              <a:rPr dirty="0"/>
              <a:t> </a:t>
            </a:r>
            <a:r>
              <a:rPr dirty="0" err="1"/>
              <a:t>일의</a:t>
            </a:r>
            <a:r>
              <a:rPr dirty="0"/>
              <a:t> </a:t>
            </a:r>
            <a:r>
              <a:rPr dirty="0" err="1"/>
              <a:t>남은</a:t>
            </a:r>
            <a:r>
              <a:rPr dirty="0"/>
              <a:t> </a:t>
            </a:r>
            <a:r>
              <a:rPr dirty="0" err="1"/>
              <a:t>추정</a:t>
            </a:r>
            <a:r>
              <a:rPr dirty="0"/>
              <a:t> </a:t>
            </a:r>
            <a:r>
              <a:rPr dirty="0" err="1"/>
              <a:t>시간을</a:t>
            </a:r>
            <a:r>
              <a:rPr dirty="0"/>
              <a:t> </a:t>
            </a:r>
            <a:r>
              <a:rPr dirty="0" err="1"/>
              <a:t>더합니다</a:t>
            </a:r>
            <a:r>
              <a:rPr dirty="0"/>
              <a:t>.</a:t>
            </a:r>
          </a:p>
          <a:p>
            <a:endParaRPr dirty="0"/>
          </a:p>
          <a:p>
            <a:r>
              <a:rPr dirty="0" err="1"/>
              <a:t>부하율은</a:t>
            </a:r>
            <a:r>
              <a:rPr dirty="0"/>
              <a:t> 그 </a:t>
            </a:r>
            <a:r>
              <a:rPr dirty="0" err="1"/>
              <a:t>둘의</a:t>
            </a:r>
            <a:r>
              <a:rPr dirty="0"/>
              <a:t> </a:t>
            </a:r>
            <a:r>
              <a:rPr dirty="0" err="1"/>
              <a:t>비율입니다</a:t>
            </a:r>
            <a:r>
              <a:rPr dirty="0"/>
              <a:t>.</a:t>
            </a:r>
          </a:p>
          <a:p>
            <a:endParaRPr dirty="0"/>
          </a:p>
          <a:p>
            <a:r>
              <a:rPr dirty="0" err="1"/>
              <a:t>여기에</a:t>
            </a:r>
            <a:r>
              <a:rPr dirty="0"/>
              <a:t> </a:t>
            </a:r>
            <a:r>
              <a:rPr dirty="0" err="1"/>
              <a:t>지킨</a:t>
            </a:r>
            <a:r>
              <a:rPr dirty="0"/>
              <a:t> </a:t>
            </a:r>
            <a:r>
              <a:rPr dirty="0" err="1"/>
              <a:t>규칙이</a:t>
            </a:r>
            <a:r>
              <a:rPr dirty="0"/>
              <a:t> 셋 </a:t>
            </a:r>
            <a:r>
              <a:rPr dirty="0" err="1"/>
              <a:t>있습니다</a:t>
            </a:r>
            <a:r>
              <a:rPr dirty="0"/>
              <a:t>.</a:t>
            </a:r>
          </a:p>
          <a:p>
            <a:endParaRPr dirty="0"/>
          </a:p>
          <a:p>
            <a:r>
              <a:rPr dirty="0" err="1"/>
              <a:t>임의의</a:t>
            </a:r>
            <a:r>
              <a:rPr dirty="0"/>
              <a:t> </a:t>
            </a:r>
            <a:r>
              <a:rPr dirty="0" err="1"/>
              <a:t>계수를</a:t>
            </a:r>
            <a:r>
              <a:rPr dirty="0"/>
              <a:t> </a:t>
            </a:r>
            <a:r>
              <a:rPr dirty="0" err="1"/>
              <a:t>넣지</a:t>
            </a:r>
            <a:r>
              <a:rPr dirty="0"/>
              <a:t> </a:t>
            </a:r>
            <a:r>
              <a:rPr dirty="0" err="1"/>
              <a:t>않고</a:t>
            </a:r>
            <a:r>
              <a:rPr dirty="0"/>
              <a:t>, </a:t>
            </a:r>
            <a:r>
              <a:rPr dirty="0" err="1"/>
              <a:t>근무조건을</a:t>
            </a:r>
            <a:r>
              <a:rPr dirty="0"/>
              <a:t> </a:t>
            </a:r>
            <a:r>
              <a:rPr dirty="0" err="1"/>
              <a:t>모르면</a:t>
            </a:r>
            <a:r>
              <a:rPr dirty="0"/>
              <a:t> </a:t>
            </a:r>
            <a:r>
              <a:rPr dirty="0" err="1"/>
              <a:t>아예</a:t>
            </a:r>
            <a:r>
              <a:rPr dirty="0"/>
              <a:t> </a:t>
            </a:r>
            <a:r>
              <a:rPr dirty="0" err="1"/>
              <a:t>계산하지</a:t>
            </a:r>
            <a:r>
              <a:rPr dirty="0"/>
              <a:t> </a:t>
            </a:r>
            <a:r>
              <a:rPr dirty="0" err="1"/>
              <a:t>않으며</a:t>
            </a:r>
            <a:r>
              <a:rPr dirty="0"/>
              <a:t>, </a:t>
            </a:r>
            <a:r>
              <a:rPr dirty="0" err="1"/>
              <a:t>휴가는</a:t>
            </a:r>
            <a:r>
              <a:rPr dirty="0"/>
              <a:t> </a:t>
            </a:r>
            <a:r>
              <a:rPr dirty="0" err="1"/>
              <a:t>조회</a:t>
            </a:r>
            <a:r>
              <a:rPr dirty="0"/>
              <a:t> </a:t>
            </a:r>
            <a:r>
              <a:rPr dirty="0" err="1"/>
              <a:t>기간만큼만</a:t>
            </a:r>
            <a:r>
              <a:rPr dirty="0"/>
              <a:t> </a:t>
            </a:r>
            <a:r>
              <a:rPr dirty="0" err="1"/>
              <a:t>뺍니다</a:t>
            </a:r>
            <a:r>
              <a:rPr dirty="0"/>
              <a:t>.</a:t>
            </a:r>
          </a:p>
          <a:p>
            <a:endParaRPr dirty="0"/>
          </a:p>
          <a:p>
            <a:r>
              <a:rPr dirty="0"/>
              <a:t>▪ </a:t>
            </a:r>
            <a:r>
              <a:rPr dirty="0" err="1"/>
              <a:t>요점</a:t>
            </a:r>
            <a:endParaRPr dirty="0"/>
          </a:p>
          <a:p>
            <a:r>
              <a:rPr dirty="0"/>
              <a:t>· ▸ </a:t>
            </a:r>
            <a:r>
              <a:rPr dirty="0" err="1"/>
              <a:t>새로</a:t>
            </a:r>
            <a:r>
              <a:rPr dirty="0"/>
              <a:t> </a:t>
            </a:r>
            <a:r>
              <a:rPr dirty="0" err="1"/>
              <a:t>보고받지</a:t>
            </a:r>
            <a:r>
              <a:rPr dirty="0"/>
              <a:t> </a:t>
            </a:r>
            <a:r>
              <a:rPr dirty="0" err="1"/>
              <a:t>않는다</a:t>
            </a:r>
            <a:r>
              <a:rPr dirty="0"/>
              <a:t> / </a:t>
            </a:r>
            <a:r>
              <a:rPr dirty="0" err="1"/>
              <a:t>계산식</a:t>
            </a:r>
            <a:r>
              <a:rPr dirty="0"/>
              <a:t> 3줄 / ▸ </a:t>
            </a:r>
            <a:r>
              <a:rPr dirty="0" err="1"/>
              <a:t>모르면</a:t>
            </a:r>
            <a:r>
              <a:rPr dirty="0"/>
              <a:t> </a:t>
            </a:r>
            <a:r>
              <a:rPr dirty="0" err="1"/>
              <a:t>계산하지</a:t>
            </a:r>
            <a:r>
              <a:rPr dirty="0"/>
              <a:t> </a:t>
            </a:r>
            <a:r>
              <a:rPr dirty="0" err="1"/>
              <a:t>않는다</a:t>
            </a:r>
            <a:endParaRPr dirty="0"/>
          </a:p>
          <a:p>
            <a:r>
              <a:rPr dirty="0"/>
              <a:t>· (</a:t>
            </a:r>
            <a:r>
              <a:rPr dirty="0" err="1"/>
              <a:t>질문</a:t>
            </a:r>
            <a:r>
              <a:rPr dirty="0"/>
              <a:t> </a:t>
            </a:r>
            <a:r>
              <a:rPr dirty="0" err="1"/>
              <a:t>대비</a:t>
            </a:r>
            <a:r>
              <a:rPr dirty="0"/>
              <a:t>: 왜 40시간으로 </a:t>
            </a:r>
            <a:r>
              <a:rPr dirty="0" err="1"/>
              <a:t>가정</a:t>
            </a:r>
            <a:r>
              <a:rPr dirty="0"/>
              <a:t> 안 </a:t>
            </a:r>
            <a:r>
              <a:rPr dirty="0" err="1"/>
              <a:t>하나</a:t>
            </a:r>
            <a:r>
              <a:rPr dirty="0"/>
              <a:t> → </a:t>
            </a:r>
            <a:r>
              <a:rPr dirty="0" err="1"/>
              <a:t>부하가</a:t>
            </a:r>
            <a:r>
              <a:rPr dirty="0"/>
              <a:t> </a:t>
            </a:r>
            <a:r>
              <a:rPr dirty="0" err="1"/>
              <a:t>낮게</a:t>
            </a:r>
            <a:r>
              <a:rPr dirty="0"/>
              <a:t> </a:t>
            </a:r>
            <a:r>
              <a:rPr dirty="0" err="1"/>
              <a:t>나와</a:t>
            </a:r>
            <a:r>
              <a:rPr dirty="0"/>
              <a:t> 그 </a:t>
            </a:r>
            <a:r>
              <a:rPr dirty="0" err="1"/>
              <a:t>사람이</a:t>
            </a:r>
            <a:r>
              <a:rPr dirty="0"/>
              <a:t> </a:t>
            </a:r>
            <a:r>
              <a:rPr dirty="0" err="1"/>
              <a:t>먼저</a:t>
            </a:r>
            <a:r>
              <a:rPr dirty="0"/>
              <a:t> </a:t>
            </a:r>
            <a:r>
              <a:rPr dirty="0" err="1"/>
              <a:t>배정됨</a:t>
            </a:r>
            <a:r>
              <a:rPr dirty="0"/>
              <a:t>)</a:t>
            </a:r>
          </a:p>
          <a:p>
            <a:endParaRPr dirty="0"/>
          </a:p>
          <a:p>
            <a:r>
              <a:rPr dirty="0"/>
              <a:t>─────────────  </a:t>
            </a:r>
            <a:r>
              <a:rPr dirty="0" err="1"/>
              <a:t>배경</a:t>
            </a:r>
            <a:r>
              <a:rPr dirty="0"/>
              <a:t> · </a:t>
            </a:r>
            <a:r>
              <a:rPr dirty="0" err="1"/>
              <a:t>질의응답</a:t>
            </a:r>
            <a:r>
              <a:rPr dirty="0"/>
              <a:t> </a:t>
            </a:r>
            <a:r>
              <a:rPr dirty="0" err="1"/>
              <a:t>대비</a:t>
            </a:r>
            <a:r>
              <a:rPr dirty="0"/>
              <a:t>  ─────────────</a:t>
            </a:r>
          </a:p>
          <a:p>
            <a:endParaRPr dirty="0"/>
          </a:p>
          <a:p>
            <a:r>
              <a:rPr dirty="0" err="1"/>
              <a:t>규칙의</a:t>
            </a:r>
            <a:r>
              <a:rPr dirty="0"/>
              <a:t> </a:t>
            </a:r>
            <a:r>
              <a:rPr dirty="0" err="1"/>
              <a:t>근거</a:t>
            </a:r>
            <a:r>
              <a:rPr dirty="0"/>
              <a:t> — ×0.8 </a:t>
            </a:r>
            <a:r>
              <a:rPr dirty="0" err="1"/>
              <a:t>같은</a:t>
            </a:r>
            <a:r>
              <a:rPr dirty="0"/>
              <a:t> </a:t>
            </a:r>
            <a:r>
              <a:rPr dirty="0" err="1"/>
              <a:t>버퍼를</a:t>
            </a:r>
            <a:r>
              <a:rPr dirty="0"/>
              <a:t> </a:t>
            </a:r>
            <a:r>
              <a:rPr dirty="0" err="1"/>
              <a:t>곱하면</a:t>
            </a:r>
            <a:r>
              <a:rPr dirty="0"/>
              <a:t> </a:t>
            </a:r>
            <a:r>
              <a:rPr dirty="0" err="1"/>
              <a:t>용량이</a:t>
            </a:r>
            <a:r>
              <a:rPr dirty="0"/>
              <a:t> </a:t>
            </a:r>
            <a:r>
              <a:rPr dirty="0" err="1"/>
              <a:t>조용히</a:t>
            </a:r>
            <a:r>
              <a:rPr dirty="0"/>
              <a:t> </a:t>
            </a:r>
            <a:r>
              <a:rPr dirty="0" err="1"/>
              <a:t>줄어든다</a:t>
            </a:r>
            <a:r>
              <a:rPr dirty="0"/>
              <a:t>.</a:t>
            </a:r>
          </a:p>
          <a:p>
            <a:r>
              <a:rPr dirty="0"/>
              <a:t>주 </a:t>
            </a:r>
            <a:r>
              <a:rPr dirty="0" err="1"/>
              <a:t>근무시간을</a:t>
            </a:r>
            <a:r>
              <a:rPr dirty="0"/>
              <a:t> </a:t>
            </a:r>
            <a:r>
              <a:rPr dirty="0" err="1"/>
              <a:t>모르는</a:t>
            </a:r>
            <a:r>
              <a:rPr dirty="0"/>
              <a:t> </a:t>
            </a:r>
            <a:r>
              <a:rPr dirty="0" err="1"/>
              <a:t>사람을</a:t>
            </a:r>
            <a:r>
              <a:rPr dirty="0"/>
              <a:t> 40시간으로 </a:t>
            </a:r>
            <a:r>
              <a:rPr dirty="0" err="1"/>
              <a:t>가정하면</a:t>
            </a:r>
            <a:r>
              <a:rPr dirty="0"/>
              <a:t> 그 </a:t>
            </a:r>
            <a:r>
              <a:rPr dirty="0" err="1"/>
              <a:t>사람</a:t>
            </a:r>
            <a:r>
              <a:rPr dirty="0"/>
              <a:t> </a:t>
            </a:r>
            <a:r>
              <a:rPr dirty="0" err="1"/>
              <a:t>부하가</a:t>
            </a:r>
            <a:r>
              <a:rPr dirty="0"/>
              <a:t> </a:t>
            </a:r>
            <a:r>
              <a:rPr dirty="0" err="1"/>
              <a:t>낮게</a:t>
            </a:r>
            <a:r>
              <a:rPr dirty="0"/>
              <a:t> </a:t>
            </a:r>
            <a:r>
              <a:rPr dirty="0" err="1"/>
              <a:t>나온다</a:t>
            </a:r>
            <a:r>
              <a:rPr dirty="0"/>
              <a:t>.</a:t>
            </a:r>
          </a:p>
          <a:p>
            <a:r>
              <a:rPr dirty="0" err="1"/>
              <a:t>휴가를</a:t>
            </a:r>
            <a:r>
              <a:rPr dirty="0"/>
              <a:t> </a:t>
            </a:r>
            <a:r>
              <a:rPr dirty="0" err="1"/>
              <a:t>통째로</a:t>
            </a:r>
            <a:r>
              <a:rPr dirty="0"/>
              <a:t> </a:t>
            </a:r>
            <a:r>
              <a:rPr dirty="0" err="1"/>
              <a:t>빼면</a:t>
            </a:r>
            <a:r>
              <a:rPr dirty="0"/>
              <a:t> </a:t>
            </a:r>
            <a:r>
              <a:rPr dirty="0" err="1"/>
              <a:t>용량이</a:t>
            </a:r>
            <a:r>
              <a:rPr dirty="0"/>
              <a:t> </a:t>
            </a:r>
            <a:r>
              <a:rPr dirty="0" err="1"/>
              <a:t>음수가</a:t>
            </a:r>
            <a:r>
              <a:rPr dirty="0"/>
              <a:t> </a:t>
            </a:r>
            <a:r>
              <a:rPr dirty="0" err="1"/>
              <a:t>되어</a:t>
            </a:r>
            <a:r>
              <a:rPr dirty="0"/>
              <a:t> </a:t>
            </a:r>
            <a:r>
              <a:rPr dirty="0" err="1"/>
              <a:t>휴직자가</a:t>
            </a:r>
            <a:r>
              <a:rPr dirty="0"/>
              <a:t> </a:t>
            </a:r>
            <a:r>
              <a:rPr dirty="0" err="1"/>
              <a:t>가장</a:t>
            </a:r>
            <a:r>
              <a:rPr dirty="0"/>
              <a:t> </a:t>
            </a:r>
            <a:r>
              <a:rPr dirty="0" err="1"/>
              <a:t>여유</a:t>
            </a:r>
            <a:r>
              <a:rPr dirty="0"/>
              <a:t> </a:t>
            </a:r>
            <a:r>
              <a:rPr dirty="0" err="1"/>
              <a:t>있는</a:t>
            </a:r>
            <a:r>
              <a:rPr dirty="0"/>
              <a:t> </a:t>
            </a:r>
            <a:r>
              <a:rPr dirty="0" err="1"/>
              <a:t>사람으로</a:t>
            </a:r>
            <a:r>
              <a:rPr dirty="0"/>
              <a:t> </a:t>
            </a:r>
            <a:r>
              <a:rPr dirty="0" err="1"/>
              <a:t>올라온다</a:t>
            </a:r>
            <a:r>
              <a:rPr dirty="0"/>
              <a:t>.</a:t>
            </a:r>
          </a:p>
          <a:p>
            <a:r>
              <a:rPr dirty="0" err="1"/>
              <a:t>시간축</a:t>
            </a:r>
            <a:r>
              <a:rPr dirty="0"/>
              <a:t> </a:t>
            </a:r>
            <a:r>
              <a:rPr dirty="0" err="1"/>
              <a:t>지표</a:t>
            </a:r>
            <a:r>
              <a:rPr dirty="0"/>
              <a:t>(</a:t>
            </a:r>
            <a:r>
              <a:rPr dirty="0" err="1"/>
              <a:t>번다운·속도</a:t>
            </a:r>
            <a:r>
              <a:rPr dirty="0"/>
              <a:t>)는 </a:t>
            </a:r>
            <a:r>
              <a:rPr dirty="0" err="1"/>
              <a:t>현재</a:t>
            </a:r>
            <a:r>
              <a:rPr dirty="0"/>
              <a:t> </a:t>
            </a:r>
            <a:r>
              <a:rPr dirty="0" err="1"/>
              <a:t>불가하다</a:t>
            </a:r>
            <a:r>
              <a:rPr dirty="0"/>
              <a:t> — </a:t>
            </a:r>
            <a:r>
              <a:rPr dirty="0" err="1"/>
              <a:t>exist_task_snap에</a:t>
            </a:r>
            <a:r>
              <a:rPr dirty="0"/>
              <a:t> </a:t>
            </a:r>
            <a:r>
              <a:rPr dirty="0" err="1"/>
              <a:t>적재하는</a:t>
            </a:r>
            <a:r>
              <a:rPr dirty="0"/>
              <a:t> </a:t>
            </a:r>
            <a:r>
              <a:rPr dirty="0" err="1"/>
              <a:t>코드가</a:t>
            </a:r>
            <a:r>
              <a:rPr dirty="0"/>
              <a:t> </a:t>
            </a:r>
            <a:r>
              <a:rPr dirty="0" err="1"/>
              <a:t>없어</a:t>
            </a:r>
            <a:r>
              <a:rPr dirty="0"/>
              <a:t> </a:t>
            </a:r>
            <a:r>
              <a:rPr dirty="0" err="1"/>
              <a:t>대시보드는</a:t>
            </a:r>
            <a:r>
              <a:rPr dirty="0"/>
              <a:t> 「</a:t>
            </a:r>
            <a:r>
              <a:rPr dirty="0" err="1"/>
              <a:t>지금」과</a:t>
            </a:r>
            <a:r>
              <a:rPr dirty="0"/>
              <a:t> 「곧 </a:t>
            </a:r>
            <a:r>
              <a:rPr dirty="0" err="1"/>
              <a:t>닥칠</a:t>
            </a:r>
            <a:r>
              <a:rPr dirty="0"/>
              <a:t> </a:t>
            </a:r>
            <a:r>
              <a:rPr dirty="0" err="1"/>
              <a:t>마감」만</a:t>
            </a:r>
            <a:r>
              <a:rPr dirty="0"/>
              <a:t> </a:t>
            </a:r>
            <a:r>
              <a:rPr dirty="0" err="1"/>
              <a:t>보여준다</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[25장 · </a:t>
            </a:r>
            <a:r>
              <a:rPr dirty="0" err="1"/>
              <a:t>업무</a:t>
            </a:r>
            <a:r>
              <a:rPr dirty="0"/>
              <a:t> </a:t>
            </a:r>
            <a:r>
              <a:rPr dirty="0" err="1"/>
              <a:t>추출</a:t>
            </a:r>
            <a:r>
              <a:rPr dirty="0"/>
              <a:t>]</a:t>
            </a:r>
          </a:p>
          <a:p>
            <a:endParaRPr dirty="0"/>
          </a:p>
          <a:p>
            <a:r>
              <a:rPr dirty="0" err="1"/>
              <a:t>문서에서</a:t>
            </a:r>
            <a:r>
              <a:rPr dirty="0"/>
              <a:t> </a:t>
            </a:r>
            <a:r>
              <a:rPr dirty="0" err="1"/>
              <a:t>업무를</a:t>
            </a:r>
            <a:r>
              <a:rPr dirty="0"/>
              <a:t> </a:t>
            </a:r>
            <a:r>
              <a:rPr dirty="0" err="1"/>
              <a:t>뽑는</a:t>
            </a:r>
            <a:r>
              <a:rPr dirty="0"/>
              <a:t> 건 5단계 </a:t>
            </a:r>
            <a:r>
              <a:rPr dirty="0" err="1"/>
              <a:t>멀티</a:t>
            </a:r>
            <a:r>
              <a:rPr dirty="0"/>
              <a:t> </a:t>
            </a:r>
            <a:r>
              <a:rPr dirty="0" err="1"/>
              <a:t>에이전트입니다</a:t>
            </a:r>
            <a:r>
              <a:rPr dirty="0"/>
              <a:t>.</a:t>
            </a:r>
          </a:p>
          <a:p>
            <a:endParaRPr dirty="0"/>
          </a:p>
          <a:p>
            <a:r>
              <a:rPr dirty="0"/>
              <a:t>1단계에서 </a:t>
            </a:r>
            <a:r>
              <a:rPr dirty="0" err="1"/>
              <a:t>수행할</a:t>
            </a:r>
            <a:r>
              <a:rPr dirty="0"/>
              <a:t> </a:t>
            </a:r>
            <a:r>
              <a:rPr dirty="0" err="1"/>
              <a:t>업무를</a:t>
            </a:r>
            <a:r>
              <a:rPr dirty="0"/>
              <a:t> </a:t>
            </a:r>
            <a:r>
              <a:rPr dirty="0" err="1"/>
              <a:t>찾는데</a:t>
            </a:r>
            <a:r>
              <a:rPr dirty="0"/>
              <a:t>, </a:t>
            </a:r>
            <a:r>
              <a:rPr dirty="0" err="1"/>
              <a:t>이때만</a:t>
            </a:r>
            <a:r>
              <a:rPr dirty="0"/>
              <a:t> </a:t>
            </a:r>
            <a:r>
              <a:rPr dirty="0" err="1"/>
              <a:t>기준</a:t>
            </a:r>
            <a:r>
              <a:rPr dirty="0"/>
              <a:t> </a:t>
            </a:r>
            <a:r>
              <a:rPr dirty="0" err="1"/>
              <a:t>문서</a:t>
            </a:r>
            <a:r>
              <a:rPr dirty="0"/>
              <a:t> </a:t>
            </a:r>
            <a:r>
              <a:rPr dirty="0" err="1"/>
              <a:t>안에서</a:t>
            </a:r>
            <a:r>
              <a:rPr dirty="0"/>
              <a:t> </a:t>
            </a:r>
            <a:r>
              <a:rPr dirty="0" err="1"/>
              <a:t>찾습니다</a:t>
            </a:r>
            <a:r>
              <a:rPr dirty="0"/>
              <a:t>.</a:t>
            </a:r>
          </a:p>
          <a:p>
            <a:endParaRPr dirty="0"/>
          </a:p>
          <a:p>
            <a:r>
              <a:rPr dirty="0" err="1"/>
              <a:t>무엇을</a:t>
            </a:r>
            <a:r>
              <a:rPr dirty="0"/>
              <a:t> </a:t>
            </a:r>
            <a:r>
              <a:rPr dirty="0" err="1"/>
              <a:t>하는</a:t>
            </a:r>
            <a:r>
              <a:rPr dirty="0"/>
              <a:t> </a:t>
            </a:r>
            <a:r>
              <a:rPr dirty="0" err="1"/>
              <a:t>프로젝트인지는</a:t>
            </a:r>
            <a:r>
              <a:rPr dirty="0"/>
              <a:t> </a:t>
            </a:r>
            <a:r>
              <a:rPr dirty="0" err="1"/>
              <a:t>기준</a:t>
            </a:r>
            <a:r>
              <a:rPr dirty="0"/>
              <a:t> </a:t>
            </a:r>
            <a:r>
              <a:rPr dirty="0" err="1"/>
              <a:t>문서가</a:t>
            </a:r>
            <a:r>
              <a:rPr dirty="0"/>
              <a:t> </a:t>
            </a:r>
            <a:r>
              <a:rPr dirty="0" err="1"/>
              <a:t>정하기</a:t>
            </a:r>
            <a:r>
              <a:rPr dirty="0"/>
              <a:t> </a:t>
            </a:r>
            <a:r>
              <a:rPr dirty="0" err="1"/>
              <a:t>때문입니다</a:t>
            </a:r>
            <a:r>
              <a:rPr dirty="0"/>
              <a:t>.</a:t>
            </a:r>
          </a:p>
          <a:p>
            <a:endParaRPr dirty="0"/>
          </a:p>
          <a:p>
            <a:r>
              <a:rPr dirty="0"/>
              <a:t>2단계부터는 팀 </a:t>
            </a:r>
            <a:r>
              <a:rPr dirty="0" err="1"/>
              <a:t>문서</a:t>
            </a:r>
            <a:r>
              <a:rPr dirty="0"/>
              <a:t> </a:t>
            </a:r>
            <a:r>
              <a:rPr dirty="0" err="1"/>
              <a:t>전체를</a:t>
            </a:r>
            <a:r>
              <a:rPr dirty="0"/>
              <a:t> </a:t>
            </a:r>
            <a:r>
              <a:rPr dirty="0" err="1"/>
              <a:t>봅니다</a:t>
            </a:r>
            <a:r>
              <a:rPr dirty="0"/>
              <a:t>.</a:t>
            </a:r>
          </a:p>
          <a:p>
            <a:endParaRPr dirty="0"/>
          </a:p>
          <a:p>
            <a:r>
              <a:rPr dirty="0" err="1"/>
              <a:t>요구사항과</a:t>
            </a:r>
            <a:r>
              <a:rPr dirty="0"/>
              <a:t> </a:t>
            </a:r>
            <a:r>
              <a:rPr dirty="0" err="1"/>
              <a:t>완료</a:t>
            </a:r>
            <a:r>
              <a:rPr dirty="0"/>
              <a:t> </a:t>
            </a:r>
            <a:r>
              <a:rPr dirty="0" err="1"/>
              <a:t>기준</a:t>
            </a:r>
            <a:r>
              <a:rPr dirty="0"/>
              <a:t>, </a:t>
            </a:r>
            <a:r>
              <a:rPr dirty="0" err="1"/>
              <a:t>담당</a:t>
            </a:r>
            <a:r>
              <a:rPr dirty="0"/>
              <a:t> </a:t>
            </a:r>
            <a:r>
              <a:rPr dirty="0" err="1"/>
              <a:t>역할과</a:t>
            </a:r>
            <a:r>
              <a:rPr dirty="0"/>
              <a:t> </a:t>
            </a:r>
            <a:r>
              <a:rPr dirty="0" err="1"/>
              <a:t>필수</a:t>
            </a:r>
            <a:r>
              <a:rPr dirty="0"/>
              <a:t> </a:t>
            </a:r>
            <a:r>
              <a:rPr dirty="0" err="1"/>
              <a:t>기술</a:t>
            </a:r>
            <a:r>
              <a:rPr dirty="0"/>
              <a:t>, </a:t>
            </a:r>
            <a:r>
              <a:rPr dirty="0" err="1"/>
              <a:t>공수와</a:t>
            </a:r>
            <a:r>
              <a:rPr dirty="0"/>
              <a:t> </a:t>
            </a:r>
            <a:r>
              <a:rPr dirty="0" err="1"/>
              <a:t>일정</a:t>
            </a:r>
            <a:r>
              <a:rPr dirty="0"/>
              <a:t>, </a:t>
            </a:r>
            <a:r>
              <a:rPr dirty="0" err="1"/>
              <a:t>제약과</a:t>
            </a:r>
            <a:r>
              <a:rPr dirty="0"/>
              <a:t> </a:t>
            </a:r>
            <a:r>
              <a:rPr dirty="0" err="1"/>
              <a:t>위험을</a:t>
            </a:r>
            <a:r>
              <a:rPr dirty="0"/>
              <a:t> </a:t>
            </a:r>
            <a:r>
              <a:rPr dirty="0" err="1"/>
              <a:t>차례로</a:t>
            </a:r>
            <a:r>
              <a:rPr dirty="0"/>
              <a:t> </a:t>
            </a:r>
            <a:r>
              <a:rPr dirty="0" err="1"/>
              <a:t>찾습니다</a:t>
            </a:r>
            <a:r>
              <a:rPr dirty="0"/>
              <a:t>.</a:t>
            </a:r>
          </a:p>
          <a:p>
            <a:endParaRPr dirty="0"/>
          </a:p>
          <a:p>
            <a:r>
              <a:rPr dirty="0" err="1"/>
              <a:t>공수나</a:t>
            </a:r>
            <a:r>
              <a:rPr dirty="0"/>
              <a:t> </a:t>
            </a:r>
            <a:r>
              <a:rPr dirty="0" err="1"/>
              <a:t>담당</a:t>
            </a:r>
            <a:r>
              <a:rPr dirty="0"/>
              <a:t> </a:t>
            </a:r>
            <a:r>
              <a:rPr dirty="0" err="1"/>
              <a:t>역할은</a:t>
            </a:r>
            <a:r>
              <a:rPr dirty="0"/>
              <a:t> </a:t>
            </a:r>
            <a:r>
              <a:rPr dirty="0" err="1"/>
              <a:t>기획서가</a:t>
            </a:r>
            <a:r>
              <a:rPr dirty="0"/>
              <a:t> </a:t>
            </a:r>
            <a:r>
              <a:rPr dirty="0" err="1"/>
              <a:t>아니라</a:t>
            </a:r>
            <a:r>
              <a:rPr dirty="0"/>
              <a:t> </a:t>
            </a:r>
            <a:r>
              <a:rPr dirty="0" err="1"/>
              <a:t>회의록이나</a:t>
            </a:r>
            <a:r>
              <a:rPr dirty="0"/>
              <a:t> </a:t>
            </a:r>
            <a:r>
              <a:rPr dirty="0" err="1"/>
              <a:t>산정</a:t>
            </a:r>
            <a:r>
              <a:rPr dirty="0"/>
              <a:t> </a:t>
            </a:r>
            <a:r>
              <a:rPr dirty="0" err="1"/>
              <a:t>자료에</a:t>
            </a:r>
            <a:r>
              <a:rPr dirty="0"/>
              <a:t> </a:t>
            </a:r>
            <a:r>
              <a:rPr dirty="0" err="1"/>
              <a:t>적혀</a:t>
            </a:r>
            <a:r>
              <a:rPr dirty="0"/>
              <a:t> </a:t>
            </a:r>
            <a:r>
              <a:rPr dirty="0" err="1"/>
              <a:t>있는</a:t>
            </a:r>
            <a:r>
              <a:rPr dirty="0"/>
              <a:t> 게 </a:t>
            </a:r>
            <a:r>
              <a:rPr dirty="0" err="1"/>
              <a:t>보통이고</a:t>
            </a:r>
            <a:r>
              <a:rPr dirty="0"/>
              <a:t>, </a:t>
            </a:r>
            <a:r>
              <a:rPr dirty="0" err="1"/>
              <a:t>그게</a:t>
            </a:r>
            <a:r>
              <a:rPr dirty="0"/>
              <a:t> </a:t>
            </a:r>
            <a:r>
              <a:rPr dirty="0" err="1"/>
              <a:t>어느</a:t>
            </a:r>
            <a:r>
              <a:rPr dirty="0"/>
              <a:t> </a:t>
            </a:r>
            <a:r>
              <a:rPr dirty="0" err="1"/>
              <a:t>문서에</a:t>
            </a:r>
            <a:r>
              <a:rPr dirty="0"/>
              <a:t> </a:t>
            </a:r>
            <a:r>
              <a:rPr dirty="0" err="1"/>
              <a:t>있는지</a:t>
            </a:r>
            <a:r>
              <a:rPr dirty="0"/>
              <a:t> </a:t>
            </a:r>
            <a:r>
              <a:rPr dirty="0" err="1"/>
              <a:t>사람이</a:t>
            </a:r>
            <a:r>
              <a:rPr dirty="0"/>
              <a:t> </a:t>
            </a:r>
            <a:r>
              <a:rPr dirty="0" err="1"/>
              <a:t>미리</a:t>
            </a:r>
            <a:r>
              <a:rPr dirty="0"/>
              <a:t> 알 수 </a:t>
            </a:r>
            <a:r>
              <a:rPr dirty="0" err="1"/>
              <a:t>없기</a:t>
            </a:r>
            <a:r>
              <a:rPr dirty="0"/>
              <a:t> </a:t>
            </a:r>
            <a:r>
              <a:rPr dirty="0" err="1"/>
              <a:t>때문입니다</a:t>
            </a:r>
            <a:r>
              <a:rPr dirty="0"/>
              <a:t>.</a:t>
            </a:r>
          </a:p>
          <a:p>
            <a:endParaRPr dirty="0"/>
          </a:p>
          <a:p>
            <a:r>
              <a:rPr dirty="0"/>
              <a:t>한 </a:t>
            </a:r>
            <a:r>
              <a:rPr dirty="0" err="1"/>
              <a:t>단계</a:t>
            </a:r>
            <a:r>
              <a:rPr dirty="0"/>
              <a:t> </a:t>
            </a:r>
            <a:r>
              <a:rPr dirty="0" err="1"/>
              <a:t>안에서는</a:t>
            </a:r>
            <a:r>
              <a:rPr dirty="0"/>
              <a:t> </a:t>
            </a:r>
            <a:r>
              <a:rPr dirty="0" err="1"/>
              <a:t>이렇게</a:t>
            </a:r>
            <a:r>
              <a:rPr dirty="0"/>
              <a:t> </a:t>
            </a:r>
            <a:r>
              <a:rPr dirty="0" err="1"/>
              <a:t>돕니다</a:t>
            </a:r>
            <a:r>
              <a:rPr dirty="0"/>
              <a:t>.</a:t>
            </a:r>
          </a:p>
          <a:p>
            <a:endParaRPr dirty="0"/>
          </a:p>
          <a:p>
            <a:r>
              <a:rPr dirty="0" err="1"/>
              <a:t>에이전트가</a:t>
            </a:r>
            <a:r>
              <a:rPr dirty="0"/>
              <a:t> 이 </a:t>
            </a:r>
            <a:r>
              <a:rPr dirty="0" err="1"/>
              <a:t>단계에서</a:t>
            </a:r>
            <a:r>
              <a:rPr dirty="0"/>
              <a:t> </a:t>
            </a:r>
            <a:r>
              <a:rPr dirty="0" err="1"/>
              <a:t>무엇을</a:t>
            </a:r>
            <a:r>
              <a:rPr dirty="0"/>
              <a:t> </a:t>
            </a:r>
            <a:r>
              <a:rPr dirty="0" err="1"/>
              <a:t>찾을지</a:t>
            </a:r>
            <a:r>
              <a:rPr dirty="0"/>
              <a:t> </a:t>
            </a:r>
            <a:r>
              <a:rPr dirty="0" err="1"/>
              <a:t>검색어를</a:t>
            </a:r>
            <a:r>
              <a:rPr dirty="0"/>
              <a:t> </a:t>
            </a:r>
            <a:r>
              <a:rPr dirty="0" err="1"/>
              <a:t>직접</a:t>
            </a:r>
            <a:r>
              <a:rPr dirty="0"/>
              <a:t> </a:t>
            </a:r>
            <a:r>
              <a:rPr dirty="0" err="1"/>
              <a:t>만들고</a:t>
            </a:r>
            <a:r>
              <a:rPr dirty="0"/>
              <a:t>, 그 </a:t>
            </a:r>
            <a:r>
              <a:rPr dirty="0" err="1"/>
              <a:t>검색어로</a:t>
            </a:r>
            <a:r>
              <a:rPr dirty="0"/>
              <a:t> </a:t>
            </a:r>
            <a:r>
              <a:rPr dirty="0" err="1"/>
              <a:t>벡터</a:t>
            </a:r>
            <a:r>
              <a:rPr dirty="0"/>
              <a:t> </a:t>
            </a:r>
            <a:r>
              <a:rPr dirty="0" err="1"/>
              <a:t>검색을</a:t>
            </a:r>
            <a:r>
              <a:rPr dirty="0"/>
              <a:t> </a:t>
            </a:r>
            <a:r>
              <a:rPr dirty="0" err="1"/>
              <a:t>돌려</a:t>
            </a:r>
            <a:r>
              <a:rPr dirty="0"/>
              <a:t> </a:t>
            </a:r>
            <a:r>
              <a:rPr dirty="0" err="1"/>
              <a:t>근거를</a:t>
            </a:r>
            <a:r>
              <a:rPr dirty="0"/>
              <a:t> </a:t>
            </a:r>
            <a:r>
              <a:rPr dirty="0" err="1"/>
              <a:t>모은</a:t>
            </a:r>
            <a:r>
              <a:rPr dirty="0"/>
              <a:t> </a:t>
            </a:r>
            <a:r>
              <a:rPr dirty="0" err="1"/>
              <a:t>다음</a:t>
            </a:r>
            <a:r>
              <a:rPr dirty="0"/>
              <a:t>, </a:t>
            </a:r>
            <a:r>
              <a:rPr dirty="0" err="1"/>
              <a:t>모은</a:t>
            </a:r>
            <a:r>
              <a:rPr dirty="0"/>
              <a:t> </a:t>
            </a:r>
            <a:r>
              <a:rPr dirty="0" err="1"/>
              <a:t>근거에</a:t>
            </a:r>
            <a:r>
              <a:rPr dirty="0"/>
              <a:t> </a:t>
            </a:r>
            <a:r>
              <a:rPr dirty="0" err="1"/>
              <a:t>번호를</a:t>
            </a:r>
            <a:r>
              <a:rPr dirty="0"/>
              <a:t> </a:t>
            </a:r>
            <a:r>
              <a:rPr dirty="0" err="1"/>
              <a:t>달아</a:t>
            </a:r>
            <a:r>
              <a:rPr dirty="0"/>
              <a:t> 그 </a:t>
            </a:r>
            <a:r>
              <a:rPr dirty="0" err="1"/>
              <a:t>번호를</a:t>
            </a:r>
            <a:r>
              <a:rPr dirty="0"/>
              <a:t> </a:t>
            </a:r>
            <a:r>
              <a:rPr dirty="0" err="1"/>
              <a:t>인용하면서</a:t>
            </a:r>
            <a:r>
              <a:rPr dirty="0"/>
              <a:t> </a:t>
            </a:r>
            <a:r>
              <a:rPr dirty="0" err="1"/>
              <a:t>업무를</a:t>
            </a:r>
            <a:r>
              <a:rPr dirty="0"/>
              <a:t> </a:t>
            </a:r>
            <a:r>
              <a:rPr dirty="0" err="1"/>
              <a:t>씁니다</a:t>
            </a:r>
            <a:r>
              <a:rPr dirty="0"/>
              <a:t>.</a:t>
            </a:r>
          </a:p>
          <a:p>
            <a:endParaRPr dirty="0"/>
          </a:p>
          <a:p>
            <a:r>
              <a:rPr dirty="0" err="1"/>
              <a:t>문서에</a:t>
            </a:r>
            <a:r>
              <a:rPr dirty="0"/>
              <a:t> </a:t>
            </a:r>
            <a:r>
              <a:rPr dirty="0" err="1"/>
              <a:t>없는</a:t>
            </a:r>
            <a:r>
              <a:rPr dirty="0"/>
              <a:t> </a:t>
            </a:r>
            <a:r>
              <a:rPr dirty="0" err="1"/>
              <a:t>값은</a:t>
            </a:r>
            <a:r>
              <a:rPr dirty="0"/>
              <a:t> </a:t>
            </a:r>
            <a:r>
              <a:rPr dirty="0" err="1"/>
              <a:t>비워</a:t>
            </a:r>
            <a:r>
              <a:rPr dirty="0"/>
              <a:t> </a:t>
            </a:r>
            <a:r>
              <a:rPr dirty="0" err="1"/>
              <a:t>두고</a:t>
            </a:r>
            <a:r>
              <a:rPr dirty="0"/>
              <a:t> </a:t>
            </a:r>
            <a:r>
              <a:rPr dirty="0" err="1"/>
              <a:t>표시합니다</a:t>
            </a:r>
            <a:r>
              <a:rPr dirty="0"/>
              <a:t>.</a:t>
            </a:r>
          </a:p>
          <a:p>
            <a:endParaRPr dirty="0"/>
          </a:p>
          <a:p>
            <a:r>
              <a:rPr dirty="0"/>
              <a:t>▪ </a:t>
            </a:r>
            <a:r>
              <a:rPr dirty="0" err="1"/>
              <a:t>요점</a:t>
            </a:r>
            <a:endParaRPr dirty="0"/>
          </a:p>
          <a:p>
            <a:r>
              <a:rPr dirty="0"/>
              <a:t>· 1단계만 </a:t>
            </a:r>
            <a:r>
              <a:rPr dirty="0" err="1"/>
              <a:t>기준</a:t>
            </a:r>
            <a:r>
              <a:rPr dirty="0"/>
              <a:t> </a:t>
            </a:r>
            <a:r>
              <a:rPr dirty="0" err="1"/>
              <a:t>문서</a:t>
            </a:r>
            <a:r>
              <a:rPr dirty="0"/>
              <a:t> / ▸ </a:t>
            </a:r>
            <a:r>
              <a:rPr dirty="0" err="1"/>
              <a:t>검색어를</a:t>
            </a:r>
            <a:r>
              <a:rPr dirty="0"/>
              <a:t> </a:t>
            </a:r>
            <a:r>
              <a:rPr dirty="0" err="1"/>
              <a:t>에이전트가</a:t>
            </a:r>
            <a:r>
              <a:rPr dirty="0"/>
              <a:t> </a:t>
            </a:r>
            <a:r>
              <a:rPr dirty="0" err="1"/>
              <a:t>만든다</a:t>
            </a:r>
            <a:r>
              <a:rPr dirty="0"/>
              <a:t> / ▸ </a:t>
            </a:r>
            <a:r>
              <a:rPr dirty="0" err="1"/>
              <a:t>근거</a:t>
            </a:r>
            <a:r>
              <a:rPr dirty="0"/>
              <a:t> </a:t>
            </a:r>
            <a:r>
              <a:rPr dirty="0" err="1"/>
              <a:t>없는</a:t>
            </a:r>
            <a:r>
              <a:rPr dirty="0"/>
              <a:t> </a:t>
            </a:r>
            <a:r>
              <a:rPr dirty="0" err="1"/>
              <a:t>값은</a:t>
            </a:r>
            <a:r>
              <a:rPr dirty="0"/>
              <a:t> 안 </a:t>
            </a:r>
            <a:r>
              <a:rPr dirty="0" err="1"/>
              <a:t>만듦</a:t>
            </a:r>
            <a:endParaRPr dirty="0"/>
          </a:p>
          <a:p>
            <a:endParaRPr dirty="0"/>
          </a:p>
          <a:p>
            <a:r>
              <a:rPr dirty="0"/>
              <a:t>─────────────  </a:t>
            </a:r>
            <a:r>
              <a:rPr dirty="0" err="1"/>
              <a:t>배경</a:t>
            </a:r>
            <a:r>
              <a:rPr dirty="0"/>
              <a:t> · </a:t>
            </a:r>
            <a:r>
              <a:rPr dirty="0" err="1"/>
              <a:t>질의응답</a:t>
            </a:r>
            <a:r>
              <a:rPr dirty="0"/>
              <a:t> </a:t>
            </a:r>
            <a:r>
              <a:rPr dirty="0" err="1"/>
              <a:t>대비</a:t>
            </a:r>
            <a:r>
              <a:rPr dirty="0"/>
              <a:t>  ─────────────</a:t>
            </a:r>
          </a:p>
          <a:p>
            <a:endParaRPr dirty="0"/>
          </a:p>
          <a:p>
            <a:r>
              <a:rPr dirty="0" err="1"/>
              <a:t>설계</a:t>
            </a:r>
            <a:r>
              <a:rPr dirty="0"/>
              <a:t> </a:t>
            </a:r>
            <a:r>
              <a:rPr dirty="0" err="1"/>
              <a:t>결정</a:t>
            </a:r>
            <a:r>
              <a:rPr dirty="0"/>
              <a:t> — </a:t>
            </a:r>
            <a:r>
              <a:rPr dirty="0" err="1"/>
              <a:t>사람이</a:t>
            </a:r>
            <a:r>
              <a:rPr dirty="0"/>
              <a:t> </a:t>
            </a:r>
            <a:r>
              <a:rPr dirty="0" err="1"/>
              <a:t>고르는</a:t>
            </a:r>
            <a:r>
              <a:rPr dirty="0"/>
              <a:t> </a:t>
            </a:r>
            <a:r>
              <a:rPr dirty="0" err="1"/>
              <a:t>것은</a:t>
            </a:r>
            <a:r>
              <a:rPr dirty="0"/>
              <a:t> </a:t>
            </a:r>
            <a:r>
              <a:rPr dirty="0" err="1"/>
              <a:t>기준</a:t>
            </a:r>
            <a:r>
              <a:rPr dirty="0"/>
              <a:t> </a:t>
            </a:r>
            <a:r>
              <a:rPr dirty="0" err="1"/>
              <a:t>문서</a:t>
            </a:r>
            <a:r>
              <a:rPr dirty="0"/>
              <a:t> 1건이고 </a:t>
            </a:r>
            <a:r>
              <a:rPr dirty="0" err="1"/>
              <a:t>근거</a:t>
            </a:r>
            <a:r>
              <a:rPr dirty="0"/>
              <a:t> </a:t>
            </a:r>
            <a:r>
              <a:rPr dirty="0" err="1"/>
              <a:t>문서는</a:t>
            </a:r>
            <a:r>
              <a:rPr dirty="0"/>
              <a:t> </a:t>
            </a:r>
            <a:r>
              <a:rPr dirty="0" err="1"/>
              <a:t>에이전트가</a:t>
            </a:r>
            <a:r>
              <a:rPr dirty="0"/>
              <a:t> </a:t>
            </a:r>
            <a:r>
              <a:rPr dirty="0" err="1"/>
              <a:t>찾는다</a:t>
            </a:r>
            <a:r>
              <a:rPr dirty="0"/>
              <a:t>.</a:t>
            </a:r>
          </a:p>
          <a:p>
            <a:r>
              <a:rPr dirty="0" err="1"/>
              <a:t>검색</a:t>
            </a:r>
            <a:r>
              <a:rPr dirty="0"/>
              <a:t> </a:t>
            </a:r>
            <a:r>
              <a:rPr dirty="0" err="1"/>
              <a:t>경계는</a:t>
            </a:r>
            <a:r>
              <a:rPr dirty="0"/>
              <a:t> </a:t>
            </a:r>
            <a:r>
              <a:rPr dirty="0" err="1"/>
              <a:t>팀이다</a:t>
            </a:r>
            <a:r>
              <a:rPr dirty="0"/>
              <a:t>(</a:t>
            </a:r>
            <a:r>
              <a:rPr dirty="0" err="1"/>
              <a:t>프로젝트로</a:t>
            </a:r>
            <a:r>
              <a:rPr dirty="0"/>
              <a:t> </a:t>
            </a:r>
            <a:r>
              <a:rPr dirty="0" err="1"/>
              <a:t>좁히면</a:t>
            </a:r>
            <a:r>
              <a:rPr dirty="0"/>
              <a:t> 2~4단계가 1단계와 </a:t>
            </a:r>
            <a:r>
              <a:rPr dirty="0" err="1"/>
              <a:t>같아진다</a:t>
            </a:r>
            <a:r>
              <a:rPr dirty="0"/>
              <a:t>). </a:t>
            </a:r>
            <a:r>
              <a:rPr dirty="0" err="1"/>
              <a:t>질의는</a:t>
            </a:r>
            <a:r>
              <a:rPr dirty="0"/>
              <a:t> </a:t>
            </a:r>
            <a:r>
              <a:rPr dirty="0" err="1"/>
              <a:t>문서의</a:t>
            </a:r>
            <a:r>
              <a:rPr dirty="0"/>
              <a:t> </a:t>
            </a:r>
            <a:r>
              <a:rPr dirty="0" err="1"/>
              <a:t>어휘로</a:t>
            </a:r>
            <a:r>
              <a:rPr dirty="0"/>
              <a:t> </a:t>
            </a:r>
            <a:r>
              <a:rPr dirty="0" err="1"/>
              <a:t>만들고</a:t>
            </a:r>
            <a:r>
              <a:rPr dirty="0"/>
              <a:t> </a:t>
            </a:r>
            <a:r>
              <a:rPr dirty="0" err="1"/>
              <a:t>제목·파일명은</a:t>
            </a:r>
            <a:r>
              <a:rPr dirty="0"/>
              <a:t> </a:t>
            </a:r>
            <a:r>
              <a:rPr dirty="0" err="1"/>
              <a:t>넣지</a:t>
            </a:r>
            <a:r>
              <a:rPr dirty="0"/>
              <a:t> </a:t>
            </a:r>
            <a:r>
              <a:rPr dirty="0" err="1"/>
              <a:t>않는다</a:t>
            </a:r>
            <a:r>
              <a:rPr dirty="0"/>
              <a:t>.</a:t>
            </a:r>
          </a:p>
          <a:p>
            <a:r>
              <a:rPr dirty="0" err="1"/>
              <a:t>근거가</a:t>
            </a:r>
            <a:r>
              <a:rPr dirty="0"/>
              <a:t> </a:t>
            </a:r>
            <a:r>
              <a:rPr dirty="0" err="1"/>
              <a:t>확인되지</a:t>
            </a:r>
            <a:r>
              <a:rPr dirty="0"/>
              <a:t> </a:t>
            </a:r>
            <a:r>
              <a:rPr dirty="0" err="1"/>
              <a:t>않은</a:t>
            </a:r>
            <a:r>
              <a:rPr dirty="0"/>
              <a:t> </a:t>
            </a:r>
            <a:r>
              <a:rPr dirty="0" err="1"/>
              <a:t>업무는</a:t>
            </a:r>
            <a:r>
              <a:rPr dirty="0"/>
              <a:t> </a:t>
            </a:r>
            <a:r>
              <a:rPr dirty="0" err="1"/>
              <a:t>만들지</a:t>
            </a:r>
            <a:r>
              <a:rPr dirty="0"/>
              <a:t> </a:t>
            </a:r>
            <a:r>
              <a:rPr dirty="0" err="1"/>
              <a:t>않는다</a:t>
            </a:r>
            <a:r>
              <a:rPr dirty="0"/>
              <a:t>.</a:t>
            </a:r>
          </a:p>
          <a:p>
            <a:r>
              <a:rPr dirty="0" err="1"/>
              <a:t>현재</a:t>
            </a:r>
            <a:r>
              <a:rPr dirty="0"/>
              <a:t> </a:t>
            </a:r>
            <a:r>
              <a:rPr dirty="0" err="1"/>
              <a:t>상태</a:t>
            </a:r>
            <a:r>
              <a:rPr dirty="0"/>
              <a:t> — </a:t>
            </a:r>
            <a:r>
              <a:rPr dirty="0" err="1"/>
              <a:t>추출</a:t>
            </a:r>
            <a:r>
              <a:rPr dirty="0"/>
              <a:t> </a:t>
            </a:r>
            <a:r>
              <a:rPr dirty="0" err="1"/>
              <a:t>결과는</a:t>
            </a:r>
            <a:r>
              <a:rPr dirty="0"/>
              <a:t> </a:t>
            </a:r>
            <a:r>
              <a:rPr dirty="0" err="1"/>
              <a:t>DB에</a:t>
            </a:r>
            <a:r>
              <a:rPr dirty="0"/>
              <a:t> </a:t>
            </a:r>
            <a:r>
              <a:rPr dirty="0" err="1"/>
              <a:t>남기지</a:t>
            </a:r>
            <a:r>
              <a:rPr dirty="0"/>
              <a:t> </a:t>
            </a:r>
            <a:r>
              <a:rPr dirty="0" err="1"/>
              <a:t>않고</a:t>
            </a:r>
            <a:r>
              <a:rPr dirty="0"/>
              <a:t> </a:t>
            </a:r>
            <a:r>
              <a:rPr dirty="0" err="1"/>
              <a:t>응답으로만</a:t>
            </a:r>
            <a:r>
              <a:rPr dirty="0"/>
              <a:t> </a:t>
            </a:r>
            <a:r>
              <a:rPr dirty="0" err="1"/>
              <a:t>돌려준다</a:t>
            </a:r>
            <a:r>
              <a:rPr dirty="0"/>
              <a:t>.</a:t>
            </a:r>
          </a:p>
          <a:p>
            <a:r>
              <a:rPr dirty="0" err="1"/>
              <a:t>중간발표</a:t>
            </a:r>
            <a:r>
              <a:rPr dirty="0"/>
              <a:t> </a:t>
            </a:r>
            <a:r>
              <a:rPr dirty="0" err="1"/>
              <a:t>시연</a:t>
            </a:r>
            <a:r>
              <a:rPr dirty="0"/>
              <a:t> </a:t>
            </a:r>
            <a:r>
              <a:rPr dirty="0" err="1"/>
              <a:t>범위를</a:t>
            </a:r>
            <a:r>
              <a:rPr dirty="0"/>
              <a:t> </a:t>
            </a:r>
            <a:r>
              <a:rPr dirty="0" err="1"/>
              <a:t>결과</a:t>
            </a:r>
            <a:r>
              <a:rPr dirty="0"/>
              <a:t> </a:t>
            </a:r>
            <a:r>
              <a:rPr dirty="0" err="1"/>
              <a:t>확인까지로</a:t>
            </a:r>
            <a:r>
              <a:rPr dirty="0"/>
              <a:t> </a:t>
            </a:r>
            <a:r>
              <a:rPr dirty="0" err="1"/>
              <a:t>잡은</a:t>
            </a:r>
            <a:r>
              <a:rPr dirty="0"/>
              <a:t> </a:t>
            </a:r>
            <a:r>
              <a:rPr dirty="0" err="1"/>
              <a:t>의도적</a:t>
            </a:r>
            <a:r>
              <a:rPr dirty="0"/>
              <a:t> </a:t>
            </a:r>
            <a:r>
              <a:rPr dirty="0" err="1"/>
              <a:t>선택이다</a:t>
            </a:r>
            <a:r>
              <a:rPr dirty="0"/>
              <a:t>.</a:t>
            </a:r>
          </a:p>
          <a:p>
            <a:r>
              <a:rPr dirty="0" err="1"/>
              <a:t>질의</a:t>
            </a:r>
            <a:r>
              <a:rPr dirty="0"/>
              <a:t> </a:t>
            </a:r>
            <a:r>
              <a:rPr dirty="0" err="1"/>
              <a:t>생성에</a:t>
            </a:r>
            <a:r>
              <a:rPr dirty="0"/>
              <a:t> </a:t>
            </a:r>
            <a:r>
              <a:rPr dirty="0" err="1"/>
              <a:t>기준</a:t>
            </a:r>
            <a:r>
              <a:rPr dirty="0"/>
              <a:t> </a:t>
            </a:r>
            <a:r>
              <a:rPr dirty="0" err="1"/>
              <a:t>문서</a:t>
            </a:r>
            <a:r>
              <a:rPr dirty="0"/>
              <a:t> </a:t>
            </a:r>
            <a:r>
              <a:rPr dirty="0" err="1"/>
              <a:t>첫머리</a:t>
            </a:r>
            <a:r>
              <a:rPr dirty="0"/>
              <a:t>(앞 12청크·1,500자)를 </a:t>
            </a:r>
            <a:r>
              <a:rPr dirty="0" err="1"/>
              <a:t>함께</a:t>
            </a:r>
            <a:r>
              <a:rPr dirty="0"/>
              <a:t> </a:t>
            </a:r>
            <a:r>
              <a:rPr dirty="0" err="1"/>
              <a:t>준다</a:t>
            </a:r>
            <a:r>
              <a:rPr dirty="0"/>
              <a:t> — </a:t>
            </a:r>
            <a:r>
              <a:rPr dirty="0" err="1"/>
              <a:t>파일명만</a:t>
            </a:r>
            <a:r>
              <a:rPr dirty="0"/>
              <a:t> </a:t>
            </a:r>
            <a:r>
              <a:rPr dirty="0" err="1"/>
              <a:t>주면</a:t>
            </a:r>
            <a:r>
              <a:rPr dirty="0"/>
              <a:t> </a:t>
            </a:r>
            <a:r>
              <a:rPr dirty="0" err="1"/>
              <a:t>사업관리</a:t>
            </a:r>
            <a:r>
              <a:rPr dirty="0"/>
              <a:t> </a:t>
            </a:r>
            <a:r>
              <a:rPr dirty="0" err="1"/>
              <a:t>보일러플레이트가</a:t>
            </a:r>
            <a:r>
              <a:rPr dirty="0"/>
              <a:t> </a:t>
            </a:r>
            <a:r>
              <a:rPr dirty="0" err="1"/>
              <a:t>검색된다</a:t>
            </a:r>
            <a:r>
              <a:rPr dirty="0"/>
              <a:t>.</a:t>
            </a:r>
          </a:p>
          <a:p>
            <a:r>
              <a:rPr dirty="0" err="1"/>
              <a:t>근거</a:t>
            </a:r>
            <a:r>
              <a:rPr dirty="0"/>
              <a:t> </a:t>
            </a:r>
            <a:r>
              <a:rPr dirty="0" err="1"/>
              <a:t>인용은</a:t>
            </a:r>
            <a:r>
              <a:rPr dirty="0"/>
              <a:t> E1~E20 </a:t>
            </a:r>
            <a:r>
              <a:rPr dirty="0" err="1"/>
              <a:t>짧은</a:t>
            </a:r>
            <a:r>
              <a:rPr dirty="0"/>
              <a:t> </a:t>
            </a:r>
            <a:r>
              <a:rPr dirty="0" err="1"/>
              <a:t>번호</a:t>
            </a:r>
            <a:r>
              <a:rPr dirty="0"/>
              <a:t>(36자 </a:t>
            </a:r>
            <a:r>
              <a:rPr dirty="0" err="1"/>
              <a:t>UUID는</a:t>
            </a:r>
            <a:r>
              <a:rPr dirty="0"/>
              <a:t> </a:t>
            </a:r>
            <a:r>
              <a:rPr dirty="0" err="1"/>
              <a:t>하나만</a:t>
            </a:r>
            <a:r>
              <a:rPr dirty="0"/>
              <a:t> </a:t>
            </a:r>
            <a:r>
              <a:rPr dirty="0" err="1"/>
              <a:t>틀려도</a:t>
            </a:r>
            <a:r>
              <a:rPr dirty="0"/>
              <a:t> </a:t>
            </a:r>
            <a:r>
              <a:rPr dirty="0" err="1"/>
              <a:t>추출</a:t>
            </a:r>
            <a:r>
              <a:rPr dirty="0"/>
              <a:t> </a:t>
            </a:r>
            <a:r>
              <a:rPr dirty="0" err="1"/>
              <a:t>전체가</a:t>
            </a:r>
            <a:r>
              <a:rPr dirty="0"/>
              <a:t> </a:t>
            </a:r>
            <a:r>
              <a:rPr dirty="0" err="1"/>
              <a:t>실패</a:t>
            </a:r>
            <a:r>
              <a:rPr dirty="0"/>
              <a:t>). </a:t>
            </a:r>
            <a:r>
              <a:rPr dirty="0" err="1"/>
              <a:t>모델</a:t>
            </a:r>
            <a:r>
              <a:rPr dirty="0"/>
              <a:t> </a:t>
            </a:r>
            <a:r>
              <a:rPr dirty="0" err="1"/>
              <a:t>분리</a:t>
            </a:r>
            <a:r>
              <a:rPr dirty="0"/>
              <a:t>: </a:t>
            </a:r>
            <a:r>
              <a:rPr dirty="0" err="1"/>
              <a:t>검색어</a:t>
            </a:r>
            <a:r>
              <a:rPr dirty="0"/>
              <a:t> gpt-5.6-luna(low) · </a:t>
            </a:r>
            <a:r>
              <a:rPr dirty="0" err="1"/>
              <a:t>정리</a:t>
            </a:r>
            <a:r>
              <a:rPr dirty="0"/>
              <a:t> gpt-5.6-sol(</a:t>
            </a:r>
            <a:r>
              <a:rPr dirty="0" err="1"/>
              <a:t>xhigh</a:t>
            </a:r>
            <a:r>
              <a:rPr dirty="0"/>
              <a:t>). 2026-08-05 </a:t>
            </a:r>
            <a:r>
              <a:rPr dirty="0" err="1"/>
              <a:t>같은</a:t>
            </a:r>
            <a:r>
              <a:rPr dirty="0"/>
              <a:t> </a:t>
            </a:r>
            <a:r>
              <a:rPr dirty="0" err="1"/>
              <a:t>프롬프트</a:t>
            </a:r>
            <a:r>
              <a:rPr dirty="0"/>
              <a:t> </a:t>
            </a:r>
            <a:r>
              <a:rPr dirty="0" err="1"/>
              <a:t>실측</a:t>
            </a:r>
            <a:r>
              <a:rPr dirty="0"/>
              <a:t> — luna 2.8초/192토큰, terra 2.9초/135토큰, sol 53.3초/4,883토큰.</a:t>
            </a:r>
          </a:p>
          <a:p>
            <a:r>
              <a:rPr dirty="0" err="1"/>
              <a:t>추론</a:t>
            </a:r>
            <a:r>
              <a:rPr dirty="0"/>
              <a:t> </a:t>
            </a:r>
            <a:r>
              <a:rPr dirty="0" err="1"/>
              <a:t>강도도</a:t>
            </a:r>
            <a:r>
              <a:rPr dirty="0"/>
              <a:t> low 2.9초 · </a:t>
            </a:r>
            <a:r>
              <a:rPr dirty="0" err="1"/>
              <a:t>xhigh</a:t>
            </a:r>
            <a:r>
              <a:rPr dirty="0"/>
              <a:t> 5.6초였고 </a:t>
            </a:r>
            <a:r>
              <a:rPr dirty="0" err="1"/>
              <a:t>xhigh</a:t>
            </a:r>
            <a:r>
              <a:rPr dirty="0"/>
              <a:t> </a:t>
            </a:r>
            <a:r>
              <a:rPr dirty="0" err="1"/>
              <a:t>결과가</a:t>
            </a:r>
            <a:r>
              <a:rPr dirty="0"/>
              <a:t> 더 </a:t>
            </a:r>
            <a:r>
              <a:rPr dirty="0" err="1"/>
              <a:t>나빴다</a:t>
            </a:r>
            <a:r>
              <a:rPr dirty="0"/>
              <a:t>(</a:t>
            </a:r>
            <a:r>
              <a:rPr dirty="0" err="1"/>
              <a:t>질의가</a:t>
            </a:r>
            <a:r>
              <a:rPr dirty="0"/>
              <a:t> </a:t>
            </a:r>
            <a:r>
              <a:rPr dirty="0" err="1"/>
              <a:t>여러</a:t>
            </a:r>
            <a:r>
              <a:rPr dirty="0"/>
              <a:t> </a:t>
            </a:r>
            <a:r>
              <a:rPr dirty="0" err="1"/>
              <a:t>문장</a:t>
            </a:r>
            <a:r>
              <a:rPr dirty="0"/>
              <a:t> </a:t>
            </a:r>
            <a:r>
              <a:rPr dirty="0" err="1"/>
              <a:t>덩어리로</a:t>
            </a:r>
            <a:r>
              <a:rPr dirty="0"/>
              <a:t> </a:t>
            </a:r>
            <a:r>
              <a:rPr dirty="0" err="1"/>
              <a:t>나와</a:t>
            </a:r>
            <a:r>
              <a:rPr dirty="0"/>
              <a:t> </a:t>
            </a:r>
            <a:r>
              <a:rPr dirty="0" err="1"/>
              <a:t>임베딩</a:t>
            </a:r>
            <a:r>
              <a:rPr dirty="0"/>
              <a:t> </a:t>
            </a:r>
            <a:r>
              <a:rPr dirty="0" err="1"/>
              <a:t>검색에</a:t>
            </a:r>
            <a:r>
              <a:rPr dirty="0"/>
              <a:t> </a:t>
            </a:r>
            <a:r>
              <a:rPr dirty="0" err="1"/>
              <a:t>불리</a:t>
            </a:r>
            <a:r>
              <a:rPr dirty="0"/>
              <a:t>). </a:t>
            </a:r>
            <a:r>
              <a:rPr dirty="0" err="1"/>
              <a:t>sol은</a:t>
            </a:r>
            <a:r>
              <a:rPr dirty="0"/>
              <a:t> </a:t>
            </a:r>
            <a:r>
              <a:rPr dirty="0" err="1"/>
              <a:t>출력</a:t>
            </a:r>
            <a:r>
              <a:rPr dirty="0"/>
              <a:t> </a:t>
            </a:r>
            <a:r>
              <a:rPr dirty="0" err="1"/>
              <a:t>단가가</a:t>
            </a:r>
            <a:r>
              <a:rPr dirty="0"/>
              <a:t> </a:t>
            </a:r>
            <a:r>
              <a:rPr dirty="0" err="1"/>
              <a:t>luna의</a:t>
            </a:r>
            <a:r>
              <a:rPr dirty="0"/>
              <a:t> 25배라 이 </a:t>
            </a:r>
            <a:r>
              <a:rPr dirty="0" err="1"/>
              <a:t>단계를</a:t>
            </a:r>
            <a:r>
              <a:rPr dirty="0"/>
              <a:t> </a:t>
            </a:r>
            <a:r>
              <a:rPr dirty="0" err="1"/>
              <a:t>sol로</a:t>
            </a:r>
            <a:r>
              <a:rPr dirty="0"/>
              <a:t> </a:t>
            </a:r>
            <a:r>
              <a:rPr dirty="0" err="1"/>
              <a:t>돌리면</a:t>
            </a:r>
            <a:r>
              <a:rPr dirty="0"/>
              <a:t> </a:t>
            </a:r>
            <a:r>
              <a:rPr dirty="0" err="1"/>
              <a:t>검색어</a:t>
            </a:r>
            <a:r>
              <a:rPr dirty="0"/>
              <a:t> </a:t>
            </a:r>
            <a:r>
              <a:rPr dirty="0" err="1"/>
              <a:t>값만</a:t>
            </a:r>
            <a:r>
              <a:rPr dirty="0"/>
              <a:t> 한 </a:t>
            </a:r>
            <a:r>
              <a:rPr dirty="0" err="1"/>
              <a:t>번에</a:t>
            </a:r>
            <a:r>
              <a:rPr dirty="0"/>
              <a:t> $0.6. </a:t>
            </a:r>
            <a:r>
              <a:rPr dirty="0" err="1"/>
              <a:t>판단이</a:t>
            </a:r>
            <a:r>
              <a:rPr dirty="0"/>
              <a:t> </a:t>
            </a:r>
            <a:r>
              <a:rPr dirty="0" err="1"/>
              <a:t>필요한</a:t>
            </a:r>
            <a:r>
              <a:rPr dirty="0"/>
              <a:t> </a:t>
            </a:r>
            <a:r>
              <a:rPr dirty="0" err="1"/>
              <a:t>최종</a:t>
            </a:r>
            <a:r>
              <a:rPr dirty="0"/>
              <a:t> </a:t>
            </a:r>
            <a:r>
              <a:rPr dirty="0" err="1"/>
              <a:t>정리에만</a:t>
            </a:r>
            <a:r>
              <a:rPr dirty="0"/>
              <a:t> </a:t>
            </a:r>
            <a:r>
              <a:rPr dirty="0" err="1"/>
              <a:t>추론을</a:t>
            </a:r>
            <a:r>
              <a:rPr dirty="0"/>
              <a:t> </a:t>
            </a:r>
            <a:r>
              <a:rPr dirty="0" err="1"/>
              <a:t>쓴다</a:t>
            </a:r>
            <a:r>
              <a:rPr dirty="0"/>
              <a:t>.</a:t>
            </a:r>
          </a:p>
          <a:p>
            <a:r>
              <a:rPr dirty="0" err="1"/>
              <a:t>근거</a:t>
            </a:r>
            <a:r>
              <a:rPr dirty="0"/>
              <a:t> </a:t>
            </a:r>
            <a:r>
              <a:rPr dirty="0" err="1"/>
              <a:t>필드도</a:t>
            </a:r>
            <a:r>
              <a:rPr dirty="0"/>
              <a:t> </a:t>
            </a:r>
            <a:r>
              <a:rPr dirty="0" err="1"/>
              <a:t>vec_idx.metadata를</a:t>
            </a:r>
            <a:r>
              <a:rPr dirty="0"/>
              <a:t> </a:t>
            </a:r>
            <a:r>
              <a:rPr dirty="0" err="1"/>
              <a:t>통째로</a:t>
            </a:r>
            <a:r>
              <a:rPr dirty="0"/>
              <a:t> </a:t>
            </a:r>
            <a:r>
              <a:rPr dirty="0" err="1"/>
              <a:t>넣던</a:t>
            </a:r>
            <a:r>
              <a:rPr dirty="0"/>
              <a:t> </a:t>
            </a:r>
            <a:r>
              <a:rPr dirty="0" err="1"/>
              <a:t>것을</a:t>
            </a:r>
            <a:r>
              <a:rPr dirty="0"/>
              <a:t> </a:t>
            </a:r>
            <a:r>
              <a:rPr dirty="0" err="1"/>
              <a:t>걷어냈다</a:t>
            </a:r>
            <a:r>
              <a:rPr dirty="0"/>
              <a:t> — </a:t>
            </a:r>
            <a:r>
              <a:rPr dirty="0" err="1"/>
              <a:t>bbox·binary_hash·임시</a:t>
            </a:r>
            <a:r>
              <a:rPr dirty="0"/>
              <a:t> </a:t>
            </a:r>
            <a:r>
              <a:rPr dirty="0" err="1"/>
              <a:t>파일명이라</a:t>
            </a:r>
            <a:r>
              <a:rPr dirty="0"/>
              <a:t> </a:t>
            </a:r>
            <a:r>
              <a:rPr dirty="0" err="1"/>
              <a:t>평균</a:t>
            </a:r>
            <a:r>
              <a:rPr dirty="0"/>
              <a:t> 927자·최대 7,622자였고 </a:t>
            </a:r>
            <a:r>
              <a:rPr dirty="0" err="1"/>
              <a:t>모델도</a:t>
            </a:r>
            <a:r>
              <a:rPr dirty="0"/>
              <a:t> </a:t>
            </a:r>
            <a:r>
              <a:rPr dirty="0" err="1"/>
              <a:t>화면도</a:t>
            </a:r>
            <a:r>
              <a:rPr dirty="0"/>
              <a:t> </a:t>
            </a:r>
            <a:r>
              <a:rPr dirty="0" err="1"/>
              <a:t>쓰지</a:t>
            </a:r>
            <a:r>
              <a:rPr dirty="0"/>
              <a:t> </a:t>
            </a:r>
            <a:r>
              <a:rPr dirty="0" err="1"/>
              <a:t>않는</a:t>
            </a:r>
            <a:r>
              <a:rPr dirty="0"/>
              <a:t> </a:t>
            </a:r>
            <a:r>
              <a:rPr dirty="0" err="1"/>
              <a:t>값이었다</a:t>
            </a:r>
            <a:r>
              <a:rPr dirty="0"/>
              <a:t>.</a:t>
            </a:r>
          </a:p>
          <a:p>
            <a:r>
              <a:rPr dirty="0" err="1"/>
              <a:t>진행은</a:t>
            </a:r>
            <a:r>
              <a:rPr dirty="0"/>
              <a:t> NDJSON </a:t>
            </a:r>
            <a:r>
              <a:rPr dirty="0" err="1"/>
              <a:t>스트리밍</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[26장 · 섹션 표지]</a:t>
            </a:r>
          </a:p>
          <a:p>
            <a:endParaRPr/>
          </a:p>
          <a:p>
            <a:r>
              <a:t>지금 어디까지 됐고 앞으로 무엇을 할지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[27장 · 구현 현황]</a:t>
            </a:r>
          </a:p>
          <a:p>
            <a:endParaRPr/>
          </a:p>
          <a:p>
            <a:r>
              <a:t>위에 있는 흐름, 커넥터 연동부터 업무 추출 에이전트까지가 실제 문서로 끊기지 않고 돕니다.</a:t>
            </a:r>
          </a:p>
          <a:p>
            <a:endParaRPr/>
          </a:p>
          <a:p>
            <a:r>
              <a:t>다만 완료라고 말씀드리지는 않겠습니다.</a:t>
            </a:r>
          </a:p>
          <a:p>
            <a:endParaRPr/>
          </a:p>
          <a:p>
            <a:r>
              <a:t>세 칸으로 나눴습니다.</a:t>
            </a:r>
          </a:p>
          <a:p>
            <a:endParaRPr/>
          </a:p>
          <a:p>
            <a:r>
              <a:t>1차 구현은 실행 환경과 데이터 모델, 커넥터, 파싱부터 벡터 검색까지 — 등록한 문서가 검색되는 수준까지입니다.</a:t>
            </a:r>
          </a:p>
          <a:p>
            <a:endParaRPr/>
          </a:p>
          <a:p>
            <a:r>
              <a:t>업무 추출 에이전트도 실제 문서로 동작합니다.</a:t>
            </a:r>
          </a:p>
          <a:p>
            <a:endParaRPr/>
          </a:p>
          <a:p>
            <a:r>
              <a:t>고도화 대상은 제목 계층 복원, 이미지 유형별 처리, 표 유형 일반화, 업무량 추이 적재입니다.</a:t>
            </a:r>
          </a:p>
          <a:p>
            <a:endParaRPr/>
          </a:p>
          <a:p>
            <a:r>
              <a:t>미착수는 업무 분배 후보 추천과 분배안 검증, PM 검토 화면입니다.</a:t>
            </a:r>
          </a:p>
          <a:p>
            <a:endParaRPr/>
          </a:p>
          <a:p>
            <a:r>
              <a:t>문서 형식도 지금은 PDF와 DOCX만 처리하고 HWP는 아직입니다.</a:t>
            </a:r>
          </a:p>
          <a:p>
            <a:endParaRPr/>
          </a:p>
          <a:p>
            <a:r>
              <a:t>▪ 요점</a:t>
            </a:r>
          </a:p>
          <a:p>
            <a:r>
              <a:t>· ▸ "완료라고 말씀드리지는 않겠습니다" — 이 문장을 꼭 넣으세요</a:t>
            </a:r>
          </a:p>
          <a:p>
            <a:endParaRPr/>
          </a:p>
          <a:p>
            <a:r>
              <a:t>─────────────  배경 · 질의응답 대비  ─────────────</a:t>
            </a:r>
          </a:p>
          <a:p>
            <a:endParaRPr/>
          </a:p>
          <a:p>
            <a:r>
              <a:t>「완료」로 적지 않은 이유 — 파이프라인은 끝에서 끝까지 돌지만, 청킹의 제목 계층·이미지 두 문제가 남아 있고 표 처리도 열 방향 사양표 기준이다.</a:t>
            </a:r>
          </a:p>
          <a:p>
            <a:r>
              <a:t>추출 결과는 아직 DB에 남지 않는다.</a:t>
            </a:r>
          </a:p>
          <a:p>
            <a:r>
              <a:t>업무량은 exist_task_snap 적재 코드가 없어 번다운·속도 같은 시간축 지표를 낼 수 없다.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[28장 · </a:t>
            </a:r>
            <a:r>
              <a:rPr dirty="0" err="1"/>
              <a:t>향후</a:t>
            </a:r>
            <a:r>
              <a:rPr dirty="0"/>
              <a:t> </a:t>
            </a:r>
            <a:r>
              <a:rPr dirty="0" err="1"/>
              <a:t>계획</a:t>
            </a:r>
            <a:r>
              <a:rPr dirty="0"/>
              <a:t>]</a:t>
            </a:r>
          </a:p>
          <a:p>
            <a:endParaRPr dirty="0"/>
          </a:p>
          <a:p>
            <a:r>
              <a:rPr lang="ko-KR" altLang="en-US" dirty="0"/>
              <a:t>향후 계획은 크게 </a:t>
            </a:r>
            <a:r>
              <a:rPr dirty="0"/>
              <a:t>네 </a:t>
            </a:r>
            <a:r>
              <a:rPr dirty="0" err="1"/>
              <a:t>가지입니다</a:t>
            </a:r>
            <a:r>
              <a:rPr dirty="0"/>
              <a:t>.</a:t>
            </a:r>
          </a:p>
          <a:p>
            <a:endParaRPr dirty="0"/>
          </a:p>
          <a:p>
            <a:r>
              <a:rPr dirty="0" err="1"/>
              <a:t>첫째</a:t>
            </a:r>
            <a:r>
              <a:rPr dirty="0"/>
              <a:t>, </a:t>
            </a:r>
            <a:r>
              <a:rPr dirty="0" err="1"/>
              <a:t>파싱과</a:t>
            </a:r>
            <a:r>
              <a:rPr dirty="0"/>
              <a:t> </a:t>
            </a:r>
            <a:r>
              <a:rPr dirty="0" err="1"/>
              <a:t>청킹</a:t>
            </a:r>
            <a:r>
              <a:rPr dirty="0"/>
              <a:t> </a:t>
            </a:r>
            <a:r>
              <a:rPr dirty="0" err="1"/>
              <a:t>고도화입니다</a:t>
            </a:r>
            <a:r>
              <a:rPr dirty="0"/>
              <a:t>.</a:t>
            </a:r>
          </a:p>
          <a:p>
            <a:endParaRPr dirty="0"/>
          </a:p>
          <a:p>
            <a:r>
              <a:rPr dirty="0" err="1"/>
              <a:t>오늘</a:t>
            </a:r>
            <a:r>
              <a:rPr dirty="0"/>
              <a:t> </a:t>
            </a:r>
            <a:r>
              <a:rPr dirty="0" err="1"/>
              <a:t>보여드린</a:t>
            </a:r>
            <a:r>
              <a:rPr dirty="0"/>
              <a:t> </a:t>
            </a:r>
            <a:r>
              <a:rPr dirty="0" err="1"/>
              <a:t>문제</a:t>
            </a:r>
            <a:r>
              <a:rPr lang="ko-KR" altLang="en-US" dirty="0"/>
              <a:t>점들의 개선과 더 나은 결과를 위한 테스트가 필요 합니다</a:t>
            </a:r>
            <a:r>
              <a:rPr lang="en-US" altLang="ko-KR" dirty="0"/>
              <a:t>.</a:t>
            </a:r>
            <a:endParaRPr dirty="0"/>
          </a:p>
          <a:p>
            <a:endParaRPr dirty="0"/>
          </a:p>
          <a:p>
            <a:r>
              <a:rPr dirty="0" err="1"/>
              <a:t>둘째</a:t>
            </a:r>
            <a:r>
              <a:rPr dirty="0"/>
              <a:t>, </a:t>
            </a:r>
            <a:r>
              <a:rPr dirty="0" err="1"/>
              <a:t>에이전트</a:t>
            </a:r>
            <a:r>
              <a:rPr dirty="0"/>
              <a:t> </a:t>
            </a:r>
            <a:r>
              <a:rPr dirty="0" err="1"/>
              <a:t>고도화입니다</a:t>
            </a:r>
            <a:r>
              <a:rPr dirty="0"/>
              <a:t>.</a:t>
            </a:r>
          </a:p>
          <a:p>
            <a:endParaRPr lang="en-US" dirty="0"/>
          </a:p>
          <a:p>
            <a:r>
              <a:rPr lang="ko-KR" altLang="en-US" dirty="0"/>
              <a:t>현재는 추출 에이전트만 프로토타입으로 작업 되어있으며 이후 분배 </a:t>
            </a:r>
            <a:r>
              <a:rPr lang="en-US" altLang="ko-KR" dirty="0"/>
              <a:t>, </a:t>
            </a:r>
            <a:r>
              <a:rPr lang="ko-KR" altLang="en-US" dirty="0"/>
              <a:t>검증 에이전트의 구현까지 진행할 예정 입니다</a:t>
            </a:r>
            <a:r>
              <a:rPr lang="en-US" altLang="ko-KR" dirty="0"/>
              <a:t>.</a:t>
            </a:r>
            <a:endParaRPr lang="en-US" dirty="0"/>
          </a:p>
          <a:p>
            <a:endParaRPr dirty="0"/>
          </a:p>
          <a:p>
            <a:r>
              <a:rPr dirty="0" err="1"/>
              <a:t>셋째</a:t>
            </a:r>
            <a:r>
              <a:rPr dirty="0"/>
              <a:t>, AI </a:t>
            </a:r>
            <a:r>
              <a:rPr dirty="0" err="1"/>
              <a:t>어시스턴트입니다</a:t>
            </a:r>
            <a:r>
              <a:rPr dirty="0"/>
              <a:t>.</a:t>
            </a:r>
          </a:p>
          <a:p>
            <a:endParaRPr dirty="0"/>
          </a:p>
          <a:p>
            <a:r>
              <a:rPr dirty="0" err="1"/>
              <a:t>문서를</a:t>
            </a:r>
            <a:r>
              <a:rPr dirty="0"/>
              <a:t> </a:t>
            </a:r>
            <a:r>
              <a:rPr dirty="0" err="1"/>
              <a:t>이미</a:t>
            </a:r>
            <a:r>
              <a:rPr dirty="0"/>
              <a:t> </a:t>
            </a:r>
            <a:r>
              <a:rPr dirty="0" err="1"/>
              <a:t>검색</a:t>
            </a:r>
            <a:r>
              <a:rPr dirty="0"/>
              <a:t> </a:t>
            </a:r>
            <a:r>
              <a:rPr dirty="0" err="1"/>
              <a:t>가능한</a:t>
            </a:r>
            <a:r>
              <a:rPr dirty="0"/>
              <a:t> </a:t>
            </a:r>
            <a:r>
              <a:rPr dirty="0" err="1"/>
              <a:t>상태로</a:t>
            </a:r>
            <a:r>
              <a:rPr dirty="0"/>
              <a:t> </a:t>
            </a:r>
            <a:r>
              <a:rPr dirty="0" err="1"/>
              <a:t>쌓아</a:t>
            </a:r>
            <a:r>
              <a:rPr dirty="0"/>
              <a:t> </a:t>
            </a:r>
            <a:r>
              <a:rPr dirty="0" err="1"/>
              <a:t>두었으니</a:t>
            </a:r>
            <a:r>
              <a:rPr dirty="0"/>
              <a:t>, 그 </a:t>
            </a:r>
            <a:r>
              <a:rPr dirty="0" err="1"/>
              <a:t>위에서</a:t>
            </a:r>
            <a:r>
              <a:rPr dirty="0"/>
              <a:t> </a:t>
            </a:r>
            <a:r>
              <a:rPr dirty="0" err="1"/>
              <a:t>필요한</a:t>
            </a:r>
            <a:r>
              <a:rPr dirty="0"/>
              <a:t> </a:t>
            </a:r>
            <a:r>
              <a:rPr dirty="0" err="1"/>
              <a:t>내용을</a:t>
            </a:r>
            <a:r>
              <a:rPr dirty="0"/>
              <a:t> </a:t>
            </a:r>
            <a:r>
              <a:rPr dirty="0" err="1"/>
              <a:t>물어보면</a:t>
            </a:r>
            <a:r>
              <a:rPr dirty="0"/>
              <a:t> </a:t>
            </a:r>
            <a:r>
              <a:rPr dirty="0" err="1"/>
              <a:t>근거와</a:t>
            </a:r>
            <a:r>
              <a:rPr dirty="0"/>
              <a:t> </a:t>
            </a:r>
            <a:r>
              <a:rPr dirty="0" err="1"/>
              <a:t>함께</a:t>
            </a:r>
            <a:r>
              <a:rPr dirty="0"/>
              <a:t> </a:t>
            </a:r>
            <a:r>
              <a:rPr dirty="0" err="1"/>
              <a:t>찾아</a:t>
            </a:r>
            <a:r>
              <a:rPr dirty="0"/>
              <a:t> </a:t>
            </a:r>
            <a:r>
              <a:rPr dirty="0" err="1"/>
              <a:t>주는</a:t>
            </a:r>
            <a:r>
              <a:rPr dirty="0"/>
              <a:t> </a:t>
            </a:r>
            <a:r>
              <a:rPr dirty="0" err="1"/>
              <a:t>기능입니다</a:t>
            </a:r>
            <a:r>
              <a:rPr dirty="0"/>
              <a:t>.</a:t>
            </a:r>
          </a:p>
          <a:p>
            <a:endParaRPr dirty="0"/>
          </a:p>
          <a:p>
            <a:r>
              <a:rPr dirty="0" err="1"/>
              <a:t>넷째</a:t>
            </a:r>
            <a:r>
              <a:rPr dirty="0"/>
              <a:t>, </a:t>
            </a:r>
            <a:r>
              <a:rPr dirty="0" err="1"/>
              <a:t>커넥터</a:t>
            </a:r>
            <a:r>
              <a:rPr dirty="0"/>
              <a:t> </a:t>
            </a:r>
            <a:r>
              <a:rPr dirty="0" err="1"/>
              <a:t>기능</a:t>
            </a:r>
            <a:r>
              <a:rPr dirty="0"/>
              <a:t> </a:t>
            </a:r>
            <a:r>
              <a:rPr dirty="0" err="1"/>
              <a:t>확장입니다</a:t>
            </a:r>
            <a:r>
              <a:rPr dirty="0"/>
              <a:t>.</a:t>
            </a:r>
          </a:p>
          <a:p>
            <a:endParaRPr dirty="0"/>
          </a:p>
          <a:p>
            <a:r>
              <a:rPr dirty="0" err="1"/>
              <a:t>새로운</a:t>
            </a:r>
            <a:r>
              <a:rPr dirty="0"/>
              <a:t> </a:t>
            </a:r>
            <a:r>
              <a:rPr dirty="0" err="1"/>
              <a:t>서비스를</a:t>
            </a:r>
            <a:r>
              <a:rPr dirty="0"/>
              <a:t> </a:t>
            </a:r>
            <a:r>
              <a:rPr dirty="0" err="1"/>
              <a:t>붙이는</a:t>
            </a:r>
            <a:r>
              <a:rPr dirty="0"/>
              <a:t> 게 </a:t>
            </a:r>
            <a:r>
              <a:rPr dirty="0" err="1"/>
              <a:t>아니라</a:t>
            </a:r>
            <a:r>
              <a:rPr dirty="0"/>
              <a:t> </a:t>
            </a:r>
            <a:r>
              <a:rPr dirty="0" err="1"/>
              <a:t>지금</a:t>
            </a:r>
            <a:r>
              <a:rPr dirty="0"/>
              <a:t> </a:t>
            </a:r>
            <a:r>
              <a:rPr dirty="0" err="1"/>
              <a:t>연결된</a:t>
            </a:r>
            <a:r>
              <a:rPr dirty="0"/>
              <a:t> </a:t>
            </a:r>
            <a:r>
              <a:rPr dirty="0" err="1"/>
              <a:t>Drive와</a:t>
            </a:r>
            <a:r>
              <a:rPr dirty="0"/>
              <a:t> </a:t>
            </a:r>
            <a:r>
              <a:rPr dirty="0" err="1"/>
              <a:t>Jira에서</a:t>
            </a:r>
            <a:r>
              <a:rPr dirty="0"/>
              <a:t> 할 수 </a:t>
            </a:r>
            <a:r>
              <a:rPr dirty="0" err="1"/>
              <a:t>있는</a:t>
            </a:r>
            <a:r>
              <a:rPr dirty="0"/>
              <a:t> </a:t>
            </a:r>
            <a:r>
              <a:rPr dirty="0" err="1"/>
              <a:t>동작을</a:t>
            </a:r>
            <a:r>
              <a:rPr dirty="0"/>
              <a:t> </a:t>
            </a:r>
            <a:r>
              <a:rPr dirty="0" err="1"/>
              <a:t>늘리는</a:t>
            </a:r>
            <a:r>
              <a:rPr dirty="0"/>
              <a:t> </a:t>
            </a:r>
            <a:r>
              <a:rPr dirty="0" err="1"/>
              <a:t>방향입니다</a:t>
            </a:r>
            <a:r>
              <a:rPr dirty="0"/>
              <a:t>.</a:t>
            </a:r>
          </a:p>
          <a:p>
            <a:endParaRPr dirty="0"/>
          </a:p>
          <a:p>
            <a:r>
              <a:rPr dirty="0"/>
              <a:t>▪ </a:t>
            </a:r>
            <a:r>
              <a:rPr dirty="0" err="1"/>
              <a:t>요점</a:t>
            </a:r>
            <a:endParaRPr dirty="0"/>
          </a:p>
          <a:p>
            <a:r>
              <a:rPr dirty="0"/>
              <a:t>· </a:t>
            </a:r>
            <a:r>
              <a:rPr dirty="0" err="1"/>
              <a:t>파싱·청킹</a:t>
            </a:r>
            <a:r>
              <a:rPr dirty="0"/>
              <a:t> / </a:t>
            </a:r>
            <a:r>
              <a:rPr dirty="0" err="1"/>
              <a:t>에이전트</a:t>
            </a:r>
            <a:r>
              <a:rPr dirty="0"/>
              <a:t> / ▸ </a:t>
            </a:r>
            <a:r>
              <a:rPr dirty="0" err="1"/>
              <a:t>어시스턴트는</a:t>
            </a:r>
            <a:r>
              <a:rPr dirty="0"/>
              <a:t> </a:t>
            </a:r>
            <a:r>
              <a:rPr dirty="0" err="1"/>
              <a:t>이미</a:t>
            </a:r>
            <a:r>
              <a:rPr dirty="0"/>
              <a:t> </a:t>
            </a:r>
            <a:r>
              <a:rPr dirty="0" err="1"/>
              <a:t>쌓은</a:t>
            </a:r>
            <a:r>
              <a:rPr dirty="0"/>
              <a:t> </a:t>
            </a:r>
            <a:r>
              <a:rPr dirty="0" err="1"/>
              <a:t>문서</a:t>
            </a:r>
            <a:r>
              <a:rPr dirty="0"/>
              <a:t> </a:t>
            </a:r>
            <a:r>
              <a:rPr dirty="0" err="1"/>
              <a:t>위에</a:t>
            </a:r>
            <a:r>
              <a:rPr dirty="0"/>
              <a:t> / </a:t>
            </a:r>
            <a:r>
              <a:rPr dirty="0" err="1"/>
              <a:t>커넥터는</a:t>
            </a:r>
            <a:r>
              <a:rPr dirty="0"/>
              <a:t> </a:t>
            </a:r>
            <a:r>
              <a:rPr dirty="0" err="1"/>
              <a:t>깊게</a:t>
            </a:r>
            <a:endParaRPr dirty="0"/>
          </a:p>
          <a:p>
            <a:endParaRPr dirty="0"/>
          </a:p>
          <a:p>
            <a:r>
              <a:rPr dirty="0"/>
              <a:t>─────────────  </a:t>
            </a:r>
            <a:r>
              <a:rPr dirty="0" err="1"/>
              <a:t>배경</a:t>
            </a:r>
            <a:r>
              <a:rPr dirty="0"/>
              <a:t> · </a:t>
            </a:r>
            <a:r>
              <a:rPr dirty="0" err="1"/>
              <a:t>질의응답</a:t>
            </a:r>
            <a:r>
              <a:rPr dirty="0"/>
              <a:t> </a:t>
            </a:r>
            <a:r>
              <a:rPr dirty="0" err="1"/>
              <a:t>대비</a:t>
            </a:r>
            <a:r>
              <a:rPr dirty="0"/>
              <a:t>  ─────────────</a:t>
            </a:r>
          </a:p>
          <a:p>
            <a:endParaRPr dirty="0"/>
          </a:p>
          <a:p>
            <a:r>
              <a:rPr dirty="0"/>
              <a:t>Jira </a:t>
            </a:r>
            <a:r>
              <a:rPr dirty="0" err="1"/>
              <a:t>쓰기</a:t>
            </a:r>
            <a:r>
              <a:rPr dirty="0"/>
              <a:t> · Calendar </a:t>
            </a:r>
            <a:r>
              <a:rPr dirty="0" err="1"/>
              <a:t>실연동</a:t>
            </a:r>
            <a:r>
              <a:rPr dirty="0"/>
              <a:t> · OCR </a:t>
            </a:r>
            <a:r>
              <a:rPr dirty="0" err="1"/>
              <a:t>확대</a:t>
            </a:r>
            <a:r>
              <a:rPr dirty="0"/>
              <a:t> · AWS </a:t>
            </a:r>
            <a:r>
              <a:rPr dirty="0" err="1"/>
              <a:t>이전은</a:t>
            </a:r>
            <a:r>
              <a:rPr dirty="0"/>
              <a:t> </a:t>
            </a:r>
            <a:r>
              <a:rPr dirty="0" err="1"/>
              <a:t>이후</a:t>
            </a:r>
            <a:r>
              <a:rPr dirty="0"/>
              <a:t> </a:t>
            </a:r>
            <a:r>
              <a:rPr dirty="0" err="1"/>
              <a:t>범위다</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[29장 · 섹션 표지]</a:t>
            </a:r>
          </a:p>
          <a:p>
            <a:endParaRPr/>
          </a:p>
          <a:p>
            <a:r>
              <a:t>마지막으로 중간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[30장 · 선도기업 사업영역과의 연계성]</a:t>
            </a:r>
          </a:p>
          <a:p>
            <a:endParaRPr/>
          </a:p>
          <a:p>
            <a:r>
              <a:t>저희 시스템은 특정 산업에 묶여 있지 않습니다.</a:t>
            </a:r>
          </a:p>
          <a:p>
            <a:endParaRPr/>
          </a:p>
          <a:p>
            <a:r>
              <a:t>프로젝트 문서가 있는 곳이면 사업이 달라도 같은 구조로 적용됩니다.</a:t>
            </a:r>
          </a:p>
          <a:p>
            <a:endParaRPr/>
          </a:p>
          <a:p>
            <a:r>
              <a:t>사업마다 달라지는 건 들어오는 문서와 필요한 역할입니다.</a:t>
            </a:r>
          </a:p>
          <a:p>
            <a:endParaRPr/>
          </a:p>
          <a:p>
            <a:r>
              <a:t>투자 검토 자료일 수도 있고 B2B 제안서, 행사 기획서, 캠페인 브리프일 수도 있습니다.</a:t>
            </a:r>
          </a:p>
          <a:p>
            <a:endParaRPr/>
          </a:p>
          <a:p>
            <a:r>
              <a:t>필요한 역할도 재무일 수도, SCM일 수도, R&amp;D일 수도 있습니다.</a:t>
            </a:r>
          </a:p>
          <a:p>
            <a:endParaRPr/>
          </a:p>
          <a:p>
            <a:r>
              <a:t>그런데 문서에서 업무와 역할을 뽑는 방식, 원문 근거를 남기는 방식, 사람의 역량·업무량과 대조해 후보를 내는 기준은 달라지지 않습니다.</a:t>
            </a:r>
          </a:p>
          <a:p>
            <a:endParaRPr/>
          </a:p>
          <a:p>
            <a:r>
              <a:t>적용에 필요한 것은 두 가지뿐입니다.</a:t>
            </a:r>
          </a:p>
          <a:p>
            <a:endParaRPr/>
          </a:p>
          <a:p>
            <a:r>
              <a:t>프로젝트 문서, 그리고 구성원의 업무량을 볼 수 있는 소스입니다.</a:t>
            </a:r>
          </a:p>
          <a:p>
            <a:endParaRPr/>
          </a:p>
          <a:p>
            <a:r>
              <a:t>▪ 요점</a:t>
            </a:r>
          </a:p>
          <a:p>
            <a:r>
              <a:t>· ▸ 적용 조건 두 가지 — "모든 곳에 됩니다"가 아니라 "이게 있으면 됩니다"</a:t>
            </a:r>
          </a:p>
          <a:p>
            <a:endParaRPr/>
          </a:p>
          <a:p>
            <a:r>
              <a:t>─────────────  배경 · 질의응답 대비  ─────────────</a:t>
            </a:r>
          </a:p>
          <a:p>
            <a:endParaRPr/>
          </a:p>
          <a:p>
            <a:r>
              <a:t>SK네트웍스 사업 구성은 공식 홈페이지 Business 메뉴 기준으로 글로벌 투자·정보통신·워커힐 호텔앤리조트·SK인텔릭스·SK스피드메이트·인크로스·글로와이드·민팃·엔코아·피닉스랩이 올라와 있다(사업 개요 페이지가 8개로 묶어 보여주는 것은 이 중 자회사 성격 8곳이고 글로벌 투자·호텔앤리조트는 빠진다). 사업별 문서·역할 매핑은 공개 정보로 팀이 구성한 적용 가능 시나리오이며 실제 내부 프로세스는 별도 검증이 필요하다.</a:t>
            </a:r>
          </a:p>
          <a:p>
            <a:r>
              <a:t>「공통적으로 발생한다」가 아니라 「공통 구조로 모델링할 수 있다」로 말한다.</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[31장 · 자체 평가]</a:t>
            </a:r>
          </a:p>
          <a:p>
            <a:endParaRPr/>
          </a:p>
          <a:p>
            <a:r>
              <a:t>자체 평가는 10점 만점에 7점입니다.</a:t>
            </a:r>
          </a:p>
          <a:p>
            <a:endParaRPr/>
          </a:p>
          <a:p>
            <a:r>
              <a:t>만든 범위는 계획대로 왔지만, 만든 것이 실제로 더 나은지를 아직 숫자로 말하지 못하기 때문입니다.</a:t>
            </a:r>
          </a:p>
          <a:p>
            <a:endParaRPr/>
          </a:p>
          <a:p>
            <a:r>
              <a:t>잘한 것은 문제를 「업무 분배 근거 부족」으로 좁힌 것, 문서 등록부터 업무 추출까지 실제 문서로 도는 흐름을 만든 것, 판정은 코드와 해석은 LLM으로 경계를 나누고 모르는 값은 가정하지 않은 것, 그리고 실패한 시도를 날짜와 함께 남긴 것입니다.</a:t>
            </a:r>
          </a:p>
          <a:p>
            <a:endParaRPr/>
          </a:p>
          <a:p>
            <a:r>
              <a:t>부족한 것을 솔직히 말씀드리면, 청킹 개선이 검색 품질을 얼마나 올렸는지 아직 재지 못했습니다.</a:t>
            </a:r>
          </a:p>
          <a:p>
            <a:endParaRPr/>
          </a:p>
          <a:p>
            <a:r>
              <a:t>파싱·청킹·추출 구간에 자동 테스트도 없고, 검증도 대상 문서가 아니라 외부 기업 문서로 했습니다.</a:t>
            </a:r>
          </a:p>
          <a:p>
            <a:endParaRPr/>
          </a:p>
          <a:p>
            <a:r>
              <a:t>그래서 다음에 할 것은 대상 문서로 기준선을 만들고, 정답 청크가 상위에 오는지 세는 지표를 도입하고, 회귀 테스트를 붙이는 것입니다.</a:t>
            </a:r>
          </a:p>
          <a:p>
            <a:endParaRPr/>
          </a:p>
          <a:p>
            <a:r>
              <a:t>▪ 요점</a:t>
            </a:r>
          </a:p>
          <a:p>
            <a:r>
              <a:t>· ▸ 7점 이유를 먼저 / ▸ "아직 재지 못했다"를 발표자가 먼저 말한다</a:t>
            </a:r>
          </a:p>
          <a:p>
            <a:endParaRPr/>
          </a:p>
          <a:p>
            <a:r>
              <a:t>─────────────  배경 · 질의응답 대비  ─────────────</a:t>
            </a:r>
          </a:p>
          <a:p>
            <a:endParaRPr/>
          </a:p>
          <a:p>
            <a:r>
              <a:t>점수 근거 — 커넥터 연동·파싱·청킹·임베딩·업무 추출까지 실제 문서로 도는 흐름은 완료했으나, 그 개선이 검색 품질을 올렸는지는 아직 측정하지 않았다.</a:t>
            </a:r>
          </a:p>
          <a:p>
            <a:r>
              <a:t>저장소에 Recall·nDCG 같은 검색 품질 지표가 없고, 테스트 12개 파일 4,797줄도 계정·커넥터·문서 등록·업무량에 집중돼 있어 파싱·청킹·추출 대상 테스트는 없다.</a:t>
            </a:r>
          </a:p>
          <a:p>
            <a:r>
              <a:t>느낀 점 — 부트캠프에서 배운 RAG·Agent·API 연동을 실제로 연결하면서, AI 서비스는 모델뿐 아니라 데이터 구조와 Tool의 역할 분리, 검증 과정이 함께 설계돼야 한다는 점을 배웠다.</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[32장 · 감사합니다 · Q&amp;A]</a:t>
            </a:r>
          </a:p>
          <a:p>
            <a:endParaRPr/>
          </a:p>
          <a:p>
            <a:r>
              <a:t>이상입니다.</a:t>
            </a:r>
          </a:p>
          <a:p>
            <a:endParaRPr/>
          </a:p>
          <a:p>
            <a:r>
              <a:t>감사합니다.</a:t>
            </a:r>
          </a:p>
          <a:p>
            <a:endParaRPr/>
          </a:p>
          <a:p>
            <a:r>
              <a:t>질문 주시면 답변드리겠습니다.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제목이 level=1로 평탄화되면 HybridChunker 결과에는 Features·Specifications 같은 마지막 제목만 남는다. 해당 내용이 어느 제품군·상위 섹션에 속하는지 구분할 수 없고, 불완전한 제목 문맥이 본문과 표에 그대로 전달돼 서로 다른 제품·페이지의 내용이 같은 문맥으로 판단될 수 있다.</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예비 — Gallup 2025 Q2(미국 직장인 17,660명) 자신에게 기대되는 바를 안다에 강한 동의 47%. Sawhney et al.(2026) 60년 메타분석, 역할 모호성이 과업 성과를 설명하는 비중 80.7%. Coraggio et al.(2025, JFE) 직원-직무 매칭 1SD 차이에서 1인당 부가가치 +6%. 검증되지 않아 쓰지 않는 수치 — 생산성 손실 15~25% · 일정 지연 30~40% · 2.5배.</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10.xml"/><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2.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1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png"/><Relationship Id="rId7"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g_dk_cover.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04672" y="685800"/>
            <a:ext cx="8229600" cy="292608"/>
          </a:xfrm>
          <a:prstGeom prst="rect">
            <a:avLst/>
          </a:prstGeom>
          <a:noFill/>
          <a:ln/>
        </p:spPr>
        <p:txBody>
          <a:bodyPr wrap="square" lIns="0" tIns="0" rIns="0" bIns="0" rtlCol="0" anchor="ctr"/>
          <a:lstStyle/>
          <a:p>
            <a:pPr marL="0" indent="0">
              <a:buNone/>
            </a:pPr>
            <a:r>
              <a:rPr lang="en-US" sz="1150" b="1" kern="0" spc="200" dirty="0">
                <a:solidFill>
                  <a:srgbClr val="22D3EE"/>
                </a:solidFill>
                <a:latin typeface="Consolas" pitchFamily="34" charset="0"/>
                <a:ea typeface="Consolas" pitchFamily="34" charset="-122"/>
                <a:cs typeface="Consolas" pitchFamily="34" charset="-120"/>
              </a:rPr>
              <a:t>HALIL — TEAM 2  ·  MIDTERM  ·  2026.08.06</a:t>
            </a:r>
            <a:endParaRPr lang="en-US" sz="1150" dirty="0"/>
          </a:p>
        </p:txBody>
      </p:sp>
      <p:sp>
        <p:nvSpPr>
          <p:cNvPr id="4" name="Text 1"/>
          <p:cNvSpPr/>
          <p:nvPr/>
        </p:nvSpPr>
        <p:spPr>
          <a:xfrm>
            <a:off x="749808" y="1965960"/>
            <a:ext cx="10515600" cy="2103120"/>
          </a:xfrm>
          <a:prstGeom prst="rect">
            <a:avLst/>
          </a:prstGeom>
          <a:noFill/>
          <a:ln/>
        </p:spPr>
        <p:txBody>
          <a:bodyPr wrap="square" lIns="0" tIns="0" rIns="0" bIns="0" rtlCol="0" anchor="ctr"/>
          <a:lstStyle/>
          <a:p>
            <a:pPr marL="0" indent="0">
              <a:lnSpc>
                <a:spcPct val="110000"/>
              </a:lnSpc>
              <a:buNone/>
            </a:pPr>
            <a:r>
              <a:rPr lang="en-US" sz="4800" b="1" dirty="0">
                <a:solidFill>
                  <a:srgbClr val="F1F5F9"/>
                </a:solidFill>
                <a:latin typeface="Pretendard" pitchFamily="34" charset="0"/>
                <a:ea typeface="Pretendard" pitchFamily="34" charset="-122"/>
                <a:cs typeface="Pretendard" pitchFamily="34" charset="-120"/>
              </a:rPr>
              <a:t>AI 프로젝트 운영</a:t>
            </a:r>
            <a:endParaRPr lang="en-US" sz="4800" dirty="0"/>
          </a:p>
          <a:p>
            <a:pPr marL="0" indent="0">
              <a:lnSpc>
                <a:spcPct val="110000"/>
              </a:lnSpc>
              <a:buNone/>
            </a:pPr>
            <a:r>
              <a:rPr lang="en-US" sz="4800" b="1" dirty="0">
                <a:solidFill>
                  <a:srgbClr val="F1F5F9"/>
                </a:solidFill>
                <a:latin typeface="Pretendard" pitchFamily="34" charset="0"/>
                <a:ea typeface="Pretendard" pitchFamily="34" charset="-122"/>
                <a:cs typeface="Pretendard" pitchFamily="34" charset="-120"/>
              </a:rPr>
              <a:t>코파일럿</a:t>
            </a:r>
            <a:endParaRPr lang="en-US" sz="4800" dirty="0"/>
          </a:p>
        </p:txBody>
      </p:sp>
      <p:sp>
        <p:nvSpPr>
          <p:cNvPr id="5" name="Text 2"/>
          <p:cNvSpPr/>
          <p:nvPr/>
        </p:nvSpPr>
        <p:spPr>
          <a:xfrm>
            <a:off x="804672" y="4343400"/>
            <a:ext cx="9601200" cy="365760"/>
          </a:xfrm>
          <a:prstGeom prst="rect">
            <a:avLst/>
          </a:prstGeom>
          <a:noFill/>
          <a:ln/>
        </p:spPr>
        <p:txBody>
          <a:bodyPr wrap="square" lIns="0" tIns="0" rIns="0" bIns="0" rtlCol="0" anchor="ctr"/>
          <a:lstStyle/>
          <a:p>
            <a:pPr marL="0" indent="0">
              <a:buNone/>
            </a:pPr>
            <a:r>
              <a:rPr lang="en-US" sz="1500" dirty="0">
                <a:solidFill>
                  <a:srgbClr val="BAC6D8"/>
                </a:solidFill>
                <a:latin typeface="Pretendard Light" pitchFamily="34" charset="0"/>
                <a:ea typeface="Pretendard Light" pitchFamily="34" charset="-122"/>
                <a:cs typeface="Pretendard Light" pitchFamily="34" charset="-120"/>
              </a:rPr>
              <a:t>업무 배정 판단 근거를 제공하는 의사결정 지원 시스템</a:t>
            </a:r>
            <a:endParaRPr lang="en-US" sz="1500" dirty="0"/>
          </a:p>
        </p:txBody>
      </p:sp>
      <p:sp>
        <p:nvSpPr>
          <p:cNvPr id="6" name="Shape 3"/>
          <p:cNvSpPr/>
          <p:nvPr/>
        </p:nvSpPr>
        <p:spPr>
          <a:xfrm>
            <a:off x="804672" y="5440680"/>
            <a:ext cx="548640" cy="91440"/>
          </a:xfrm>
          <a:prstGeom prst="rect">
            <a:avLst/>
          </a:prstGeom>
          <a:solidFill>
            <a:srgbClr val="22D3EE"/>
          </a:solidFill>
          <a:ln/>
        </p:spPr>
        <p:txBody>
          <a:bodyPr/>
          <a:lstStyle/>
          <a:p>
            <a:endParaRPr lang="ko-KR" altLang="en-US"/>
          </a:p>
        </p:txBody>
      </p:sp>
      <p:sp>
        <p:nvSpPr>
          <p:cNvPr id="7" name="Text 4"/>
          <p:cNvSpPr/>
          <p:nvPr/>
        </p:nvSpPr>
        <p:spPr>
          <a:xfrm>
            <a:off x="804672" y="5715000"/>
            <a:ext cx="9144000" cy="292608"/>
          </a:xfrm>
          <a:prstGeom prst="rect">
            <a:avLst/>
          </a:prstGeom>
          <a:noFill/>
          <a:ln/>
        </p:spPr>
        <p:txBody>
          <a:bodyPr wrap="square" lIns="0" tIns="0" rIns="0" bIns="0" rtlCol="0" anchor="ctr"/>
          <a:lstStyle/>
          <a:p>
            <a:pPr marL="0" indent="0">
              <a:buNone/>
            </a:pPr>
            <a:r>
              <a:rPr lang="en-US" sz="1200" dirty="0">
                <a:solidFill>
                  <a:srgbClr val="BAC6D8"/>
                </a:solidFill>
                <a:latin typeface="Pretendard" pitchFamily="34" charset="0"/>
                <a:ea typeface="Pretendard" pitchFamily="34" charset="-122"/>
                <a:cs typeface="Pretendard" pitchFamily="34" charset="-120"/>
              </a:rPr>
              <a:t>발표  임준     ·     김지훈 · 성주연 · 임준억 · 최원빈</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CONTENTS</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목차</a:t>
            </a:r>
            <a:endParaRPr lang="en-US" sz="2700" dirty="0"/>
          </a:p>
        </p:txBody>
      </p:sp>
      <p:sp>
        <p:nvSpPr>
          <p:cNvPr id="5" name="Text 2"/>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02</a:t>
            </a:r>
            <a:endParaRPr lang="en-US" sz="1050" dirty="0"/>
          </a:p>
        </p:txBody>
      </p:sp>
      <p:sp>
        <p:nvSpPr>
          <p:cNvPr id="6" name="Text 3"/>
          <p:cNvSpPr/>
          <p:nvPr/>
        </p:nvSpPr>
        <p:spPr>
          <a:xfrm>
            <a:off x="1097280" y="1645920"/>
            <a:ext cx="658368" cy="502920"/>
          </a:xfrm>
          <a:prstGeom prst="rect">
            <a:avLst/>
          </a:prstGeom>
          <a:solidFill>
            <a:srgbClr val="0F2A3A"/>
          </a:solidFill>
          <a:ln/>
        </p:spPr>
        <p:txBody>
          <a:bodyPr wrap="square" lIns="0" tIns="0" rIns="0" bIns="0" rtlCol="0" anchor="ctr"/>
          <a:lstStyle/>
          <a:p>
            <a:pPr marL="0" indent="0" algn="ctr">
              <a:buNone/>
            </a:pPr>
            <a:r>
              <a:rPr lang="en-US" sz="1400" b="1" dirty="0">
                <a:solidFill>
                  <a:srgbClr val="67E8F9"/>
                </a:solidFill>
                <a:latin typeface="Consolas" pitchFamily="34" charset="0"/>
                <a:ea typeface="Consolas" pitchFamily="34" charset="-122"/>
                <a:cs typeface="Consolas" pitchFamily="34" charset="-120"/>
              </a:rPr>
              <a:t>01</a:t>
            </a:r>
            <a:endParaRPr lang="en-US" sz="1400" dirty="0"/>
          </a:p>
        </p:txBody>
      </p:sp>
      <p:sp>
        <p:nvSpPr>
          <p:cNvPr id="7" name="Text 4"/>
          <p:cNvSpPr/>
          <p:nvPr/>
        </p:nvSpPr>
        <p:spPr>
          <a:xfrm>
            <a:off x="1965960" y="1645920"/>
            <a:ext cx="4023360" cy="502920"/>
          </a:xfrm>
          <a:prstGeom prst="rect">
            <a:avLst/>
          </a:prstGeom>
          <a:noFill/>
          <a:ln/>
        </p:spPr>
        <p:txBody>
          <a:bodyPr wrap="square" lIns="0" tIns="0" rIns="0" bIns="0" rtlCol="0" anchor="ctr"/>
          <a:lstStyle/>
          <a:p>
            <a:pPr marL="0" indent="0">
              <a:buNone/>
            </a:pPr>
            <a:r>
              <a:rPr lang="en-US" sz="1600" b="1" dirty="0">
                <a:solidFill>
                  <a:srgbClr val="F1F5F9"/>
                </a:solidFill>
                <a:latin typeface="Pretendard" pitchFamily="34" charset="0"/>
                <a:ea typeface="Pretendard" pitchFamily="34" charset="-122"/>
                <a:cs typeface="Pretendard" pitchFamily="34" charset="-120"/>
              </a:rPr>
              <a:t>문제와 목표</a:t>
            </a:r>
            <a:endParaRPr lang="en-US" sz="1600" dirty="0"/>
          </a:p>
        </p:txBody>
      </p:sp>
      <p:sp>
        <p:nvSpPr>
          <p:cNvPr id="8" name="Text 5"/>
          <p:cNvSpPr/>
          <p:nvPr/>
        </p:nvSpPr>
        <p:spPr>
          <a:xfrm>
            <a:off x="6080760" y="1645920"/>
            <a:ext cx="5486400" cy="502920"/>
          </a:xfrm>
          <a:prstGeom prst="rect">
            <a:avLst/>
          </a:prstGeom>
          <a:noFill/>
          <a:ln/>
        </p:spPr>
        <p:txBody>
          <a:bodyPr wrap="square" lIns="0" tIns="0" rIns="0" bIns="0" rtlCol="0" anchor="ctr"/>
          <a:lstStyle/>
          <a:p>
            <a:pPr marL="0" indent="0">
              <a:buNone/>
            </a:pPr>
            <a:r>
              <a:rPr lang="en-US" sz="1150" dirty="0">
                <a:solidFill>
                  <a:srgbClr val="9FADC2"/>
                </a:solidFill>
                <a:latin typeface="Pretendard" pitchFamily="34" charset="0"/>
                <a:ea typeface="Pretendard" pitchFamily="34" charset="-122"/>
                <a:cs typeface="Pretendard" pitchFamily="34" charset="-120"/>
              </a:rPr>
              <a:t>문제 상황 · 시장 조사 · 프로젝트 목표</a:t>
            </a:r>
            <a:endParaRPr lang="en-US" sz="1150" dirty="0"/>
          </a:p>
        </p:txBody>
      </p:sp>
      <p:sp>
        <p:nvSpPr>
          <p:cNvPr id="9" name="Shape 6"/>
          <p:cNvSpPr/>
          <p:nvPr/>
        </p:nvSpPr>
        <p:spPr>
          <a:xfrm>
            <a:off x="1097280" y="2157984"/>
            <a:ext cx="10241280" cy="0"/>
          </a:xfrm>
          <a:prstGeom prst="line">
            <a:avLst/>
          </a:prstGeom>
          <a:noFill/>
          <a:ln w="12700">
            <a:solidFill>
              <a:srgbClr val="1A2338"/>
            </a:solidFill>
            <a:prstDash val="solid"/>
          </a:ln>
        </p:spPr>
        <p:txBody>
          <a:bodyPr/>
          <a:lstStyle/>
          <a:p>
            <a:endParaRPr lang="ko-KR" altLang="en-US"/>
          </a:p>
        </p:txBody>
      </p:sp>
      <p:sp>
        <p:nvSpPr>
          <p:cNvPr id="10" name="Text 7"/>
          <p:cNvSpPr/>
          <p:nvPr/>
        </p:nvSpPr>
        <p:spPr>
          <a:xfrm>
            <a:off x="1097280" y="2221992"/>
            <a:ext cx="658368" cy="502920"/>
          </a:xfrm>
          <a:prstGeom prst="rect">
            <a:avLst/>
          </a:prstGeom>
          <a:solidFill>
            <a:srgbClr val="0F2A3A"/>
          </a:solidFill>
          <a:ln/>
        </p:spPr>
        <p:txBody>
          <a:bodyPr wrap="square" lIns="0" tIns="0" rIns="0" bIns="0" rtlCol="0" anchor="ctr"/>
          <a:lstStyle/>
          <a:p>
            <a:pPr marL="0" indent="0" algn="ctr">
              <a:buNone/>
            </a:pPr>
            <a:r>
              <a:rPr lang="en-US" sz="1400" b="1" dirty="0">
                <a:solidFill>
                  <a:srgbClr val="67E8F9"/>
                </a:solidFill>
                <a:latin typeface="Consolas" pitchFamily="34" charset="0"/>
                <a:ea typeface="Consolas" pitchFamily="34" charset="-122"/>
                <a:cs typeface="Consolas" pitchFamily="34" charset="-120"/>
              </a:rPr>
              <a:t>02</a:t>
            </a:r>
            <a:endParaRPr lang="en-US" sz="1400" dirty="0"/>
          </a:p>
        </p:txBody>
      </p:sp>
      <p:sp>
        <p:nvSpPr>
          <p:cNvPr id="11" name="Text 8"/>
          <p:cNvSpPr/>
          <p:nvPr/>
        </p:nvSpPr>
        <p:spPr>
          <a:xfrm>
            <a:off x="1965960" y="2221992"/>
            <a:ext cx="4023360" cy="502920"/>
          </a:xfrm>
          <a:prstGeom prst="rect">
            <a:avLst/>
          </a:prstGeom>
          <a:noFill/>
          <a:ln/>
        </p:spPr>
        <p:txBody>
          <a:bodyPr wrap="square" lIns="0" tIns="0" rIns="0" bIns="0" rtlCol="0" anchor="ctr"/>
          <a:lstStyle/>
          <a:p>
            <a:pPr marL="0" indent="0">
              <a:buNone/>
            </a:pPr>
            <a:r>
              <a:rPr lang="en-US" sz="1600" b="1" dirty="0">
                <a:solidFill>
                  <a:srgbClr val="F1F5F9"/>
                </a:solidFill>
                <a:latin typeface="Pretendard" pitchFamily="34" charset="0"/>
                <a:ea typeface="Pretendard" pitchFamily="34" charset="-122"/>
                <a:cs typeface="Pretendard" pitchFamily="34" charset="-120"/>
              </a:rPr>
              <a:t>시스템</a:t>
            </a:r>
            <a:endParaRPr lang="en-US" sz="1600" dirty="0"/>
          </a:p>
        </p:txBody>
      </p:sp>
      <p:sp>
        <p:nvSpPr>
          <p:cNvPr id="12" name="Text 9"/>
          <p:cNvSpPr/>
          <p:nvPr/>
        </p:nvSpPr>
        <p:spPr>
          <a:xfrm>
            <a:off x="6080760" y="2221992"/>
            <a:ext cx="5486400" cy="502920"/>
          </a:xfrm>
          <a:prstGeom prst="rect">
            <a:avLst/>
          </a:prstGeom>
          <a:noFill/>
          <a:ln/>
        </p:spPr>
        <p:txBody>
          <a:bodyPr wrap="square" lIns="0" tIns="0" rIns="0" bIns="0" rtlCol="0" anchor="ctr"/>
          <a:lstStyle/>
          <a:p>
            <a:pPr marL="0" indent="0">
              <a:buNone/>
            </a:pPr>
            <a:r>
              <a:rPr lang="en-US" sz="1150" dirty="0">
                <a:solidFill>
                  <a:srgbClr val="9FADC2"/>
                </a:solidFill>
                <a:latin typeface="Pretendard" pitchFamily="34" charset="0"/>
                <a:ea typeface="Pretendard" pitchFamily="34" charset="-122"/>
                <a:cs typeface="Pretendard" pitchFamily="34" charset="-120"/>
              </a:rPr>
              <a:t>구성요소와 기술 스택 · 플로우차트 · 특징</a:t>
            </a:r>
            <a:endParaRPr lang="en-US" sz="1150" dirty="0"/>
          </a:p>
        </p:txBody>
      </p:sp>
      <p:sp>
        <p:nvSpPr>
          <p:cNvPr id="13" name="Shape 10"/>
          <p:cNvSpPr/>
          <p:nvPr/>
        </p:nvSpPr>
        <p:spPr>
          <a:xfrm>
            <a:off x="1097280" y="2734056"/>
            <a:ext cx="10241280" cy="0"/>
          </a:xfrm>
          <a:prstGeom prst="line">
            <a:avLst/>
          </a:prstGeom>
          <a:noFill/>
          <a:ln w="12700">
            <a:solidFill>
              <a:srgbClr val="1A2338"/>
            </a:solidFill>
            <a:prstDash val="solid"/>
          </a:ln>
        </p:spPr>
        <p:txBody>
          <a:bodyPr/>
          <a:lstStyle/>
          <a:p>
            <a:endParaRPr lang="ko-KR" altLang="en-US"/>
          </a:p>
        </p:txBody>
      </p:sp>
      <p:sp>
        <p:nvSpPr>
          <p:cNvPr id="14" name="Text 11"/>
          <p:cNvSpPr/>
          <p:nvPr/>
        </p:nvSpPr>
        <p:spPr>
          <a:xfrm>
            <a:off x="1097280" y="2798064"/>
            <a:ext cx="658368" cy="502920"/>
          </a:xfrm>
          <a:prstGeom prst="rect">
            <a:avLst/>
          </a:prstGeom>
          <a:solidFill>
            <a:srgbClr val="0F2A3A"/>
          </a:solidFill>
          <a:ln/>
        </p:spPr>
        <p:txBody>
          <a:bodyPr wrap="square" lIns="0" tIns="0" rIns="0" bIns="0" rtlCol="0" anchor="ctr"/>
          <a:lstStyle/>
          <a:p>
            <a:pPr marL="0" indent="0" algn="ctr">
              <a:buNone/>
            </a:pPr>
            <a:r>
              <a:rPr lang="en-US" sz="1400" b="1" dirty="0">
                <a:solidFill>
                  <a:srgbClr val="67E8F9"/>
                </a:solidFill>
                <a:latin typeface="Consolas" pitchFamily="34" charset="0"/>
                <a:ea typeface="Consolas" pitchFamily="34" charset="-122"/>
                <a:cs typeface="Consolas" pitchFamily="34" charset="-120"/>
              </a:rPr>
              <a:t>03</a:t>
            </a:r>
            <a:endParaRPr lang="en-US" sz="1400" dirty="0"/>
          </a:p>
        </p:txBody>
      </p:sp>
      <p:sp>
        <p:nvSpPr>
          <p:cNvPr id="15" name="Text 12"/>
          <p:cNvSpPr/>
          <p:nvPr/>
        </p:nvSpPr>
        <p:spPr>
          <a:xfrm>
            <a:off x="1965960" y="2798064"/>
            <a:ext cx="4023360" cy="502920"/>
          </a:xfrm>
          <a:prstGeom prst="rect">
            <a:avLst/>
          </a:prstGeom>
          <a:noFill/>
          <a:ln/>
        </p:spPr>
        <p:txBody>
          <a:bodyPr wrap="square" lIns="0" tIns="0" rIns="0" bIns="0" rtlCol="0" anchor="ctr"/>
          <a:lstStyle/>
          <a:p>
            <a:pPr marL="0" indent="0">
              <a:buNone/>
            </a:pPr>
            <a:r>
              <a:rPr lang="en-US" sz="1600" b="1" dirty="0">
                <a:solidFill>
                  <a:srgbClr val="F1F5F9"/>
                </a:solidFill>
                <a:latin typeface="Pretendard" pitchFamily="34" charset="0"/>
                <a:ea typeface="Pretendard" pitchFamily="34" charset="-122"/>
                <a:cs typeface="Pretendard" pitchFamily="34" charset="-120"/>
              </a:rPr>
              <a:t>비정형 문서 처리</a:t>
            </a:r>
            <a:endParaRPr lang="en-US" sz="1600" dirty="0"/>
          </a:p>
        </p:txBody>
      </p:sp>
      <p:sp>
        <p:nvSpPr>
          <p:cNvPr id="16" name="Text 13"/>
          <p:cNvSpPr/>
          <p:nvPr/>
        </p:nvSpPr>
        <p:spPr>
          <a:xfrm>
            <a:off x="6080760" y="2798064"/>
            <a:ext cx="5486400" cy="502920"/>
          </a:xfrm>
          <a:prstGeom prst="rect">
            <a:avLst/>
          </a:prstGeom>
          <a:noFill/>
          <a:ln/>
        </p:spPr>
        <p:txBody>
          <a:bodyPr wrap="square" lIns="0" tIns="0" rIns="0" bIns="0" rtlCol="0" anchor="ctr"/>
          <a:lstStyle/>
          <a:p>
            <a:pPr marL="0" indent="0">
              <a:buNone/>
            </a:pPr>
            <a:r>
              <a:rPr lang="en-US" sz="1150" dirty="0">
                <a:solidFill>
                  <a:srgbClr val="9FADC2"/>
                </a:solidFill>
                <a:latin typeface="Pretendard" pitchFamily="34" charset="0"/>
                <a:ea typeface="Pretendard" pitchFamily="34" charset="-122"/>
                <a:cs typeface="Pretendard" pitchFamily="34" charset="-120"/>
              </a:rPr>
              <a:t>파싱 · 청킹 · 임베딩</a:t>
            </a:r>
            <a:endParaRPr lang="en-US" sz="1150" dirty="0"/>
          </a:p>
        </p:txBody>
      </p:sp>
      <p:sp>
        <p:nvSpPr>
          <p:cNvPr id="17" name="Shape 14"/>
          <p:cNvSpPr/>
          <p:nvPr/>
        </p:nvSpPr>
        <p:spPr>
          <a:xfrm>
            <a:off x="1097280" y="3310128"/>
            <a:ext cx="10241280" cy="0"/>
          </a:xfrm>
          <a:prstGeom prst="line">
            <a:avLst/>
          </a:prstGeom>
          <a:noFill/>
          <a:ln w="12700">
            <a:solidFill>
              <a:srgbClr val="1A2338"/>
            </a:solidFill>
            <a:prstDash val="solid"/>
          </a:ln>
        </p:spPr>
        <p:txBody>
          <a:bodyPr/>
          <a:lstStyle/>
          <a:p>
            <a:endParaRPr lang="ko-KR" altLang="en-US"/>
          </a:p>
        </p:txBody>
      </p:sp>
      <p:sp>
        <p:nvSpPr>
          <p:cNvPr id="18" name="Text 15"/>
          <p:cNvSpPr/>
          <p:nvPr/>
        </p:nvSpPr>
        <p:spPr>
          <a:xfrm>
            <a:off x="1097280" y="3374136"/>
            <a:ext cx="658368" cy="502920"/>
          </a:xfrm>
          <a:prstGeom prst="rect">
            <a:avLst/>
          </a:prstGeom>
          <a:solidFill>
            <a:srgbClr val="0F2A3A"/>
          </a:solidFill>
          <a:ln/>
        </p:spPr>
        <p:txBody>
          <a:bodyPr wrap="square" lIns="0" tIns="0" rIns="0" bIns="0" rtlCol="0" anchor="ctr"/>
          <a:lstStyle/>
          <a:p>
            <a:pPr marL="0" indent="0" algn="ctr">
              <a:buNone/>
            </a:pPr>
            <a:r>
              <a:rPr lang="en-US" sz="1400" b="1" dirty="0">
                <a:solidFill>
                  <a:srgbClr val="67E8F9"/>
                </a:solidFill>
                <a:latin typeface="Consolas" pitchFamily="34" charset="0"/>
                <a:ea typeface="Consolas" pitchFamily="34" charset="-122"/>
                <a:cs typeface="Consolas" pitchFamily="34" charset="-120"/>
              </a:rPr>
              <a:t>04</a:t>
            </a:r>
            <a:endParaRPr lang="en-US" sz="1400" dirty="0"/>
          </a:p>
        </p:txBody>
      </p:sp>
      <p:sp>
        <p:nvSpPr>
          <p:cNvPr id="19" name="Text 16"/>
          <p:cNvSpPr/>
          <p:nvPr/>
        </p:nvSpPr>
        <p:spPr>
          <a:xfrm>
            <a:off x="1965960" y="3374136"/>
            <a:ext cx="4023360" cy="502920"/>
          </a:xfrm>
          <a:prstGeom prst="rect">
            <a:avLst/>
          </a:prstGeom>
          <a:noFill/>
          <a:ln/>
        </p:spPr>
        <p:txBody>
          <a:bodyPr wrap="square" lIns="0" tIns="0" rIns="0" bIns="0" rtlCol="0" anchor="ctr"/>
          <a:lstStyle/>
          <a:p>
            <a:pPr marL="0" indent="0">
              <a:buNone/>
            </a:pPr>
            <a:r>
              <a:rPr lang="en-US" sz="1600" b="1" dirty="0">
                <a:solidFill>
                  <a:srgbClr val="F1F5F9"/>
                </a:solidFill>
                <a:latin typeface="Pretendard" pitchFamily="34" charset="0"/>
                <a:ea typeface="Pretendard" pitchFamily="34" charset="-122"/>
                <a:cs typeface="Pretendard" pitchFamily="34" charset="-120"/>
              </a:rPr>
              <a:t>업무량과 업무 추출</a:t>
            </a:r>
            <a:endParaRPr lang="en-US" sz="1600" dirty="0"/>
          </a:p>
        </p:txBody>
      </p:sp>
      <p:sp>
        <p:nvSpPr>
          <p:cNvPr id="20" name="Text 17"/>
          <p:cNvSpPr/>
          <p:nvPr/>
        </p:nvSpPr>
        <p:spPr>
          <a:xfrm>
            <a:off x="6080760" y="3374136"/>
            <a:ext cx="5486400" cy="502920"/>
          </a:xfrm>
          <a:prstGeom prst="rect">
            <a:avLst/>
          </a:prstGeom>
          <a:noFill/>
          <a:ln/>
        </p:spPr>
        <p:txBody>
          <a:bodyPr wrap="square" lIns="0" tIns="0" rIns="0" bIns="0" rtlCol="0" anchor="ctr"/>
          <a:lstStyle/>
          <a:p>
            <a:pPr marL="0" indent="0">
              <a:buNone/>
            </a:pPr>
            <a:r>
              <a:rPr lang="en-US" sz="1150" dirty="0">
                <a:solidFill>
                  <a:srgbClr val="9FADC2"/>
                </a:solidFill>
                <a:latin typeface="Pretendard" pitchFamily="34" charset="0"/>
                <a:ea typeface="Pretendard" pitchFamily="34" charset="-122"/>
                <a:cs typeface="Pretendard" pitchFamily="34" charset="-120"/>
              </a:rPr>
              <a:t>Jira 업무량 · 문서 기반 업무 추출</a:t>
            </a:r>
            <a:endParaRPr lang="en-US" sz="1150" dirty="0"/>
          </a:p>
        </p:txBody>
      </p:sp>
      <p:sp>
        <p:nvSpPr>
          <p:cNvPr id="21" name="Shape 18"/>
          <p:cNvSpPr/>
          <p:nvPr/>
        </p:nvSpPr>
        <p:spPr>
          <a:xfrm>
            <a:off x="1097280" y="3886200"/>
            <a:ext cx="10241280" cy="0"/>
          </a:xfrm>
          <a:prstGeom prst="line">
            <a:avLst/>
          </a:prstGeom>
          <a:noFill/>
          <a:ln w="12700">
            <a:solidFill>
              <a:srgbClr val="1A2338"/>
            </a:solidFill>
            <a:prstDash val="solid"/>
          </a:ln>
        </p:spPr>
        <p:txBody>
          <a:bodyPr/>
          <a:lstStyle/>
          <a:p>
            <a:endParaRPr lang="ko-KR" altLang="en-US"/>
          </a:p>
        </p:txBody>
      </p:sp>
      <p:sp>
        <p:nvSpPr>
          <p:cNvPr id="22" name="Text 19"/>
          <p:cNvSpPr/>
          <p:nvPr/>
        </p:nvSpPr>
        <p:spPr>
          <a:xfrm>
            <a:off x="1097280" y="3950208"/>
            <a:ext cx="658368" cy="502920"/>
          </a:xfrm>
          <a:prstGeom prst="rect">
            <a:avLst/>
          </a:prstGeom>
          <a:solidFill>
            <a:srgbClr val="0F2A3A"/>
          </a:solidFill>
          <a:ln/>
        </p:spPr>
        <p:txBody>
          <a:bodyPr wrap="square" lIns="0" tIns="0" rIns="0" bIns="0" rtlCol="0" anchor="ctr"/>
          <a:lstStyle/>
          <a:p>
            <a:pPr marL="0" indent="0" algn="ctr">
              <a:buNone/>
            </a:pPr>
            <a:r>
              <a:rPr lang="en-US" sz="1400" b="1" dirty="0">
                <a:solidFill>
                  <a:srgbClr val="67E8F9"/>
                </a:solidFill>
                <a:latin typeface="Consolas" pitchFamily="34" charset="0"/>
                <a:ea typeface="Consolas" pitchFamily="34" charset="-122"/>
                <a:cs typeface="Consolas" pitchFamily="34" charset="-120"/>
              </a:rPr>
              <a:t>05</a:t>
            </a:r>
            <a:endParaRPr lang="en-US" sz="1400" dirty="0"/>
          </a:p>
        </p:txBody>
      </p:sp>
      <p:sp>
        <p:nvSpPr>
          <p:cNvPr id="23" name="Text 20"/>
          <p:cNvSpPr/>
          <p:nvPr/>
        </p:nvSpPr>
        <p:spPr>
          <a:xfrm>
            <a:off x="1965960" y="3950208"/>
            <a:ext cx="4023360" cy="502920"/>
          </a:xfrm>
          <a:prstGeom prst="rect">
            <a:avLst/>
          </a:prstGeom>
          <a:noFill/>
          <a:ln/>
        </p:spPr>
        <p:txBody>
          <a:bodyPr wrap="square" lIns="0" tIns="0" rIns="0" bIns="0" rtlCol="0" anchor="ctr"/>
          <a:lstStyle/>
          <a:p>
            <a:pPr marL="0" indent="0">
              <a:buNone/>
            </a:pPr>
            <a:r>
              <a:rPr lang="en-US" sz="1600" b="1" dirty="0">
                <a:solidFill>
                  <a:srgbClr val="F1F5F9"/>
                </a:solidFill>
                <a:latin typeface="Pretendard" pitchFamily="34" charset="0"/>
                <a:ea typeface="Pretendard" pitchFamily="34" charset="-122"/>
                <a:cs typeface="Pretendard" pitchFamily="34" charset="-120"/>
              </a:rPr>
              <a:t>현황과 계획</a:t>
            </a:r>
            <a:endParaRPr lang="en-US" sz="1600" dirty="0"/>
          </a:p>
        </p:txBody>
      </p:sp>
      <p:sp>
        <p:nvSpPr>
          <p:cNvPr id="24" name="Text 21"/>
          <p:cNvSpPr/>
          <p:nvPr/>
        </p:nvSpPr>
        <p:spPr>
          <a:xfrm>
            <a:off x="6080760" y="3950208"/>
            <a:ext cx="5486400" cy="502920"/>
          </a:xfrm>
          <a:prstGeom prst="rect">
            <a:avLst/>
          </a:prstGeom>
          <a:noFill/>
          <a:ln/>
        </p:spPr>
        <p:txBody>
          <a:bodyPr wrap="square" lIns="0" tIns="0" rIns="0" bIns="0" rtlCol="0" anchor="ctr"/>
          <a:lstStyle/>
          <a:p>
            <a:pPr marL="0" indent="0">
              <a:buNone/>
            </a:pPr>
            <a:r>
              <a:rPr lang="en-US" sz="1150" dirty="0">
                <a:solidFill>
                  <a:srgbClr val="9FADC2"/>
                </a:solidFill>
                <a:latin typeface="Pretendard" pitchFamily="34" charset="0"/>
                <a:ea typeface="Pretendard" pitchFamily="34" charset="-122"/>
                <a:cs typeface="Pretendard" pitchFamily="34" charset="-120"/>
              </a:rPr>
              <a:t>구현 현황 · 향후 계획</a:t>
            </a:r>
            <a:endParaRPr lang="en-US" sz="1150" dirty="0"/>
          </a:p>
        </p:txBody>
      </p:sp>
      <p:sp>
        <p:nvSpPr>
          <p:cNvPr id="25" name="Shape 22"/>
          <p:cNvSpPr/>
          <p:nvPr/>
        </p:nvSpPr>
        <p:spPr>
          <a:xfrm>
            <a:off x="1097280" y="4462272"/>
            <a:ext cx="10241280" cy="0"/>
          </a:xfrm>
          <a:prstGeom prst="line">
            <a:avLst/>
          </a:prstGeom>
          <a:noFill/>
          <a:ln w="12700">
            <a:solidFill>
              <a:srgbClr val="1A2338"/>
            </a:solidFill>
            <a:prstDash val="solid"/>
          </a:ln>
        </p:spPr>
        <p:txBody>
          <a:bodyPr/>
          <a:lstStyle/>
          <a:p>
            <a:endParaRPr lang="ko-KR" altLang="en-US"/>
          </a:p>
        </p:txBody>
      </p:sp>
      <p:sp>
        <p:nvSpPr>
          <p:cNvPr id="26" name="Text 23"/>
          <p:cNvSpPr/>
          <p:nvPr/>
        </p:nvSpPr>
        <p:spPr>
          <a:xfrm>
            <a:off x="1097280" y="4526280"/>
            <a:ext cx="658368" cy="502920"/>
          </a:xfrm>
          <a:prstGeom prst="rect">
            <a:avLst/>
          </a:prstGeom>
          <a:solidFill>
            <a:srgbClr val="0F2A3A"/>
          </a:solidFill>
          <a:ln/>
        </p:spPr>
        <p:txBody>
          <a:bodyPr wrap="square" lIns="0" tIns="0" rIns="0" bIns="0" rtlCol="0" anchor="ctr"/>
          <a:lstStyle/>
          <a:p>
            <a:pPr marL="0" indent="0" algn="ctr">
              <a:buNone/>
            </a:pPr>
            <a:r>
              <a:rPr lang="en-US" sz="1400" b="1" dirty="0">
                <a:solidFill>
                  <a:srgbClr val="67E8F9"/>
                </a:solidFill>
                <a:latin typeface="Consolas" pitchFamily="34" charset="0"/>
                <a:ea typeface="Consolas" pitchFamily="34" charset="-122"/>
                <a:cs typeface="Consolas" pitchFamily="34" charset="-120"/>
              </a:rPr>
              <a:t>06</a:t>
            </a:r>
            <a:endParaRPr lang="en-US" sz="1400" dirty="0"/>
          </a:p>
        </p:txBody>
      </p:sp>
      <p:sp>
        <p:nvSpPr>
          <p:cNvPr id="27" name="Text 24"/>
          <p:cNvSpPr/>
          <p:nvPr/>
        </p:nvSpPr>
        <p:spPr>
          <a:xfrm>
            <a:off x="1965960" y="4526280"/>
            <a:ext cx="4023360" cy="502920"/>
          </a:xfrm>
          <a:prstGeom prst="rect">
            <a:avLst/>
          </a:prstGeom>
          <a:noFill/>
          <a:ln/>
        </p:spPr>
        <p:txBody>
          <a:bodyPr wrap="square" lIns="0" tIns="0" rIns="0" bIns="0" rtlCol="0" anchor="ctr"/>
          <a:lstStyle/>
          <a:p>
            <a:pPr marL="0" indent="0">
              <a:buNone/>
            </a:pPr>
            <a:r>
              <a:rPr lang="en-US" sz="1600" b="1" dirty="0">
                <a:solidFill>
                  <a:srgbClr val="F1F5F9"/>
                </a:solidFill>
                <a:latin typeface="Pretendard" pitchFamily="34" charset="0"/>
                <a:ea typeface="Pretendard" pitchFamily="34" charset="-122"/>
                <a:cs typeface="Pretendard" pitchFamily="34" charset="-120"/>
              </a:rPr>
              <a:t>중간 결과</a:t>
            </a:r>
            <a:endParaRPr lang="en-US" sz="1600" dirty="0"/>
          </a:p>
        </p:txBody>
      </p:sp>
      <p:sp>
        <p:nvSpPr>
          <p:cNvPr id="28" name="Text 25"/>
          <p:cNvSpPr/>
          <p:nvPr/>
        </p:nvSpPr>
        <p:spPr>
          <a:xfrm>
            <a:off x="6080760" y="4526280"/>
            <a:ext cx="5486400" cy="502920"/>
          </a:xfrm>
          <a:prstGeom prst="rect">
            <a:avLst/>
          </a:prstGeom>
          <a:noFill/>
          <a:ln/>
        </p:spPr>
        <p:txBody>
          <a:bodyPr wrap="square" lIns="0" tIns="0" rIns="0" bIns="0" rtlCol="0" anchor="ctr"/>
          <a:lstStyle/>
          <a:p>
            <a:pPr marL="0" indent="0">
              <a:buNone/>
            </a:pPr>
            <a:r>
              <a:rPr lang="en-US" sz="1150" dirty="0">
                <a:solidFill>
                  <a:srgbClr val="9FADC2"/>
                </a:solidFill>
                <a:latin typeface="Pretendard" pitchFamily="34" charset="0"/>
                <a:ea typeface="Pretendard" pitchFamily="34" charset="-122"/>
                <a:cs typeface="Pretendard" pitchFamily="34" charset="-120"/>
              </a:rPr>
              <a:t>선도기업 연계성 · 자체 평가</a:t>
            </a:r>
            <a:endParaRPr lang="en-US" sz="1150" dirty="0"/>
          </a:p>
        </p:txBody>
      </p:sp>
      <p:sp>
        <p:nvSpPr>
          <p:cNvPr id="29" name="Shape 26"/>
          <p:cNvSpPr/>
          <p:nvPr/>
        </p:nvSpPr>
        <p:spPr>
          <a:xfrm>
            <a:off x="1097280" y="5038344"/>
            <a:ext cx="10241280" cy="0"/>
          </a:xfrm>
          <a:prstGeom prst="line">
            <a:avLst/>
          </a:prstGeom>
          <a:noFill/>
          <a:ln w="12700">
            <a:solidFill>
              <a:srgbClr val="1A2338"/>
            </a:solidFill>
            <a:prstDash val="solid"/>
          </a:ln>
        </p:spPr>
        <p:txBody>
          <a:bodyPr/>
          <a:lstStyle/>
          <a:p>
            <a:endParaRPr lang="ko-KR" altLang="en-US"/>
          </a:p>
        </p:txBody>
      </p:sp>
      <p:sp>
        <p:nvSpPr>
          <p:cNvPr id="30" name="Text 27"/>
          <p:cNvSpPr/>
          <p:nvPr/>
        </p:nvSpPr>
        <p:spPr>
          <a:xfrm>
            <a:off x="1097280" y="5102352"/>
            <a:ext cx="658368" cy="502920"/>
          </a:xfrm>
          <a:prstGeom prst="rect">
            <a:avLst/>
          </a:prstGeom>
          <a:solidFill>
            <a:srgbClr val="0F2A3A"/>
          </a:solidFill>
          <a:ln/>
        </p:spPr>
        <p:txBody>
          <a:bodyPr wrap="square" lIns="0" tIns="0" rIns="0" bIns="0" rtlCol="0" anchor="ctr"/>
          <a:lstStyle/>
          <a:p>
            <a:pPr marL="0" indent="0" algn="ctr">
              <a:buNone/>
            </a:pPr>
            <a:r>
              <a:rPr lang="en-US" sz="1400" b="1" dirty="0">
                <a:solidFill>
                  <a:srgbClr val="67E8F9"/>
                </a:solidFill>
                <a:latin typeface="Consolas" pitchFamily="34" charset="0"/>
                <a:ea typeface="Consolas" pitchFamily="34" charset="-122"/>
                <a:cs typeface="Consolas" pitchFamily="34" charset="-120"/>
              </a:rPr>
              <a:t>07</a:t>
            </a:r>
            <a:endParaRPr lang="en-US" sz="1400" dirty="0"/>
          </a:p>
        </p:txBody>
      </p:sp>
      <p:sp>
        <p:nvSpPr>
          <p:cNvPr id="31" name="Text 28"/>
          <p:cNvSpPr/>
          <p:nvPr/>
        </p:nvSpPr>
        <p:spPr>
          <a:xfrm>
            <a:off x="1965960" y="5102352"/>
            <a:ext cx="4023360" cy="502920"/>
          </a:xfrm>
          <a:prstGeom prst="rect">
            <a:avLst/>
          </a:prstGeom>
          <a:noFill/>
          <a:ln/>
        </p:spPr>
        <p:txBody>
          <a:bodyPr wrap="square" lIns="0" tIns="0" rIns="0" bIns="0" rtlCol="0" anchor="ctr"/>
          <a:lstStyle/>
          <a:p>
            <a:pPr marL="0" indent="0">
              <a:buNone/>
            </a:pPr>
            <a:r>
              <a:rPr lang="en-US" sz="1600" b="1" dirty="0">
                <a:solidFill>
                  <a:srgbClr val="F1F5F9"/>
                </a:solidFill>
                <a:latin typeface="Pretendard" pitchFamily="34" charset="0"/>
                <a:ea typeface="Pretendard" pitchFamily="34" charset="-122"/>
                <a:cs typeface="Pretendard" pitchFamily="34" charset="-120"/>
              </a:rPr>
              <a:t>Q&amp;A</a:t>
            </a:r>
            <a:endParaRPr lang="en-US" sz="1600" dirty="0"/>
          </a:p>
        </p:txBody>
      </p:sp>
      <p:sp>
        <p:nvSpPr>
          <p:cNvPr id="32" name="Text 29"/>
          <p:cNvSpPr/>
          <p:nvPr/>
        </p:nvSpPr>
        <p:spPr>
          <a:xfrm>
            <a:off x="6080760" y="5102352"/>
            <a:ext cx="5486400" cy="502920"/>
          </a:xfrm>
          <a:prstGeom prst="rect">
            <a:avLst/>
          </a:prstGeom>
          <a:noFill/>
          <a:ln/>
        </p:spPr>
        <p:txBody>
          <a:bodyPr wrap="square" lIns="0" tIns="0" rIns="0" bIns="0" rtlCol="0" anchor="ctr"/>
          <a:lstStyle/>
          <a:p>
            <a:pPr marL="0" indent="0">
              <a:buNone/>
            </a:pPr>
            <a:r>
              <a:rPr lang="en-US" sz="1150" dirty="0">
                <a:solidFill>
                  <a:srgbClr val="9FADC2"/>
                </a:solidFill>
                <a:latin typeface="Pretendard" pitchFamily="34" charset="0"/>
                <a:ea typeface="Pretendard" pitchFamily="34" charset="-122"/>
                <a:cs typeface="Pretendard" pitchFamily="34" charset="-120"/>
              </a:rPr>
              <a:t>질의응답</a:t>
            </a:r>
            <a:endParaRPr lang="en-US" sz="1150" dirty="0"/>
          </a:p>
        </p:txBody>
      </p:sp>
      <p:sp>
        <p:nvSpPr>
          <p:cNvPr id="33" name="Shape 30"/>
          <p:cNvSpPr/>
          <p:nvPr/>
        </p:nvSpPr>
        <p:spPr>
          <a:xfrm>
            <a:off x="1097280" y="5614416"/>
            <a:ext cx="10241280" cy="0"/>
          </a:xfrm>
          <a:prstGeom prst="line">
            <a:avLst/>
          </a:prstGeom>
          <a:noFill/>
          <a:ln w="12700">
            <a:solidFill>
              <a:srgbClr val="1A2338"/>
            </a:solidFill>
            <a:prstDash val="solid"/>
          </a:ln>
        </p:spPr>
        <p:txBody>
          <a:bodyPr/>
          <a:lstStyle/>
          <a:p>
            <a:endParaRPr lang="ko-KR" altLang="en-US"/>
          </a:p>
        </p:txBody>
      </p:sp>
      <p:sp>
        <p:nvSpPr>
          <p:cNvPr id="34" name="Text 31"/>
          <p:cNvSpPr/>
          <p:nvPr/>
        </p:nvSpPr>
        <p:spPr>
          <a:xfrm>
            <a:off x="1097280" y="5678424"/>
            <a:ext cx="658368" cy="502920"/>
          </a:xfrm>
          <a:prstGeom prst="rect">
            <a:avLst/>
          </a:prstGeom>
          <a:solidFill>
            <a:srgbClr val="1B2436"/>
          </a:solidFill>
          <a:ln/>
        </p:spPr>
        <p:txBody>
          <a:bodyPr wrap="square" lIns="0" tIns="0" rIns="0" bIns="0" rtlCol="0" anchor="ctr"/>
          <a:lstStyle/>
          <a:p>
            <a:pPr marL="0" indent="0" algn="ctr">
              <a:buNone/>
            </a:pPr>
            <a:r>
              <a:rPr lang="en-US" sz="1150" b="1" dirty="0">
                <a:solidFill>
                  <a:srgbClr val="9FADC2"/>
                </a:solidFill>
                <a:latin typeface="Pretendard" pitchFamily="34" charset="0"/>
                <a:ea typeface="Pretendard" pitchFamily="34" charset="-122"/>
                <a:cs typeface="Pretendard" pitchFamily="34" charset="-120"/>
              </a:rPr>
              <a:t>부록</a:t>
            </a:r>
            <a:endParaRPr lang="en-US" sz="1150" dirty="0"/>
          </a:p>
        </p:txBody>
      </p:sp>
      <p:sp>
        <p:nvSpPr>
          <p:cNvPr id="35" name="Text 32"/>
          <p:cNvSpPr/>
          <p:nvPr/>
        </p:nvSpPr>
        <p:spPr>
          <a:xfrm>
            <a:off x="1965960" y="5678424"/>
            <a:ext cx="4023360" cy="502920"/>
          </a:xfrm>
          <a:prstGeom prst="rect">
            <a:avLst/>
          </a:prstGeom>
          <a:noFill/>
          <a:ln/>
        </p:spPr>
        <p:txBody>
          <a:bodyPr wrap="square" lIns="0" tIns="0" rIns="0" bIns="0" rtlCol="0" anchor="ctr"/>
          <a:lstStyle/>
          <a:p>
            <a:pPr marL="0" indent="0">
              <a:buNone/>
            </a:pPr>
            <a:r>
              <a:rPr lang="en-US" sz="1300" b="1" dirty="0">
                <a:solidFill>
                  <a:srgbClr val="BAC6D8"/>
                </a:solidFill>
                <a:latin typeface="Consolas" pitchFamily="34" charset="0"/>
                <a:ea typeface="Consolas" pitchFamily="34" charset="-122"/>
                <a:cs typeface="Consolas" pitchFamily="34" charset="-120"/>
              </a:rPr>
              <a:t>APPENDIX</a:t>
            </a:r>
            <a:endParaRPr lang="en-US" sz="1300" dirty="0"/>
          </a:p>
        </p:txBody>
      </p:sp>
      <p:sp>
        <p:nvSpPr>
          <p:cNvPr id="36" name="Text 33"/>
          <p:cNvSpPr/>
          <p:nvPr/>
        </p:nvSpPr>
        <p:spPr>
          <a:xfrm>
            <a:off x="6080760" y="5678424"/>
            <a:ext cx="5486400" cy="502920"/>
          </a:xfrm>
          <a:prstGeom prst="rect">
            <a:avLst/>
          </a:prstGeom>
          <a:noFill/>
          <a:ln/>
        </p:spPr>
        <p:txBody>
          <a:bodyPr wrap="square" lIns="0" tIns="0" rIns="0" bIns="0" rtlCol="0" anchor="ctr"/>
          <a:lstStyle/>
          <a:p>
            <a:pPr marL="0" indent="0">
              <a:buNone/>
            </a:pPr>
            <a:r>
              <a:rPr lang="en-US" sz="1150" dirty="0">
                <a:solidFill>
                  <a:srgbClr val="9FADC2"/>
                </a:solidFill>
                <a:latin typeface="Pretendard" pitchFamily="34" charset="0"/>
                <a:ea typeface="Pretendard" pitchFamily="34" charset="-122"/>
                <a:cs typeface="Pretendard" pitchFamily="34" charset="-120"/>
              </a:rPr>
              <a:t>파싱 · 청킹 근거 ①~⑤   ·   소유 구조 · 업무량 규칙 · 추출 판단 · 측정 계획 · 통계 원본 ⑥~⑩</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TEAM</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팀 구성 및 역할</a:t>
            </a:r>
            <a:endParaRPr lang="en-US" sz="2700" dirty="0"/>
          </a:p>
        </p:txBody>
      </p:sp>
      <p:sp>
        <p:nvSpPr>
          <p:cNvPr id="5" name="Text 2"/>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03</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97280" y="1783080"/>
          <a:ext cx="7863840" cy="3072384"/>
        </p:xfrm>
        <a:graphic>
          <a:graphicData uri="http://schemas.openxmlformats.org/drawingml/2006/table">
            <a:tbl>
              <a:tblPr/>
              <a:tblGrid>
                <a:gridCol w="123444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512064">
                <a:tc>
                  <a:txBody>
                    <a:bodyPr/>
                    <a:lstStyle/>
                    <a:p>
                      <a:pPr marL="0" indent="0">
                        <a:buNone/>
                      </a:pPr>
                      <a:r>
                        <a:rPr lang="en-US" sz="1200" b="1" dirty="0">
                          <a:solidFill>
                            <a:srgbClr val="67E8F9"/>
                          </a:solidFill>
                          <a:latin typeface="Pretendard" pitchFamily="34" charset="0"/>
                          <a:ea typeface="Pretendard" pitchFamily="34" charset="-122"/>
                          <a:cs typeface="Pretendard" pitchFamily="34" charset="-120"/>
                        </a:rPr>
                        <a:t>구성원</a:t>
                      </a:r>
                      <a:endParaRPr lang="en-US" sz="120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tc>
                  <a:txBody>
                    <a:bodyPr/>
                    <a:lstStyle/>
                    <a:p>
                      <a:pPr marL="0" indent="0">
                        <a:buNone/>
                      </a:pPr>
                      <a:r>
                        <a:rPr lang="en-US" sz="1200" b="1" dirty="0">
                          <a:solidFill>
                            <a:srgbClr val="67E8F9"/>
                          </a:solidFill>
                          <a:latin typeface="Pretendard" pitchFamily="34" charset="0"/>
                          <a:ea typeface="Pretendard" pitchFamily="34" charset="-122"/>
                          <a:cs typeface="Pretendard" pitchFamily="34" charset="-120"/>
                        </a:rPr>
                        <a:t>역할</a:t>
                      </a:r>
                      <a:endParaRPr lang="en-US" sz="120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tc>
                  <a:txBody>
                    <a:bodyPr/>
                    <a:lstStyle/>
                    <a:p>
                      <a:pPr marL="0" indent="0">
                        <a:buNone/>
                      </a:pPr>
                      <a:r>
                        <a:rPr lang="en-US" sz="1200" b="1" dirty="0">
                          <a:solidFill>
                            <a:srgbClr val="67E8F9"/>
                          </a:solidFill>
                          <a:latin typeface="Pretendard" pitchFamily="34" charset="0"/>
                          <a:ea typeface="Pretendard" pitchFamily="34" charset="-122"/>
                          <a:cs typeface="Pretendard" pitchFamily="34" charset="-120"/>
                        </a:rPr>
                        <a:t>담당 업무</a:t>
                      </a:r>
                      <a:endParaRPr lang="en-US" sz="120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extLst>
                  <a:ext uri="{0D108BD9-81ED-4DB2-BD59-A6C34878D82A}">
                    <a16:rowId xmlns:a16="http://schemas.microsoft.com/office/drawing/2014/main" val="10000"/>
                  </a:ext>
                </a:extLst>
              </a:tr>
              <a:tr h="512064">
                <a:tc>
                  <a:txBody>
                    <a:bodyPr/>
                    <a:lstStyle/>
                    <a:p>
                      <a:pPr marL="0" indent="0">
                        <a:buNone/>
                      </a:pPr>
                      <a:r>
                        <a:rPr lang="en-US" sz="1250" b="1" dirty="0">
                          <a:solidFill>
                            <a:srgbClr val="F1F5F9"/>
                          </a:solidFill>
                          <a:latin typeface="Pretendard" pitchFamily="34" charset="0"/>
                          <a:ea typeface="Pretendard" pitchFamily="34" charset="-122"/>
                          <a:cs typeface="Pretendard" pitchFamily="34" charset="-120"/>
                        </a:rPr>
                        <a:t>임준</a:t>
                      </a:r>
                      <a:endParaRPr lang="en-US" sz="12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buNone/>
                      </a:pPr>
                      <a:r>
                        <a:rPr lang="en-US" sz="1250" dirty="0">
                          <a:solidFill>
                            <a:srgbClr val="BAC6D8"/>
                          </a:solidFill>
                          <a:latin typeface="Pretendard Light" pitchFamily="34" charset="0"/>
                          <a:ea typeface="Pretendard Light" pitchFamily="34" charset="-122"/>
                          <a:cs typeface="Pretendard Light" pitchFamily="34" charset="-120"/>
                        </a:rPr>
                        <a:t>PM / 풀스택</a:t>
                      </a:r>
                      <a:endParaRPr lang="en-US" sz="12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buNone/>
                      </a:pPr>
                      <a:r>
                        <a:rPr lang="en-US" sz="1250" dirty="0">
                          <a:solidFill>
                            <a:srgbClr val="BAC6D8"/>
                          </a:solidFill>
                          <a:latin typeface="Pretendard Light" pitchFamily="34" charset="0"/>
                          <a:ea typeface="Pretendard Light" pitchFamily="34" charset="-122"/>
                          <a:cs typeface="Pretendard Light" pitchFamily="34" charset="-120"/>
                        </a:rPr>
                        <a:t>시스템 설계 총괄 · 커넥터 · 업무 추출/업무량 · 주요 화면</a:t>
                      </a:r>
                      <a:endParaRPr lang="en-US" sz="12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1"/>
                  </a:ext>
                </a:extLst>
              </a:tr>
              <a:tr h="512064">
                <a:tc>
                  <a:txBody>
                    <a:bodyPr/>
                    <a:lstStyle/>
                    <a:p>
                      <a:pPr marL="0" indent="0">
                        <a:buNone/>
                      </a:pPr>
                      <a:r>
                        <a:rPr lang="en-US" sz="1250" b="1" dirty="0">
                          <a:solidFill>
                            <a:srgbClr val="F1F5F9"/>
                          </a:solidFill>
                          <a:latin typeface="Pretendard" pitchFamily="34" charset="0"/>
                          <a:ea typeface="Pretendard" pitchFamily="34" charset="-122"/>
                          <a:cs typeface="Pretendard" pitchFamily="34" charset="-120"/>
                        </a:rPr>
                        <a:t>최원빈</a:t>
                      </a:r>
                      <a:endParaRPr lang="en-US" sz="12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buNone/>
                      </a:pPr>
                      <a:r>
                        <a:rPr lang="en-US" sz="1250" dirty="0">
                          <a:solidFill>
                            <a:srgbClr val="BAC6D8"/>
                          </a:solidFill>
                          <a:latin typeface="Pretendard Light" pitchFamily="34" charset="0"/>
                          <a:ea typeface="Pretendard Light" pitchFamily="34" charset="-122"/>
                          <a:cs typeface="Pretendard Light" pitchFamily="34" charset="-120"/>
                        </a:rPr>
                        <a:t>AI / Data</a:t>
                      </a:r>
                      <a:endParaRPr lang="en-US" sz="12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buNone/>
                      </a:pPr>
                      <a:r>
                        <a:rPr lang="en-US" sz="1250" dirty="0">
                          <a:solidFill>
                            <a:srgbClr val="BAC6D8"/>
                          </a:solidFill>
                          <a:latin typeface="Pretendard Light" pitchFamily="34" charset="0"/>
                          <a:ea typeface="Pretendard Light" pitchFamily="34" charset="-122"/>
                          <a:cs typeface="Pretendard Light" pitchFamily="34" charset="-120"/>
                        </a:rPr>
                        <a:t>문서 파싱 · 청킹 · 임베딩 파이프라인 (RunPod Worker)</a:t>
                      </a:r>
                      <a:endParaRPr lang="en-US" sz="12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2"/>
                  </a:ext>
                </a:extLst>
              </a:tr>
              <a:tr h="512064">
                <a:tc>
                  <a:txBody>
                    <a:bodyPr/>
                    <a:lstStyle/>
                    <a:p>
                      <a:pPr marL="0" indent="0">
                        <a:buNone/>
                      </a:pPr>
                      <a:r>
                        <a:rPr lang="en-US" sz="1250" b="1" dirty="0">
                          <a:solidFill>
                            <a:srgbClr val="F1F5F9"/>
                          </a:solidFill>
                          <a:latin typeface="Pretendard" pitchFamily="34" charset="0"/>
                          <a:ea typeface="Pretendard" pitchFamily="34" charset="-122"/>
                          <a:cs typeface="Pretendard" pitchFamily="34" charset="-120"/>
                        </a:rPr>
                        <a:t>성주연</a:t>
                      </a:r>
                      <a:endParaRPr lang="en-US" sz="12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buNone/>
                      </a:pPr>
                      <a:r>
                        <a:rPr lang="en-US" sz="1250" dirty="0">
                          <a:solidFill>
                            <a:srgbClr val="BAC6D8"/>
                          </a:solidFill>
                          <a:latin typeface="Pretendard Light" pitchFamily="34" charset="0"/>
                          <a:ea typeface="Pretendard Light" pitchFamily="34" charset="-122"/>
                          <a:cs typeface="Pretendard Light" pitchFamily="34" charset="-120"/>
                        </a:rPr>
                        <a:t>Backend / DB</a:t>
                      </a:r>
                      <a:endParaRPr lang="en-US" sz="12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buNone/>
                      </a:pPr>
                      <a:r>
                        <a:rPr lang="en-US" sz="1250" dirty="0">
                          <a:solidFill>
                            <a:srgbClr val="BAC6D8"/>
                          </a:solidFill>
                          <a:latin typeface="Pretendard Light" pitchFamily="34" charset="0"/>
                          <a:ea typeface="Pretendard Light" pitchFamily="34" charset="-122"/>
                          <a:cs typeface="Pretendard Light" pitchFamily="34" charset="-120"/>
                        </a:rPr>
                        <a:t>DB 스키마 설계 · 운영자 콘솔 (백엔드 · 화면)</a:t>
                      </a:r>
                      <a:endParaRPr lang="en-US" sz="12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3"/>
                  </a:ext>
                </a:extLst>
              </a:tr>
              <a:tr h="512064">
                <a:tc>
                  <a:txBody>
                    <a:bodyPr/>
                    <a:lstStyle/>
                    <a:p>
                      <a:pPr marL="0" indent="0">
                        <a:buNone/>
                      </a:pPr>
                      <a:r>
                        <a:rPr lang="en-US" sz="1250" b="1" dirty="0">
                          <a:solidFill>
                            <a:srgbClr val="F1F5F9"/>
                          </a:solidFill>
                          <a:latin typeface="Pretendard" pitchFamily="34" charset="0"/>
                          <a:ea typeface="Pretendard" pitchFamily="34" charset="-122"/>
                          <a:cs typeface="Pretendard" pitchFamily="34" charset="-120"/>
                        </a:rPr>
                        <a:t>김지훈</a:t>
                      </a:r>
                      <a:endParaRPr lang="en-US" sz="12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buNone/>
                      </a:pPr>
                      <a:r>
                        <a:rPr lang="en-US" sz="1250" dirty="0">
                          <a:solidFill>
                            <a:srgbClr val="BAC6D8"/>
                          </a:solidFill>
                          <a:latin typeface="Pretendard Light" pitchFamily="34" charset="0"/>
                          <a:ea typeface="Pretendard Light" pitchFamily="34" charset="-122"/>
                          <a:cs typeface="Pretendard Light" pitchFamily="34" charset="-120"/>
                        </a:rPr>
                        <a:t>Frontend / Data</a:t>
                      </a:r>
                      <a:endParaRPr lang="en-US" sz="12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buNone/>
                      </a:pPr>
                      <a:r>
                        <a:rPr lang="en-US" sz="1250" dirty="0">
                          <a:solidFill>
                            <a:srgbClr val="BAC6D8"/>
                          </a:solidFill>
                          <a:latin typeface="Pretendard Light" pitchFamily="34" charset="0"/>
                          <a:ea typeface="Pretendard Light" pitchFamily="34" charset="-122"/>
                          <a:cs typeface="Pretendard Light" pitchFamily="34" charset="-120"/>
                        </a:rPr>
                        <a:t>랜딩 · 로그인 · 팀 설정 · 온보딩 · 표 청킹 작업 기록</a:t>
                      </a:r>
                      <a:endParaRPr lang="en-US" sz="12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4"/>
                  </a:ext>
                </a:extLst>
              </a:tr>
              <a:tr h="512064">
                <a:tc>
                  <a:txBody>
                    <a:bodyPr/>
                    <a:lstStyle/>
                    <a:p>
                      <a:pPr marL="0" indent="0">
                        <a:buNone/>
                      </a:pPr>
                      <a:r>
                        <a:rPr lang="en-US" sz="1250" b="1" dirty="0">
                          <a:solidFill>
                            <a:srgbClr val="F1F5F9"/>
                          </a:solidFill>
                          <a:latin typeface="Pretendard" pitchFamily="34" charset="0"/>
                          <a:ea typeface="Pretendard" pitchFamily="34" charset="-122"/>
                          <a:cs typeface="Pretendard" pitchFamily="34" charset="-120"/>
                        </a:rPr>
                        <a:t>임준억</a:t>
                      </a:r>
                      <a:endParaRPr lang="en-US" sz="12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buNone/>
                      </a:pPr>
                      <a:r>
                        <a:rPr lang="en-US" sz="1250" dirty="0">
                          <a:solidFill>
                            <a:srgbClr val="BAC6D8"/>
                          </a:solidFill>
                          <a:latin typeface="Pretendard Light" pitchFamily="34" charset="0"/>
                          <a:ea typeface="Pretendard Light" pitchFamily="34" charset="-122"/>
                          <a:cs typeface="Pretendard Light" pitchFamily="34" charset="-120"/>
                        </a:rPr>
                        <a:t>Frontend</a:t>
                      </a:r>
                      <a:endParaRPr lang="en-US" sz="12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buNone/>
                      </a:pPr>
                      <a:r>
                        <a:rPr lang="en-US" sz="1250" dirty="0">
                          <a:solidFill>
                            <a:srgbClr val="BAC6D8"/>
                          </a:solidFill>
                          <a:latin typeface="Pretendard Light" pitchFamily="34" charset="0"/>
                          <a:ea typeface="Pretendard Light" pitchFamily="34" charset="-122"/>
                          <a:cs typeface="Pretendard Light" pitchFamily="34" charset="-120"/>
                        </a:rPr>
                        <a:t>운영자 콘솔 화면 · 랜딩 · 워크스페이스 · Agent 문서 정리</a:t>
                      </a:r>
                      <a:endParaRPr lang="en-US" sz="12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5"/>
                  </a:ext>
                </a:extLst>
              </a:tr>
            </a:tbl>
          </a:graphicData>
        </a:graphic>
      </p:graphicFrame>
      <p:sp>
        <p:nvSpPr>
          <p:cNvPr id="7" name="Text 3"/>
          <p:cNvSpPr/>
          <p:nvPr/>
        </p:nvSpPr>
        <p:spPr>
          <a:xfrm>
            <a:off x="9235440" y="1874520"/>
            <a:ext cx="2377440" cy="274320"/>
          </a:xfrm>
          <a:prstGeom prst="rect">
            <a:avLst/>
          </a:prstGeom>
          <a:noFill/>
          <a:ln/>
        </p:spPr>
        <p:txBody>
          <a:bodyPr wrap="square" lIns="0" tIns="0" rIns="0" bIns="0" rtlCol="0" anchor="ctr"/>
          <a:lstStyle/>
          <a:p>
            <a:pPr marL="0" indent="0">
              <a:buNone/>
            </a:pPr>
            <a:r>
              <a:rPr lang="en-US" sz="1150" b="1" dirty="0">
                <a:solidFill>
                  <a:srgbClr val="67E8F9"/>
                </a:solidFill>
                <a:latin typeface="Pretendard" pitchFamily="34" charset="0"/>
                <a:ea typeface="Pretendard" pitchFamily="34" charset="-122"/>
                <a:cs typeface="Pretendard" pitchFamily="34" charset="-120"/>
              </a:rPr>
              <a:t>멘토링 지원</a:t>
            </a:r>
            <a:endParaRPr lang="en-US" sz="1150" dirty="0"/>
          </a:p>
        </p:txBody>
      </p:sp>
      <p:sp>
        <p:nvSpPr>
          <p:cNvPr id="8" name="Text 4"/>
          <p:cNvSpPr/>
          <p:nvPr/>
        </p:nvSpPr>
        <p:spPr>
          <a:xfrm>
            <a:off x="9235440" y="2212848"/>
            <a:ext cx="2377440" cy="1463040"/>
          </a:xfrm>
          <a:prstGeom prst="rect">
            <a:avLst/>
          </a:prstGeom>
          <a:noFill/>
          <a:ln/>
        </p:spPr>
        <p:txBody>
          <a:bodyPr wrap="square" lIns="0" tIns="0" rIns="0" bIns="0" rtlCol="0" anchor="t"/>
          <a:lstStyle/>
          <a:p>
            <a:pPr marL="177800" indent="-177800">
              <a:lnSpc>
                <a:spcPct val="115000"/>
              </a:lnSpc>
              <a:spcAft>
                <a:spcPts val="600"/>
              </a:spcAft>
              <a:buSzPct val="100000"/>
              <a:buChar char="–"/>
            </a:pPr>
            <a:r>
              <a:rPr lang="en-US" sz="1100" dirty="0">
                <a:solidFill>
                  <a:srgbClr val="BAC6D8"/>
                </a:solidFill>
                <a:latin typeface="Pretendard" pitchFamily="34" charset="0"/>
                <a:ea typeface="Pretendard" pitchFamily="34" charset="-122"/>
                <a:cs typeface="Pretendard" pitchFamily="34" charset="-120"/>
              </a:rPr>
              <a:t>문제 정의 방향 검토</a:t>
            </a:r>
            <a:endParaRPr lang="en-US" sz="1100" dirty="0"/>
          </a:p>
          <a:p>
            <a:pPr marL="177800" indent="-177800">
              <a:lnSpc>
                <a:spcPct val="115000"/>
              </a:lnSpc>
              <a:spcAft>
                <a:spcPts val="600"/>
              </a:spcAft>
              <a:buSzPct val="100000"/>
              <a:buChar char="–"/>
            </a:pPr>
            <a:r>
              <a:rPr lang="en-US" sz="1100" dirty="0">
                <a:solidFill>
                  <a:srgbClr val="BAC6D8"/>
                </a:solidFill>
                <a:latin typeface="Pretendard" pitchFamily="34" charset="0"/>
                <a:ea typeface="Pretendard" pitchFamily="34" charset="-122"/>
                <a:cs typeface="Pretendard" pitchFamily="34" charset="-120"/>
              </a:rPr>
              <a:t>MVP 범위 조정</a:t>
            </a:r>
            <a:endParaRPr lang="en-US" sz="1100" dirty="0"/>
          </a:p>
          <a:p>
            <a:pPr marL="177800" indent="-177800">
              <a:lnSpc>
                <a:spcPct val="115000"/>
              </a:lnSpc>
              <a:spcAft>
                <a:spcPts val="600"/>
              </a:spcAft>
              <a:buSzPct val="100000"/>
              <a:buChar char="–"/>
            </a:pPr>
            <a:r>
              <a:rPr lang="en-US" sz="1100" dirty="0">
                <a:solidFill>
                  <a:srgbClr val="BAC6D8"/>
                </a:solidFill>
                <a:latin typeface="Pretendard" pitchFamily="34" charset="0"/>
                <a:ea typeface="Pretendard" pitchFamily="34" charset="-122"/>
                <a:cs typeface="Pretendard" pitchFamily="34" charset="-120"/>
              </a:rPr>
              <a:t>시스템 설계 피드백</a:t>
            </a:r>
            <a:endParaRPr lang="en-US" sz="1100" dirty="0"/>
          </a:p>
        </p:txBody>
      </p:sp>
      <p:sp>
        <p:nvSpPr>
          <p:cNvPr id="9" name="Text 5"/>
          <p:cNvSpPr/>
          <p:nvPr/>
        </p:nvSpPr>
        <p:spPr>
          <a:xfrm>
            <a:off x="1097280" y="5029200"/>
            <a:ext cx="2743200" cy="274320"/>
          </a:xfrm>
          <a:prstGeom prst="rect">
            <a:avLst/>
          </a:prstGeom>
          <a:noFill/>
          <a:ln/>
        </p:spPr>
        <p:txBody>
          <a:bodyPr wrap="square" lIns="0" tIns="0" rIns="0" bIns="0" rtlCol="0" anchor="ctr"/>
          <a:lstStyle/>
          <a:p>
            <a:pPr marL="0" indent="0">
              <a:buNone/>
            </a:pPr>
            <a:r>
              <a:rPr lang="en-US" sz="1150" b="1" dirty="0">
                <a:solidFill>
                  <a:srgbClr val="67E8F9"/>
                </a:solidFill>
                <a:latin typeface="Pretendard" pitchFamily="34" charset="0"/>
                <a:ea typeface="Pretendard" pitchFamily="34" charset="-122"/>
                <a:cs typeface="Pretendard" pitchFamily="34" charset="-120"/>
              </a:rPr>
              <a:t>협업 방식</a:t>
            </a:r>
            <a:endParaRPr lang="en-US" sz="1150" dirty="0"/>
          </a:p>
        </p:txBody>
      </p:sp>
      <p:sp>
        <p:nvSpPr>
          <p:cNvPr id="10" name="Shape 6"/>
          <p:cNvSpPr/>
          <p:nvPr/>
        </p:nvSpPr>
        <p:spPr>
          <a:xfrm>
            <a:off x="1097280" y="5394960"/>
            <a:ext cx="2377440" cy="731520"/>
          </a:xfrm>
          <a:prstGeom prst="roundRect">
            <a:avLst>
              <a:gd name="adj" fmla="val 7500"/>
            </a:avLst>
          </a:prstGeom>
          <a:solidFill>
            <a:srgbClr val="161D2E"/>
          </a:solidFill>
          <a:ln w="12700">
            <a:solidFill>
              <a:srgbClr val="263049"/>
            </a:solidFill>
            <a:prstDash val="solid"/>
          </a:ln>
        </p:spPr>
        <p:txBody>
          <a:bodyPr/>
          <a:lstStyle/>
          <a:p>
            <a:endParaRPr lang="ko-KR" altLang="en-US"/>
          </a:p>
        </p:txBody>
      </p:sp>
      <p:sp>
        <p:nvSpPr>
          <p:cNvPr id="11" name="Text 7"/>
          <p:cNvSpPr/>
          <p:nvPr/>
        </p:nvSpPr>
        <p:spPr>
          <a:xfrm>
            <a:off x="1161288" y="5490058"/>
            <a:ext cx="2249424" cy="321869"/>
          </a:xfrm>
          <a:prstGeom prst="rect">
            <a:avLst/>
          </a:prstGeom>
          <a:noFill/>
          <a:ln/>
        </p:spPr>
        <p:txBody>
          <a:bodyPr wrap="square" lIns="0" tIns="0" rIns="0" bIns="0" rtlCol="0" anchor="ctr"/>
          <a:lstStyle/>
          <a:p>
            <a:pPr marL="0" indent="0" algn="ctr">
              <a:buNone/>
            </a:pPr>
            <a:r>
              <a:rPr lang="en-US" sz="1150" b="1" dirty="0">
                <a:solidFill>
                  <a:srgbClr val="F1F5F9"/>
                </a:solidFill>
                <a:latin typeface="Pretendard" pitchFamily="34" charset="0"/>
                <a:ea typeface="Pretendard" pitchFamily="34" charset="-122"/>
                <a:cs typeface="Pretendard" pitchFamily="34" charset="-120"/>
              </a:rPr>
              <a:t>설계 문서 합의</a:t>
            </a:r>
            <a:endParaRPr lang="en-US" sz="1150" dirty="0"/>
          </a:p>
        </p:txBody>
      </p:sp>
      <p:sp>
        <p:nvSpPr>
          <p:cNvPr id="12" name="Text 8"/>
          <p:cNvSpPr/>
          <p:nvPr/>
        </p:nvSpPr>
        <p:spPr>
          <a:xfrm>
            <a:off x="1161288" y="5789981"/>
            <a:ext cx="2249424" cy="263347"/>
          </a:xfrm>
          <a:prstGeom prst="rect">
            <a:avLst/>
          </a:prstGeom>
          <a:noFill/>
          <a:ln/>
        </p:spPr>
        <p:txBody>
          <a:bodyPr wrap="square" lIns="0" tIns="0" rIns="0" bIns="0" rtlCol="0" anchor="t"/>
          <a:lstStyle/>
          <a:p>
            <a:pPr marL="0" indent="0" algn="ctr">
              <a:buNone/>
            </a:pPr>
            <a:r>
              <a:rPr lang="en-US" sz="1050" dirty="0">
                <a:solidFill>
                  <a:srgbClr val="BAC6D8"/>
                </a:solidFill>
                <a:latin typeface="Pretendard" pitchFamily="34" charset="0"/>
                <a:ea typeface="Pretendard" pitchFamily="34" charset="-122"/>
                <a:cs typeface="Pretendard" pitchFamily="34" charset="-120"/>
              </a:rPr>
              <a:t>GitHub · docs/3_설계</a:t>
            </a:r>
            <a:endParaRPr lang="en-US" sz="1050" dirty="0"/>
          </a:p>
        </p:txBody>
      </p:sp>
      <p:sp>
        <p:nvSpPr>
          <p:cNvPr id="13" name="Shape 9"/>
          <p:cNvSpPr/>
          <p:nvPr/>
        </p:nvSpPr>
        <p:spPr>
          <a:xfrm>
            <a:off x="3493008" y="5760720"/>
            <a:ext cx="329184" cy="0"/>
          </a:xfrm>
          <a:prstGeom prst="line">
            <a:avLst/>
          </a:prstGeom>
          <a:noFill/>
          <a:ln w="19050">
            <a:solidFill>
              <a:srgbClr val="0E7490"/>
            </a:solidFill>
            <a:prstDash val="solid"/>
            <a:tailEnd type="triangle"/>
          </a:ln>
        </p:spPr>
        <p:txBody>
          <a:bodyPr/>
          <a:lstStyle/>
          <a:p>
            <a:endParaRPr lang="ko-KR" altLang="en-US"/>
          </a:p>
        </p:txBody>
      </p:sp>
      <p:sp>
        <p:nvSpPr>
          <p:cNvPr id="14" name="Shape 10"/>
          <p:cNvSpPr/>
          <p:nvPr/>
        </p:nvSpPr>
        <p:spPr>
          <a:xfrm>
            <a:off x="3840480" y="5394960"/>
            <a:ext cx="2377440" cy="731520"/>
          </a:xfrm>
          <a:prstGeom prst="roundRect">
            <a:avLst>
              <a:gd name="adj" fmla="val 7500"/>
            </a:avLst>
          </a:prstGeom>
          <a:solidFill>
            <a:srgbClr val="161D2E"/>
          </a:solidFill>
          <a:ln w="12700">
            <a:solidFill>
              <a:srgbClr val="263049"/>
            </a:solidFill>
            <a:prstDash val="solid"/>
          </a:ln>
        </p:spPr>
        <p:txBody>
          <a:bodyPr/>
          <a:lstStyle/>
          <a:p>
            <a:endParaRPr lang="ko-KR" altLang="en-US"/>
          </a:p>
        </p:txBody>
      </p:sp>
      <p:sp>
        <p:nvSpPr>
          <p:cNvPr id="15" name="Text 11"/>
          <p:cNvSpPr/>
          <p:nvPr/>
        </p:nvSpPr>
        <p:spPr>
          <a:xfrm>
            <a:off x="3904488" y="5490058"/>
            <a:ext cx="2249424" cy="321869"/>
          </a:xfrm>
          <a:prstGeom prst="rect">
            <a:avLst/>
          </a:prstGeom>
          <a:noFill/>
          <a:ln/>
        </p:spPr>
        <p:txBody>
          <a:bodyPr wrap="square" lIns="0" tIns="0" rIns="0" bIns="0" rtlCol="0" anchor="ctr"/>
          <a:lstStyle/>
          <a:p>
            <a:pPr marL="0" indent="0" algn="ctr">
              <a:buNone/>
            </a:pPr>
            <a:r>
              <a:rPr lang="en-US" sz="1150" b="1" dirty="0">
                <a:solidFill>
                  <a:srgbClr val="F1F5F9"/>
                </a:solidFill>
                <a:latin typeface="Pretendard" pitchFamily="34" charset="0"/>
                <a:ea typeface="Pretendard" pitchFamily="34" charset="-122"/>
                <a:cs typeface="Pretendard" pitchFamily="34" charset="-120"/>
              </a:rPr>
              <a:t>병렬 구현</a:t>
            </a:r>
            <a:endParaRPr lang="en-US" sz="1150" dirty="0"/>
          </a:p>
        </p:txBody>
      </p:sp>
      <p:sp>
        <p:nvSpPr>
          <p:cNvPr id="16" name="Text 12"/>
          <p:cNvSpPr/>
          <p:nvPr/>
        </p:nvSpPr>
        <p:spPr>
          <a:xfrm>
            <a:off x="3904488" y="5789981"/>
            <a:ext cx="2249424" cy="263347"/>
          </a:xfrm>
          <a:prstGeom prst="rect">
            <a:avLst/>
          </a:prstGeom>
          <a:noFill/>
          <a:ln/>
        </p:spPr>
        <p:txBody>
          <a:bodyPr wrap="square" lIns="0" tIns="0" rIns="0" bIns="0" rtlCol="0" anchor="t"/>
          <a:lstStyle/>
          <a:p>
            <a:pPr marL="0" indent="0" algn="ctr">
              <a:buNone/>
            </a:pPr>
            <a:r>
              <a:rPr lang="en-US" sz="1050" dirty="0">
                <a:solidFill>
                  <a:srgbClr val="BAC6D8"/>
                </a:solidFill>
                <a:latin typeface="Pretendard" pitchFamily="34" charset="0"/>
                <a:ea typeface="Pretendard" pitchFamily="34" charset="-122"/>
                <a:cs typeface="Pretendard" pitchFamily="34" charset="-120"/>
              </a:rPr>
              <a:t>백엔드 · 프론트 · 파이프라인</a:t>
            </a:r>
            <a:endParaRPr lang="en-US" sz="1050" dirty="0"/>
          </a:p>
        </p:txBody>
      </p:sp>
      <p:sp>
        <p:nvSpPr>
          <p:cNvPr id="17" name="Shape 13"/>
          <p:cNvSpPr/>
          <p:nvPr/>
        </p:nvSpPr>
        <p:spPr>
          <a:xfrm>
            <a:off x="6236208" y="5760720"/>
            <a:ext cx="329184" cy="0"/>
          </a:xfrm>
          <a:prstGeom prst="line">
            <a:avLst/>
          </a:prstGeom>
          <a:noFill/>
          <a:ln w="19050">
            <a:solidFill>
              <a:srgbClr val="0E7490"/>
            </a:solidFill>
            <a:prstDash val="solid"/>
            <a:tailEnd type="triangle"/>
          </a:ln>
        </p:spPr>
        <p:txBody>
          <a:bodyPr/>
          <a:lstStyle/>
          <a:p>
            <a:endParaRPr lang="ko-KR" altLang="en-US"/>
          </a:p>
        </p:txBody>
      </p:sp>
      <p:sp>
        <p:nvSpPr>
          <p:cNvPr id="18" name="Shape 14"/>
          <p:cNvSpPr/>
          <p:nvPr/>
        </p:nvSpPr>
        <p:spPr>
          <a:xfrm>
            <a:off x="6583680" y="5394960"/>
            <a:ext cx="2377440" cy="731520"/>
          </a:xfrm>
          <a:prstGeom prst="roundRect">
            <a:avLst>
              <a:gd name="adj" fmla="val 7500"/>
            </a:avLst>
          </a:prstGeom>
          <a:solidFill>
            <a:srgbClr val="161D2E"/>
          </a:solidFill>
          <a:ln w="12700">
            <a:solidFill>
              <a:srgbClr val="263049"/>
            </a:solidFill>
            <a:prstDash val="solid"/>
          </a:ln>
        </p:spPr>
        <p:txBody>
          <a:bodyPr/>
          <a:lstStyle/>
          <a:p>
            <a:endParaRPr lang="ko-KR" altLang="en-US"/>
          </a:p>
        </p:txBody>
      </p:sp>
      <p:sp>
        <p:nvSpPr>
          <p:cNvPr id="19" name="Text 15"/>
          <p:cNvSpPr/>
          <p:nvPr/>
        </p:nvSpPr>
        <p:spPr>
          <a:xfrm>
            <a:off x="6647688" y="5490058"/>
            <a:ext cx="2249424" cy="321869"/>
          </a:xfrm>
          <a:prstGeom prst="rect">
            <a:avLst/>
          </a:prstGeom>
          <a:noFill/>
          <a:ln/>
        </p:spPr>
        <p:txBody>
          <a:bodyPr wrap="square" lIns="0" tIns="0" rIns="0" bIns="0" rtlCol="0" anchor="ctr"/>
          <a:lstStyle/>
          <a:p>
            <a:pPr marL="0" indent="0" algn="ctr">
              <a:buNone/>
            </a:pPr>
            <a:r>
              <a:rPr lang="en-US" sz="1150" b="1" dirty="0">
                <a:solidFill>
                  <a:srgbClr val="F1F5F9"/>
                </a:solidFill>
                <a:latin typeface="Pretendard" pitchFamily="34" charset="0"/>
                <a:ea typeface="Pretendard" pitchFamily="34" charset="-122"/>
                <a:cs typeface="Pretendard" pitchFamily="34" charset="-120"/>
              </a:rPr>
              <a:t>정합성 점검</a:t>
            </a:r>
            <a:endParaRPr lang="en-US" sz="1150" dirty="0"/>
          </a:p>
        </p:txBody>
      </p:sp>
      <p:sp>
        <p:nvSpPr>
          <p:cNvPr id="20" name="Text 16"/>
          <p:cNvSpPr/>
          <p:nvPr/>
        </p:nvSpPr>
        <p:spPr>
          <a:xfrm>
            <a:off x="6647688" y="5789981"/>
            <a:ext cx="2249424" cy="263347"/>
          </a:xfrm>
          <a:prstGeom prst="rect">
            <a:avLst/>
          </a:prstGeom>
          <a:noFill/>
          <a:ln/>
        </p:spPr>
        <p:txBody>
          <a:bodyPr wrap="square" lIns="0" tIns="0" rIns="0" bIns="0" rtlCol="0" anchor="t"/>
          <a:lstStyle/>
          <a:p>
            <a:pPr marL="0" indent="0" algn="ctr">
              <a:buNone/>
            </a:pPr>
            <a:r>
              <a:rPr lang="en-US" sz="1050" dirty="0">
                <a:solidFill>
                  <a:srgbClr val="BAC6D8"/>
                </a:solidFill>
                <a:latin typeface="Pretendard" pitchFamily="34" charset="0"/>
                <a:ea typeface="Pretendard" pitchFamily="34" charset="-122"/>
                <a:cs typeface="Pretendard" pitchFamily="34" charset="-120"/>
              </a:rPr>
              <a:t>설계 문서 대조</a:t>
            </a:r>
            <a:endParaRPr lang="en-US" sz="1050" dirty="0"/>
          </a:p>
        </p:txBody>
      </p:sp>
      <p:sp>
        <p:nvSpPr>
          <p:cNvPr id="21" name="Text 17"/>
          <p:cNvSpPr/>
          <p:nvPr/>
        </p:nvSpPr>
        <p:spPr>
          <a:xfrm>
            <a:off x="9235440" y="5532120"/>
            <a:ext cx="2377440" cy="320040"/>
          </a:xfrm>
          <a:prstGeom prst="rect">
            <a:avLst/>
          </a:prstGeom>
          <a:noFill/>
          <a:ln/>
        </p:spPr>
        <p:txBody>
          <a:bodyPr wrap="square" lIns="0" tIns="0" rIns="0" bIns="0" rtlCol="0" anchor="ctr"/>
          <a:lstStyle/>
          <a:p>
            <a:pPr marL="0" indent="0">
              <a:buNone/>
            </a:pPr>
            <a:r>
              <a:rPr lang="en-US" sz="1200" b="1" dirty="0">
                <a:solidFill>
                  <a:srgbClr val="BAC6D8"/>
                </a:solidFill>
                <a:latin typeface="Consolas" pitchFamily="34" charset="0"/>
                <a:ea typeface="Consolas" pitchFamily="34" charset="-122"/>
                <a:cs typeface="Consolas" pitchFamily="34" charset="-120"/>
              </a:rPr>
              <a:t>2026. 07. 20  ~  08. 05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bg_dk_div.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58368" y="1325880"/>
            <a:ext cx="5486400" cy="2103120"/>
          </a:xfrm>
          <a:prstGeom prst="rect">
            <a:avLst/>
          </a:prstGeom>
          <a:noFill/>
          <a:ln/>
        </p:spPr>
        <p:txBody>
          <a:bodyPr wrap="square" lIns="0" tIns="0" rIns="0" bIns="0" rtlCol="0" anchor="ctr"/>
          <a:lstStyle/>
          <a:p>
            <a:pPr marL="0" indent="0">
              <a:buNone/>
            </a:pPr>
            <a:r>
              <a:rPr lang="en-US" sz="13000" b="1" dirty="0">
                <a:solidFill>
                  <a:srgbClr val="133449"/>
                </a:solidFill>
                <a:latin typeface="Consolas" pitchFamily="34" charset="0"/>
                <a:ea typeface="Consolas" pitchFamily="34" charset="-122"/>
                <a:cs typeface="Consolas" pitchFamily="34" charset="-120"/>
              </a:rPr>
              <a:t>01</a:t>
            </a:r>
            <a:endParaRPr lang="en-US" sz="13000" dirty="0"/>
          </a:p>
        </p:txBody>
      </p:sp>
      <p:sp>
        <p:nvSpPr>
          <p:cNvPr id="4" name="Shape 1"/>
          <p:cNvSpPr/>
          <p:nvPr/>
        </p:nvSpPr>
        <p:spPr>
          <a:xfrm>
            <a:off x="777240" y="3611880"/>
            <a:ext cx="548640" cy="91440"/>
          </a:xfrm>
          <a:prstGeom prst="rect">
            <a:avLst/>
          </a:prstGeom>
          <a:solidFill>
            <a:srgbClr val="22D3EE"/>
          </a:solidFill>
          <a:ln/>
        </p:spPr>
        <p:txBody>
          <a:bodyPr/>
          <a:lstStyle/>
          <a:p>
            <a:endParaRPr lang="ko-KR" altLang="en-US"/>
          </a:p>
        </p:txBody>
      </p:sp>
      <p:sp>
        <p:nvSpPr>
          <p:cNvPr id="5" name="Text 2"/>
          <p:cNvSpPr/>
          <p:nvPr/>
        </p:nvSpPr>
        <p:spPr>
          <a:xfrm>
            <a:off x="749808" y="3840480"/>
            <a:ext cx="10515600" cy="777240"/>
          </a:xfrm>
          <a:prstGeom prst="rect">
            <a:avLst/>
          </a:prstGeom>
          <a:noFill/>
          <a:ln/>
        </p:spPr>
        <p:txBody>
          <a:bodyPr wrap="square" lIns="0" tIns="0" rIns="0" bIns="0" rtlCol="0" anchor="ctr"/>
          <a:lstStyle/>
          <a:p>
            <a:pPr marL="0" indent="0">
              <a:buNone/>
            </a:pPr>
            <a:r>
              <a:rPr lang="en-US" sz="3600" b="1" dirty="0">
                <a:solidFill>
                  <a:srgbClr val="F1F5F9"/>
                </a:solidFill>
                <a:latin typeface="Pretendard" pitchFamily="34" charset="0"/>
                <a:ea typeface="Pretendard" pitchFamily="34" charset="-122"/>
                <a:cs typeface="Pretendard" pitchFamily="34" charset="-120"/>
              </a:rPr>
              <a:t>문제와 목표</a:t>
            </a:r>
            <a:endParaRPr lang="en-US" sz="3600" dirty="0"/>
          </a:p>
        </p:txBody>
      </p:sp>
      <p:sp>
        <p:nvSpPr>
          <p:cNvPr id="6" name="Text 3"/>
          <p:cNvSpPr/>
          <p:nvPr/>
        </p:nvSpPr>
        <p:spPr>
          <a:xfrm>
            <a:off x="777240" y="4709160"/>
            <a:ext cx="10515600" cy="365760"/>
          </a:xfrm>
          <a:prstGeom prst="rect">
            <a:avLst/>
          </a:prstGeom>
          <a:noFill/>
          <a:ln/>
        </p:spPr>
        <p:txBody>
          <a:bodyPr wrap="square" lIns="0" tIns="0" rIns="0" bIns="0" rtlCol="0" anchor="ctr"/>
          <a:lstStyle/>
          <a:p>
            <a:pPr marL="0" indent="0">
              <a:buNone/>
            </a:pPr>
            <a:r>
              <a:rPr lang="en-US" sz="1400" dirty="0">
                <a:solidFill>
                  <a:srgbClr val="BAC6D8"/>
                </a:solidFill>
                <a:latin typeface="Pretendard Light" pitchFamily="34" charset="0"/>
                <a:ea typeface="Pretendard Light" pitchFamily="34" charset="-122"/>
                <a:cs typeface="Pretendard Light" pitchFamily="34" charset="-120"/>
              </a:rPr>
              <a:t>현장에서 확인된 것 · 시장 조사 · 프로젝트 목표</a:t>
            </a:r>
            <a:endParaRPr lang="en-US" sz="1400" dirty="0"/>
          </a:p>
        </p:txBody>
      </p:sp>
      <p:sp>
        <p:nvSpPr>
          <p:cNvPr id="7" name="Text 4"/>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PROBLEM</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문제 상황 — 설문에서 확인되는 것</a:t>
            </a:r>
            <a:endParaRPr lang="en-US" sz="2700" dirty="0"/>
          </a:p>
        </p:txBody>
      </p:sp>
      <p:sp>
        <p:nvSpPr>
          <p:cNvPr id="5" name="Text 2"/>
          <p:cNvSpPr/>
          <p:nvPr/>
        </p:nvSpPr>
        <p:spPr>
          <a:xfrm>
            <a:off x="566928" y="1243584"/>
            <a:ext cx="11064240" cy="320040"/>
          </a:xfrm>
          <a:prstGeom prst="rect">
            <a:avLst/>
          </a:prstGeom>
          <a:noFill/>
          <a:ln/>
        </p:spPr>
        <p:txBody>
          <a:bodyPr wrap="square" lIns="0" tIns="0" rIns="0" bIns="0" rtlCol="0" anchor="ctr"/>
          <a:lstStyle/>
          <a:p>
            <a:pPr marL="0" indent="0">
              <a:buNone/>
            </a:pPr>
            <a:r>
              <a:rPr lang="en-US" sz="1300" dirty="0">
                <a:solidFill>
                  <a:srgbClr val="BAC6D8"/>
                </a:solidFill>
                <a:latin typeface="Pretendard Light" pitchFamily="34" charset="0"/>
                <a:ea typeface="Pretendard Light" pitchFamily="34" charset="-122"/>
                <a:cs typeface="Pretendard Light" pitchFamily="34" charset="-120"/>
              </a:rPr>
              <a:t>업무 분담은 직장인이 가장 애매하다고 꼽은 문제이고, 공정하다고 느끼는 사람은 드물다</a:t>
            </a:r>
            <a:endParaRPr lang="en-US" sz="1300" dirty="0"/>
          </a:p>
        </p:txBody>
      </p:sp>
      <p:sp>
        <p:nvSpPr>
          <p:cNvPr id="6" name="Text 3"/>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05</a:t>
            </a:r>
            <a:endParaRPr lang="en-US" sz="1050" dirty="0"/>
          </a:p>
        </p:txBody>
      </p:sp>
      <p:sp>
        <p:nvSpPr>
          <p:cNvPr id="7" name="Shape 4"/>
          <p:cNvSpPr/>
          <p:nvPr/>
        </p:nvSpPr>
        <p:spPr>
          <a:xfrm>
            <a:off x="566928" y="1828800"/>
            <a:ext cx="5440680" cy="3200400"/>
          </a:xfrm>
          <a:prstGeom prst="roundRect">
            <a:avLst>
              <a:gd name="adj" fmla="val 2286"/>
            </a:avLst>
          </a:prstGeom>
          <a:solidFill>
            <a:srgbClr val="161D2E"/>
          </a:solidFill>
          <a:ln w="12700">
            <a:solidFill>
              <a:srgbClr val="263049"/>
            </a:solidFill>
            <a:prstDash val="solid"/>
          </a:ln>
        </p:spPr>
        <p:txBody>
          <a:bodyPr/>
          <a:lstStyle/>
          <a:p>
            <a:endParaRPr lang="ko-KR" altLang="en-US"/>
          </a:p>
        </p:txBody>
      </p:sp>
      <p:sp>
        <p:nvSpPr>
          <p:cNvPr id="8" name="Text 5"/>
          <p:cNvSpPr/>
          <p:nvPr/>
        </p:nvSpPr>
        <p:spPr>
          <a:xfrm>
            <a:off x="868680" y="2084832"/>
            <a:ext cx="2194560" cy="292608"/>
          </a:xfrm>
          <a:prstGeom prst="rect">
            <a:avLst/>
          </a:prstGeom>
          <a:solidFill>
            <a:srgbClr val="0F2A3A"/>
          </a:solidFill>
          <a:ln/>
        </p:spPr>
        <p:txBody>
          <a:bodyPr wrap="square" lIns="0" tIns="0" rIns="0" bIns="0" rtlCol="0" anchor="ctr"/>
          <a:lstStyle/>
          <a:p>
            <a:pPr marL="0" indent="0" algn="ctr">
              <a:buNone/>
            </a:pPr>
            <a:r>
              <a:rPr lang="en-US" sz="1000" b="1" dirty="0">
                <a:solidFill>
                  <a:srgbClr val="67E8F9"/>
                </a:solidFill>
                <a:latin typeface="Pretendard" pitchFamily="34" charset="0"/>
                <a:ea typeface="Pretendard" pitchFamily="34" charset="-122"/>
                <a:cs typeface="Pretendard" pitchFamily="34" charset="-120"/>
              </a:rPr>
              <a:t>가장 애매한 문제</a:t>
            </a:r>
            <a:endParaRPr lang="en-US" sz="1000" dirty="0"/>
          </a:p>
        </p:txBody>
      </p:sp>
      <p:sp>
        <p:nvSpPr>
          <p:cNvPr id="9" name="Text 6"/>
          <p:cNvSpPr/>
          <p:nvPr/>
        </p:nvSpPr>
        <p:spPr>
          <a:xfrm>
            <a:off x="868680" y="2606040"/>
            <a:ext cx="2377440" cy="868680"/>
          </a:xfrm>
          <a:prstGeom prst="rect">
            <a:avLst/>
          </a:prstGeom>
          <a:noFill/>
          <a:ln/>
        </p:spPr>
        <p:txBody>
          <a:bodyPr wrap="square" lIns="0" tIns="0" rIns="0" bIns="0" rtlCol="0" anchor="ctr"/>
          <a:lstStyle/>
          <a:p>
            <a:pPr marL="0" indent="0">
              <a:buNone/>
            </a:pPr>
            <a:r>
              <a:rPr lang="en-US" sz="5200" b="1" dirty="0">
                <a:solidFill>
                  <a:srgbClr val="22D3EE"/>
                </a:solidFill>
                <a:latin typeface="Consolas" pitchFamily="34" charset="0"/>
                <a:ea typeface="Consolas" pitchFamily="34" charset="-122"/>
                <a:cs typeface="Consolas" pitchFamily="34" charset="-120"/>
              </a:rPr>
              <a:t>73.4%</a:t>
            </a:r>
            <a:endParaRPr lang="en-US" sz="5200" dirty="0"/>
          </a:p>
        </p:txBody>
      </p:sp>
      <p:sp>
        <p:nvSpPr>
          <p:cNvPr id="10" name="Text 7"/>
          <p:cNvSpPr/>
          <p:nvPr/>
        </p:nvSpPr>
        <p:spPr>
          <a:xfrm>
            <a:off x="3383280" y="2697480"/>
            <a:ext cx="2560320" cy="777240"/>
          </a:xfrm>
          <a:prstGeom prst="rect">
            <a:avLst/>
          </a:prstGeom>
          <a:noFill/>
          <a:ln/>
        </p:spPr>
        <p:txBody>
          <a:bodyPr wrap="square" lIns="0" tIns="0" rIns="0" bIns="0" rtlCol="0" anchor="ctr"/>
          <a:lstStyle/>
          <a:p>
            <a:pPr marL="0" indent="0">
              <a:lnSpc>
                <a:spcPct val="125000"/>
              </a:lnSpc>
              <a:buNone/>
            </a:pPr>
            <a:r>
              <a:rPr lang="en-US" sz="1400" b="1" dirty="0">
                <a:solidFill>
                  <a:srgbClr val="F1F5F9"/>
                </a:solidFill>
                <a:latin typeface="Pretendard" pitchFamily="34" charset="0"/>
                <a:ea typeface="Pretendard" pitchFamily="34" charset="-122"/>
                <a:cs typeface="Pretendard" pitchFamily="34" charset="-120"/>
              </a:rPr>
              <a:t>업무 분담을</a:t>
            </a:r>
            <a:endParaRPr lang="en-US" sz="1400" dirty="0"/>
          </a:p>
          <a:p>
            <a:pPr marL="0" indent="0">
              <a:lnSpc>
                <a:spcPct val="125000"/>
              </a:lnSpc>
              <a:buNone/>
            </a:pPr>
            <a:r>
              <a:rPr lang="en-US" sz="1400" b="1" dirty="0">
                <a:solidFill>
                  <a:srgbClr val="F1F5F9"/>
                </a:solidFill>
                <a:latin typeface="Pretendard" pitchFamily="34" charset="0"/>
                <a:ea typeface="Pretendard" pitchFamily="34" charset="-122"/>
                <a:cs typeface="Pretendard" pitchFamily="34" charset="-120"/>
              </a:rPr>
              <a:t>1위로 꼽았다</a:t>
            </a:r>
            <a:endParaRPr lang="en-US" sz="1400" dirty="0"/>
          </a:p>
        </p:txBody>
      </p:sp>
      <p:sp>
        <p:nvSpPr>
          <p:cNvPr id="11" name="Shape 8"/>
          <p:cNvSpPr/>
          <p:nvPr/>
        </p:nvSpPr>
        <p:spPr>
          <a:xfrm>
            <a:off x="868680" y="3703320"/>
            <a:ext cx="4837176" cy="0"/>
          </a:xfrm>
          <a:prstGeom prst="line">
            <a:avLst/>
          </a:prstGeom>
          <a:noFill/>
          <a:ln w="12700">
            <a:solidFill>
              <a:srgbClr val="263049"/>
            </a:solidFill>
            <a:prstDash val="solid"/>
          </a:ln>
        </p:spPr>
        <p:txBody>
          <a:bodyPr/>
          <a:lstStyle/>
          <a:p>
            <a:endParaRPr lang="ko-KR" altLang="en-US"/>
          </a:p>
        </p:txBody>
      </p:sp>
      <p:sp>
        <p:nvSpPr>
          <p:cNvPr id="12" name="Text 9"/>
          <p:cNvSpPr/>
          <p:nvPr/>
        </p:nvSpPr>
        <p:spPr>
          <a:xfrm>
            <a:off x="868680" y="3840480"/>
            <a:ext cx="4837176" cy="365760"/>
          </a:xfrm>
          <a:prstGeom prst="rect">
            <a:avLst/>
          </a:prstGeom>
          <a:noFill/>
          <a:ln/>
        </p:spPr>
        <p:txBody>
          <a:bodyPr wrap="square" lIns="0" tIns="0" rIns="0" bIns="0" rtlCol="0" anchor="ctr"/>
          <a:lstStyle/>
          <a:p>
            <a:pPr marL="0" indent="0">
              <a:buNone/>
            </a:pPr>
            <a:r>
              <a:rPr lang="en-US" sz="1200" dirty="0">
                <a:solidFill>
                  <a:srgbClr val="BAC6D8"/>
                </a:solidFill>
                <a:latin typeface="Pretendard" pitchFamily="34" charset="0"/>
                <a:ea typeface="Pretendard" pitchFamily="34" charset="-122"/>
                <a:cs typeface="Pretendard" pitchFamily="34" charset="-120"/>
              </a:rPr>
              <a:t>출퇴근 시간 8.9% · 회식 참여 7.4%를 압도한 1위</a:t>
            </a:r>
            <a:endParaRPr lang="en-US" sz="1200" dirty="0"/>
          </a:p>
        </p:txBody>
      </p:sp>
      <p:sp>
        <p:nvSpPr>
          <p:cNvPr id="13" name="Text 10"/>
          <p:cNvSpPr/>
          <p:nvPr/>
        </p:nvSpPr>
        <p:spPr>
          <a:xfrm>
            <a:off x="868680" y="4315968"/>
            <a:ext cx="4837176" cy="548640"/>
          </a:xfrm>
          <a:prstGeom prst="rect">
            <a:avLst/>
          </a:prstGeom>
          <a:noFill/>
          <a:ln/>
        </p:spPr>
        <p:txBody>
          <a:bodyPr wrap="square" lIns="0" tIns="0" rIns="0" bIns="0" rtlCol="0" anchor="t"/>
          <a:lstStyle/>
          <a:p>
            <a:pPr marL="0" indent="0">
              <a:lnSpc>
                <a:spcPct val="125000"/>
              </a:lnSpc>
              <a:buNone/>
            </a:pPr>
            <a:r>
              <a:rPr lang="en-US" sz="1000" dirty="0">
                <a:solidFill>
                  <a:srgbClr val="9FADC2"/>
                </a:solidFill>
                <a:latin typeface="Pretendard" pitchFamily="34" charset="0"/>
                <a:ea typeface="Pretendard" pitchFamily="34" charset="-122"/>
                <a:cs typeface="Pretendard" pitchFamily="34" charset="-120"/>
              </a:rPr>
              <a:t>이지서베이 · 직장인 598명 설문</a:t>
            </a:r>
            <a:endParaRPr lang="en-US" sz="1000" dirty="0"/>
          </a:p>
          <a:p>
            <a:pPr marL="0" indent="0">
              <a:lnSpc>
                <a:spcPct val="125000"/>
              </a:lnSpc>
              <a:buNone/>
            </a:pPr>
            <a:r>
              <a:rPr lang="en-US" sz="1000" dirty="0">
                <a:solidFill>
                  <a:srgbClr val="9FADC2"/>
                </a:solidFill>
                <a:latin typeface="Pretendard" pitchFamily="34" charset="0"/>
                <a:ea typeface="Pretendard" pitchFamily="34" charset="-122"/>
                <a:cs typeface="Pretendard" pitchFamily="34" charset="-120"/>
              </a:rPr>
              <a:t>「회사 생활에서 가장 애매한 문제」</a:t>
            </a:r>
            <a:endParaRPr lang="en-US" sz="1000" dirty="0"/>
          </a:p>
        </p:txBody>
      </p:sp>
      <p:sp>
        <p:nvSpPr>
          <p:cNvPr id="14" name="Shape 11"/>
          <p:cNvSpPr/>
          <p:nvPr/>
        </p:nvSpPr>
        <p:spPr>
          <a:xfrm>
            <a:off x="6190488" y="1828800"/>
            <a:ext cx="5440680" cy="3200400"/>
          </a:xfrm>
          <a:prstGeom prst="roundRect">
            <a:avLst>
              <a:gd name="adj" fmla="val 2286"/>
            </a:avLst>
          </a:prstGeom>
          <a:solidFill>
            <a:srgbClr val="161D2E"/>
          </a:solidFill>
          <a:ln w="12700">
            <a:solidFill>
              <a:srgbClr val="263049"/>
            </a:solidFill>
            <a:prstDash val="solid"/>
          </a:ln>
        </p:spPr>
        <p:txBody>
          <a:bodyPr/>
          <a:lstStyle/>
          <a:p>
            <a:endParaRPr lang="ko-KR" altLang="en-US"/>
          </a:p>
        </p:txBody>
      </p:sp>
      <p:sp>
        <p:nvSpPr>
          <p:cNvPr id="15" name="Text 12"/>
          <p:cNvSpPr/>
          <p:nvPr/>
        </p:nvSpPr>
        <p:spPr>
          <a:xfrm>
            <a:off x="6492240" y="2084832"/>
            <a:ext cx="2651760" cy="292608"/>
          </a:xfrm>
          <a:prstGeom prst="rect">
            <a:avLst/>
          </a:prstGeom>
          <a:solidFill>
            <a:srgbClr val="0F2A3A"/>
          </a:solidFill>
          <a:ln/>
        </p:spPr>
        <p:txBody>
          <a:bodyPr wrap="square" lIns="0" tIns="0" rIns="0" bIns="0" rtlCol="0" anchor="ctr"/>
          <a:lstStyle/>
          <a:p>
            <a:pPr marL="0" indent="0" algn="ctr">
              <a:buNone/>
            </a:pPr>
            <a:r>
              <a:rPr lang="en-US" sz="1000" b="1" dirty="0">
                <a:solidFill>
                  <a:srgbClr val="67E8F9"/>
                </a:solidFill>
                <a:latin typeface="Pretendard" pitchFamily="34" charset="0"/>
                <a:ea typeface="Pretendard" pitchFamily="34" charset="-122"/>
                <a:cs typeface="Pretendard" pitchFamily="34" charset="-120"/>
              </a:rPr>
              <a:t>공정하다고 느끼지 않는다</a:t>
            </a:r>
            <a:endParaRPr lang="en-US" sz="1000" dirty="0"/>
          </a:p>
        </p:txBody>
      </p:sp>
      <p:sp>
        <p:nvSpPr>
          <p:cNvPr id="16" name="Text 13"/>
          <p:cNvSpPr/>
          <p:nvPr/>
        </p:nvSpPr>
        <p:spPr>
          <a:xfrm>
            <a:off x="6492240" y="2542032"/>
            <a:ext cx="4837176" cy="292608"/>
          </a:xfrm>
          <a:prstGeom prst="rect">
            <a:avLst/>
          </a:prstGeom>
          <a:noFill/>
          <a:ln/>
        </p:spPr>
        <p:txBody>
          <a:bodyPr wrap="square" lIns="0" tIns="0" rIns="0" bIns="0" rtlCol="0" anchor="ctr"/>
          <a:lstStyle/>
          <a:p>
            <a:pPr marL="0" indent="0">
              <a:buNone/>
            </a:pPr>
            <a:r>
              <a:rPr lang="en-US" sz="1200" dirty="0">
                <a:solidFill>
                  <a:srgbClr val="F1F5F9"/>
                </a:solidFill>
                <a:latin typeface="Pretendard" pitchFamily="34" charset="0"/>
                <a:ea typeface="Pretendard" pitchFamily="34" charset="-122"/>
                <a:cs typeface="Pretendard" pitchFamily="34" charset="-120"/>
              </a:rPr>
              <a:t>팀원 개개인의 업무량이 공정하다고 느끼는가</a:t>
            </a:r>
            <a:endParaRPr lang="en-US" sz="1200" dirty="0"/>
          </a:p>
        </p:txBody>
      </p:sp>
      <p:sp>
        <p:nvSpPr>
          <p:cNvPr id="17" name="Text 14"/>
          <p:cNvSpPr/>
          <p:nvPr/>
        </p:nvSpPr>
        <p:spPr>
          <a:xfrm>
            <a:off x="6492240" y="2971800"/>
            <a:ext cx="1554480" cy="548640"/>
          </a:xfrm>
          <a:prstGeom prst="rect">
            <a:avLst/>
          </a:prstGeom>
          <a:noFill/>
          <a:ln/>
        </p:spPr>
        <p:txBody>
          <a:bodyPr wrap="square" lIns="0" tIns="0" rIns="0" bIns="0" rtlCol="0" anchor="ctr"/>
          <a:lstStyle/>
          <a:p>
            <a:pPr marL="0" indent="0">
              <a:buNone/>
            </a:pPr>
            <a:r>
              <a:rPr lang="en-US" sz="2600" b="1" dirty="0">
                <a:solidFill>
                  <a:srgbClr val="22D3EE"/>
                </a:solidFill>
                <a:latin typeface="Consolas" pitchFamily="34" charset="0"/>
                <a:ea typeface="Consolas" pitchFamily="34" charset="-122"/>
                <a:cs typeface="Consolas" pitchFamily="34" charset="-120"/>
              </a:rPr>
              <a:t>7.9%</a:t>
            </a:r>
            <a:endParaRPr lang="en-US" sz="2600" dirty="0"/>
          </a:p>
        </p:txBody>
      </p:sp>
      <p:sp>
        <p:nvSpPr>
          <p:cNvPr id="18" name="Text 15"/>
          <p:cNvSpPr/>
          <p:nvPr/>
        </p:nvSpPr>
        <p:spPr>
          <a:xfrm>
            <a:off x="6492240" y="3547872"/>
            <a:ext cx="1554480" cy="274320"/>
          </a:xfrm>
          <a:prstGeom prst="rect">
            <a:avLst/>
          </a:prstGeom>
          <a:noFill/>
          <a:ln/>
        </p:spPr>
        <p:txBody>
          <a:bodyPr wrap="square" lIns="0" tIns="0" rIns="0" bIns="0" rtlCol="0" anchor="ctr"/>
          <a:lstStyle/>
          <a:p>
            <a:pPr marL="0" indent="0">
              <a:buNone/>
            </a:pPr>
            <a:r>
              <a:rPr lang="en-US" sz="1100" dirty="0">
                <a:solidFill>
                  <a:srgbClr val="BAC6D8"/>
                </a:solidFill>
                <a:latin typeface="Pretendard" pitchFamily="34" charset="0"/>
                <a:ea typeface="Pretendard" pitchFamily="34" charset="-122"/>
                <a:cs typeface="Pretendard" pitchFamily="34" charset="-120"/>
              </a:rPr>
              <a:t>공정하다</a:t>
            </a:r>
            <a:endParaRPr lang="en-US" sz="1100" dirty="0"/>
          </a:p>
        </p:txBody>
      </p:sp>
      <p:sp>
        <p:nvSpPr>
          <p:cNvPr id="19" name="Text 16"/>
          <p:cNvSpPr/>
          <p:nvPr/>
        </p:nvSpPr>
        <p:spPr>
          <a:xfrm>
            <a:off x="8129016" y="2971800"/>
            <a:ext cx="1554480" cy="548640"/>
          </a:xfrm>
          <a:prstGeom prst="rect">
            <a:avLst/>
          </a:prstGeom>
          <a:noFill/>
          <a:ln/>
        </p:spPr>
        <p:txBody>
          <a:bodyPr wrap="square" lIns="0" tIns="0" rIns="0" bIns="0" rtlCol="0" anchor="ctr"/>
          <a:lstStyle/>
          <a:p>
            <a:pPr marL="0" indent="0">
              <a:buNone/>
            </a:pPr>
            <a:r>
              <a:rPr lang="en-US" sz="2600" b="1" dirty="0">
                <a:solidFill>
                  <a:srgbClr val="22D3EE"/>
                </a:solidFill>
                <a:latin typeface="Consolas" pitchFamily="34" charset="0"/>
                <a:ea typeface="Consolas" pitchFamily="34" charset="-122"/>
                <a:cs typeface="Consolas" pitchFamily="34" charset="-120"/>
              </a:rPr>
              <a:t>52.0%</a:t>
            </a:r>
            <a:endParaRPr lang="en-US" sz="2600" dirty="0"/>
          </a:p>
        </p:txBody>
      </p:sp>
      <p:sp>
        <p:nvSpPr>
          <p:cNvPr id="20" name="Text 17"/>
          <p:cNvSpPr/>
          <p:nvPr/>
        </p:nvSpPr>
        <p:spPr>
          <a:xfrm>
            <a:off x="8129016" y="3547872"/>
            <a:ext cx="1554480" cy="274320"/>
          </a:xfrm>
          <a:prstGeom prst="rect">
            <a:avLst/>
          </a:prstGeom>
          <a:noFill/>
          <a:ln/>
        </p:spPr>
        <p:txBody>
          <a:bodyPr wrap="square" lIns="0" tIns="0" rIns="0" bIns="0" rtlCol="0" anchor="ctr"/>
          <a:lstStyle/>
          <a:p>
            <a:pPr marL="0" indent="0">
              <a:buNone/>
            </a:pPr>
            <a:r>
              <a:rPr lang="en-US" sz="1100" dirty="0">
                <a:solidFill>
                  <a:srgbClr val="BAC6D8"/>
                </a:solidFill>
                <a:latin typeface="Pretendard" pitchFamily="34" charset="0"/>
                <a:ea typeface="Pretendard" pitchFamily="34" charset="-122"/>
                <a:cs typeface="Pretendard" pitchFamily="34" charset="-120"/>
              </a:rPr>
              <a:t>때때로 다르다</a:t>
            </a:r>
            <a:endParaRPr lang="en-US" sz="1100" dirty="0"/>
          </a:p>
        </p:txBody>
      </p:sp>
      <p:sp>
        <p:nvSpPr>
          <p:cNvPr id="21" name="Text 18"/>
          <p:cNvSpPr/>
          <p:nvPr/>
        </p:nvSpPr>
        <p:spPr>
          <a:xfrm>
            <a:off x="9765792" y="2971800"/>
            <a:ext cx="1554480" cy="548640"/>
          </a:xfrm>
          <a:prstGeom prst="rect">
            <a:avLst/>
          </a:prstGeom>
          <a:noFill/>
          <a:ln/>
        </p:spPr>
        <p:txBody>
          <a:bodyPr wrap="square" lIns="0" tIns="0" rIns="0" bIns="0" rtlCol="0" anchor="ctr"/>
          <a:lstStyle/>
          <a:p>
            <a:pPr marL="0" indent="0">
              <a:buNone/>
            </a:pPr>
            <a:r>
              <a:rPr lang="en-US" sz="2600" b="1" dirty="0">
                <a:solidFill>
                  <a:srgbClr val="22D3EE"/>
                </a:solidFill>
                <a:latin typeface="Consolas" pitchFamily="34" charset="0"/>
                <a:ea typeface="Consolas" pitchFamily="34" charset="-122"/>
                <a:cs typeface="Consolas" pitchFamily="34" charset="-120"/>
              </a:rPr>
              <a:t>40%</a:t>
            </a:r>
            <a:endParaRPr lang="en-US" sz="2600" dirty="0"/>
          </a:p>
        </p:txBody>
      </p:sp>
      <p:sp>
        <p:nvSpPr>
          <p:cNvPr id="22" name="Text 19"/>
          <p:cNvSpPr/>
          <p:nvPr/>
        </p:nvSpPr>
        <p:spPr>
          <a:xfrm>
            <a:off x="9765792" y="3547872"/>
            <a:ext cx="1554480" cy="274320"/>
          </a:xfrm>
          <a:prstGeom prst="rect">
            <a:avLst/>
          </a:prstGeom>
          <a:noFill/>
          <a:ln/>
        </p:spPr>
        <p:txBody>
          <a:bodyPr wrap="square" lIns="0" tIns="0" rIns="0" bIns="0" rtlCol="0" anchor="ctr"/>
          <a:lstStyle/>
          <a:p>
            <a:pPr marL="0" indent="0">
              <a:buNone/>
            </a:pPr>
            <a:r>
              <a:rPr lang="en-US" sz="1100" dirty="0">
                <a:solidFill>
                  <a:srgbClr val="BAC6D8"/>
                </a:solidFill>
                <a:latin typeface="Pretendard" pitchFamily="34" charset="0"/>
                <a:ea typeface="Pretendard" pitchFamily="34" charset="-122"/>
                <a:cs typeface="Pretendard" pitchFamily="34" charset="-120"/>
              </a:rPr>
              <a:t>공정하지 않다</a:t>
            </a:r>
            <a:endParaRPr lang="en-US" sz="1100" dirty="0"/>
          </a:p>
        </p:txBody>
      </p:sp>
      <p:sp>
        <p:nvSpPr>
          <p:cNvPr id="23" name="Shape 20"/>
          <p:cNvSpPr/>
          <p:nvPr/>
        </p:nvSpPr>
        <p:spPr>
          <a:xfrm>
            <a:off x="6492240" y="3977640"/>
            <a:ext cx="4837176" cy="0"/>
          </a:xfrm>
          <a:prstGeom prst="line">
            <a:avLst/>
          </a:prstGeom>
          <a:noFill/>
          <a:ln w="12700">
            <a:solidFill>
              <a:srgbClr val="263049"/>
            </a:solidFill>
            <a:prstDash val="solid"/>
          </a:ln>
        </p:spPr>
        <p:txBody>
          <a:bodyPr/>
          <a:lstStyle/>
          <a:p>
            <a:endParaRPr lang="ko-KR" altLang="en-US"/>
          </a:p>
        </p:txBody>
      </p:sp>
      <p:sp>
        <p:nvSpPr>
          <p:cNvPr id="24" name="Text 21"/>
          <p:cNvSpPr/>
          <p:nvPr/>
        </p:nvSpPr>
        <p:spPr>
          <a:xfrm>
            <a:off x="6492240" y="4114800"/>
            <a:ext cx="4837176" cy="292608"/>
          </a:xfrm>
          <a:prstGeom prst="rect">
            <a:avLst/>
          </a:prstGeom>
          <a:noFill/>
          <a:ln/>
        </p:spPr>
        <p:txBody>
          <a:bodyPr wrap="square" lIns="0" tIns="0" rIns="0" bIns="0" rtlCol="0" anchor="ctr"/>
          <a:lstStyle/>
          <a:p>
            <a:pPr marL="0" indent="0">
              <a:buNone/>
            </a:pPr>
            <a:r>
              <a:rPr lang="en-US" sz="1200" dirty="0">
                <a:solidFill>
                  <a:srgbClr val="BAC6D8"/>
                </a:solidFill>
                <a:latin typeface="Pretendard" pitchFamily="34" charset="0"/>
                <a:ea typeface="Pretendard" pitchFamily="34" charset="-122"/>
                <a:cs typeface="Pretendard" pitchFamily="34" charset="-120"/>
              </a:rPr>
              <a:t>불공정 이유 1위는 「팀장과의 관계」 46.0%</a:t>
            </a:r>
            <a:endParaRPr lang="en-US" sz="1200" dirty="0"/>
          </a:p>
        </p:txBody>
      </p:sp>
      <p:sp>
        <p:nvSpPr>
          <p:cNvPr id="25" name="Text 22"/>
          <p:cNvSpPr/>
          <p:nvPr/>
        </p:nvSpPr>
        <p:spPr>
          <a:xfrm>
            <a:off x="6492240" y="4315968"/>
            <a:ext cx="4837176" cy="548640"/>
          </a:xfrm>
          <a:prstGeom prst="rect">
            <a:avLst/>
          </a:prstGeom>
          <a:noFill/>
          <a:ln/>
        </p:spPr>
        <p:txBody>
          <a:bodyPr wrap="square" lIns="0" tIns="0" rIns="0" bIns="0" rtlCol="0" anchor="t"/>
          <a:lstStyle/>
          <a:p>
            <a:pPr marL="0" indent="0">
              <a:lnSpc>
                <a:spcPct val="125000"/>
              </a:lnSpc>
              <a:buNone/>
            </a:pPr>
            <a:r>
              <a:rPr lang="en-US" sz="1000" dirty="0">
                <a:solidFill>
                  <a:srgbClr val="9FADC2"/>
                </a:solidFill>
                <a:latin typeface="Pretendard" pitchFamily="34" charset="0"/>
                <a:ea typeface="Pretendard" pitchFamily="34" charset="-122"/>
                <a:cs typeface="Pretendard" pitchFamily="34" charset="-120"/>
              </a:rPr>
              <a:t>커리어 · 직장인 406명 설문</a:t>
            </a:r>
            <a:endParaRPr lang="en-US" sz="1000" dirty="0"/>
          </a:p>
          <a:p>
            <a:pPr marL="0" indent="0">
              <a:lnSpc>
                <a:spcPct val="125000"/>
              </a:lnSpc>
              <a:buNone/>
            </a:pPr>
            <a:r>
              <a:rPr lang="en-US" sz="1000" dirty="0">
                <a:solidFill>
                  <a:srgbClr val="9FADC2"/>
                </a:solidFill>
                <a:latin typeface="Pretendard" pitchFamily="34" charset="0"/>
                <a:ea typeface="Pretendard" pitchFamily="34" charset="-122"/>
                <a:cs typeface="Pretendard" pitchFamily="34" charset="-120"/>
              </a:rPr>
              <a:t>능력별 28.8% · 연차·직급별 23.9%</a:t>
            </a:r>
            <a:endParaRPr lang="en-US" sz="1000" dirty="0"/>
          </a:p>
        </p:txBody>
      </p:sp>
      <p:sp>
        <p:nvSpPr>
          <p:cNvPr id="26" name="Text 23"/>
          <p:cNvSpPr/>
          <p:nvPr/>
        </p:nvSpPr>
        <p:spPr>
          <a:xfrm>
            <a:off x="566928" y="5349240"/>
            <a:ext cx="11064240" cy="658368"/>
          </a:xfrm>
          <a:prstGeom prst="rect">
            <a:avLst/>
          </a:prstGeom>
          <a:solidFill>
            <a:srgbClr val="22D3EE"/>
          </a:solidFill>
          <a:ln/>
        </p:spPr>
        <p:txBody>
          <a:bodyPr wrap="square" lIns="0" tIns="0" rIns="0" bIns="0" rtlCol="0" anchor="ctr"/>
          <a:lstStyle/>
          <a:p>
            <a:pPr marL="0" indent="0" algn="ctr">
              <a:buNone/>
            </a:pPr>
            <a:r>
              <a:rPr lang="en-US" sz="1350" b="1" dirty="0">
                <a:solidFill>
                  <a:srgbClr val="0D1321"/>
                </a:solidFill>
                <a:latin typeface="Pretendard" pitchFamily="34" charset="0"/>
                <a:ea typeface="Pretendard" pitchFamily="34" charset="-122"/>
                <a:cs typeface="Pretendard" pitchFamily="34" charset="-120"/>
              </a:rPr>
              <a:t>비교할 기준이 없으면 관계가 기준이 된다 — 1위 사유가 역량도 업무량도 아닌 「관계」였다</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PROBLEM</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그로 인해 발생하는 문제</a:t>
            </a:r>
            <a:endParaRPr lang="en-US" sz="2700" dirty="0"/>
          </a:p>
        </p:txBody>
      </p:sp>
      <p:sp>
        <p:nvSpPr>
          <p:cNvPr id="5" name="Text 2"/>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06</a:t>
            </a:r>
            <a:endParaRPr lang="en-US" sz="1050" dirty="0"/>
          </a:p>
        </p:txBody>
      </p:sp>
      <p:sp>
        <p:nvSpPr>
          <p:cNvPr id="6" name="Text 3"/>
          <p:cNvSpPr/>
          <p:nvPr/>
        </p:nvSpPr>
        <p:spPr>
          <a:xfrm>
            <a:off x="566928" y="1691640"/>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1</a:t>
            </a:r>
            <a:endParaRPr lang="en-US" sz="1400" dirty="0"/>
          </a:p>
        </p:txBody>
      </p:sp>
      <p:sp>
        <p:nvSpPr>
          <p:cNvPr id="7" name="Text 4"/>
          <p:cNvSpPr/>
          <p:nvPr/>
        </p:nvSpPr>
        <p:spPr>
          <a:xfrm>
            <a:off x="1097280" y="1691640"/>
            <a:ext cx="2898648" cy="384048"/>
          </a:xfrm>
          <a:prstGeom prst="rect">
            <a:avLst/>
          </a:prstGeom>
          <a:noFill/>
          <a:ln/>
        </p:spPr>
        <p:txBody>
          <a:bodyPr wrap="square" lIns="0" tIns="0" rIns="0" bIns="0" rtlCol="0" anchor="ctr"/>
          <a:lstStyle/>
          <a:p>
            <a:pPr marL="0" indent="0">
              <a:buNone/>
            </a:pPr>
            <a:r>
              <a:rPr lang="en-US" sz="1500" b="1" dirty="0">
                <a:solidFill>
                  <a:srgbClr val="F1F5F9"/>
                </a:solidFill>
                <a:latin typeface="Pretendard" pitchFamily="34" charset="0"/>
                <a:ea typeface="Pretendard" pitchFamily="34" charset="-122"/>
                <a:cs typeface="Pretendard" pitchFamily="34" charset="-120"/>
              </a:rPr>
              <a:t>기준이 없다</a:t>
            </a:r>
            <a:endParaRPr lang="en-US" sz="1500" dirty="0"/>
          </a:p>
        </p:txBody>
      </p:sp>
      <p:sp>
        <p:nvSpPr>
          <p:cNvPr id="8" name="Shape 5"/>
          <p:cNvSpPr/>
          <p:nvPr/>
        </p:nvSpPr>
        <p:spPr>
          <a:xfrm>
            <a:off x="566928" y="2350008"/>
            <a:ext cx="3429000" cy="1097280"/>
          </a:xfrm>
          <a:prstGeom prst="roundRect">
            <a:avLst>
              <a:gd name="adj" fmla="val 6667"/>
            </a:avLst>
          </a:prstGeom>
          <a:solidFill>
            <a:srgbClr val="161D2E"/>
          </a:solidFill>
          <a:ln w="12700">
            <a:solidFill>
              <a:srgbClr val="263049"/>
            </a:solidFill>
            <a:prstDash val="solid"/>
          </a:ln>
        </p:spPr>
        <p:txBody>
          <a:bodyPr/>
          <a:lstStyle/>
          <a:p>
            <a:endParaRPr lang="ko-KR" altLang="en-US"/>
          </a:p>
        </p:txBody>
      </p:sp>
      <p:sp>
        <p:nvSpPr>
          <p:cNvPr id="9" name="Text 6"/>
          <p:cNvSpPr/>
          <p:nvPr/>
        </p:nvSpPr>
        <p:spPr>
          <a:xfrm>
            <a:off x="804672" y="2532888"/>
            <a:ext cx="2953512" cy="384048"/>
          </a:xfrm>
          <a:prstGeom prst="rect">
            <a:avLst/>
          </a:prstGeom>
          <a:noFill/>
          <a:ln/>
        </p:spPr>
        <p:txBody>
          <a:bodyPr wrap="square" lIns="0" tIns="0" rIns="0" bIns="0" rtlCol="0" anchor="t"/>
          <a:lstStyle/>
          <a:p>
            <a:pPr marL="0" indent="0">
              <a:buNone/>
            </a:pPr>
            <a:r>
              <a:rPr lang="en-US" sz="1300" b="1" dirty="0">
                <a:solidFill>
                  <a:srgbClr val="F1F5F9"/>
                </a:solidFill>
                <a:latin typeface="Pretendard" pitchFamily="34" charset="0"/>
                <a:ea typeface="Pretendard" pitchFamily="34" charset="-122"/>
                <a:cs typeface="Pretendard" pitchFamily="34" charset="-120"/>
              </a:rPr>
              <a:t>역할 · 책임 · 성공 기준</a:t>
            </a:r>
            <a:endParaRPr lang="en-US" sz="1300" dirty="0"/>
          </a:p>
        </p:txBody>
      </p:sp>
      <p:sp>
        <p:nvSpPr>
          <p:cNvPr id="10" name="Text 7"/>
          <p:cNvSpPr/>
          <p:nvPr/>
        </p:nvSpPr>
        <p:spPr>
          <a:xfrm>
            <a:off x="804672" y="2916936"/>
            <a:ext cx="2953512" cy="457200"/>
          </a:xfrm>
          <a:prstGeom prst="rect">
            <a:avLst/>
          </a:prstGeom>
          <a:noFill/>
          <a:ln/>
        </p:spPr>
        <p:txBody>
          <a:bodyPr wrap="square" lIns="0" tIns="0" rIns="0" bIns="0" rtlCol="0" anchor="t"/>
          <a:lstStyle/>
          <a:p>
            <a:pPr marL="0" indent="0">
              <a:lnSpc>
                <a:spcPct val="120000"/>
              </a:lnSpc>
              <a:buNone/>
            </a:pPr>
            <a:r>
              <a:rPr lang="en-US" sz="1100" dirty="0">
                <a:solidFill>
                  <a:srgbClr val="BAC6D8"/>
                </a:solidFill>
                <a:latin typeface="Pretendard" pitchFamily="34" charset="0"/>
                <a:ea typeface="Pretendard" pitchFamily="34" charset="-122"/>
                <a:cs typeface="Pretendard" pitchFamily="34" charset="-120"/>
              </a:rPr>
              <a:t>이 업무에 무엇이 필요한지 정의되어 있지 않다</a:t>
            </a:r>
            <a:endParaRPr lang="en-US" sz="1100" dirty="0"/>
          </a:p>
        </p:txBody>
      </p:sp>
      <p:sp>
        <p:nvSpPr>
          <p:cNvPr id="11" name="Shape 8"/>
          <p:cNvSpPr/>
          <p:nvPr/>
        </p:nvSpPr>
        <p:spPr>
          <a:xfrm>
            <a:off x="566928" y="3648456"/>
            <a:ext cx="3429000" cy="1097280"/>
          </a:xfrm>
          <a:prstGeom prst="roundRect">
            <a:avLst>
              <a:gd name="adj" fmla="val 6667"/>
            </a:avLst>
          </a:prstGeom>
          <a:solidFill>
            <a:srgbClr val="161D2E"/>
          </a:solidFill>
          <a:ln w="12700">
            <a:solidFill>
              <a:srgbClr val="263049"/>
            </a:solidFill>
            <a:prstDash val="solid"/>
          </a:ln>
        </p:spPr>
        <p:txBody>
          <a:bodyPr/>
          <a:lstStyle/>
          <a:p>
            <a:endParaRPr lang="ko-KR" altLang="en-US"/>
          </a:p>
        </p:txBody>
      </p:sp>
      <p:sp>
        <p:nvSpPr>
          <p:cNvPr id="12" name="Text 9"/>
          <p:cNvSpPr/>
          <p:nvPr/>
        </p:nvSpPr>
        <p:spPr>
          <a:xfrm>
            <a:off x="804672" y="3831336"/>
            <a:ext cx="2953512" cy="384048"/>
          </a:xfrm>
          <a:prstGeom prst="rect">
            <a:avLst/>
          </a:prstGeom>
          <a:noFill/>
          <a:ln/>
        </p:spPr>
        <p:txBody>
          <a:bodyPr wrap="square" lIns="0" tIns="0" rIns="0" bIns="0" rtlCol="0" anchor="t"/>
          <a:lstStyle/>
          <a:p>
            <a:pPr marL="0" indent="0">
              <a:buNone/>
            </a:pPr>
            <a:r>
              <a:rPr lang="en-US" sz="1300" b="1" dirty="0">
                <a:solidFill>
                  <a:srgbClr val="F1F5F9"/>
                </a:solidFill>
                <a:latin typeface="Pretendard" pitchFamily="34" charset="0"/>
                <a:ea typeface="Pretendard" pitchFamily="34" charset="-122"/>
                <a:cs typeface="Pretendard" pitchFamily="34" charset="-120"/>
              </a:rPr>
              <a:t>비교 기준</a:t>
            </a:r>
            <a:endParaRPr lang="en-US" sz="1300" dirty="0"/>
          </a:p>
        </p:txBody>
      </p:sp>
      <p:sp>
        <p:nvSpPr>
          <p:cNvPr id="13" name="Text 10"/>
          <p:cNvSpPr/>
          <p:nvPr/>
        </p:nvSpPr>
        <p:spPr>
          <a:xfrm>
            <a:off x="804672" y="4215384"/>
            <a:ext cx="2953512" cy="457200"/>
          </a:xfrm>
          <a:prstGeom prst="rect">
            <a:avLst/>
          </a:prstGeom>
          <a:noFill/>
          <a:ln/>
        </p:spPr>
        <p:txBody>
          <a:bodyPr wrap="square" lIns="0" tIns="0" rIns="0" bIns="0" rtlCol="0" anchor="t"/>
          <a:lstStyle/>
          <a:p>
            <a:pPr marL="0" indent="0">
              <a:lnSpc>
                <a:spcPct val="120000"/>
              </a:lnSpc>
              <a:buNone/>
            </a:pPr>
            <a:r>
              <a:rPr lang="en-US" sz="1100" dirty="0">
                <a:solidFill>
                  <a:srgbClr val="BAC6D8"/>
                </a:solidFill>
                <a:latin typeface="Pretendard" pitchFamily="34" charset="0"/>
                <a:ea typeface="Pretendard" pitchFamily="34" charset="-122"/>
                <a:cs typeface="Pretendard" pitchFamily="34" charset="-120"/>
              </a:rPr>
              <a:t>역량 · 경험 · 가용시간을 비교할 잣대가 없다</a:t>
            </a:r>
            <a:endParaRPr lang="en-US" sz="1100" dirty="0"/>
          </a:p>
        </p:txBody>
      </p:sp>
      <p:sp>
        <p:nvSpPr>
          <p:cNvPr id="14" name="Text 11"/>
          <p:cNvSpPr/>
          <p:nvPr/>
        </p:nvSpPr>
        <p:spPr>
          <a:xfrm>
            <a:off x="4544568" y="1691640"/>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2</a:t>
            </a:r>
            <a:endParaRPr lang="en-US" sz="1400" dirty="0"/>
          </a:p>
        </p:txBody>
      </p:sp>
      <p:sp>
        <p:nvSpPr>
          <p:cNvPr id="15" name="Text 12"/>
          <p:cNvSpPr/>
          <p:nvPr/>
        </p:nvSpPr>
        <p:spPr>
          <a:xfrm>
            <a:off x="5074920" y="1691640"/>
            <a:ext cx="2350008" cy="384048"/>
          </a:xfrm>
          <a:prstGeom prst="rect">
            <a:avLst/>
          </a:prstGeom>
          <a:noFill/>
          <a:ln/>
        </p:spPr>
        <p:txBody>
          <a:bodyPr wrap="square" lIns="0" tIns="0" rIns="0" bIns="0" rtlCol="0" anchor="ctr"/>
          <a:lstStyle/>
          <a:p>
            <a:pPr marL="0" indent="0">
              <a:buNone/>
            </a:pPr>
            <a:r>
              <a:rPr lang="en-US" sz="1500" b="1" dirty="0">
                <a:solidFill>
                  <a:srgbClr val="F1F5F9"/>
                </a:solidFill>
                <a:latin typeface="Pretendard" pitchFamily="34" charset="0"/>
                <a:ea typeface="Pretendard" pitchFamily="34" charset="-122"/>
                <a:cs typeface="Pretendard" pitchFamily="34" charset="-120"/>
              </a:rPr>
              <a:t>PM의 판단</a:t>
            </a:r>
            <a:endParaRPr lang="en-US" sz="1500" dirty="0"/>
          </a:p>
        </p:txBody>
      </p:sp>
      <p:sp>
        <p:nvSpPr>
          <p:cNvPr id="16" name="Shape 13"/>
          <p:cNvSpPr/>
          <p:nvPr/>
        </p:nvSpPr>
        <p:spPr>
          <a:xfrm>
            <a:off x="4544568" y="2350008"/>
            <a:ext cx="2880360" cy="1097280"/>
          </a:xfrm>
          <a:prstGeom prst="roundRect">
            <a:avLst>
              <a:gd name="adj" fmla="val 6667"/>
            </a:avLst>
          </a:prstGeom>
          <a:solidFill>
            <a:srgbClr val="0F2A3A"/>
          </a:solidFill>
          <a:ln w="12700">
            <a:solidFill>
              <a:srgbClr val="155E75"/>
            </a:solidFill>
            <a:prstDash val="solid"/>
          </a:ln>
        </p:spPr>
        <p:txBody>
          <a:bodyPr/>
          <a:lstStyle/>
          <a:p>
            <a:endParaRPr lang="ko-KR" altLang="en-US"/>
          </a:p>
        </p:txBody>
      </p:sp>
      <p:sp>
        <p:nvSpPr>
          <p:cNvPr id="17" name="Text 14"/>
          <p:cNvSpPr/>
          <p:nvPr/>
        </p:nvSpPr>
        <p:spPr>
          <a:xfrm>
            <a:off x="4782312" y="2532888"/>
            <a:ext cx="2404872" cy="384048"/>
          </a:xfrm>
          <a:prstGeom prst="rect">
            <a:avLst/>
          </a:prstGeom>
          <a:noFill/>
          <a:ln/>
        </p:spPr>
        <p:txBody>
          <a:bodyPr wrap="square" lIns="0" tIns="0" rIns="0" bIns="0" rtlCol="0" anchor="t"/>
          <a:lstStyle/>
          <a:p>
            <a:pPr marL="0" indent="0">
              <a:buNone/>
            </a:pPr>
            <a:r>
              <a:rPr lang="en-US" sz="1300" b="1" dirty="0">
                <a:solidFill>
                  <a:srgbClr val="67E8F9"/>
                </a:solidFill>
                <a:latin typeface="Pretendard" pitchFamily="34" charset="0"/>
                <a:ea typeface="Pretendard" pitchFamily="34" charset="-122"/>
                <a:cs typeface="Pretendard" pitchFamily="34" charset="-120"/>
              </a:rPr>
              <a:t>경험과 관계로 결정</a:t>
            </a:r>
            <a:endParaRPr lang="en-US" sz="1300" dirty="0"/>
          </a:p>
        </p:txBody>
      </p:sp>
      <p:sp>
        <p:nvSpPr>
          <p:cNvPr id="18" name="Text 15"/>
          <p:cNvSpPr/>
          <p:nvPr/>
        </p:nvSpPr>
        <p:spPr>
          <a:xfrm>
            <a:off x="4782312" y="2916936"/>
            <a:ext cx="2404872" cy="457200"/>
          </a:xfrm>
          <a:prstGeom prst="rect">
            <a:avLst/>
          </a:prstGeom>
          <a:noFill/>
          <a:ln/>
        </p:spPr>
        <p:txBody>
          <a:bodyPr wrap="square" lIns="0" tIns="0" rIns="0" bIns="0" rtlCol="0" anchor="t"/>
          <a:lstStyle/>
          <a:p>
            <a:pPr marL="0" indent="0">
              <a:lnSpc>
                <a:spcPct val="120000"/>
              </a:lnSpc>
              <a:buNone/>
            </a:pPr>
            <a:r>
              <a:rPr lang="en-US" sz="1100" dirty="0">
                <a:solidFill>
                  <a:srgbClr val="BAC6D8"/>
                </a:solidFill>
                <a:latin typeface="Pretendard" pitchFamily="34" charset="0"/>
                <a:ea typeface="Pretendard" pitchFamily="34" charset="-122"/>
                <a:cs typeface="Pretendard" pitchFamily="34" charset="-120"/>
              </a:rPr>
              <a:t>“지난번에 잘했던 사람에게”</a:t>
            </a:r>
            <a:endParaRPr lang="en-US" sz="1100" dirty="0"/>
          </a:p>
        </p:txBody>
      </p:sp>
      <p:sp>
        <p:nvSpPr>
          <p:cNvPr id="19" name="Text 16"/>
          <p:cNvSpPr/>
          <p:nvPr/>
        </p:nvSpPr>
        <p:spPr>
          <a:xfrm>
            <a:off x="7927848" y="1691640"/>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3</a:t>
            </a:r>
            <a:endParaRPr lang="en-US" sz="1400" dirty="0"/>
          </a:p>
        </p:txBody>
      </p:sp>
      <p:sp>
        <p:nvSpPr>
          <p:cNvPr id="20" name="Text 17"/>
          <p:cNvSpPr/>
          <p:nvPr/>
        </p:nvSpPr>
        <p:spPr>
          <a:xfrm>
            <a:off x="8458200" y="1691640"/>
            <a:ext cx="3172968" cy="384048"/>
          </a:xfrm>
          <a:prstGeom prst="rect">
            <a:avLst/>
          </a:prstGeom>
          <a:noFill/>
          <a:ln/>
        </p:spPr>
        <p:txBody>
          <a:bodyPr wrap="square" lIns="0" tIns="0" rIns="0" bIns="0" rtlCol="0" anchor="ctr"/>
          <a:lstStyle/>
          <a:p>
            <a:pPr marL="0" indent="0">
              <a:buNone/>
            </a:pPr>
            <a:r>
              <a:rPr lang="en-US" sz="1500" b="1" dirty="0">
                <a:solidFill>
                  <a:srgbClr val="F1F5F9"/>
                </a:solidFill>
                <a:latin typeface="Pretendard" pitchFamily="34" charset="0"/>
                <a:ea typeface="Pretendard" pitchFamily="34" charset="-122"/>
                <a:cs typeface="Pretendard" pitchFamily="34" charset="-120"/>
              </a:rPr>
              <a:t>반복되는 결과</a:t>
            </a:r>
            <a:endParaRPr lang="en-US" sz="1500" dirty="0"/>
          </a:p>
        </p:txBody>
      </p:sp>
      <p:sp>
        <p:nvSpPr>
          <p:cNvPr id="21" name="Shape 18"/>
          <p:cNvSpPr/>
          <p:nvPr/>
        </p:nvSpPr>
        <p:spPr>
          <a:xfrm>
            <a:off x="7927848" y="2350008"/>
            <a:ext cx="3703320" cy="731520"/>
          </a:xfrm>
          <a:prstGeom prst="roundRect">
            <a:avLst>
              <a:gd name="adj" fmla="val 10000"/>
            </a:avLst>
          </a:prstGeom>
          <a:solidFill>
            <a:srgbClr val="351717"/>
          </a:solidFill>
          <a:ln w="12700">
            <a:solidFill>
              <a:srgbClr val="7F1D1D"/>
            </a:solidFill>
            <a:prstDash val="solid"/>
          </a:ln>
        </p:spPr>
        <p:txBody>
          <a:bodyPr/>
          <a:lstStyle/>
          <a:p>
            <a:endParaRPr lang="ko-KR" altLang="en-US"/>
          </a:p>
        </p:txBody>
      </p:sp>
      <p:sp>
        <p:nvSpPr>
          <p:cNvPr id="22" name="Text 19"/>
          <p:cNvSpPr/>
          <p:nvPr/>
        </p:nvSpPr>
        <p:spPr>
          <a:xfrm>
            <a:off x="8165592" y="2350008"/>
            <a:ext cx="3227832" cy="731520"/>
          </a:xfrm>
          <a:prstGeom prst="rect">
            <a:avLst/>
          </a:prstGeom>
          <a:noFill/>
          <a:ln/>
        </p:spPr>
        <p:txBody>
          <a:bodyPr wrap="square" lIns="0" tIns="0" rIns="0" bIns="0" rtlCol="0" anchor="ctr"/>
          <a:lstStyle/>
          <a:p>
            <a:pPr marL="0" indent="0">
              <a:buNone/>
            </a:pPr>
            <a:r>
              <a:rPr lang="en-US" sz="1300" b="1" dirty="0">
                <a:solidFill>
                  <a:srgbClr val="F87171"/>
                </a:solidFill>
                <a:latin typeface="Pretendard" pitchFamily="34" charset="0"/>
                <a:ea typeface="Pretendard" pitchFamily="34" charset="-122"/>
                <a:cs typeface="Pretendard" pitchFamily="34" charset="-120"/>
              </a:rPr>
              <a:t>역할–구성원 미스매치</a:t>
            </a:r>
            <a:endParaRPr lang="en-US" sz="1300" dirty="0"/>
          </a:p>
        </p:txBody>
      </p:sp>
      <p:sp>
        <p:nvSpPr>
          <p:cNvPr id="23" name="Shape 20"/>
          <p:cNvSpPr/>
          <p:nvPr/>
        </p:nvSpPr>
        <p:spPr>
          <a:xfrm>
            <a:off x="7927848" y="3282696"/>
            <a:ext cx="3703320" cy="731520"/>
          </a:xfrm>
          <a:prstGeom prst="roundRect">
            <a:avLst>
              <a:gd name="adj" fmla="val 10000"/>
            </a:avLst>
          </a:prstGeom>
          <a:solidFill>
            <a:srgbClr val="351717"/>
          </a:solidFill>
          <a:ln w="12700">
            <a:solidFill>
              <a:srgbClr val="7F1D1D"/>
            </a:solidFill>
            <a:prstDash val="solid"/>
          </a:ln>
        </p:spPr>
        <p:txBody>
          <a:bodyPr/>
          <a:lstStyle/>
          <a:p>
            <a:endParaRPr lang="ko-KR" altLang="en-US"/>
          </a:p>
        </p:txBody>
      </p:sp>
      <p:sp>
        <p:nvSpPr>
          <p:cNvPr id="24" name="Text 21"/>
          <p:cNvSpPr/>
          <p:nvPr/>
        </p:nvSpPr>
        <p:spPr>
          <a:xfrm>
            <a:off x="8165592" y="3282696"/>
            <a:ext cx="3227832" cy="731520"/>
          </a:xfrm>
          <a:prstGeom prst="rect">
            <a:avLst/>
          </a:prstGeom>
          <a:noFill/>
          <a:ln/>
        </p:spPr>
        <p:txBody>
          <a:bodyPr wrap="square" lIns="0" tIns="0" rIns="0" bIns="0" rtlCol="0" anchor="ctr"/>
          <a:lstStyle/>
          <a:p>
            <a:pPr marL="0" indent="0">
              <a:buNone/>
            </a:pPr>
            <a:r>
              <a:rPr lang="en-US" sz="1300" b="1" dirty="0">
                <a:solidFill>
                  <a:srgbClr val="F87171"/>
                </a:solidFill>
                <a:latin typeface="Pretendard" pitchFamily="34" charset="0"/>
                <a:ea typeface="Pretendard" pitchFamily="34" charset="-122"/>
                <a:cs typeface="Pretendard" pitchFamily="34" charset="-120"/>
              </a:rPr>
              <a:t>익숙한 구성원에게 업무 집중</a:t>
            </a:r>
            <a:endParaRPr lang="en-US" sz="1300" dirty="0"/>
          </a:p>
        </p:txBody>
      </p:sp>
      <p:sp>
        <p:nvSpPr>
          <p:cNvPr id="25" name="Shape 22"/>
          <p:cNvSpPr/>
          <p:nvPr/>
        </p:nvSpPr>
        <p:spPr>
          <a:xfrm>
            <a:off x="7927848" y="4215384"/>
            <a:ext cx="3703320" cy="731520"/>
          </a:xfrm>
          <a:prstGeom prst="roundRect">
            <a:avLst>
              <a:gd name="adj" fmla="val 10000"/>
            </a:avLst>
          </a:prstGeom>
          <a:solidFill>
            <a:srgbClr val="351717"/>
          </a:solidFill>
          <a:ln w="12700">
            <a:solidFill>
              <a:srgbClr val="7F1D1D"/>
            </a:solidFill>
            <a:prstDash val="solid"/>
          </a:ln>
        </p:spPr>
        <p:txBody>
          <a:bodyPr/>
          <a:lstStyle/>
          <a:p>
            <a:endParaRPr lang="ko-KR" altLang="en-US"/>
          </a:p>
        </p:txBody>
      </p:sp>
      <p:sp>
        <p:nvSpPr>
          <p:cNvPr id="26" name="Text 23"/>
          <p:cNvSpPr/>
          <p:nvPr/>
        </p:nvSpPr>
        <p:spPr>
          <a:xfrm>
            <a:off x="8165592" y="4215384"/>
            <a:ext cx="3227832" cy="731520"/>
          </a:xfrm>
          <a:prstGeom prst="rect">
            <a:avLst/>
          </a:prstGeom>
          <a:noFill/>
          <a:ln/>
        </p:spPr>
        <p:txBody>
          <a:bodyPr wrap="square" lIns="0" tIns="0" rIns="0" bIns="0" rtlCol="0" anchor="ctr"/>
          <a:lstStyle/>
          <a:p>
            <a:pPr marL="0" indent="0">
              <a:buNone/>
            </a:pPr>
            <a:r>
              <a:rPr lang="en-US" sz="1300" b="1" dirty="0">
                <a:solidFill>
                  <a:srgbClr val="F87171"/>
                </a:solidFill>
                <a:latin typeface="Pretendard" pitchFamily="34" charset="0"/>
                <a:ea typeface="Pretendard" pitchFamily="34" charset="-122"/>
                <a:cs typeface="Pretendard" pitchFamily="34" charset="-120"/>
              </a:rPr>
              <a:t>분배 근거가 기록되지 않음</a:t>
            </a:r>
            <a:endParaRPr lang="en-US" sz="1300" dirty="0"/>
          </a:p>
        </p:txBody>
      </p:sp>
      <p:sp>
        <p:nvSpPr>
          <p:cNvPr id="27" name="Text 24"/>
          <p:cNvSpPr/>
          <p:nvPr/>
        </p:nvSpPr>
        <p:spPr>
          <a:xfrm>
            <a:off x="566928" y="5349240"/>
            <a:ext cx="11064240" cy="658368"/>
          </a:xfrm>
          <a:prstGeom prst="rect">
            <a:avLst/>
          </a:prstGeom>
          <a:solidFill>
            <a:srgbClr val="351717"/>
          </a:solidFill>
          <a:ln/>
        </p:spPr>
        <p:txBody>
          <a:bodyPr wrap="square" lIns="0" tIns="0" rIns="0" bIns="0" rtlCol="0" anchor="ctr"/>
          <a:lstStyle/>
          <a:p>
            <a:pPr marL="0" indent="0" algn="ctr">
              <a:buNone/>
            </a:pPr>
            <a:r>
              <a:rPr lang="en-US" sz="1450" b="1" dirty="0">
                <a:solidFill>
                  <a:srgbClr val="F87171"/>
                </a:solidFill>
                <a:latin typeface="Pretendard" pitchFamily="34" charset="0"/>
                <a:ea typeface="Pretendard" pitchFamily="34" charset="-122"/>
                <a:cs typeface="Pretendard" pitchFamily="34" charset="-120"/>
              </a:rPr>
              <a:t>개인의 문제가 아니라 조직 생산성 손실로 확대된다</a:t>
            </a:r>
            <a:endParaRPr lang="en-US" sz="1450" dirty="0"/>
          </a:p>
        </p:txBody>
      </p:sp>
      <p:sp>
        <p:nvSpPr>
          <p:cNvPr id="28" name="Text 25"/>
          <p:cNvSpPr/>
          <p:nvPr/>
        </p:nvSpPr>
        <p:spPr>
          <a:xfrm>
            <a:off x="566928" y="6144768"/>
            <a:ext cx="11064240" cy="310896"/>
          </a:xfrm>
          <a:prstGeom prst="rect">
            <a:avLst/>
          </a:prstGeom>
          <a:noFill/>
          <a:ln/>
        </p:spPr>
        <p:txBody>
          <a:bodyPr wrap="square" lIns="0" tIns="0" rIns="0" bIns="0" rtlCol="0" anchor="ctr"/>
          <a:lstStyle/>
          <a:p>
            <a:pPr marL="0" indent="0" algn="ctr">
              <a:buNone/>
            </a:pPr>
            <a:r>
              <a:rPr lang="en-US" sz="1300" b="1" dirty="0">
                <a:solidFill>
                  <a:srgbClr val="67E8F9"/>
                </a:solidFill>
                <a:latin typeface="Pretendard" pitchFamily="34" charset="0"/>
                <a:ea typeface="Pretendard" pitchFamily="34" charset="-122"/>
                <a:cs typeface="Pretendard" pitchFamily="34" charset="-120"/>
              </a:rPr>
              <a:t>업무 시간의 58%</a:t>
            </a:r>
            <a:r>
              <a:rPr lang="en-US" sz="1200" dirty="0">
                <a:solidFill>
                  <a:srgbClr val="BAC6D8"/>
                </a:solidFill>
                <a:latin typeface="Pretendard" pitchFamily="34" charset="0"/>
                <a:ea typeface="Pretendard" pitchFamily="34" charset="-122"/>
                <a:cs typeface="Pretendard" pitchFamily="34" charset="-120"/>
              </a:rPr>
              <a:t>  를 「업무를 위한 업무」에 쓴다 — 담당자 확인 · 진행 파악 · 정보 검색</a:t>
            </a:r>
            <a:r>
              <a:rPr lang="en-US" sz="1050" dirty="0">
                <a:solidFill>
                  <a:srgbClr val="9FADC2"/>
                </a:solidFill>
                <a:latin typeface="Pretendard" pitchFamily="34" charset="0"/>
                <a:ea typeface="Pretendard" pitchFamily="34" charset="-122"/>
                <a:cs typeface="Pretendard" pitchFamily="34" charset="-120"/>
              </a:rPr>
              <a:t>     Asana, 2023 · 지식노동자 9,615명</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MARKET</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시장 조사 — 어떻게 해결하고 있는가</a:t>
            </a:r>
            <a:endParaRPr lang="en-US" sz="2700" dirty="0"/>
          </a:p>
        </p:txBody>
      </p:sp>
      <p:sp>
        <p:nvSpPr>
          <p:cNvPr id="5" name="Text 2"/>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07</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508760"/>
          <a:ext cx="11064240" cy="3145536"/>
        </p:xfrm>
        <a:graphic>
          <a:graphicData uri="http://schemas.openxmlformats.org/drawingml/2006/table">
            <a:tbl>
              <a:tblPr/>
              <a:tblGrid>
                <a:gridCol w="26517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1463040">
                  <a:extLst>
                    <a:ext uri="{9D8B030D-6E8A-4147-A177-3AD203B41FA5}">
                      <a16:colId xmlns:a16="http://schemas.microsoft.com/office/drawing/2014/main" val="20006"/>
                    </a:ext>
                  </a:extLst>
                </a:gridCol>
              </a:tblGrid>
              <a:tr h="457200">
                <a:tc>
                  <a:txBody>
                    <a:bodyPr/>
                    <a:lstStyle/>
                    <a:p>
                      <a:pPr marL="0" indent="0" algn="ctr">
                        <a:buNone/>
                      </a:pPr>
                      <a:endParaRPr lang="en-US" sz="9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tc>
                  <a:txBody>
                    <a:bodyPr/>
                    <a:lstStyle/>
                    <a:p>
                      <a:pPr marL="0" indent="0" algn="ctr">
                        <a:buNone/>
                      </a:pPr>
                      <a:r>
                        <a:rPr lang="en-US" sz="950" b="1" dirty="0">
                          <a:solidFill>
                            <a:srgbClr val="67E8F9"/>
                          </a:solidFill>
                          <a:latin typeface="Pretendard" pitchFamily="34" charset="0"/>
                          <a:ea typeface="Pretendard" pitchFamily="34" charset="-122"/>
                          <a:cs typeface="Pretendard" pitchFamily="34" charset="-120"/>
                        </a:rPr>
                        <a:t>문서→업무 구조화</a:t>
                      </a:r>
                      <a:endParaRPr lang="en-US" sz="9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tc>
                  <a:txBody>
                    <a:bodyPr/>
                    <a:lstStyle/>
                    <a:p>
                      <a:pPr marL="0" indent="0" algn="ctr">
                        <a:buNone/>
                      </a:pPr>
                      <a:r>
                        <a:rPr lang="en-US" sz="950" b="1" dirty="0">
                          <a:solidFill>
                            <a:srgbClr val="67E8F9"/>
                          </a:solidFill>
                          <a:latin typeface="Pretendard" pitchFamily="34" charset="0"/>
                          <a:ea typeface="Pretendard" pitchFamily="34" charset="-122"/>
                          <a:cs typeface="Pretendard" pitchFamily="34" charset="-120"/>
                        </a:rPr>
                        <a:t>역할·역량 추출</a:t>
                      </a:r>
                      <a:endParaRPr lang="en-US" sz="9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tc>
                  <a:txBody>
                    <a:bodyPr/>
                    <a:lstStyle/>
                    <a:p>
                      <a:pPr marL="0" indent="0" algn="ctr">
                        <a:buNone/>
                      </a:pPr>
                      <a:r>
                        <a:rPr lang="en-US" sz="950" b="1" dirty="0">
                          <a:solidFill>
                            <a:srgbClr val="67E8F9"/>
                          </a:solidFill>
                          <a:latin typeface="Pretendard" pitchFamily="34" charset="0"/>
                          <a:ea typeface="Pretendard" pitchFamily="34" charset="-122"/>
                          <a:cs typeface="Pretendard" pitchFamily="34" charset="-120"/>
                        </a:rPr>
                        <a:t>역량 기반 추천</a:t>
                      </a:r>
                      <a:endParaRPr lang="en-US" sz="9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tc>
                  <a:txBody>
                    <a:bodyPr/>
                    <a:lstStyle/>
                    <a:p>
                      <a:pPr marL="0" indent="0" algn="ctr">
                        <a:buNone/>
                      </a:pPr>
                      <a:r>
                        <a:rPr lang="en-US" sz="950" b="1" dirty="0">
                          <a:solidFill>
                            <a:srgbClr val="67E8F9"/>
                          </a:solidFill>
                          <a:latin typeface="Pretendard" pitchFamily="34" charset="0"/>
                          <a:ea typeface="Pretendard" pitchFamily="34" charset="-122"/>
                          <a:cs typeface="Pretendard" pitchFamily="34" charset="-120"/>
                        </a:rPr>
                        <a:t>가용량 기반 추천</a:t>
                      </a:r>
                      <a:endParaRPr lang="en-US" sz="9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tc>
                  <a:txBody>
                    <a:bodyPr/>
                    <a:lstStyle/>
                    <a:p>
                      <a:pPr marL="0" indent="0" algn="ctr">
                        <a:buNone/>
                      </a:pPr>
                      <a:r>
                        <a:rPr lang="en-US" sz="950" b="1" dirty="0">
                          <a:solidFill>
                            <a:srgbClr val="67E8F9"/>
                          </a:solidFill>
                          <a:latin typeface="Pretendard" pitchFamily="34" charset="0"/>
                          <a:ea typeface="Pretendard" pitchFamily="34" charset="-122"/>
                          <a:cs typeface="Pretendard" pitchFamily="34" charset="-120"/>
                        </a:rPr>
                        <a:t>원문 연결</a:t>
                      </a:r>
                      <a:endParaRPr lang="en-US" sz="9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tc>
                  <a:txBody>
                    <a:bodyPr/>
                    <a:lstStyle/>
                    <a:p>
                      <a:pPr marL="0" indent="0" algn="ctr">
                        <a:buNone/>
                      </a:pPr>
                      <a:r>
                        <a:rPr lang="en-US" sz="950" b="1" dirty="0">
                          <a:solidFill>
                            <a:srgbClr val="67E8F9"/>
                          </a:solidFill>
                          <a:latin typeface="Pretendard" pitchFamily="34" charset="0"/>
                          <a:ea typeface="Pretendard" pitchFamily="34" charset="-122"/>
                          <a:cs typeface="Pretendard" pitchFamily="34" charset="-120"/>
                        </a:rPr>
                        <a:t>근거 표시</a:t>
                      </a:r>
                      <a:endParaRPr lang="en-US" sz="9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extLst>
                  <a:ext uri="{0D108BD9-81ED-4DB2-BD59-A6C34878D82A}">
                    <a16:rowId xmlns:a16="http://schemas.microsoft.com/office/drawing/2014/main" val="10000"/>
                  </a:ext>
                </a:extLst>
              </a:tr>
              <a:tr h="384048">
                <a:tc>
                  <a:txBody>
                    <a:bodyPr/>
                    <a:lstStyle/>
                    <a:p>
                      <a:pPr marL="0" indent="0">
                        <a:buNone/>
                      </a:pPr>
                      <a:r>
                        <a:rPr lang="en-US" sz="1050" b="1" dirty="0">
                          <a:solidFill>
                            <a:srgbClr val="F1F5F9"/>
                          </a:solidFill>
                          <a:latin typeface="Pretendard" pitchFamily="34" charset="0"/>
                          <a:ea typeface="Pretendard" pitchFamily="34" charset="-122"/>
                          <a:cs typeface="Pretendard" pitchFamily="34" charset="-120"/>
                        </a:rPr>
                        <a:t>Microsoft 365 Copilot</a:t>
                      </a:r>
                      <a:endParaRPr lang="en-US" sz="10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b="1" dirty="0">
                          <a:solidFill>
                            <a:srgbClr val="22D3EE"/>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FBBF24"/>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9FADC2"/>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FBBF24"/>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9FADC2"/>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9FADC2"/>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1"/>
                  </a:ext>
                </a:extLst>
              </a:tr>
              <a:tr h="384048">
                <a:tc>
                  <a:txBody>
                    <a:bodyPr/>
                    <a:lstStyle/>
                    <a:p>
                      <a:pPr marL="0" indent="0">
                        <a:buNone/>
                      </a:pPr>
                      <a:r>
                        <a:rPr lang="en-US" sz="1050" b="1" dirty="0">
                          <a:solidFill>
                            <a:srgbClr val="F1F5F9"/>
                          </a:solidFill>
                          <a:latin typeface="Pretendard" pitchFamily="34" charset="0"/>
                          <a:ea typeface="Pretendard" pitchFamily="34" charset="-122"/>
                          <a:cs typeface="Pretendard" pitchFamily="34" charset="-120"/>
                        </a:rPr>
                        <a:t>Asana AI</a:t>
                      </a:r>
                      <a:endParaRPr lang="en-US" sz="10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b="1" dirty="0">
                          <a:solidFill>
                            <a:srgbClr val="22D3EE"/>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FBBF24"/>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FBBF24"/>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b="1" dirty="0">
                          <a:solidFill>
                            <a:srgbClr val="22D3EE"/>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9FADC2"/>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FBBF24"/>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2"/>
                  </a:ext>
                </a:extLst>
              </a:tr>
              <a:tr h="384048">
                <a:tc>
                  <a:txBody>
                    <a:bodyPr/>
                    <a:lstStyle/>
                    <a:p>
                      <a:pPr marL="0" indent="0">
                        <a:buNone/>
                      </a:pPr>
                      <a:r>
                        <a:rPr lang="en-US" sz="1050" b="1" dirty="0">
                          <a:solidFill>
                            <a:srgbClr val="F1F5F9"/>
                          </a:solidFill>
                          <a:latin typeface="Pretendard" pitchFamily="34" charset="0"/>
                          <a:ea typeface="Pretendard" pitchFamily="34" charset="-122"/>
                          <a:cs typeface="Pretendard" pitchFamily="34" charset="-120"/>
                        </a:rPr>
                        <a:t>monday work management</a:t>
                      </a:r>
                      <a:endParaRPr lang="en-US" sz="10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FBBF24"/>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FBBF24"/>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b="1" dirty="0">
                          <a:solidFill>
                            <a:srgbClr val="22D3EE"/>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b="1" dirty="0">
                          <a:solidFill>
                            <a:srgbClr val="22D3EE"/>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9FADC2"/>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FBBF24"/>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3"/>
                  </a:ext>
                </a:extLst>
              </a:tr>
              <a:tr h="384048">
                <a:tc>
                  <a:txBody>
                    <a:bodyPr/>
                    <a:lstStyle/>
                    <a:p>
                      <a:pPr marL="0" indent="0">
                        <a:buNone/>
                      </a:pPr>
                      <a:r>
                        <a:rPr lang="en-US" sz="1050" b="1" dirty="0">
                          <a:solidFill>
                            <a:srgbClr val="F1F5F9"/>
                          </a:solidFill>
                          <a:latin typeface="Pretendard" pitchFamily="34" charset="0"/>
                          <a:ea typeface="Pretendard" pitchFamily="34" charset="-122"/>
                          <a:cs typeface="Pretendard" pitchFamily="34" charset="-120"/>
                        </a:rPr>
                        <a:t>Notion AI</a:t>
                      </a:r>
                      <a:endParaRPr lang="en-US" sz="10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b="1" dirty="0">
                          <a:solidFill>
                            <a:srgbClr val="22D3EE"/>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9FADC2"/>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9FADC2"/>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9FADC2"/>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FBBF24"/>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9FADC2"/>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4"/>
                  </a:ext>
                </a:extLst>
              </a:tr>
              <a:tr h="384048">
                <a:tc>
                  <a:txBody>
                    <a:bodyPr/>
                    <a:lstStyle/>
                    <a:p>
                      <a:pPr marL="0" indent="0">
                        <a:buNone/>
                      </a:pPr>
                      <a:r>
                        <a:rPr lang="en-US" sz="1050" b="1" dirty="0">
                          <a:solidFill>
                            <a:srgbClr val="F1F5F9"/>
                          </a:solidFill>
                          <a:latin typeface="Pretendard" pitchFamily="34" charset="0"/>
                          <a:ea typeface="Pretendard" pitchFamily="34" charset="-122"/>
                          <a:cs typeface="Pretendard" pitchFamily="34" charset="-120"/>
                        </a:rPr>
                        <a:t>Atlassian Rovo + Jira</a:t>
                      </a:r>
                      <a:endParaRPr lang="en-US" sz="10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b="1" dirty="0">
                          <a:solidFill>
                            <a:srgbClr val="22D3EE"/>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9FADC2"/>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FBBF24"/>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9FADC2"/>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FBBF24"/>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9FADC2"/>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5"/>
                  </a:ext>
                </a:extLst>
              </a:tr>
              <a:tr h="384048">
                <a:tc>
                  <a:txBody>
                    <a:bodyPr/>
                    <a:lstStyle/>
                    <a:p>
                      <a:pPr marL="0" indent="0">
                        <a:buNone/>
                      </a:pPr>
                      <a:r>
                        <a:rPr lang="en-US" sz="1050" b="1" dirty="0">
                          <a:solidFill>
                            <a:srgbClr val="F1F5F9"/>
                          </a:solidFill>
                          <a:latin typeface="Pretendard" pitchFamily="34" charset="0"/>
                          <a:ea typeface="Pretendard" pitchFamily="34" charset="-122"/>
                          <a:cs typeface="Pretendard" pitchFamily="34" charset="-120"/>
                        </a:rPr>
                        <a:t>Kantata (전문 리소스관리)</a:t>
                      </a:r>
                      <a:endParaRPr lang="en-US" sz="10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9FADC2"/>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FBBF24"/>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b="1" dirty="0">
                          <a:solidFill>
                            <a:srgbClr val="22D3EE"/>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b="1" dirty="0">
                          <a:solidFill>
                            <a:srgbClr val="22D3EE"/>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9FADC2"/>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b="1" dirty="0">
                          <a:solidFill>
                            <a:srgbClr val="22D3EE"/>
                          </a:solidFill>
                          <a:latin typeface="Pretendard" pitchFamily="34" charset="0"/>
                          <a:ea typeface="Pretendard" pitchFamily="34" charset="-122"/>
                          <a:cs typeface="Pretendard" pitchFamily="34" charset="-120"/>
                        </a:rPr>
                        <a:t>◎</a:t>
                      </a:r>
                      <a:endParaRPr lang="en-US" sz="12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6"/>
                  </a:ext>
                </a:extLst>
              </a:tr>
              <a:tr h="384048">
                <a:tc>
                  <a:txBody>
                    <a:bodyPr/>
                    <a:lstStyle/>
                    <a:p>
                      <a:pPr marL="0" indent="0">
                        <a:buNone/>
                      </a:pPr>
                      <a:r>
                        <a:rPr lang="en-US" sz="1050" b="1" dirty="0">
                          <a:solidFill>
                            <a:srgbClr val="22D3EE"/>
                          </a:solidFill>
                          <a:latin typeface="Pretendard" pitchFamily="34" charset="0"/>
                          <a:ea typeface="Pretendard" pitchFamily="34" charset="-122"/>
                          <a:cs typeface="Pretendard" pitchFamily="34" charset="-120"/>
                        </a:rPr>
                        <a:t>우리 프로젝트 (설계 목표)</a:t>
                      </a:r>
                      <a:endParaRPr lang="en-US" sz="10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0F2A3A"/>
                    </a:solidFill>
                  </a:tcPr>
                </a:tc>
                <a:tc>
                  <a:txBody>
                    <a:bodyPr/>
                    <a:lstStyle/>
                    <a:p>
                      <a:pPr marL="0" indent="0" algn="ctr">
                        <a:buNone/>
                      </a:pPr>
                      <a:r>
                        <a:rPr lang="en-US" sz="1100" b="1" dirty="0">
                          <a:solidFill>
                            <a:srgbClr val="22D3EE"/>
                          </a:solidFill>
                          <a:latin typeface="Pretendard" pitchFamily="34" charset="0"/>
                          <a:ea typeface="Pretendard" pitchFamily="34" charset="-122"/>
                          <a:cs typeface="Pretendard" pitchFamily="34" charset="-120"/>
                        </a:rPr>
                        <a:t>◇</a:t>
                      </a:r>
                      <a:endParaRPr lang="en-US" sz="11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0F2A3A"/>
                    </a:solidFill>
                  </a:tcPr>
                </a:tc>
                <a:tc>
                  <a:txBody>
                    <a:bodyPr/>
                    <a:lstStyle/>
                    <a:p>
                      <a:pPr marL="0" indent="0" algn="ctr">
                        <a:buNone/>
                      </a:pPr>
                      <a:r>
                        <a:rPr lang="en-US" sz="1100" b="1" dirty="0">
                          <a:solidFill>
                            <a:srgbClr val="22D3EE"/>
                          </a:solidFill>
                          <a:latin typeface="Pretendard" pitchFamily="34" charset="0"/>
                          <a:ea typeface="Pretendard" pitchFamily="34" charset="-122"/>
                          <a:cs typeface="Pretendard" pitchFamily="34" charset="-120"/>
                        </a:rPr>
                        <a:t>◇</a:t>
                      </a:r>
                      <a:endParaRPr lang="en-US" sz="11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0F2A3A"/>
                    </a:solidFill>
                  </a:tcPr>
                </a:tc>
                <a:tc>
                  <a:txBody>
                    <a:bodyPr/>
                    <a:lstStyle/>
                    <a:p>
                      <a:pPr marL="0" indent="0" algn="ctr">
                        <a:buNone/>
                      </a:pPr>
                      <a:r>
                        <a:rPr lang="en-US" sz="1100" b="1" dirty="0">
                          <a:solidFill>
                            <a:srgbClr val="22D3EE"/>
                          </a:solidFill>
                          <a:latin typeface="Pretendard" pitchFamily="34" charset="0"/>
                          <a:ea typeface="Pretendard" pitchFamily="34" charset="-122"/>
                          <a:cs typeface="Pretendard" pitchFamily="34" charset="-120"/>
                        </a:rPr>
                        <a:t>◇</a:t>
                      </a:r>
                      <a:endParaRPr lang="en-US" sz="11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0F2A3A"/>
                    </a:solidFill>
                  </a:tcPr>
                </a:tc>
                <a:tc>
                  <a:txBody>
                    <a:bodyPr/>
                    <a:lstStyle/>
                    <a:p>
                      <a:pPr marL="0" indent="0" algn="ctr">
                        <a:buNone/>
                      </a:pPr>
                      <a:r>
                        <a:rPr lang="en-US" sz="1100" b="1" dirty="0">
                          <a:solidFill>
                            <a:srgbClr val="22D3EE"/>
                          </a:solidFill>
                          <a:latin typeface="Pretendard" pitchFamily="34" charset="0"/>
                          <a:ea typeface="Pretendard" pitchFamily="34" charset="-122"/>
                          <a:cs typeface="Pretendard" pitchFamily="34" charset="-120"/>
                        </a:rPr>
                        <a:t>◇</a:t>
                      </a:r>
                      <a:endParaRPr lang="en-US" sz="11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0F2A3A"/>
                    </a:solidFill>
                  </a:tcPr>
                </a:tc>
                <a:tc>
                  <a:txBody>
                    <a:bodyPr/>
                    <a:lstStyle/>
                    <a:p>
                      <a:pPr marL="0" indent="0" algn="ctr">
                        <a:buNone/>
                      </a:pPr>
                      <a:r>
                        <a:rPr lang="en-US" sz="1100" b="1" dirty="0">
                          <a:solidFill>
                            <a:srgbClr val="22D3EE"/>
                          </a:solidFill>
                          <a:latin typeface="Pretendard" pitchFamily="34" charset="0"/>
                          <a:ea typeface="Pretendard" pitchFamily="34" charset="-122"/>
                          <a:cs typeface="Pretendard" pitchFamily="34" charset="-120"/>
                        </a:rPr>
                        <a:t>◇</a:t>
                      </a:r>
                      <a:endParaRPr lang="en-US" sz="11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0F2A3A"/>
                    </a:solidFill>
                  </a:tcPr>
                </a:tc>
                <a:tc>
                  <a:txBody>
                    <a:bodyPr/>
                    <a:lstStyle/>
                    <a:p>
                      <a:pPr marL="0" indent="0" algn="ctr">
                        <a:buNone/>
                      </a:pPr>
                      <a:r>
                        <a:rPr lang="en-US" sz="1100" b="1" dirty="0">
                          <a:solidFill>
                            <a:srgbClr val="22D3EE"/>
                          </a:solidFill>
                          <a:latin typeface="Pretendard" pitchFamily="34" charset="0"/>
                          <a:ea typeface="Pretendard" pitchFamily="34" charset="-122"/>
                          <a:cs typeface="Pretendard" pitchFamily="34" charset="-120"/>
                        </a:rPr>
                        <a:t>◇</a:t>
                      </a:r>
                      <a:endParaRPr lang="en-US" sz="11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0F2A3A"/>
                    </a:solidFill>
                  </a:tcPr>
                </a:tc>
                <a:extLst>
                  <a:ext uri="{0D108BD9-81ED-4DB2-BD59-A6C34878D82A}">
                    <a16:rowId xmlns:a16="http://schemas.microsoft.com/office/drawing/2014/main" val="10007"/>
                  </a:ext>
                </a:extLst>
              </a:tr>
            </a:tbl>
          </a:graphicData>
        </a:graphic>
      </p:graphicFrame>
      <p:sp>
        <p:nvSpPr>
          <p:cNvPr id="7" name="Text 3"/>
          <p:cNvSpPr/>
          <p:nvPr/>
        </p:nvSpPr>
        <p:spPr>
          <a:xfrm>
            <a:off x="566928" y="4690872"/>
            <a:ext cx="11064240" cy="292608"/>
          </a:xfrm>
          <a:prstGeom prst="rect">
            <a:avLst/>
          </a:prstGeom>
          <a:noFill/>
          <a:ln/>
        </p:spPr>
        <p:txBody>
          <a:bodyPr wrap="square" lIns="0" tIns="0" rIns="0" bIns="0" rtlCol="0" anchor="ctr"/>
          <a:lstStyle/>
          <a:p>
            <a:pPr marL="0" indent="0">
              <a:buNone/>
            </a:pPr>
            <a:r>
              <a:rPr lang="en-US" sz="1150" b="1" dirty="0">
                <a:solidFill>
                  <a:srgbClr val="22D3EE"/>
                </a:solidFill>
                <a:latin typeface="Pretendard" pitchFamily="34" charset="0"/>
                <a:ea typeface="Pretendard" pitchFamily="34" charset="-122"/>
                <a:cs typeface="Pretendard" pitchFamily="34" charset="-120"/>
              </a:rPr>
              <a:t>◎ </a:t>
            </a:r>
            <a:r>
              <a:rPr lang="en-US" sz="1150" dirty="0">
                <a:solidFill>
                  <a:srgbClr val="BAC6D8"/>
                </a:solidFill>
                <a:latin typeface="Pretendard" pitchFamily="34" charset="0"/>
                <a:ea typeface="Pretendard" pitchFamily="34" charset="-122"/>
                <a:cs typeface="Pretendard" pitchFamily="34" charset="-120"/>
              </a:rPr>
              <a:t>기본 기능으로 확인      </a:t>
            </a:r>
            <a:r>
              <a:rPr lang="en-US" sz="1150" b="1" dirty="0">
                <a:solidFill>
                  <a:srgbClr val="FBBF24"/>
                </a:solidFill>
                <a:latin typeface="Pretendard" pitchFamily="34" charset="0"/>
                <a:ea typeface="Pretendard" pitchFamily="34" charset="-122"/>
                <a:cs typeface="Pretendard" pitchFamily="34" charset="-120"/>
              </a:rPr>
              <a:t>△ </a:t>
            </a:r>
            <a:r>
              <a:rPr lang="en-US" sz="1150" dirty="0">
                <a:solidFill>
                  <a:srgbClr val="BAC6D8"/>
                </a:solidFill>
                <a:latin typeface="Pretendard" pitchFamily="34" charset="0"/>
                <a:ea typeface="Pretendard" pitchFamily="34" charset="-122"/>
                <a:cs typeface="Pretendard" pitchFamily="34" charset="-120"/>
              </a:rPr>
              <a:t>제한된 범위에서 지원      </a:t>
            </a:r>
            <a:r>
              <a:rPr lang="en-US" sz="1150" b="1" dirty="0">
                <a:solidFill>
                  <a:srgbClr val="9FADC2"/>
                </a:solidFill>
                <a:latin typeface="Pretendard" pitchFamily="34" charset="0"/>
                <a:ea typeface="Pretendard" pitchFamily="34" charset="-122"/>
                <a:cs typeface="Pretendard" pitchFamily="34" charset="-120"/>
              </a:rPr>
              <a:t>— </a:t>
            </a:r>
            <a:r>
              <a:rPr lang="en-US" sz="1150" dirty="0">
                <a:solidFill>
                  <a:srgbClr val="BAC6D8"/>
                </a:solidFill>
                <a:latin typeface="Pretendard" pitchFamily="34" charset="0"/>
                <a:ea typeface="Pretendard" pitchFamily="34" charset="-122"/>
                <a:cs typeface="Pretendard" pitchFamily="34" charset="-120"/>
              </a:rPr>
              <a:t>해당 기능 없음 / 확인 안 됨      </a:t>
            </a:r>
            <a:r>
              <a:rPr lang="en-US" sz="1150" b="1" dirty="0">
                <a:solidFill>
                  <a:srgbClr val="67E8F9"/>
                </a:solidFill>
                <a:latin typeface="Pretendard" pitchFamily="34" charset="0"/>
                <a:ea typeface="Pretendard" pitchFamily="34" charset="-122"/>
                <a:cs typeface="Pretendard" pitchFamily="34" charset="-120"/>
              </a:rPr>
              <a:t>◇ </a:t>
            </a:r>
            <a:r>
              <a:rPr lang="en-US" sz="1150" dirty="0">
                <a:solidFill>
                  <a:srgbClr val="BAC6D8"/>
                </a:solidFill>
                <a:latin typeface="Pretendard" pitchFamily="34" charset="0"/>
                <a:ea typeface="Pretendard" pitchFamily="34" charset="-122"/>
                <a:cs typeface="Pretendard" pitchFamily="34" charset="-120"/>
              </a:rPr>
              <a:t>개발 · 검증 중인 설계 목표</a:t>
            </a:r>
            <a:endParaRPr lang="en-US" sz="1150" dirty="0"/>
          </a:p>
        </p:txBody>
      </p:sp>
      <p:sp>
        <p:nvSpPr>
          <p:cNvPr id="6" name="Text 4"/>
          <p:cNvSpPr/>
          <p:nvPr/>
        </p:nvSpPr>
        <p:spPr>
          <a:xfrm>
            <a:off x="566928" y="5010912"/>
            <a:ext cx="11064240" cy="274320"/>
          </a:xfrm>
          <a:prstGeom prst="rect">
            <a:avLst/>
          </a:prstGeom>
          <a:noFill/>
          <a:ln/>
        </p:spPr>
        <p:txBody>
          <a:bodyPr wrap="square" lIns="0" tIns="0" rIns="0" bIns="0" rtlCol="0" anchor="ctr"/>
          <a:lstStyle/>
          <a:p>
            <a:pPr marL="0" indent="0">
              <a:buNone/>
            </a:pPr>
            <a:r>
              <a:rPr lang="en-US" sz="1050" dirty="0">
                <a:solidFill>
                  <a:srgbClr val="9FADC2"/>
                </a:solidFill>
                <a:latin typeface="Pretendard" pitchFamily="34" charset="0"/>
                <a:ea typeface="Pretendard" pitchFamily="34" charset="-122"/>
                <a:cs typeface="Pretendard" pitchFamily="34" charset="-120"/>
              </a:rPr>
              <a:t>각 제품의 공개 문서 · 기능 소개 페이지 기준으로 팀이 정리했다 (조사 기준일 2026-08-05) — 비공개 로드맵과 최근 업데이트는 반영되지 않았을 수 있다</a:t>
            </a:r>
            <a:endParaRPr lang="en-US" sz="1050" dirty="0"/>
          </a:p>
        </p:txBody>
      </p:sp>
      <p:sp>
        <p:nvSpPr>
          <p:cNvPr id="9" name="Text 5"/>
          <p:cNvSpPr/>
          <p:nvPr/>
        </p:nvSpPr>
        <p:spPr>
          <a:xfrm>
            <a:off x="566928" y="5440680"/>
            <a:ext cx="11064240" cy="731520"/>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Pretendard" pitchFamily="34" charset="0"/>
                <a:ea typeface="Pretendard" pitchFamily="34" charset="-122"/>
                <a:cs typeface="Pretendard" pitchFamily="34" charset="-120"/>
              </a:rPr>
              <a:t>개별 기능은 이미 있다 — 문서에서 업무·근거까지 하나로 이어지는 흐름은 확인하지 못했다</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GOAL</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프로젝트 목표</a:t>
            </a:r>
            <a:endParaRPr lang="en-US" sz="2700" dirty="0"/>
          </a:p>
        </p:txBody>
      </p:sp>
      <p:sp>
        <p:nvSpPr>
          <p:cNvPr id="5" name="Text 2"/>
          <p:cNvSpPr/>
          <p:nvPr/>
        </p:nvSpPr>
        <p:spPr>
          <a:xfrm>
            <a:off x="566928" y="1243584"/>
            <a:ext cx="11064240" cy="320040"/>
          </a:xfrm>
          <a:prstGeom prst="rect">
            <a:avLst/>
          </a:prstGeom>
          <a:noFill/>
          <a:ln/>
        </p:spPr>
        <p:txBody>
          <a:bodyPr wrap="square" lIns="0" tIns="0" rIns="0" bIns="0" rtlCol="0" anchor="ctr"/>
          <a:lstStyle/>
          <a:p>
            <a:pPr marL="0" indent="0">
              <a:buNone/>
            </a:pPr>
            <a:r>
              <a:rPr lang="en-US" sz="1300" dirty="0">
                <a:solidFill>
                  <a:srgbClr val="BAC6D8"/>
                </a:solidFill>
                <a:latin typeface="Pretendard Light" pitchFamily="34" charset="0"/>
                <a:ea typeface="Pretendard Light" pitchFamily="34" charset="-122"/>
                <a:cs typeface="Pretendard Light" pitchFamily="34" charset="-120"/>
              </a:rPr>
              <a:t>여러 시스템에 흩어진 프로젝트 정보를 통합해 업무를 효율적으로 운영하도록 돕는 플랫폼</a:t>
            </a:r>
            <a:endParaRPr lang="en-US" sz="1300" dirty="0"/>
          </a:p>
        </p:txBody>
      </p:sp>
      <p:sp>
        <p:nvSpPr>
          <p:cNvPr id="6" name="Text 3"/>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08</a:t>
            </a:r>
            <a:endParaRPr lang="en-US" sz="1050" dirty="0"/>
          </a:p>
        </p:txBody>
      </p:sp>
      <p:sp>
        <p:nvSpPr>
          <p:cNvPr id="7" name="Shape 4"/>
          <p:cNvSpPr/>
          <p:nvPr/>
        </p:nvSpPr>
        <p:spPr>
          <a:xfrm>
            <a:off x="566928" y="1965960"/>
            <a:ext cx="3538728" cy="2880360"/>
          </a:xfrm>
          <a:prstGeom prst="roundRect">
            <a:avLst>
              <a:gd name="adj" fmla="val 2540"/>
            </a:avLst>
          </a:prstGeom>
          <a:solidFill>
            <a:srgbClr val="161D2E"/>
          </a:solidFill>
          <a:ln w="12700">
            <a:solidFill>
              <a:srgbClr val="263049"/>
            </a:solidFill>
            <a:prstDash val="solid"/>
          </a:ln>
        </p:spPr>
        <p:txBody>
          <a:bodyPr/>
          <a:lstStyle/>
          <a:p>
            <a:endParaRPr lang="ko-KR" altLang="en-US"/>
          </a:p>
        </p:txBody>
      </p:sp>
      <p:sp>
        <p:nvSpPr>
          <p:cNvPr id="8" name="Text 5"/>
          <p:cNvSpPr/>
          <p:nvPr/>
        </p:nvSpPr>
        <p:spPr>
          <a:xfrm>
            <a:off x="841248" y="2258568"/>
            <a:ext cx="457200" cy="457200"/>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1</a:t>
            </a:r>
            <a:endParaRPr lang="en-US" sz="1400" dirty="0"/>
          </a:p>
        </p:txBody>
      </p:sp>
      <p:sp>
        <p:nvSpPr>
          <p:cNvPr id="9" name="Text 6"/>
          <p:cNvSpPr/>
          <p:nvPr/>
        </p:nvSpPr>
        <p:spPr>
          <a:xfrm>
            <a:off x="1435608" y="2258568"/>
            <a:ext cx="2441448" cy="457200"/>
          </a:xfrm>
          <a:prstGeom prst="rect">
            <a:avLst/>
          </a:prstGeom>
          <a:noFill/>
          <a:ln/>
        </p:spPr>
        <p:txBody>
          <a:bodyPr wrap="square" lIns="0" tIns="0" rIns="0" bIns="0" rtlCol="0" anchor="ctr"/>
          <a:lstStyle/>
          <a:p>
            <a:pPr marL="0" indent="0">
              <a:buNone/>
            </a:pPr>
            <a:r>
              <a:rPr lang="en-US" sz="1550" b="1" dirty="0">
                <a:solidFill>
                  <a:srgbClr val="F1F5F9"/>
                </a:solidFill>
                <a:latin typeface="Pretendard" pitchFamily="34" charset="0"/>
                <a:ea typeface="Pretendard" pitchFamily="34" charset="-122"/>
                <a:cs typeface="Pretendard" pitchFamily="34" charset="-120"/>
              </a:rPr>
              <a:t>문서 구조화</a:t>
            </a:r>
            <a:endParaRPr lang="en-US" sz="1550" dirty="0"/>
          </a:p>
        </p:txBody>
      </p:sp>
      <p:sp>
        <p:nvSpPr>
          <p:cNvPr id="10" name="Text 7"/>
          <p:cNvSpPr/>
          <p:nvPr/>
        </p:nvSpPr>
        <p:spPr>
          <a:xfrm>
            <a:off x="841248" y="2926080"/>
            <a:ext cx="2990088" cy="1051560"/>
          </a:xfrm>
          <a:prstGeom prst="rect">
            <a:avLst/>
          </a:prstGeom>
          <a:noFill/>
          <a:ln/>
        </p:spPr>
        <p:txBody>
          <a:bodyPr wrap="square" lIns="0" tIns="0" rIns="0" bIns="0" rtlCol="0" anchor="t"/>
          <a:lstStyle/>
          <a:p>
            <a:pPr marL="0" indent="0">
              <a:lnSpc>
                <a:spcPct val="130000"/>
              </a:lnSpc>
              <a:buNone/>
            </a:pPr>
            <a:r>
              <a:rPr lang="en-US" sz="1150" dirty="0">
                <a:solidFill>
                  <a:srgbClr val="BAC6D8"/>
                </a:solidFill>
                <a:latin typeface="Pretendard" pitchFamily="34" charset="0"/>
                <a:ea typeface="Pretendard" pitchFamily="34" charset="-122"/>
                <a:cs typeface="Pretendard" pitchFamily="34" charset="-120"/>
              </a:rPr>
              <a:t>비정형 문서에서 업무·역할·필요 역량을</a:t>
            </a:r>
            <a:endParaRPr lang="en-US" sz="1150" dirty="0"/>
          </a:p>
          <a:p>
            <a:pPr marL="0" indent="0">
              <a:lnSpc>
                <a:spcPct val="130000"/>
              </a:lnSpc>
              <a:buNone/>
            </a:pPr>
            <a:r>
              <a:rPr lang="en-US" sz="1150" dirty="0">
                <a:solidFill>
                  <a:srgbClr val="BAC6D8"/>
                </a:solidFill>
                <a:latin typeface="Pretendard" pitchFamily="34" charset="0"/>
                <a:ea typeface="Pretendard" pitchFamily="34" charset="-122"/>
                <a:cs typeface="Pretendard" pitchFamily="34" charset="-120"/>
              </a:rPr>
              <a:t>공통 구조로 추출하고 원문 근거를 보존</a:t>
            </a:r>
            <a:endParaRPr lang="en-US" sz="1150" dirty="0"/>
          </a:p>
        </p:txBody>
      </p:sp>
      <p:sp>
        <p:nvSpPr>
          <p:cNvPr id="11" name="Shape 8"/>
          <p:cNvSpPr/>
          <p:nvPr/>
        </p:nvSpPr>
        <p:spPr>
          <a:xfrm>
            <a:off x="841248" y="4069080"/>
            <a:ext cx="2990088" cy="0"/>
          </a:xfrm>
          <a:prstGeom prst="line">
            <a:avLst/>
          </a:prstGeom>
          <a:noFill/>
          <a:ln w="12700">
            <a:solidFill>
              <a:srgbClr val="263049"/>
            </a:solidFill>
            <a:prstDash val="solid"/>
          </a:ln>
        </p:spPr>
        <p:txBody>
          <a:bodyPr/>
          <a:lstStyle/>
          <a:p>
            <a:endParaRPr lang="ko-KR" altLang="en-US"/>
          </a:p>
        </p:txBody>
      </p:sp>
      <p:sp>
        <p:nvSpPr>
          <p:cNvPr id="12" name="Text 9"/>
          <p:cNvSpPr/>
          <p:nvPr/>
        </p:nvSpPr>
        <p:spPr>
          <a:xfrm>
            <a:off x="841248" y="4178808"/>
            <a:ext cx="2990088" cy="548640"/>
          </a:xfrm>
          <a:prstGeom prst="rect">
            <a:avLst/>
          </a:prstGeom>
          <a:noFill/>
          <a:ln/>
        </p:spPr>
        <p:txBody>
          <a:bodyPr wrap="square" lIns="0" tIns="0" rIns="0" bIns="0" rtlCol="0" anchor="t"/>
          <a:lstStyle/>
          <a:p>
            <a:pPr marL="0" indent="0">
              <a:lnSpc>
                <a:spcPct val="125000"/>
              </a:lnSpc>
              <a:buNone/>
            </a:pPr>
            <a:r>
              <a:rPr lang="en-US" sz="1100" i="1" dirty="0">
                <a:solidFill>
                  <a:srgbClr val="67E8F9"/>
                </a:solidFill>
                <a:latin typeface="Pretendard" pitchFamily="34" charset="0"/>
                <a:ea typeface="Pretendard" pitchFamily="34" charset="-122"/>
                <a:cs typeface="Pretendard" pitchFamily="34" charset="-120"/>
              </a:rPr>
              <a:t>PM의 수동 해석·정보 조합 과정 감소</a:t>
            </a:r>
            <a:endParaRPr lang="en-US" sz="1100" dirty="0"/>
          </a:p>
        </p:txBody>
      </p:sp>
      <p:sp>
        <p:nvSpPr>
          <p:cNvPr id="13" name="Shape 10"/>
          <p:cNvSpPr/>
          <p:nvPr/>
        </p:nvSpPr>
        <p:spPr>
          <a:xfrm>
            <a:off x="4343400" y="1965960"/>
            <a:ext cx="3538728" cy="2880360"/>
          </a:xfrm>
          <a:prstGeom prst="roundRect">
            <a:avLst>
              <a:gd name="adj" fmla="val 2540"/>
            </a:avLst>
          </a:prstGeom>
          <a:solidFill>
            <a:srgbClr val="161D2E"/>
          </a:solidFill>
          <a:ln w="12700">
            <a:solidFill>
              <a:srgbClr val="263049"/>
            </a:solidFill>
            <a:prstDash val="solid"/>
          </a:ln>
        </p:spPr>
        <p:txBody>
          <a:bodyPr/>
          <a:lstStyle/>
          <a:p>
            <a:endParaRPr lang="ko-KR" altLang="en-US"/>
          </a:p>
        </p:txBody>
      </p:sp>
      <p:sp>
        <p:nvSpPr>
          <p:cNvPr id="14" name="Text 11"/>
          <p:cNvSpPr/>
          <p:nvPr/>
        </p:nvSpPr>
        <p:spPr>
          <a:xfrm>
            <a:off x="4617720" y="2258568"/>
            <a:ext cx="457200" cy="457200"/>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2</a:t>
            </a:r>
            <a:endParaRPr lang="en-US" sz="1400" dirty="0"/>
          </a:p>
        </p:txBody>
      </p:sp>
      <p:sp>
        <p:nvSpPr>
          <p:cNvPr id="15" name="Text 12"/>
          <p:cNvSpPr/>
          <p:nvPr/>
        </p:nvSpPr>
        <p:spPr>
          <a:xfrm>
            <a:off x="5212080" y="2258568"/>
            <a:ext cx="2441448" cy="457200"/>
          </a:xfrm>
          <a:prstGeom prst="rect">
            <a:avLst/>
          </a:prstGeom>
          <a:noFill/>
          <a:ln/>
        </p:spPr>
        <p:txBody>
          <a:bodyPr wrap="square" lIns="0" tIns="0" rIns="0" bIns="0" rtlCol="0" anchor="ctr"/>
          <a:lstStyle/>
          <a:p>
            <a:pPr marL="0" indent="0">
              <a:buNone/>
            </a:pPr>
            <a:r>
              <a:rPr lang="en-US" sz="1550" b="1" dirty="0">
                <a:solidFill>
                  <a:srgbClr val="F1F5F9"/>
                </a:solidFill>
                <a:latin typeface="Pretendard" pitchFamily="34" charset="0"/>
                <a:ea typeface="Pretendard" pitchFamily="34" charset="-122"/>
                <a:cs typeface="Pretendard" pitchFamily="34" charset="-120"/>
              </a:rPr>
              <a:t>업무 분배안 제시</a:t>
            </a:r>
            <a:endParaRPr lang="en-US" sz="1550" dirty="0"/>
          </a:p>
        </p:txBody>
      </p:sp>
      <p:sp>
        <p:nvSpPr>
          <p:cNvPr id="16" name="Text 13"/>
          <p:cNvSpPr/>
          <p:nvPr/>
        </p:nvSpPr>
        <p:spPr>
          <a:xfrm>
            <a:off x="4617720" y="2926080"/>
            <a:ext cx="2990088" cy="1051560"/>
          </a:xfrm>
          <a:prstGeom prst="rect">
            <a:avLst/>
          </a:prstGeom>
          <a:noFill/>
          <a:ln/>
        </p:spPr>
        <p:txBody>
          <a:bodyPr wrap="square" lIns="0" tIns="0" rIns="0" bIns="0" rtlCol="0" anchor="t"/>
          <a:lstStyle/>
          <a:p>
            <a:pPr marL="0" indent="0">
              <a:lnSpc>
                <a:spcPct val="130000"/>
              </a:lnSpc>
              <a:buNone/>
            </a:pPr>
            <a:r>
              <a:rPr lang="en-US" sz="1150" dirty="0">
                <a:solidFill>
                  <a:srgbClr val="BAC6D8"/>
                </a:solidFill>
                <a:latin typeface="Pretendard" pitchFamily="34" charset="0"/>
                <a:ea typeface="Pretendard" pitchFamily="34" charset="-122"/>
                <a:cs typeface="Pretendard" pitchFamily="34" charset="-120"/>
              </a:rPr>
              <a:t>업무 요구와 구성원의 경험·역량·가용량을</a:t>
            </a:r>
            <a:endParaRPr lang="en-US" sz="1150" dirty="0"/>
          </a:p>
          <a:p>
            <a:pPr marL="0" indent="0">
              <a:lnSpc>
                <a:spcPct val="130000"/>
              </a:lnSpc>
              <a:buNone/>
            </a:pPr>
            <a:r>
              <a:rPr lang="en-US" sz="1150" dirty="0">
                <a:solidFill>
                  <a:srgbClr val="BAC6D8"/>
                </a:solidFill>
                <a:latin typeface="Pretendard" pitchFamily="34" charset="0"/>
                <a:ea typeface="Pretendard" pitchFamily="34" charset="-122"/>
                <a:cs typeface="Pretendard" pitchFamily="34" charset="-120"/>
              </a:rPr>
              <a:t>같은 기준으로 비교해 복수 후보 제시</a:t>
            </a:r>
            <a:endParaRPr lang="en-US" sz="1150" dirty="0"/>
          </a:p>
        </p:txBody>
      </p:sp>
      <p:sp>
        <p:nvSpPr>
          <p:cNvPr id="17" name="Shape 14"/>
          <p:cNvSpPr/>
          <p:nvPr/>
        </p:nvSpPr>
        <p:spPr>
          <a:xfrm>
            <a:off x="4617720" y="4069080"/>
            <a:ext cx="2990088" cy="0"/>
          </a:xfrm>
          <a:prstGeom prst="line">
            <a:avLst/>
          </a:prstGeom>
          <a:noFill/>
          <a:ln w="12700">
            <a:solidFill>
              <a:srgbClr val="263049"/>
            </a:solidFill>
            <a:prstDash val="solid"/>
          </a:ln>
        </p:spPr>
        <p:txBody>
          <a:bodyPr/>
          <a:lstStyle/>
          <a:p>
            <a:endParaRPr lang="ko-KR" altLang="en-US"/>
          </a:p>
        </p:txBody>
      </p:sp>
      <p:sp>
        <p:nvSpPr>
          <p:cNvPr id="18" name="Text 15"/>
          <p:cNvSpPr/>
          <p:nvPr/>
        </p:nvSpPr>
        <p:spPr>
          <a:xfrm>
            <a:off x="4617720" y="4178808"/>
            <a:ext cx="2990088" cy="548640"/>
          </a:xfrm>
          <a:prstGeom prst="rect">
            <a:avLst/>
          </a:prstGeom>
          <a:noFill/>
          <a:ln/>
        </p:spPr>
        <p:txBody>
          <a:bodyPr wrap="square" lIns="0" tIns="0" rIns="0" bIns="0" rtlCol="0" anchor="t"/>
          <a:lstStyle/>
          <a:p>
            <a:pPr marL="0" indent="0">
              <a:lnSpc>
                <a:spcPct val="125000"/>
              </a:lnSpc>
              <a:buNone/>
            </a:pPr>
            <a:r>
              <a:rPr lang="en-US" sz="1100" i="1" dirty="0">
                <a:solidFill>
                  <a:srgbClr val="67E8F9"/>
                </a:solidFill>
                <a:latin typeface="Pretendard" pitchFamily="34" charset="0"/>
                <a:ea typeface="Pretendard" pitchFamily="34" charset="-122"/>
                <a:cs typeface="Pretendard" pitchFamily="34" charset="-120"/>
              </a:rPr>
              <a:t>미스매치·업무 편중을 결정 전에 확인</a:t>
            </a:r>
            <a:endParaRPr lang="en-US" sz="1100" dirty="0"/>
          </a:p>
        </p:txBody>
      </p:sp>
      <p:sp>
        <p:nvSpPr>
          <p:cNvPr id="19" name="Shape 16"/>
          <p:cNvSpPr/>
          <p:nvPr/>
        </p:nvSpPr>
        <p:spPr>
          <a:xfrm>
            <a:off x="8119872" y="1965960"/>
            <a:ext cx="3538728" cy="2880360"/>
          </a:xfrm>
          <a:prstGeom prst="roundRect">
            <a:avLst>
              <a:gd name="adj" fmla="val 2540"/>
            </a:avLst>
          </a:prstGeom>
          <a:solidFill>
            <a:srgbClr val="161D2E"/>
          </a:solidFill>
          <a:ln w="12700">
            <a:solidFill>
              <a:srgbClr val="263049"/>
            </a:solidFill>
            <a:prstDash val="solid"/>
          </a:ln>
        </p:spPr>
        <p:txBody>
          <a:bodyPr/>
          <a:lstStyle/>
          <a:p>
            <a:endParaRPr lang="ko-KR" altLang="en-US"/>
          </a:p>
        </p:txBody>
      </p:sp>
      <p:sp>
        <p:nvSpPr>
          <p:cNvPr id="20" name="Text 17"/>
          <p:cNvSpPr/>
          <p:nvPr/>
        </p:nvSpPr>
        <p:spPr>
          <a:xfrm>
            <a:off x="8394192" y="2258568"/>
            <a:ext cx="457200" cy="457200"/>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3</a:t>
            </a:r>
            <a:endParaRPr lang="en-US" sz="1400" dirty="0"/>
          </a:p>
        </p:txBody>
      </p:sp>
      <p:sp>
        <p:nvSpPr>
          <p:cNvPr id="21" name="Text 18"/>
          <p:cNvSpPr/>
          <p:nvPr/>
        </p:nvSpPr>
        <p:spPr>
          <a:xfrm>
            <a:off x="8988552" y="2258568"/>
            <a:ext cx="2441448" cy="457200"/>
          </a:xfrm>
          <a:prstGeom prst="rect">
            <a:avLst/>
          </a:prstGeom>
          <a:noFill/>
          <a:ln/>
        </p:spPr>
        <p:txBody>
          <a:bodyPr wrap="square" lIns="0" tIns="0" rIns="0" bIns="0" rtlCol="0" anchor="ctr"/>
          <a:lstStyle/>
          <a:p>
            <a:pPr marL="0" indent="0">
              <a:buNone/>
            </a:pPr>
            <a:r>
              <a:rPr lang="en-US" sz="1550" b="1" dirty="0">
                <a:solidFill>
                  <a:srgbClr val="F1F5F9"/>
                </a:solidFill>
                <a:latin typeface="Pretendard" pitchFamily="34" charset="0"/>
                <a:ea typeface="Pretendard" pitchFamily="34" charset="-122"/>
                <a:cs typeface="Pretendard" pitchFamily="34" charset="-120"/>
              </a:rPr>
              <a:t>근거 기록</a:t>
            </a:r>
            <a:endParaRPr lang="en-US" sz="1550" dirty="0"/>
          </a:p>
        </p:txBody>
      </p:sp>
      <p:sp>
        <p:nvSpPr>
          <p:cNvPr id="22" name="Text 19"/>
          <p:cNvSpPr/>
          <p:nvPr/>
        </p:nvSpPr>
        <p:spPr>
          <a:xfrm>
            <a:off x="8394192" y="2926080"/>
            <a:ext cx="2990088" cy="1051560"/>
          </a:xfrm>
          <a:prstGeom prst="rect">
            <a:avLst/>
          </a:prstGeom>
          <a:noFill/>
          <a:ln/>
        </p:spPr>
        <p:txBody>
          <a:bodyPr wrap="square" lIns="0" tIns="0" rIns="0" bIns="0" rtlCol="0" anchor="t"/>
          <a:lstStyle/>
          <a:p>
            <a:pPr marL="0" indent="0">
              <a:lnSpc>
                <a:spcPct val="130000"/>
              </a:lnSpc>
              <a:buNone/>
            </a:pPr>
            <a:r>
              <a:rPr lang="en-US" sz="1150" dirty="0">
                <a:solidFill>
                  <a:srgbClr val="BAC6D8"/>
                </a:solidFill>
                <a:latin typeface="Pretendard" pitchFamily="34" charset="0"/>
                <a:ea typeface="Pretendard" pitchFamily="34" charset="-122"/>
                <a:cs typeface="Pretendard" pitchFamily="34" charset="-120"/>
              </a:rPr>
              <a:t>매칭 근거와 PM의 선택·변경 이유를 기록</a:t>
            </a:r>
            <a:endParaRPr lang="en-US" sz="1150" dirty="0"/>
          </a:p>
        </p:txBody>
      </p:sp>
      <p:sp>
        <p:nvSpPr>
          <p:cNvPr id="23" name="Shape 20"/>
          <p:cNvSpPr/>
          <p:nvPr/>
        </p:nvSpPr>
        <p:spPr>
          <a:xfrm>
            <a:off x="8394192" y="4069080"/>
            <a:ext cx="2990088" cy="0"/>
          </a:xfrm>
          <a:prstGeom prst="line">
            <a:avLst/>
          </a:prstGeom>
          <a:noFill/>
          <a:ln w="12700">
            <a:solidFill>
              <a:srgbClr val="263049"/>
            </a:solidFill>
            <a:prstDash val="solid"/>
          </a:ln>
        </p:spPr>
        <p:txBody>
          <a:bodyPr/>
          <a:lstStyle/>
          <a:p>
            <a:endParaRPr lang="ko-KR" altLang="en-US"/>
          </a:p>
        </p:txBody>
      </p:sp>
      <p:sp>
        <p:nvSpPr>
          <p:cNvPr id="24" name="Text 21"/>
          <p:cNvSpPr/>
          <p:nvPr/>
        </p:nvSpPr>
        <p:spPr>
          <a:xfrm>
            <a:off x="8394192" y="4178808"/>
            <a:ext cx="2990088" cy="548640"/>
          </a:xfrm>
          <a:prstGeom prst="rect">
            <a:avLst/>
          </a:prstGeom>
          <a:noFill/>
          <a:ln/>
        </p:spPr>
        <p:txBody>
          <a:bodyPr wrap="square" lIns="0" tIns="0" rIns="0" bIns="0" rtlCol="0" anchor="t"/>
          <a:lstStyle/>
          <a:p>
            <a:pPr marL="0" indent="0">
              <a:lnSpc>
                <a:spcPct val="125000"/>
              </a:lnSpc>
              <a:buNone/>
            </a:pPr>
            <a:r>
              <a:rPr lang="en-US" sz="1100" i="1" dirty="0">
                <a:solidFill>
                  <a:srgbClr val="67E8F9"/>
                </a:solidFill>
                <a:latin typeface="Pretendard" pitchFamily="34" charset="0"/>
                <a:ea typeface="Pretendard" pitchFamily="34" charset="-122"/>
                <a:cs typeface="Pretendard" pitchFamily="34" charset="-120"/>
              </a:rPr>
              <a:t>결과와 함께 결정의 근거를 남김</a:t>
            </a:r>
            <a:endParaRPr lang="en-US" sz="1100" dirty="0"/>
          </a:p>
        </p:txBody>
      </p:sp>
      <p:sp>
        <p:nvSpPr>
          <p:cNvPr id="25" name="Text 22"/>
          <p:cNvSpPr/>
          <p:nvPr/>
        </p:nvSpPr>
        <p:spPr>
          <a:xfrm>
            <a:off x="566928" y="5212080"/>
            <a:ext cx="11064240" cy="731520"/>
          </a:xfrm>
          <a:prstGeom prst="rect">
            <a:avLst/>
          </a:prstGeom>
          <a:solidFill>
            <a:srgbClr val="22D3EE"/>
          </a:solidFill>
          <a:ln/>
        </p:spPr>
        <p:txBody>
          <a:bodyPr wrap="square" lIns="0" tIns="0" rIns="0" bIns="0" rtlCol="0" anchor="ctr"/>
          <a:lstStyle/>
          <a:p>
            <a:pPr marL="0" indent="0" algn="ctr">
              <a:buNone/>
            </a:pPr>
            <a:r>
              <a:rPr lang="en-US" sz="1450" b="1" dirty="0">
                <a:solidFill>
                  <a:srgbClr val="0D1321"/>
                </a:solidFill>
                <a:latin typeface="Pretendard" pitchFamily="34" charset="0"/>
                <a:ea typeface="Pretendard" pitchFamily="34" charset="-122"/>
                <a:cs typeface="Pretendard" pitchFamily="34" charset="-120"/>
              </a:rPr>
              <a:t>AI 추천 · PM 결정 — 자동 배정이 아니라 설명 가능한 의사결정 지원</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bg_dk_div.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58368" y="1325880"/>
            <a:ext cx="5486400" cy="2103120"/>
          </a:xfrm>
          <a:prstGeom prst="rect">
            <a:avLst/>
          </a:prstGeom>
          <a:noFill/>
          <a:ln/>
        </p:spPr>
        <p:txBody>
          <a:bodyPr wrap="square" lIns="0" tIns="0" rIns="0" bIns="0" rtlCol="0" anchor="ctr"/>
          <a:lstStyle/>
          <a:p>
            <a:pPr marL="0" indent="0">
              <a:buNone/>
            </a:pPr>
            <a:r>
              <a:rPr lang="en-US" sz="13000" b="1" dirty="0">
                <a:solidFill>
                  <a:srgbClr val="133449"/>
                </a:solidFill>
                <a:latin typeface="Consolas" pitchFamily="34" charset="0"/>
                <a:ea typeface="Consolas" pitchFamily="34" charset="-122"/>
                <a:cs typeface="Consolas" pitchFamily="34" charset="-120"/>
              </a:rPr>
              <a:t>02</a:t>
            </a:r>
            <a:endParaRPr lang="en-US" sz="13000" dirty="0"/>
          </a:p>
        </p:txBody>
      </p:sp>
      <p:sp>
        <p:nvSpPr>
          <p:cNvPr id="4" name="Shape 1"/>
          <p:cNvSpPr/>
          <p:nvPr/>
        </p:nvSpPr>
        <p:spPr>
          <a:xfrm>
            <a:off x="777240" y="3611880"/>
            <a:ext cx="548640" cy="91440"/>
          </a:xfrm>
          <a:prstGeom prst="rect">
            <a:avLst/>
          </a:prstGeom>
          <a:solidFill>
            <a:srgbClr val="22D3EE"/>
          </a:solidFill>
          <a:ln/>
        </p:spPr>
        <p:txBody>
          <a:bodyPr/>
          <a:lstStyle/>
          <a:p>
            <a:endParaRPr lang="ko-KR" altLang="en-US"/>
          </a:p>
        </p:txBody>
      </p:sp>
      <p:sp>
        <p:nvSpPr>
          <p:cNvPr id="5" name="Text 2"/>
          <p:cNvSpPr/>
          <p:nvPr/>
        </p:nvSpPr>
        <p:spPr>
          <a:xfrm>
            <a:off x="749808" y="3840480"/>
            <a:ext cx="10515600" cy="777240"/>
          </a:xfrm>
          <a:prstGeom prst="rect">
            <a:avLst/>
          </a:prstGeom>
          <a:noFill/>
          <a:ln/>
        </p:spPr>
        <p:txBody>
          <a:bodyPr wrap="square" lIns="0" tIns="0" rIns="0" bIns="0" rtlCol="0" anchor="ctr"/>
          <a:lstStyle/>
          <a:p>
            <a:pPr marL="0" indent="0">
              <a:buNone/>
            </a:pPr>
            <a:r>
              <a:rPr lang="en-US" sz="3600" b="1" dirty="0">
                <a:solidFill>
                  <a:srgbClr val="F1F5F9"/>
                </a:solidFill>
                <a:latin typeface="Pretendard" pitchFamily="34" charset="0"/>
                <a:ea typeface="Pretendard" pitchFamily="34" charset="-122"/>
                <a:cs typeface="Pretendard" pitchFamily="34" charset="-120"/>
              </a:rPr>
              <a:t>시스템</a:t>
            </a:r>
            <a:endParaRPr lang="en-US" sz="3600" dirty="0"/>
          </a:p>
        </p:txBody>
      </p:sp>
      <p:sp>
        <p:nvSpPr>
          <p:cNvPr id="6" name="Text 3"/>
          <p:cNvSpPr/>
          <p:nvPr/>
        </p:nvSpPr>
        <p:spPr>
          <a:xfrm>
            <a:off x="777240" y="4709160"/>
            <a:ext cx="10515600" cy="365760"/>
          </a:xfrm>
          <a:prstGeom prst="rect">
            <a:avLst/>
          </a:prstGeom>
          <a:noFill/>
          <a:ln/>
        </p:spPr>
        <p:txBody>
          <a:bodyPr wrap="square" lIns="0" tIns="0" rIns="0" bIns="0" rtlCol="0" anchor="ctr"/>
          <a:lstStyle/>
          <a:p>
            <a:pPr marL="0" indent="0">
              <a:buNone/>
            </a:pPr>
            <a:r>
              <a:rPr lang="en-US" sz="1400" dirty="0">
                <a:solidFill>
                  <a:srgbClr val="BAC6D8"/>
                </a:solidFill>
                <a:latin typeface="Pretendard Light" pitchFamily="34" charset="0"/>
                <a:ea typeface="Pretendard Light" pitchFamily="34" charset="-122"/>
                <a:cs typeface="Pretendard Light" pitchFamily="34" charset="-120"/>
              </a:rPr>
              <a:t>구성요소와 기술 스택 · 기본 플로우차트 · 시스템 특징</a:t>
            </a:r>
            <a:endParaRPr lang="en-US" sz="1400" dirty="0"/>
          </a:p>
        </p:txBody>
      </p:sp>
      <p:sp>
        <p:nvSpPr>
          <p:cNvPr id="7" name="Text 4"/>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SYSTEM</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시스템 구성요소 및 기술 스택</a:t>
            </a:r>
            <a:endParaRPr lang="en-US" sz="2700" dirty="0"/>
          </a:p>
        </p:txBody>
      </p:sp>
      <p:sp>
        <p:nvSpPr>
          <p:cNvPr id="5" name="Text 2"/>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10</a:t>
            </a:r>
            <a:endParaRPr lang="en-US" sz="1050" dirty="0"/>
          </a:p>
        </p:txBody>
      </p:sp>
      <p:sp>
        <p:nvSpPr>
          <p:cNvPr id="6" name="Shape 3"/>
          <p:cNvSpPr/>
          <p:nvPr/>
        </p:nvSpPr>
        <p:spPr>
          <a:xfrm>
            <a:off x="566928" y="1600200"/>
            <a:ext cx="11064240" cy="822960"/>
          </a:xfrm>
          <a:prstGeom prst="roundRect">
            <a:avLst>
              <a:gd name="adj" fmla="val 8889"/>
            </a:avLst>
          </a:prstGeom>
          <a:solidFill>
            <a:srgbClr val="0F2A3A"/>
          </a:solidFill>
          <a:ln w="12700">
            <a:solidFill>
              <a:srgbClr val="155E75"/>
            </a:solidFill>
            <a:prstDash val="solid"/>
          </a:ln>
        </p:spPr>
        <p:txBody>
          <a:bodyPr/>
          <a:lstStyle/>
          <a:p>
            <a:endParaRPr lang="ko-KR" altLang="en-US"/>
          </a:p>
        </p:txBody>
      </p:sp>
      <p:sp>
        <p:nvSpPr>
          <p:cNvPr id="7" name="Text 4"/>
          <p:cNvSpPr/>
          <p:nvPr/>
        </p:nvSpPr>
        <p:spPr>
          <a:xfrm>
            <a:off x="868680" y="1600200"/>
            <a:ext cx="2103120" cy="822960"/>
          </a:xfrm>
          <a:prstGeom prst="rect">
            <a:avLst/>
          </a:prstGeom>
          <a:noFill/>
          <a:ln/>
        </p:spPr>
        <p:txBody>
          <a:bodyPr wrap="square" lIns="0" tIns="0" rIns="0" bIns="0" rtlCol="0" anchor="ctr"/>
          <a:lstStyle/>
          <a:p>
            <a:pPr marL="0" indent="0">
              <a:buNone/>
            </a:pPr>
            <a:r>
              <a:rPr lang="en-US" sz="1400" b="1" dirty="0">
                <a:solidFill>
                  <a:srgbClr val="22D3EE"/>
                </a:solidFill>
                <a:latin typeface="Consolas" pitchFamily="34" charset="0"/>
                <a:ea typeface="Consolas" pitchFamily="34" charset="-122"/>
                <a:cs typeface="Consolas" pitchFamily="34" charset="-120"/>
              </a:rPr>
              <a:t>Frontend</a:t>
            </a:r>
            <a:endParaRPr lang="en-US" sz="1400" dirty="0"/>
          </a:p>
        </p:txBody>
      </p:sp>
      <p:sp>
        <p:nvSpPr>
          <p:cNvPr id="8" name="Shape 5"/>
          <p:cNvSpPr/>
          <p:nvPr/>
        </p:nvSpPr>
        <p:spPr>
          <a:xfrm>
            <a:off x="3063240" y="1746504"/>
            <a:ext cx="0" cy="530352"/>
          </a:xfrm>
          <a:prstGeom prst="line">
            <a:avLst/>
          </a:prstGeom>
          <a:noFill/>
          <a:ln w="12700">
            <a:solidFill>
              <a:srgbClr val="155E75"/>
            </a:solidFill>
            <a:prstDash val="solid"/>
          </a:ln>
        </p:spPr>
        <p:txBody>
          <a:bodyPr/>
          <a:lstStyle/>
          <a:p>
            <a:endParaRPr lang="ko-KR" altLang="en-US"/>
          </a:p>
        </p:txBody>
      </p:sp>
      <p:pic>
        <p:nvPicPr>
          <p:cNvPr id="9" name="Image 1" descr="icons/react.png"/>
          <p:cNvPicPr>
            <a:picLocks noChangeAspect="1"/>
          </p:cNvPicPr>
          <p:nvPr/>
        </p:nvPicPr>
        <p:blipFill>
          <a:blip r:embed="rId4"/>
          <a:stretch>
            <a:fillRect/>
          </a:stretch>
        </p:blipFill>
        <p:spPr>
          <a:xfrm>
            <a:off x="3337560" y="1874520"/>
            <a:ext cx="274320" cy="274320"/>
          </a:xfrm>
          <a:prstGeom prst="rect">
            <a:avLst/>
          </a:prstGeom>
        </p:spPr>
      </p:pic>
      <p:sp>
        <p:nvSpPr>
          <p:cNvPr id="10" name="Text 6"/>
          <p:cNvSpPr/>
          <p:nvPr/>
        </p:nvSpPr>
        <p:spPr>
          <a:xfrm>
            <a:off x="3703320" y="1856232"/>
            <a:ext cx="1371600" cy="310896"/>
          </a:xfrm>
          <a:prstGeom prst="rect">
            <a:avLst/>
          </a:prstGeom>
          <a:noFill/>
          <a:ln/>
        </p:spPr>
        <p:txBody>
          <a:bodyPr wrap="square" lIns="0" tIns="0" rIns="0" bIns="0" rtlCol="0" anchor="ctr"/>
          <a:lstStyle/>
          <a:p>
            <a:pPr marL="0" indent="0">
              <a:buNone/>
            </a:pPr>
            <a:r>
              <a:rPr lang="en-US" sz="1150" dirty="0">
                <a:solidFill>
                  <a:srgbClr val="BAC6D8"/>
                </a:solidFill>
                <a:latin typeface="Pretendard" pitchFamily="34" charset="0"/>
                <a:ea typeface="Pretendard" pitchFamily="34" charset="-122"/>
                <a:cs typeface="Pretendard" pitchFamily="34" charset="-120"/>
              </a:rPr>
              <a:t>React 19</a:t>
            </a:r>
            <a:endParaRPr lang="en-US" sz="1150" dirty="0"/>
          </a:p>
        </p:txBody>
      </p:sp>
      <p:pic>
        <p:nvPicPr>
          <p:cNvPr id="11" name="Image 2" descr="icons/vite.png"/>
          <p:cNvPicPr>
            <a:picLocks noChangeAspect="1"/>
          </p:cNvPicPr>
          <p:nvPr/>
        </p:nvPicPr>
        <p:blipFill>
          <a:blip r:embed="rId5"/>
          <a:stretch>
            <a:fillRect/>
          </a:stretch>
        </p:blipFill>
        <p:spPr>
          <a:xfrm>
            <a:off x="5394960" y="1874520"/>
            <a:ext cx="274320" cy="274320"/>
          </a:xfrm>
          <a:prstGeom prst="rect">
            <a:avLst/>
          </a:prstGeom>
        </p:spPr>
      </p:pic>
      <p:sp>
        <p:nvSpPr>
          <p:cNvPr id="12" name="Text 7"/>
          <p:cNvSpPr/>
          <p:nvPr/>
        </p:nvSpPr>
        <p:spPr>
          <a:xfrm>
            <a:off x="5760720" y="1856232"/>
            <a:ext cx="1371600" cy="310896"/>
          </a:xfrm>
          <a:prstGeom prst="rect">
            <a:avLst/>
          </a:prstGeom>
          <a:noFill/>
          <a:ln/>
        </p:spPr>
        <p:txBody>
          <a:bodyPr wrap="square" lIns="0" tIns="0" rIns="0" bIns="0" rtlCol="0" anchor="ctr"/>
          <a:lstStyle/>
          <a:p>
            <a:pPr marL="0" indent="0">
              <a:buNone/>
            </a:pPr>
            <a:r>
              <a:rPr lang="en-US" sz="1150" dirty="0">
                <a:solidFill>
                  <a:srgbClr val="BAC6D8"/>
                </a:solidFill>
                <a:latin typeface="Pretendard" pitchFamily="34" charset="0"/>
                <a:ea typeface="Pretendard" pitchFamily="34" charset="-122"/>
                <a:cs typeface="Pretendard" pitchFamily="34" charset="-120"/>
              </a:rPr>
              <a:t>Vite</a:t>
            </a:r>
            <a:endParaRPr lang="en-US" sz="1150" dirty="0"/>
          </a:p>
        </p:txBody>
      </p:sp>
      <p:pic>
        <p:nvPicPr>
          <p:cNvPr id="13" name="Image 3" descr="icons/ts.png"/>
          <p:cNvPicPr>
            <a:picLocks noChangeAspect="1"/>
          </p:cNvPicPr>
          <p:nvPr/>
        </p:nvPicPr>
        <p:blipFill>
          <a:blip r:embed="rId6"/>
          <a:stretch>
            <a:fillRect/>
          </a:stretch>
        </p:blipFill>
        <p:spPr>
          <a:xfrm>
            <a:off x="7452360" y="1874520"/>
            <a:ext cx="274320" cy="274320"/>
          </a:xfrm>
          <a:prstGeom prst="rect">
            <a:avLst/>
          </a:prstGeom>
        </p:spPr>
      </p:pic>
      <p:sp>
        <p:nvSpPr>
          <p:cNvPr id="14" name="Text 8"/>
          <p:cNvSpPr/>
          <p:nvPr/>
        </p:nvSpPr>
        <p:spPr>
          <a:xfrm>
            <a:off x="7818120" y="1856232"/>
            <a:ext cx="1371600" cy="310896"/>
          </a:xfrm>
          <a:prstGeom prst="rect">
            <a:avLst/>
          </a:prstGeom>
          <a:noFill/>
          <a:ln/>
        </p:spPr>
        <p:txBody>
          <a:bodyPr wrap="square" lIns="0" tIns="0" rIns="0" bIns="0" rtlCol="0" anchor="ctr"/>
          <a:lstStyle/>
          <a:p>
            <a:pPr marL="0" indent="0">
              <a:buNone/>
            </a:pPr>
            <a:r>
              <a:rPr lang="en-US" sz="1150" dirty="0">
                <a:solidFill>
                  <a:srgbClr val="BAC6D8"/>
                </a:solidFill>
                <a:latin typeface="Pretendard" pitchFamily="34" charset="0"/>
                <a:ea typeface="Pretendard" pitchFamily="34" charset="-122"/>
                <a:cs typeface="Pretendard" pitchFamily="34" charset="-120"/>
              </a:rPr>
              <a:t>TypeScript</a:t>
            </a:r>
            <a:endParaRPr lang="en-US" sz="1150" dirty="0"/>
          </a:p>
        </p:txBody>
      </p:sp>
      <p:pic>
        <p:nvPicPr>
          <p:cNvPr id="15" name="Image 4" descr="icons/router.png"/>
          <p:cNvPicPr>
            <a:picLocks noChangeAspect="1"/>
          </p:cNvPicPr>
          <p:nvPr/>
        </p:nvPicPr>
        <p:blipFill>
          <a:blip r:embed="rId7"/>
          <a:stretch>
            <a:fillRect/>
          </a:stretch>
        </p:blipFill>
        <p:spPr>
          <a:xfrm>
            <a:off x="9509760" y="1874520"/>
            <a:ext cx="274320" cy="274320"/>
          </a:xfrm>
          <a:prstGeom prst="rect">
            <a:avLst/>
          </a:prstGeom>
        </p:spPr>
      </p:pic>
      <p:sp>
        <p:nvSpPr>
          <p:cNvPr id="16" name="Text 9"/>
          <p:cNvSpPr/>
          <p:nvPr/>
        </p:nvSpPr>
        <p:spPr>
          <a:xfrm>
            <a:off x="9875520" y="1856232"/>
            <a:ext cx="1920240" cy="310896"/>
          </a:xfrm>
          <a:prstGeom prst="rect">
            <a:avLst/>
          </a:prstGeom>
          <a:noFill/>
          <a:ln/>
        </p:spPr>
        <p:txBody>
          <a:bodyPr wrap="square" lIns="0" tIns="0" rIns="0" bIns="0" rtlCol="0" anchor="ctr"/>
          <a:lstStyle/>
          <a:p>
            <a:pPr marL="0" indent="0">
              <a:buNone/>
            </a:pPr>
            <a:r>
              <a:rPr lang="en-US" sz="1150" dirty="0">
                <a:solidFill>
                  <a:srgbClr val="BAC6D8"/>
                </a:solidFill>
                <a:latin typeface="Pretendard" pitchFamily="34" charset="0"/>
                <a:ea typeface="Pretendard" pitchFamily="34" charset="-122"/>
                <a:cs typeface="Pretendard" pitchFamily="34" charset="-120"/>
              </a:rPr>
              <a:t>react-router 7</a:t>
            </a:r>
            <a:endParaRPr lang="en-US" sz="1150" dirty="0"/>
          </a:p>
        </p:txBody>
      </p:sp>
      <p:sp>
        <p:nvSpPr>
          <p:cNvPr id="17" name="Shape 10"/>
          <p:cNvSpPr/>
          <p:nvPr/>
        </p:nvSpPr>
        <p:spPr>
          <a:xfrm>
            <a:off x="6095848" y="2423160"/>
            <a:ext cx="0" cy="320040"/>
          </a:xfrm>
          <a:prstGeom prst="line">
            <a:avLst/>
          </a:prstGeom>
          <a:noFill/>
          <a:ln w="19050">
            <a:solidFill>
              <a:srgbClr val="0E7490"/>
            </a:solidFill>
            <a:prstDash val="solid"/>
            <a:tailEnd type="triangle"/>
          </a:ln>
        </p:spPr>
        <p:txBody>
          <a:bodyPr/>
          <a:lstStyle/>
          <a:p>
            <a:endParaRPr lang="ko-KR" altLang="en-US"/>
          </a:p>
        </p:txBody>
      </p:sp>
      <p:sp>
        <p:nvSpPr>
          <p:cNvPr id="18" name="Text 11"/>
          <p:cNvSpPr/>
          <p:nvPr/>
        </p:nvSpPr>
        <p:spPr>
          <a:xfrm>
            <a:off x="6233008" y="2441448"/>
            <a:ext cx="1645920" cy="274320"/>
          </a:xfrm>
          <a:prstGeom prst="rect">
            <a:avLst/>
          </a:prstGeom>
          <a:noFill/>
          <a:ln/>
        </p:spPr>
        <p:txBody>
          <a:bodyPr wrap="square" lIns="0" tIns="0" rIns="0" bIns="0" rtlCol="0" anchor="ctr"/>
          <a:lstStyle/>
          <a:p>
            <a:pPr marL="0" indent="0">
              <a:buNone/>
            </a:pPr>
            <a:r>
              <a:rPr lang="en-US" sz="1000" dirty="0">
                <a:solidFill>
                  <a:srgbClr val="9FADC2"/>
                </a:solidFill>
                <a:latin typeface="Pretendard" pitchFamily="34" charset="0"/>
                <a:ea typeface="Pretendard" pitchFamily="34" charset="-122"/>
                <a:cs typeface="Pretendard" pitchFamily="34" charset="-120"/>
              </a:rPr>
              <a:t>HTTP / JSON</a:t>
            </a:r>
            <a:endParaRPr lang="en-US" sz="1000" dirty="0"/>
          </a:p>
        </p:txBody>
      </p:sp>
      <p:sp>
        <p:nvSpPr>
          <p:cNvPr id="19" name="Shape 12"/>
          <p:cNvSpPr/>
          <p:nvPr/>
        </p:nvSpPr>
        <p:spPr>
          <a:xfrm>
            <a:off x="566928" y="2788920"/>
            <a:ext cx="11064240" cy="822960"/>
          </a:xfrm>
          <a:prstGeom prst="roundRect">
            <a:avLst>
              <a:gd name="adj" fmla="val 8889"/>
            </a:avLst>
          </a:prstGeom>
          <a:solidFill>
            <a:srgbClr val="161D2E"/>
          </a:solidFill>
          <a:ln w="12700">
            <a:solidFill>
              <a:srgbClr val="263049"/>
            </a:solidFill>
            <a:prstDash val="solid"/>
          </a:ln>
        </p:spPr>
        <p:txBody>
          <a:bodyPr/>
          <a:lstStyle/>
          <a:p>
            <a:endParaRPr lang="ko-KR" altLang="en-US"/>
          </a:p>
        </p:txBody>
      </p:sp>
      <p:sp>
        <p:nvSpPr>
          <p:cNvPr id="20" name="Text 13"/>
          <p:cNvSpPr/>
          <p:nvPr/>
        </p:nvSpPr>
        <p:spPr>
          <a:xfrm>
            <a:off x="868680" y="2788920"/>
            <a:ext cx="2103120" cy="822960"/>
          </a:xfrm>
          <a:prstGeom prst="rect">
            <a:avLst/>
          </a:prstGeom>
          <a:noFill/>
          <a:ln/>
        </p:spPr>
        <p:txBody>
          <a:bodyPr wrap="square" lIns="0" tIns="0" rIns="0" bIns="0" rtlCol="0" anchor="ctr"/>
          <a:lstStyle/>
          <a:p>
            <a:pPr marL="0" indent="0">
              <a:buNone/>
            </a:pPr>
            <a:r>
              <a:rPr lang="en-US" sz="1400" b="1" dirty="0">
                <a:solidFill>
                  <a:srgbClr val="F1F5F9"/>
                </a:solidFill>
                <a:latin typeface="Consolas" pitchFamily="34" charset="0"/>
                <a:ea typeface="Consolas" pitchFamily="34" charset="-122"/>
                <a:cs typeface="Consolas" pitchFamily="34" charset="-120"/>
              </a:rPr>
              <a:t>Backend</a:t>
            </a:r>
            <a:endParaRPr lang="en-US" sz="1400" dirty="0"/>
          </a:p>
        </p:txBody>
      </p:sp>
      <p:sp>
        <p:nvSpPr>
          <p:cNvPr id="21" name="Shape 14"/>
          <p:cNvSpPr/>
          <p:nvPr/>
        </p:nvSpPr>
        <p:spPr>
          <a:xfrm>
            <a:off x="3063240" y="2935224"/>
            <a:ext cx="0" cy="530352"/>
          </a:xfrm>
          <a:prstGeom prst="line">
            <a:avLst/>
          </a:prstGeom>
          <a:noFill/>
          <a:ln w="12700">
            <a:solidFill>
              <a:srgbClr val="263049"/>
            </a:solidFill>
            <a:prstDash val="solid"/>
          </a:ln>
        </p:spPr>
        <p:txBody>
          <a:bodyPr/>
          <a:lstStyle/>
          <a:p>
            <a:endParaRPr lang="ko-KR" altLang="en-US"/>
          </a:p>
        </p:txBody>
      </p:sp>
      <p:pic>
        <p:nvPicPr>
          <p:cNvPr id="22" name="Image 5" descr="icons/django.png"/>
          <p:cNvPicPr>
            <a:picLocks noChangeAspect="1"/>
          </p:cNvPicPr>
          <p:nvPr/>
        </p:nvPicPr>
        <p:blipFill>
          <a:blip r:embed="rId8"/>
          <a:stretch>
            <a:fillRect/>
          </a:stretch>
        </p:blipFill>
        <p:spPr>
          <a:xfrm>
            <a:off x="3337560" y="3063240"/>
            <a:ext cx="274320" cy="274320"/>
          </a:xfrm>
          <a:prstGeom prst="rect">
            <a:avLst/>
          </a:prstGeom>
        </p:spPr>
      </p:pic>
      <p:sp>
        <p:nvSpPr>
          <p:cNvPr id="23" name="Text 15"/>
          <p:cNvSpPr/>
          <p:nvPr/>
        </p:nvSpPr>
        <p:spPr>
          <a:xfrm>
            <a:off x="3703320" y="3044952"/>
            <a:ext cx="2560320" cy="310896"/>
          </a:xfrm>
          <a:prstGeom prst="rect">
            <a:avLst/>
          </a:prstGeom>
          <a:noFill/>
          <a:ln/>
        </p:spPr>
        <p:txBody>
          <a:bodyPr wrap="square" lIns="0" tIns="0" rIns="0" bIns="0" rtlCol="0" anchor="ctr"/>
          <a:lstStyle/>
          <a:p>
            <a:pPr marL="0" indent="0">
              <a:buNone/>
            </a:pPr>
            <a:r>
              <a:rPr lang="en-US" sz="1150" dirty="0">
                <a:solidFill>
                  <a:srgbClr val="BAC6D8"/>
                </a:solidFill>
                <a:latin typeface="Pretendard" pitchFamily="34" charset="0"/>
                <a:ea typeface="Pretendard" pitchFamily="34" charset="-122"/>
                <a:cs typeface="Pretendard" pitchFamily="34" charset="-120"/>
              </a:rPr>
              <a:t>Django 5.2 · DRF</a:t>
            </a:r>
            <a:endParaRPr lang="en-US" sz="1150" dirty="0"/>
          </a:p>
        </p:txBody>
      </p:sp>
      <p:pic>
        <p:nvPicPr>
          <p:cNvPr id="24" name="Image 6" descr="icons/python.png"/>
          <p:cNvPicPr>
            <a:picLocks noChangeAspect="1"/>
          </p:cNvPicPr>
          <p:nvPr/>
        </p:nvPicPr>
        <p:blipFill>
          <a:blip r:embed="rId9"/>
          <a:stretch>
            <a:fillRect/>
          </a:stretch>
        </p:blipFill>
        <p:spPr>
          <a:xfrm>
            <a:off x="6263640" y="3063240"/>
            <a:ext cx="274320" cy="274320"/>
          </a:xfrm>
          <a:prstGeom prst="rect">
            <a:avLst/>
          </a:prstGeom>
        </p:spPr>
      </p:pic>
      <p:sp>
        <p:nvSpPr>
          <p:cNvPr id="25" name="Text 16"/>
          <p:cNvSpPr/>
          <p:nvPr/>
        </p:nvSpPr>
        <p:spPr>
          <a:xfrm>
            <a:off x="6629400" y="3044952"/>
            <a:ext cx="3657600" cy="310896"/>
          </a:xfrm>
          <a:prstGeom prst="rect">
            <a:avLst/>
          </a:prstGeom>
          <a:noFill/>
          <a:ln/>
        </p:spPr>
        <p:txBody>
          <a:bodyPr wrap="square" lIns="0" tIns="0" rIns="0" bIns="0" rtlCol="0" anchor="ctr"/>
          <a:lstStyle/>
          <a:p>
            <a:pPr marL="0" indent="0">
              <a:buNone/>
            </a:pPr>
            <a:r>
              <a:rPr lang="en-US" sz="1150" dirty="0">
                <a:solidFill>
                  <a:srgbClr val="BAC6D8"/>
                </a:solidFill>
                <a:latin typeface="Pretendard" pitchFamily="34" charset="0"/>
                <a:ea typeface="Pretendard" pitchFamily="34" charset="-122"/>
                <a:cs typeface="Pretendard" pitchFamily="34" charset="-120"/>
              </a:rPr>
              <a:t>psycopg — ORM 없이 직접 SQL</a:t>
            </a:r>
            <a:endParaRPr lang="en-US" sz="1150" dirty="0"/>
          </a:p>
        </p:txBody>
      </p:sp>
      <p:sp>
        <p:nvSpPr>
          <p:cNvPr id="26" name="Shape 17"/>
          <p:cNvSpPr/>
          <p:nvPr/>
        </p:nvSpPr>
        <p:spPr>
          <a:xfrm>
            <a:off x="2336292" y="3630168"/>
            <a:ext cx="0" cy="594360"/>
          </a:xfrm>
          <a:prstGeom prst="line">
            <a:avLst/>
          </a:prstGeom>
          <a:noFill/>
          <a:ln w="19050">
            <a:solidFill>
              <a:srgbClr val="0E7490"/>
            </a:solidFill>
            <a:prstDash val="solid"/>
            <a:tailEnd type="triangle"/>
          </a:ln>
        </p:spPr>
        <p:txBody>
          <a:bodyPr/>
          <a:lstStyle/>
          <a:p>
            <a:endParaRPr lang="ko-KR" altLang="en-US"/>
          </a:p>
        </p:txBody>
      </p:sp>
      <p:sp>
        <p:nvSpPr>
          <p:cNvPr id="27" name="Text 18"/>
          <p:cNvSpPr/>
          <p:nvPr/>
        </p:nvSpPr>
        <p:spPr>
          <a:xfrm>
            <a:off x="2446020" y="3776472"/>
            <a:ext cx="1280160" cy="256032"/>
          </a:xfrm>
          <a:prstGeom prst="rect">
            <a:avLst/>
          </a:prstGeom>
          <a:noFill/>
          <a:ln/>
        </p:spPr>
        <p:txBody>
          <a:bodyPr wrap="square" lIns="0" tIns="0" rIns="0" bIns="0" rtlCol="0" anchor="ctr"/>
          <a:lstStyle/>
          <a:p>
            <a:pPr marL="0" indent="0">
              <a:buNone/>
            </a:pPr>
            <a:r>
              <a:rPr lang="en-US" sz="950" dirty="0">
                <a:solidFill>
                  <a:srgbClr val="9FADC2"/>
                </a:solidFill>
                <a:latin typeface="Pretendard" pitchFamily="34" charset="0"/>
                <a:ea typeface="Pretendard" pitchFamily="34" charset="-122"/>
                <a:cs typeface="Pretendard" pitchFamily="34" charset="-120"/>
              </a:rPr>
              <a:t>psycopg</a:t>
            </a:r>
            <a:endParaRPr lang="en-US" sz="950" dirty="0"/>
          </a:p>
        </p:txBody>
      </p:sp>
      <p:sp>
        <p:nvSpPr>
          <p:cNvPr id="28" name="Shape 19"/>
          <p:cNvSpPr/>
          <p:nvPr/>
        </p:nvSpPr>
        <p:spPr>
          <a:xfrm>
            <a:off x="566928" y="4251960"/>
            <a:ext cx="3538728" cy="1828800"/>
          </a:xfrm>
          <a:prstGeom prst="roundRect">
            <a:avLst>
              <a:gd name="adj" fmla="val 4000"/>
            </a:avLst>
          </a:prstGeom>
          <a:solidFill>
            <a:srgbClr val="161D2E"/>
          </a:solidFill>
          <a:ln w="12700">
            <a:solidFill>
              <a:srgbClr val="263049"/>
            </a:solidFill>
            <a:prstDash val="solid"/>
          </a:ln>
        </p:spPr>
        <p:txBody>
          <a:bodyPr/>
          <a:lstStyle/>
          <a:p>
            <a:endParaRPr lang="ko-KR" altLang="en-US"/>
          </a:p>
        </p:txBody>
      </p:sp>
      <p:sp>
        <p:nvSpPr>
          <p:cNvPr id="29" name="Text 20"/>
          <p:cNvSpPr/>
          <p:nvPr/>
        </p:nvSpPr>
        <p:spPr>
          <a:xfrm>
            <a:off x="822960" y="4398264"/>
            <a:ext cx="3026664" cy="347472"/>
          </a:xfrm>
          <a:prstGeom prst="rect">
            <a:avLst/>
          </a:prstGeom>
          <a:noFill/>
          <a:ln/>
        </p:spPr>
        <p:txBody>
          <a:bodyPr wrap="square" lIns="0" tIns="0" rIns="0" bIns="0" rtlCol="0" anchor="ctr"/>
          <a:lstStyle/>
          <a:p>
            <a:pPr marL="0" indent="0">
              <a:buNone/>
            </a:pPr>
            <a:r>
              <a:rPr lang="en-US" sz="1300" b="1" dirty="0">
                <a:solidFill>
                  <a:srgbClr val="F1F5F9"/>
                </a:solidFill>
                <a:latin typeface="Consolas" pitchFamily="34" charset="0"/>
                <a:ea typeface="Consolas" pitchFamily="34" charset="-122"/>
                <a:cs typeface="Consolas" pitchFamily="34" charset="-120"/>
              </a:rPr>
              <a:t>Data</a:t>
            </a:r>
            <a:endParaRPr lang="en-US" sz="1300" dirty="0"/>
          </a:p>
        </p:txBody>
      </p:sp>
      <p:pic>
        <p:nvPicPr>
          <p:cNvPr id="30" name="Image 7" descr="icons/postgres.png"/>
          <p:cNvPicPr>
            <a:picLocks noChangeAspect="1"/>
          </p:cNvPicPr>
          <p:nvPr/>
        </p:nvPicPr>
        <p:blipFill>
          <a:blip r:embed="rId10"/>
          <a:stretch>
            <a:fillRect/>
          </a:stretch>
        </p:blipFill>
        <p:spPr>
          <a:xfrm>
            <a:off x="822960" y="4837176"/>
            <a:ext cx="274320" cy="274320"/>
          </a:xfrm>
          <a:prstGeom prst="rect">
            <a:avLst/>
          </a:prstGeom>
        </p:spPr>
      </p:pic>
      <p:sp>
        <p:nvSpPr>
          <p:cNvPr id="31" name="Text 21"/>
          <p:cNvSpPr/>
          <p:nvPr/>
        </p:nvSpPr>
        <p:spPr>
          <a:xfrm>
            <a:off x="1188720" y="4818888"/>
            <a:ext cx="2660904" cy="310896"/>
          </a:xfrm>
          <a:prstGeom prst="rect">
            <a:avLst/>
          </a:prstGeom>
          <a:noFill/>
          <a:ln/>
        </p:spPr>
        <p:txBody>
          <a:bodyPr wrap="square" lIns="0" tIns="0" rIns="0" bIns="0" rtlCol="0" anchor="ctr"/>
          <a:lstStyle/>
          <a:p>
            <a:pPr marL="0" indent="0">
              <a:buNone/>
            </a:pPr>
            <a:r>
              <a:rPr lang="en-US" sz="1150" dirty="0">
                <a:solidFill>
                  <a:srgbClr val="BAC6D8"/>
                </a:solidFill>
                <a:latin typeface="Pretendard" pitchFamily="34" charset="0"/>
                <a:ea typeface="Pretendard" pitchFamily="34" charset="-122"/>
                <a:cs typeface="Pretendard" pitchFamily="34" charset="-120"/>
              </a:rPr>
              <a:t>PostgreSQL 17</a:t>
            </a:r>
            <a:endParaRPr lang="en-US" sz="1150" dirty="0"/>
          </a:p>
        </p:txBody>
      </p:sp>
      <p:pic>
        <p:nvPicPr>
          <p:cNvPr id="32" name="Image 8" descr="icons/db.png"/>
          <p:cNvPicPr>
            <a:picLocks noChangeAspect="1"/>
          </p:cNvPicPr>
          <p:nvPr/>
        </p:nvPicPr>
        <p:blipFill>
          <a:blip r:embed="rId11"/>
          <a:stretch>
            <a:fillRect/>
          </a:stretch>
        </p:blipFill>
        <p:spPr>
          <a:xfrm>
            <a:off x="822960" y="5221224"/>
            <a:ext cx="274320" cy="274320"/>
          </a:xfrm>
          <a:prstGeom prst="rect">
            <a:avLst/>
          </a:prstGeom>
        </p:spPr>
      </p:pic>
      <p:sp>
        <p:nvSpPr>
          <p:cNvPr id="33" name="Text 22"/>
          <p:cNvSpPr/>
          <p:nvPr/>
        </p:nvSpPr>
        <p:spPr>
          <a:xfrm>
            <a:off x="1188720" y="5202936"/>
            <a:ext cx="2660904" cy="310896"/>
          </a:xfrm>
          <a:prstGeom prst="rect">
            <a:avLst/>
          </a:prstGeom>
          <a:noFill/>
          <a:ln/>
        </p:spPr>
        <p:txBody>
          <a:bodyPr wrap="square" lIns="0" tIns="0" rIns="0" bIns="0" rtlCol="0" anchor="ctr"/>
          <a:lstStyle/>
          <a:p>
            <a:pPr marL="0" indent="0">
              <a:buNone/>
            </a:pPr>
            <a:r>
              <a:rPr lang="en-US" sz="1150" dirty="0">
                <a:solidFill>
                  <a:srgbClr val="BAC6D8"/>
                </a:solidFill>
                <a:latin typeface="Pretendard" pitchFamily="34" charset="0"/>
                <a:ea typeface="Pretendard" pitchFamily="34" charset="-122"/>
                <a:cs typeface="Pretendard" pitchFamily="34" charset="-120"/>
              </a:rPr>
              <a:t>pgvector · 48개 테이블</a:t>
            </a:r>
            <a:endParaRPr lang="en-US" sz="1150" dirty="0"/>
          </a:p>
        </p:txBody>
      </p:sp>
      <p:sp>
        <p:nvSpPr>
          <p:cNvPr id="34" name="Text 23"/>
          <p:cNvSpPr/>
          <p:nvPr/>
        </p:nvSpPr>
        <p:spPr>
          <a:xfrm>
            <a:off x="822960" y="5696712"/>
            <a:ext cx="3026664" cy="274320"/>
          </a:xfrm>
          <a:prstGeom prst="rect">
            <a:avLst/>
          </a:prstGeom>
          <a:noFill/>
          <a:ln/>
        </p:spPr>
        <p:txBody>
          <a:bodyPr wrap="square" lIns="0" tIns="0" rIns="0" bIns="0" rtlCol="0" anchor="ctr"/>
          <a:lstStyle/>
          <a:p>
            <a:pPr marL="0" indent="0">
              <a:buNone/>
            </a:pPr>
            <a:r>
              <a:rPr lang="en-US" sz="1000" dirty="0">
                <a:solidFill>
                  <a:srgbClr val="9FADC2"/>
                </a:solidFill>
                <a:latin typeface="Pretendard" pitchFamily="34" charset="0"/>
                <a:ea typeface="Pretendard" pitchFamily="34" charset="-122"/>
                <a:cs typeface="Pretendard" pitchFamily="34" charset="-120"/>
              </a:rPr>
              <a:t>스키마 정본 — DB/schema.sql</a:t>
            </a:r>
            <a:endParaRPr lang="en-US" sz="1000" dirty="0"/>
          </a:p>
        </p:txBody>
      </p:sp>
      <p:sp>
        <p:nvSpPr>
          <p:cNvPr id="35" name="Shape 24"/>
          <p:cNvSpPr/>
          <p:nvPr/>
        </p:nvSpPr>
        <p:spPr>
          <a:xfrm>
            <a:off x="6099048" y="3630168"/>
            <a:ext cx="0" cy="594360"/>
          </a:xfrm>
          <a:prstGeom prst="line">
            <a:avLst/>
          </a:prstGeom>
          <a:noFill/>
          <a:ln w="19050">
            <a:solidFill>
              <a:srgbClr val="0E7490"/>
            </a:solidFill>
            <a:prstDash val="solid"/>
            <a:tailEnd type="triangle"/>
          </a:ln>
        </p:spPr>
        <p:txBody>
          <a:bodyPr/>
          <a:lstStyle/>
          <a:p>
            <a:endParaRPr lang="ko-KR" altLang="en-US"/>
          </a:p>
        </p:txBody>
      </p:sp>
      <p:sp>
        <p:nvSpPr>
          <p:cNvPr id="36" name="Text 25"/>
          <p:cNvSpPr/>
          <p:nvPr/>
        </p:nvSpPr>
        <p:spPr>
          <a:xfrm>
            <a:off x="6208776" y="3776472"/>
            <a:ext cx="1280160" cy="256032"/>
          </a:xfrm>
          <a:prstGeom prst="rect">
            <a:avLst/>
          </a:prstGeom>
          <a:noFill/>
          <a:ln/>
        </p:spPr>
        <p:txBody>
          <a:bodyPr wrap="square" lIns="0" tIns="0" rIns="0" bIns="0" rtlCol="0" anchor="ctr"/>
          <a:lstStyle/>
          <a:p>
            <a:pPr marL="0" indent="0">
              <a:buNone/>
            </a:pPr>
            <a:r>
              <a:rPr lang="en-US" sz="950" dirty="0">
                <a:solidFill>
                  <a:srgbClr val="9FADC2"/>
                </a:solidFill>
                <a:latin typeface="Pretendard" pitchFamily="34" charset="0"/>
                <a:ea typeface="Pretendard" pitchFamily="34" charset="-122"/>
                <a:cs typeface="Pretendard" pitchFamily="34" charset="-120"/>
              </a:rPr>
              <a:t>HTTPS</a:t>
            </a:r>
            <a:endParaRPr lang="en-US" sz="950" dirty="0"/>
          </a:p>
        </p:txBody>
      </p:sp>
      <p:sp>
        <p:nvSpPr>
          <p:cNvPr id="37" name="Shape 26"/>
          <p:cNvSpPr/>
          <p:nvPr/>
        </p:nvSpPr>
        <p:spPr>
          <a:xfrm>
            <a:off x="4329684" y="4251960"/>
            <a:ext cx="3538728" cy="1828800"/>
          </a:xfrm>
          <a:prstGeom prst="roundRect">
            <a:avLst>
              <a:gd name="adj" fmla="val 4000"/>
            </a:avLst>
          </a:prstGeom>
          <a:solidFill>
            <a:srgbClr val="0F2A3A"/>
          </a:solidFill>
          <a:ln w="12700">
            <a:solidFill>
              <a:srgbClr val="155E75"/>
            </a:solidFill>
            <a:prstDash val="solid"/>
          </a:ln>
        </p:spPr>
        <p:txBody>
          <a:bodyPr/>
          <a:lstStyle/>
          <a:p>
            <a:endParaRPr lang="ko-KR" altLang="en-US"/>
          </a:p>
        </p:txBody>
      </p:sp>
      <p:sp>
        <p:nvSpPr>
          <p:cNvPr id="38" name="Text 27"/>
          <p:cNvSpPr/>
          <p:nvPr/>
        </p:nvSpPr>
        <p:spPr>
          <a:xfrm>
            <a:off x="4585716" y="4398264"/>
            <a:ext cx="3026664" cy="347472"/>
          </a:xfrm>
          <a:prstGeom prst="rect">
            <a:avLst/>
          </a:prstGeom>
          <a:noFill/>
          <a:ln/>
        </p:spPr>
        <p:txBody>
          <a:bodyPr wrap="square" lIns="0" tIns="0" rIns="0" bIns="0" rtlCol="0" anchor="ctr"/>
          <a:lstStyle/>
          <a:p>
            <a:pPr marL="0" indent="0">
              <a:buNone/>
            </a:pPr>
            <a:r>
              <a:rPr lang="en-US" sz="1300" b="1" dirty="0">
                <a:solidFill>
                  <a:srgbClr val="22D3EE"/>
                </a:solidFill>
                <a:latin typeface="Consolas" pitchFamily="34" charset="0"/>
                <a:ea typeface="Consolas" pitchFamily="34" charset="-122"/>
                <a:cs typeface="Consolas" pitchFamily="34" charset="-120"/>
              </a:rPr>
              <a:t>AI · 처리</a:t>
            </a:r>
            <a:endParaRPr lang="en-US" sz="1300" dirty="0"/>
          </a:p>
        </p:txBody>
      </p:sp>
      <p:pic>
        <p:nvPicPr>
          <p:cNvPr id="39" name="Image 9" descr="icons/server.png"/>
          <p:cNvPicPr>
            <a:picLocks noChangeAspect="1"/>
          </p:cNvPicPr>
          <p:nvPr/>
        </p:nvPicPr>
        <p:blipFill>
          <a:blip r:embed="rId12"/>
          <a:stretch>
            <a:fillRect/>
          </a:stretch>
        </p:blipFill>
        <p:spPr>
          <a:xfrm>
            <a:off x="4585716" y="4837176"/>
            <a:ext cx="274320" cy="274320"/>
          </a:xfrm>
          <a:prstGeom prst="rect">
            <a:avLst/>
          </a:prstGeom>
        </p:spPr>
      </p:pic>
      <p:sp>
        <p:nvSpPr>
          <p:cNvPr id="40" name="Text 28"/>
          <p:cNvSpPr/>
          <p:nvPr/>
        </p:nvSpPr>
        <p:spPr>
          <a:xfrm>
            <a:off x="4951476" y="4818888"/>
            <a:ext cx="2660904" cy="310896"/>
          </a:xfrm>
          <a:prstGeom prst="rect">
            <a:avLst/>
          </a:prstGeom>
          <a:noFill/>
          <a:ln/>
        </p:spPr>
        <p:txBody>
          <a:bodyPr wrap="square" lIns="0" tIns="0" rIns="0" bIns="0" rtlCol="0" anchor="ctr"/>
          <a:lstStyle/>
          <a:p>
            <a:pPr marL="0" indent="0">
              <a:buNone/>
            </a:pPr>
            <a:r>
              <a:rPr lang="en-US" sz="1150" dirty="0">
                <a:solidFill>
                  <a:srgbClr val="BAC6D8"/>
                </a:solidFill>
                <a:latin typeface="Pretendard" pitchFamily="34" charset="0"/>
                <a:ea typeface="Pretendard" pitchFamily="34" charset="-122"/>
                <a:cs typeface="Pretendard" pitchFamily="34" charset="-120"/>
              </a:rPr>
              <a:t>RunPod Serverless</a:t>
            </a:r>
            <a:endParaRPr lang="en-US" sz="1150" dirty="0"/>
          </a:p>
        </p:txBody>
      </p:sp>
      <p:pic>
        <p:nvPicPr>
          <p:cNvPr id="41" name="Image 10" descr="icons/doc.png"/>
          <p:cNvPicPr>
            <a:picLocks noChangeAspect="1"/>
          </p:cNvPicPr>
          <p:nvPr/>
        </p:nvPicPr>
        <p:blipFill>
          <a:blip r:embed="rId13"/>
          <a:stretch>
            <a:fillRect/>
          </a:stretch>
        </p:blipFill>
        <p:spPr>
          <a:xfrm>
            <a:off x="4585716" y="5221224"/>
            <a:ext cx="274320" cy="274320"/>
          </a:xfrm>
          <a:prstGeom prst="rect">
            <a:avLst/>
          </a:prstGeom>
        </p:spPr>
      </p:pic>
      <p:sp>
        <p:nvSpPr>
          <p:cNvPr id="42" name="Text 29"/>
          <p:cNvSpPr/>
          <p:nvPr/>
        </p:nvSpPr>
        <p:spPr>
          <a:xfrm>
            <a:off x="4951476" y="5202936"/>
            <a:ext cx="2660904" cy="310896"/>
          </a:xfrm>
          <a:prstGeom prst="rect">
            <a:avLst/>
          </a:prstGeom>
          <a:noFill/>
          <a:ln/>
        </p:spPr>
        <p:txBody>
          <a:bodyPr wrap="square" lIns="0" tIns="0" rIns="0" bIns="0" rtlCol="0" anchor="ctr"/>
          <a:lstStyle/>
          <a:p>
            <a:pPr marL="0" indent="0">
              <a:buNone/>
            </a:pPr>
            <a:r>
              <a:rPr lang="en-US" sz="1150" dirty="0">
                <a:solidFill>
                  <a:srgbClr val="BAC6D8"/>
                </a:solidFill>
                <a:latin typeface="Pretendard" pitchFamily="34" charset="0"/>
                <a:ea typeface="Pretendard" pitchFamily="34" charset="-122"/>
                <a:cs typeface="Pretendard" pitchFamily="34" charset="-120"/>
              </a:rPr>
              <a:t>Docling · HybridChunker</a:t>
            </a:r>
            <a:endParaRPr lang="en-US" sz="1150" dirty="0"/>
          </a:p>
        </p:txBody>
      </p:sp>
      <p:pic>
        <p:nvPicPr>
          <p:cNvPr id="43" name="Image 11" descr="icons/google.png"/>
          <p:cNvPicPr>
            <a:picLocks noChangeAspect="1"/>
          </p:cNvPicPr>
          <p:nvPr/>
        </p:nvPicPr>
        <p:blipFill>
          <a:blip r:embed="rId14"/>
          <a:stretch>
            <a:fillRect/>
          </a:stretch>
        </p:blipFill>
        <p:spPr>
          <a:xfrm>
            <a:off x="4585716" y="5605272"/>
            <a:ext cx="274320" cy="274320"/>
          </a:xfrm>
          <a:prstGeom prst="rect">
            <a:avLst/>
          </a:prstGeom>
        </p:spPr>
      </p:pic>
      <p:sp>
        <p:nvSpPr>
          <p:cNvPr id="44" name="Text 30"/>
          <p:cNvSpPr/>
          <p:nvPr/>
        </p:nvSpPr>
        <p:spPr>
          <a:xfrm>
            <a:off x="4951476" y="5586984"/>
            <a:ext cx="2660904" cy="310896"/>
          </a:xfrm>
          <a:prstGeom prst="rect">
            <a:avLst/>
          </a:prstGeom>
          <a:noFill/>
          <a:ln/>
        </p:spPr>
        <p:txBody>
          <a:bodyPr wrap="square" lIns="0" tIns="0" rIns="0" bIns="0" rtlCol="0" anchor="ctr"/>
          <a:lstStyle/>
          <a:p>
            <a:pPr marL="0" indent="0">
              <a:buNone/>
            </a:pPr>
            <a:r>
              <a:rPr lang="en-US" sz="1150" dirty="0">
                <a:solidFill>
                  <a:srgbClr val="BAC6D8"/>
                </a:solidFill>
                <a:latin typeface="Pretendard" pitchFamily="34" charset="0"/>
                <a:ea typeface="Pretendard" pitchFamily="34" charset="-122"/>
                <a:cs typeface="Pretendard" pitchFamily="34" charset="-120"/>
              </a:rPr>
              <a:t>EmbeddingGemma-300m</a:t>
            </a:r>
            <a:endParaRPr lang="en-US" sz="1150" dirty="0"/>
          </a:p>
        </p:txBody>
      </p:sp>
      <p:sp>
        <p:nvSpPr>
          <p:cNvPr id="45" name="Shape 31"/>
          <p:cNvSpPr/>
          <p:nvPr/>
        </p:nvSpPr>
        <p:spPr>
          <a:xfrm>
            <a:off x="9861804" y="3630168"/>
            <a:ext cx="0" cy="594360"/>
          </a:xfrm>
          <a:prstGeom prst="line">
            <a:avLst/>
          </a:prstGeom>
          <a:noFill/>
          <a:ln w="19050">
            <a:solidFill>
              <a:srgbClr val="0E7490"/>
            </a:solidFill>
            <a:prstDash val="solid"/>
            <a:tailEnd type="triangle"/>
          </a:ln>
        </p:spPr>
        <p:txBody>
          <a:bodyPr/>
          <a:lstStyle/>
          <a:p>
            <a:endParaRPr lang="ko-KR" altLang="en-US"/>
          </a:p>
        </p:txBody>
      </p:sp>
      <p:sp>
        <p:nvSpPr>
          <p:cNvPr id="46" name="Text 32"/>
          <p:cNvSpPr/>
          <p:nvPr/>
        </p:nvSpPr>
        <p:spPr>
          <a:xfrm>
            <a:off x="9971532" y="3776472"/>
            <a:ext cx="1280160" cy="256032"/>
          </a:xfrm>
          <a:prstGeom prst="rect">
            <a:avLst/>
          </a:prstGeom>
          <a:noFill/>
          <a:ln/>
        </p:spPr>
        <p:txBody>
          <a:bodyPr wrap="square" lIns="0" tIns="0" rIns="0" bIns="0" rtlCol="0" anchor="ctr"/>
          <a:lstStyle/>
          <a:p>
            <a:pPr marL="0" indent="0">
              <a:buNone/>
            </a:pPr>
            <a:r>
              <a:rPr lang="en-US" sz="950" dirty="0">
                <a:solidFill>
                  <a:srgbClr val="9FADC2"/>
                </a:solidFill>
                <a:latin typeface="Pretendard" pitchFamily="34" charset="0"/>
                <a:ea typeface="Pretendard" pitchFamily="34" charset="-122"/>
                <a:cs typeface="Pretendard" pitchFamily="34" charset="-120"/>
              </a:rPr>
              <a:t>HTTPS</a:t>
            </a:r>
            <a:endParaRPr lang="en-US" sz="950" dirty="0"/>
          </a:p>
        </p:txBody>
      </p:sp>
      <p:sp>
        <p:nvSpPr>
          <p:cNvPr id="47" name="Shape 33"/>
          <p:cNvSpPr/>
          <p:nvPr/>
        </p:nvSpPr>
        <p:spPr>
          <a:xfrm>
            <a:off x="8092440" y="4251960"/>
            <a:ext cx="3538728" cy="1828800"/>
          </a:xfrm>
          <a:prstGeom prst="roundRect">
            <a:avLst>
              <a:gd name="adj" fmla="val 4000"/>
            </a:avLst>
          </a:prstGeom>
          <a:solidFill>
            <a:srgbClr val="161D2E"/>
          </a:solidFill>
          <a:ln w="12700">
            <a:solidFill>
              <a:srgbClr val="263049"/>
            </a:solidFill>
            <a:prstDash val="solid"/>
          </a:ln>
        </p:spPr>
        <p:txBody>
          <a:bodyPr/>
          <a:lstStyle/>
          <a:p>
            <a:endParaRPr lang="ko-KR" altLang="en-US"/>
          </a:p>
        </p:txBody>
      </p:sp>
      <p:sp>
        <p:nvSpPr>
          <p:cNvPr id="48" name="Text 34"/>
          <p:cNvSpPr/>
          <p:nvPr/>
        </p:nvSpPr>
        <p:spPr>
          <a:xfrm>
            <a:off x="8348472" y="4398264"/>
            <a:ext cx="3026664" cy="347472"/>
          </a:xfrm>
          <a:prstGeom prst="rect">
            <a:avLst/>
          </a:prstGeom>
          <a:noFill/>
          <a:ln/>
        </p:spPr>
        <p:txBody>
          <a:bodyPr wrap="square" lIns="0" tIns="0" rIns="0" bIns="0" rtlCol="0" anchor="ctr"/>
          <a:lstStyle/>
          <a:p>
            <a:pPr marL="0" indent="0">
              <a:buNone/>
            </a:pPr>
            <a:r>
              <a:rPr lang="en-US" sz="1300" b="1" dirty="0">
                <a:solidFill>
                  <a:srgbClr val="F1F5F9"/>
                </a:solidFill>
                <a:latin typeface="Consolas" pitchFamily="34" charset="0"/>
                <a:ea typeface="Consolas" pitchFamily="34" charset="-122"/>
                <a:cs typeface="Consolas" pitchFamily="34" charset="-120"/>
              </a:rPr>
              <a:t>External</a:t>
            </a:r>
            <a:endParaRPr lang="en-US" sz="1300" dirty="0"/>
          </a:p>
        </p:txBody>
      </p:sp>
      <p:pic>
        <p:nvPicPr>
          <p:cNvPr id="49" name="Image 12" descr="icons/drive.png"/>
          <p:cNvPicPr>
            <a:picLocks noChangeAspect="1"/>
          </p:cNvPicPr>
          <p:nvPr/>
        </p:nvPicPr>
        <p:blipFill>
          <a:blip r:embed="rId15"/>
          <a:stretch>
            <a:fillRect/>
          </a:stretch>
        </p:blipFill>
        <p:spPr>
          <a:xfrm>
            <a:off x="8348472" y="4837176"/>
            <a:ext cx="274320" cy="274320"/>
          </a:xfrm>
          <a:prstGeom prst="rect">
            <a:avLst/>
          </a:prstGeom>
        </p:spPr>
      </p:pic>
      <p:sp>
        <p:nvSpPr>
          <p:cNvPr id="50" name="Text 35"/>
          <p:cNvSpPr/>
          <p:nvPr/>
        </p:nvSpPr>
        <p:spPr>
          <a:xfrm>
            <a:off x="8714232" y="4818888"/>
            <a:ext cx="2660904" cy="310896"/>
          </a:xfrm>
          <a:prstGeom prst="rect">
            <a:avLst/>
          </a:prstGeom>
          <a:noFill/>
          <a:ln/>
        </p:spPr>
        <p:txBody>
          <a:bodyPr wrap="square" lIns="0" tIns="0" rIns="0" bIns="0" rtlCol="0" anchor="ctr"/>
          <a:lstStyle/>
          <a:p>
            <a:pPr marL="0" indent="0">
              <a:buNone/>
            </a:pPr>
            <a:r>
              <a:rPr lang="en-US" sz="1150" dirty="0">
                <a:solidFill>
                  <a:srgbClr val="BAC6D8"/>
                </a:solidFill>
                <a:latin typeface="Pretendard" pitchFamily="34" charset="0"/>
                <a:ea typeface="Pretendard" pitchFamily="34" charset="-122"/>
                <a:cs typeface="Pretendard" pitchFamily="34" charset="-120"/>
              </a:rPr>
              <a:t>Google Drive</a:t>
            </a:r>
            <a:endParaRPr lang="en-US" sz="1150" dirty="0"/>
          </a:p>
        </p:txBody>
      </p:sp>
      <p:pic>
        <p:nvPicPr>
          <p:cNvPr id="51" name="Image 13" descr="icons/jira.png"/>
          <p:cNvPicPr>
            <a:picLocks noChangeAspect="1"/>
          </p:cNvPicPr>
          <p:nvPr/>
        </p:nvPicPr>
        <p:blipFill>
          <a:blip r:embed="rId16"/>
          <a:stretch>
            <a:fillRect/>
          </a:stretch>
        </p:blipFill>
        <p:spPr>
          <a:xfrm>
            <a:off x="8348472" y="5221224"/>
            <a:ext cx="274320" cy="274320"/>
          </a:xfrm>
          <a:prstGeom prst="rect">
            <a:avLst/>
          </a:prstGeom>
        </p:spPr>
      </p:pic>
      <p:sp>
        <p:nvSpPr>
          <p:cNvPr id="52" name="Text 36"/>
          <p:cNvSpPr/>
          <p:nvPr/>
        </p:nvSpPr>
        <p:spPr>
          <a:xfrm>
            <a:off x="8714232" y="5202936"/>
            <a:ext cx="2660904" cy="310896"/>
          </a:xfrm>
          <a:prstGeom prst="rect">
            <a:avLst/>
          </a:prstGeom>
          <a:noFill/>
          <a:ln/>
        </p:spPr>
        <p:txBody>
          <a:bodyPr wrap="square" lIns="0" tIns="0" rIns="0" bIns="0" rtlCol="0" anchor="ctr"/>
          <a:lstStyle/>
          <a:p>
            <a:pPr marL="0" indent="0">
              <a:buNone/>
            </a:pPr>
            <a:r>
              <a:rPr lang="en-US" sz="1150" dirty="0">
                <a:solidFill>
                  <a:srgbClr val="BAC6D8"/>
                </a:solidFill>
                <a:latin typeface="Pretendard" pitchFamily="34" charset="0"/>
                <a:ea typeface="Pretendard" pitchFamily="34" charset="-122"/>
                <a:cs typeface="Pretendard" pitchFamily="34" charset="-120"/>
              </a:rPr>
              <a:t>Jira</a:t>
            </a:r>
            <a:endParaRPr lang="en-US" sz="1150" dirty="0"/>
          </a:p>
        </p:txBody>
      </p:sp>
      <p:pic>
        <p:nvPicPr>
          <p:cNvPr id="53" name="Image 14" descr="icons/openai.png"/>
          <p:cNvPicPr>
            <a:picLocks noChangeAspect="1"/>
          </p:cNvPicPr>
          <p:nvPr/>
        </p:nvPicPr>
        <p:blipFill>
          <a:blip r:embed="rId17"/>
          <a:stretch>
            <a:fillRect/>
          </a:stretch>
        </p:blipFill>
        <p:spPr>
          <a:xfrm>
            <a:off x="8348472" y="5605272"/>
            <a:ext cx="274320" cy="274320"/>
          </a:xfrm>
          <a:prstGeom prst="rect">
            <a:avLst/>
          </a:prstGeom>
        </p:spPr>
      </p:pic>
      <p:sp>
        <p:nvSpPr>
          <p:cNvPr id="54" name="Text 37"/>
          <p:cNvSpPr/>
          <p:nvPr/>
        </p:nvSpPr>
        <p:spPr>
          <a:xfrm>
            <a:off x="8714232" y="5586984"/>
            <a:ext cx="2660904" cy="310896"/>
          </a:xfrm>
          <a:prstGeom prst="rect">
            <a:avLst/>
          </a:prstGeom>
          <a:noFill/>
          <a:ln/>
        </p:spPr>
        <p:txBody>
          <a:bodyPr wrap="square" lIns="0" tIns="0" rIns="0" bIns="0" rtlCol="0" anchor="ctr"/>
          <a:lstStyle/>
          <a:p>
            <a:pPr marL="0" indent="0">
              <a:buNone/>
            </a:pPr>
            <a:r>
              <a:rPr lang="en-US" sz="1150" dirty="0">
                <a:solidFill>
                  <a:srgbClr val="BAC6D8"/>
                </a:solidFill>
                <a:latin typeface="Pretendard" pitchFamily="34" charset="0"/>
                <a:ea typeface="Pretendard" pitchFamily="34" charset="-122"/>
                <a:cs typeface="Pretendard" pitchFamily="34" charset="-120"/>
              </a:rPr>
              <a:t>OpenAI — luna · sol</a:t>
            </a:r>
            <a:endParaRPr lang="en-US" sz="1150" dirty="0"/>
          </a:p>
        </p:txBody>
      </p:sp>
      <p:pic>
        <p:nvPicPr>
          <p:cNvPr id="55" name="Image 15" descr="icons/docker.png"/>
          <p:cNvPicPr>
            <a:picLocks noChangeAspect="1"/>
          </p:cNvPicPr>
          <p:nvPr/>
        </p:nvPicPr>
        <p:blipFill>
          <a:blip r:embed="rId18"/>
          <a:stretch>
            <a:fillRect/>
          </a:stretch>
        </p:blipFill>
        <p:spPr>
          <a:xfrm>
            <a:off x="4709160" y="6199632"/>
            <a:ext cx="237744" cy="237744"/>
          </a:xfrm>
          <a:prstGeom prst="rect">
            <a:avLst/>
          </a:prstGeom>
        </p:spPr>
      </p:pic>
      <p:sp>
        <p:nvSpPr>
          <p:cNvPr id="56" name="Text 38"/>
          <p:cNvSpPr/>
          <p:nvPr/>
        </p:nvSpPr>
        <p:spPr>
          <a:xfrm>
            <a:off x="5074920" y="6181344"/>
            <a:ext cx="5486400" cy="274320"/>
          </a:xfrm>
          <a:prstGeom prst="rect">
            <a:avLst/>
          </a:prstGeom>
          <a:noFill/>
          <a:ln/>
        </p:spPr>
        <p:txBody>
          <a:bodyPr wrap="square" lIns="0" tIns="0" rIns="0" bIns="0" rtlCol="0" anchor="ctr"/>
          <a:lstStyle/>
          <a:p>
            <a:pPr marL="0" indent="0">
              <a:buNone/>
            </a:pPr>
            <a:r>
              <a:rPr lang="en-US" sz="1150" dirty="0">
                <a:solidFill>
                  <a:srgbClr val="9FADC2"/>
                </a:solidFill>
                <a:latin typeface="Pretendard" pitchFamily="34" charset="0"/>
                <a:ea typeface="Pretendard" pitchFamily="34" charset="-122"/>
                <a:cs typeface="Pretendard" pitchFamily="34" charset="-120"/>
              </a:rPr>
              <a:t>Docker Compose — frontend / web / db 3컨테이너</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SYSTEM</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시스템 기본 플로우차트</a:t>
            </a:r>
            <a:endParaRPr lang="en-US" sz="2700" dirty="0"/>
          </a:p>
        </p:txBody>
      </p:sp>
      <p:sp>
        <p:nvSpPr>
          <p:cNvPr id="5" name="Text 2"/>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11</a:t>
            </a:r>
            <a:endParaRPr lang="en-US" sz="1050" dirty="0"/>
          </a:p>
        </p:txBody>
      </p:sp>
      <p:sp>
        <p:nvSpPr>
          <p:cNvPr id="6" name="Text 3"/>
          <p:cNvSpPr/>
          <p:nvPr/>
        </p:nvSpPr>
        <p:spPr>
          <a:xfrm>
            <a:off x="566928" y="1554480"/>
            <a:ext cx="3657600" cy="292608"/>
          </a:xfrm>
          <a:prstGeom prst="rect">
            <a:avLst/>
          </a:prstGeom>
          <a:noFill/>
          <a:ln/>
        </p:spPr>
        <p:txBody>
          <a:bodyPr wrap="square" lIns="0" tIns="0" rIns="0" bIns="0" rtlCol="0" anchor="ctr"/>
          <a:lstStyle/>
          <a:p>
            <a:pPr marL="0" indent="0">
              <a:buNone/>
            </a:pPr>
            <a:r>
              <a:rPr lang="en-US" sz="1100" b="1" kern="0" spc="100" dirty="0">
                <a:solidFill>
                  <a:srgbClr val="22D3EE"/>
                </a:solidFill>
                <a:latin typeface="Consolas" pitchFamily="34" charset="0"/>
                <a:ea typeface="Consolas" pitchFamily="34" charset="-122"/>
                <a:cs typeface="Consolas" pitchFamily="34" charset="-120"/>
              </a:rPr>
              <a:t>수집 · 처리</a:t>
            </a:r>
            <a:endParaRPr lang="en-US" sz="1100" dirty="0"/>
          </a:p>
        </p:txBody>
      </p:sp>
      <p:sp>
        <p:nvSpPr>
          <p:cNvPr id="7" name="Shape 4"/>
          <p:cNvSpPr/>
          <p:nvPr/>
        </p:nvSpPr>
        <p:spPr>
          <a:xfrm>
            <a:off x="566928" y="1965960"/>
            <a:ext cx="2066544" cy="1389888"/>
          </a:xfrm>
          <a:prstGeom prst="roundRect">
            <a:avLst>
              <a:gd name="adj" fmla="val 3947"/>
            </a:avLst>
          </a:prstGeom>
          <a:solidFill>
            <a:srgbClr val="161D2E"/>
          </a:solidFill>
          <a:ln w="12700">
            <a:solidFill>
              <a:srgbClr val="263049"/>
            </a:solidFill>
            <a:prstDash val="solid"/>
          </a:ln>
        </p:spPr>
        <p:txBody>
          <a:bodyPr/>
          <a:lstStyle/>
          <a:p>
            <a:endParaRPr lang="ko-KR" altLang="en-US"/>
          </a:p>
        </p:txBody>
      </p:sp>
      <p:pic>
        <p:nvPicPr>
          <p:cNvPr id="8" name="Image 1" descr="icons/f_plug.png"/>
          <p:cNvPicPr>
            <a:picLocks noChangeAspect="1"/>
          </p:cNvPicPr>
          <p:nvPr/>
        </p:nvPicPr>
        <p:blipFill>
          <a:blip r:embed="rId4"/>
          <a:stretch>
            <a:fillRect/>
          </a:stretch>
        </p:blipFill>
        <p:spPr>
          <a:xfrm>
            <a:off x="1426464" y="2167128"/>
            <a:ext cx="347472" cy="347472"/>
          </a:xfrm>
          <a:prstGeom prst="rect">
            <a:avLst/>
          </a:prstGeom>
        </p:spPr>
      </p:pic>
      <p:sp>
        <p:nvSpPr>
          <p:cNvPr id="9" name="Text 5"/>
          <p:cNvSpPr/>
          <p:nvPr/>
        </p:nvSpPr>
        <p:spPr>
          <a:xfrm>
            <a:off x="640080" y="2587752"/>
            <a:ext cx="1920240" cy="329184"/>
          </a:xfrm>
          <a:prstGeom prst="rect">
            <a:avLst/>
          </a:prstGeom>
          <a:noFill/>
          <a:ln/>
        </p:spPr>
        <p:txBody>
          <a:bodyPr wrap="square" lIns="0" tIns="0" rIns="0" bIns="0" rtlCol="0" anchor="ctr"/>
          <a:lstStyle/>
          <a:p>
            <a:pPr marL="0" indent="0" algn="ctr">
              <a:buNone/>
            </a:pPr>
            <a:r>
              <a:rPr lang="en-US" sz="1200" b="1" dirty="0">
                <a:solidFill>
                  <a:srgbClr val="F1F5F9"/>
                </a:solidFill>
                <a:latin typeface="Pretendard" pitchFamily="34" charset="0"/>
                <a:ea typeface="Pretendard" pitchFamily="34" charset="-122"/>
                <a:cs typeface="Pretendard" pitchFamily="34" charset="-120"/>
              </a:rPr>
              <a:t>커넥터 연동</a:t>
            </a:r>
            <a:endParaRPr lang="en-US" sz="1200" dirty="0"/>
          </a:p>
        </p:txBody>
      </p:sp>
      <p:sp>
        <p:nvSpPr>
          <p:cNvPr id="10" name="Text 6"/>
          <p:cNvSpPr/>
          <p:nvPr/>
        </p:nvSpPr>
        <p:spPr>
          <a:xfrm>
            <a:off x="640080" y="2916936"/>
            <a:ext cx="1920240" cy="292608"/>
          </a:xfrm>
          <a:prstGeom prst="rect">
            <a:avLst/>
          </a:prstGeom>
          <a:noFill/>
          <a:ln/>
        </p:spPr>
        <p:txBody>
          <a:bodyPr wrap="square" lIns="0" tIns="0" rIns="0" bIns="0" rtlCol="0" anchor="t"/>
          <a:lstStyle/>
          <a:p>
            <a:pPr marL="0" indent="0" algn="ctr">
              <a:buNone/>
            </a:pPr>
            <a:r>
              <a:rPr lang="en-US" sz="1050" dirty="0">
                <a:solidFill>
                  <a:srgbClr val="BAC6D8"/>
                </a:solidFill>
                <a:latin typeface="Pretendard" pitchFamily="34" charset="0"/>
                <a:ea typeface="Pretendard" pitchFamily="34" charset="-122"/>
                <a:cs typeface="Pretendard" pitchFamily="34" charset="-120"/>
              </a:rPr>
              <a:t>Drive · Jira</a:t>
            </a:r>
            <a:endParaRPr lang="en-US" sz="1050" dirty="0"/>
          </a:p>
        </p:txBody>
      </p:sp>
      <p:sp>
        <p:nvSpPr>
          <p:cNvPr id="11" name="Shape 7"/>
          <p:cNvSpPr/>
          <p:nvPr/>
        </p:nvSpPr>
        <p:spPr>
          <a:xfrm>
            <a:off x="2647188" y="2660904"/>
            <a:ext cx="146304" cy="0"/>
          </a:xfrm>
          <a:prstGeom prst="line">
            <a:avLst/>
          </a:prstGeom>
          <a:noFill/>
          <a:ln w="19050">
            <a:solidFill>
              <a:srgbClr val="0E7490"/>
            </a:solidFill>
            <a:prstDash val="solid"/>
            <a:tailEnd type="triangle"/>
          </a:ln>
        </p:spPr>
        <p:txBody>
          <a:bodyPr/>
          <a:lstStyle/>
          <a:p>
            <a:endParaRPr lang="ko-KR" altLang="en-US"/>
          </a:p>
        </p:txBody>
      </p:sp>
      <p:sp>
        <p:nvSpPr>
          <p:cNvPr id="12" name="Shape 8"/>
          <p:cNvSpPr/>
          <p:nvPr/>
        </p:nvSpPr>
        <p:spPr>
          <a:xfrm>
            <a:off x="2807208" y="1965960"/>
            <a:ext cx="2066544" cy="1389888"/>
          </a:xfrm>
          <a:prstGeom prst="roundRect">
            <a:avLst>
              <a:gd name="adj" fmla="val 3947"/>
            </a:avLst>
          </a:prstGeom>
          <a:solidFill>
            <a:srgbClr val="161D2E"/>
          </a:solidFill>
          <a:ln w="12700">
            <a:solidFill>
              <a:srgbClr val="263049"/>
            </a:solidFill>
            <a:prstDash val="solid"/>
          </a:ln>
        </p:spPr>
        <p:txBody>
          <a:bodyPr/>
          <a:lstStyle/>
          <a:p>
            <a:endParaRPr lang="ko-KR" altLang="en-US"/>
          </a:p>
        </p:txBody>
      </p:sp>
      <p:pic>
        <p:nvPicPr>
          <p:cNvPr id="13" name="Image 2" descr="icons/f_doc.png"/>
          <p:cNvPicPr>
            <a:picLocks noChangeAspect="1"/>
          </p:cNvPicPr>
          <p:nvPr/>
        </p:nvPicPr>
        <p:blipFill>
          <a:blip r:embed="rId5"/>
          <a:stretch>
            <a:fillRect/>
          </a:stretch>
        </p:blipFill>
        <p:spPr>
          <a:xfrm>
            <a:off x="3666744" y="2167128"/>
            <a:ext cx="347472" cy="347472"/>
          </a:xfrm>
          <a:prstGeom prst="rect">
            <a:avLst/>
          </a:prstGeom>
        </p:spPr>
      </p:pic>
      <p:sp>
        <p:nvSpPr>
          <p:cNvPr id="14" name="Text 9"/>
          <p:cNvSpPr/>
          <p:nvPr/>
        </p:nvSpPr>
        <p:spPr>
          <a:xfrm>
            <a:off x="2880360" y="2587752"/>
            <a:ext cx="1920240" cy="329184"/>
          </a:xfrm>
          <a:prstGeom prst="rect">
            <a:avLst/>
          </a:prstGeom>
          <a:noFill/>
          <a:ln/>
        </p:spPr>
        <p:txBody>
          <a:bodyPr wrap="square" lIns="0" tIns="0" rIns="0" bIns="0" rtlCol="0" anchor="ctr"/>
          <a:lstStyle/>
          <a:p>
            <a:pPr marL="0" indent="0" algn="ctr">
              <a:buNone/>
            </a:pPr>
            <a:r>
              <a:rPr lang="en-US" sz="1200" b="1" dirty="0">
                <a:solidFill>
                  <a:srgbClr val="F1F5F9"/>
                </a:solidFill>
                <a:latin typeface="Pretendard" pitchFamily="34" charset="0"/>
                <a:ea typeface="Pretendard" pitchFamily="34" charset="-122"/>
                <a:cs typeface="Pretendard" pitchFamily="34" charset="-120"/>
              </a:rPr>
              <a:t>문서 등록</a:t>
            </a:r>
            <a:endParaRPr lang="en-US" sz="1200" dirty="0"/>
          </a:p>
        </p:txBody>
      </p:sp>
      <p:sp>
        <p:nvSpPr>
          <p:cNvPr id="15" name="Text 10"/>
          <p:cNvSpPr/>
          <p:nvPr/>
        </p:nvSpPr>
        <p:spPr>
          <a:xfrm>
            <a:off x="2880360" y="2916936"/>
            <a:ext cx="1920240" cy="292608"/>
          </a:xfrm>
          <a:prstGeom prst="rect">
            <a:avLst/>
          </a:prstGeom>
          <a:noFill/>
          <a:ln/>
        </p:spPr>
        <p:txBody>
          <a:bodyPr wrap="square" lIns="0" tIns="0" rIns="0" bIns="0" rtlCol="0" anchor="t"/>
          <a:lstStyle/>
          <a:p>
            <a:pPr marL="0" indent="0" algn="ctr">
              <a:buNone/>
            </a:pPr>
            <a:r>
              <a:rPr lang="en-US" sz="1050" dirty="0">
                <a:solidFill>
                  <a:srgbClr val="BAC6D8"/>
                </a:solidFill>
                <a:latin typeface="Pretendard" pitchFamily="34" charset="0"/>
                <a:ea typeface="Pretendard" pitchFamily="34" charset="-122"/>
                <a:cs typeface="Pretendard" pitchFamily="34" charset="-120"/>
              </a:rPr>
              <a:t>신규 파일 스캔</a:t>
            </a:r>
            <a:endParaRPr lang="en-US" sz="1050" dirty="0"/>
          </a:p>
        </p:txBody>
      </p:sp>
      <p:sp>
        <p:nvSpPr>
          <p:cNvPr id="16" name="Shape 11"/>
          <p:cNvSpPr/>
          <p:nvPr/>
        </p:nvSpPr>
        <p:spPr>
          <a:xfrm>
            <a:off x="4887468" y="2660904"/>
            <a:ext cx="146304" cy="0"/>
          </a:xfrm>
          <a:prstGeom prst="line">
            <a:avLst/>
          </a:prstGeom>
          <a:noFill/>
          <a:ln w="19050">
            <a:solidFill>
              <a:srgbClr val="0E7490"/>
            </a:solidFill>
            <a:prstDash val="solid"/>
            <a:tailEnd type="triangle"/>
          </a:ln>
        </p:spPr>
        <p:txBody>
          <a:bodyPr/>
          <a:lstStyle/>
          <a:p>
            <a:endParaRPr lang="ko-KR" altLang="en-US"/>
          </a:p>
        </p:txBody>
      </p:sp>
      <p:sp>
        <p:nvSpPr>
          <p:cNvPr id="17" name="Shape 12"/>
          <p:cNvSpPr/>
          <p:nvPr/>
        </p:nvSpPr>
        <p:spPr>
          <a:xfrm>
            <a:off x="5047488" y="1965960"/>
            <a:ext cx="2066544" cy="1389888"/>
          </a:xfrm>
          <a:prstGeom prst="roundRect">
            <a:avLst>
              <a:gd name="adj" fmla="val 3947"/>
            </a:avLst>
          </a:prstGeom>
          <a:solidFill>
            <a:srgbClr val="0F2A3A"/>
          </a:solidFill>
          <a:ln w="12700">
            <a:solidFill>
              <a:srgbClr val="155E75"/>
            </a:solidFill>
            <a:prstDash val="solid"/>
          </a:ln>
        </p:spPr>
        <p:txBody>
          <a:bodyPr/>
          <a:lstStyle/>
          <a:p>
            <a:endParaRPr lang="ko-KR" altLang="en-US"/>
          </a:p>
        </p:txBody>
      </p:sp>
      <p:pic>
        <p:nvPicPr>
          <p:cNvPr id="18" name="Image 3" descr="icons/f_dl.png"/>
          <p:cNvPicPr>
            <a:picLocks noChangeAspect="1"/>
          </p:cNvPicPr>
          <p:nvPr/>
        </p:nvPicPr>
        <p:blipFill>
          <a:blip r:embed="rId6"/>
          <a:stretch>
            <a:fillRect/>
          </a:stretch>
        </p:blipFill>
        <p:spPr>
          <a:xfrm>
            <a:off x="5907024" y="2167128"/>
            <a:ext cx="347472" cy="347472"/>
          </a:xfrm>
          <a:prstGeom prst="rect">
            <a:avLst/>
          </a:prstGeom>
        </p:spPr>
      </p:pic>
      <p:sp>
        <p:nvSpPr>
          <p:cNvPr id="19" name="Text 13"/>
          <p:cNvSpPr/>
          <p:nvPr/>
        </p:nvSpPr>
        <p:spPr>
          <a:xfrm>
            <a:off x="5120640" y="2587752"/>
            <a:ext cx="1920240" cy="329184"/>
          </a:xfrm>
          <a:prstGeom prst="rect">
            <a:avLst/>
          </a:prstGeom>
          <a:noFill/>
          <a:ln/>
        </p:spPr>
        <p:txBody>
          <a:bodyPr wrap="square" lIns="0" tIns="0" rIns="0" bIns="0" rtlCol="0" anchor="ctr"/>
          <a:lstStyle/>
          <a:p>
            <a:pPr marL="0" indent="0" algn="ctr">
              <a:buNone/>
            </a:pPr>
            <a:r>
              <a:rPr lang="en-US" sz="1200" b="1" dirty="0">
                <a:solidFill>
                  <a:srgbClr val="67E8F9"/>
                </a:solidFill>
                <a:latin typeface="Pretendard" pitchFamily="34" charset="0"/>
                <a:ea typeface="Pretendard" pitchFamily="34" charset="-122"/>
                <a:cs typeface="Pretendard" pitchFamily="34" charset="-120"/>
              </a:rPr>
              <a:t>원문 수신</a:t>
            </a:r>
            <a:endParaRPr lang="en-US" sz="1200" dirty="0"/>
          </a:p>
        </p:txBody>
      </p:sp>
      <p:sp>
        <p:nvSpPr>
          <p:cNvPr id="20" name="Text 14"/>
          <p:cNvSpPr/>
          <p:nvPr/>
        </p:nvSpPr>
        <p:spPr>
          <a:xfrm>
            <a:off x="5120640" y="2916936"/>
            <a:ext cx="1920240" cy="292608"/>
          </a:xfrm>
          <a:prstGeom prst="rect">
            <a:avLst/>
          </a:prstGeom>
          <a:noFill/>
          <a:ln/>
        </p:spPr>
        <p:txBody>
          <a:bodyPr wrap="square" lIns="0" tIns="0" rIns="0" bIns="0" rtlCol="0" anchor="t"/>
          <a:lstStyle/>
          <a:p>
            <a:pPr marL="0" indent="0" algn="ctr">
              <a:buNone/>
            </a:pPr>
            <a:r>
              <a:rPr lang="en-US" sz="1050" dirty="0">
                <a:solidFill>
                  <a:srgbClr val="BAC6D8"/>
                </a:solidFill>
                <a:latin typeface="Pretendard" pitchFamily="34" charset="0"/>
                <a:ea typeface="Pretendard" pitchFamily="34" charset="-122"/>
                <a:cs typeface="Pretendard" pitchFamily="34" charset="-120"/>
              </a:rPr>
              <a:t>만료형 서명 URL</a:t>
            </a:r>
            <a:endParaRPr lang="en-US" sz="1050" dirty="0"/>
          </a:p>
        </p:txBody>
      </p:sp>
      <p:sp>
        <p:nvSpPr>
          <p:cNvPr id="21" name="Shape 15"/>
          <p:cNvSpPr/>
          <p:nvPr/>
        </p:nvSpPr>
        <p:spPr>
          <a:xfrm>
            <a:off x="7127748" y="2660904"/>
            <a:ext cx="146304" cy="0"/>
          </a:xfrm>
          <a:prstGeom prst="line">
            <a:avLst/>
          </a:prstGeom>
          <a:noFill/>
          <a:ln w="19050">
            <a:solidFill>
              <a:srgbClr val="0E7490"/>
            </a:solidFill>
            <a:prstDash val="solid"/>
            <a:tailEnd type="triangle"/>
          </a:ln>
        </p:spPr>
        <p:txBody>
          <a:bodyPr/>
          <a:lstStyle/>
          <a:p>
            <a:endParaRPr lang="ko-KR" altLang="en-US"/>
          </a:p>
        </p:txBody>
      </p:sp>
      <p:sp>
        <p:nvSpPr>
          <p:cNvPr id="22" name="Shape 16"/>
          <p:cNvSpPr/>
          <p:nvPr/>
        </p:nvSpPr>
        <p:spPr>
          <a:xfrm>
            <a:off x="7287768" y="1965960"/>
            <a:ext cx="2066544" cy="1389888"/>
          </a:xfrm>
          <a:prstGeom prst="roundRect">
            <a:avLst>
              <a:gd name="adj" fmla="val 3947"/>
            </a:avLst>
          </a:prstGeom>
          <a:solidFill>
            <a:srgbClr val="0F2A3A"/>
          </a:solidFill>
          <a:ln w="12700">
            <a:solidFill>
              <a:srgbClr val="155E75"/>
            </a:solidFill>
            <a:prstDash val="solid"/>
          </a:ln>
        </p:spPr>
        <p:txBody>
          <a:bodyPr/>
          <a:lstStyle/>
          <a:p>
            <a:endParaRPr lang="ko-KR" altLang="en-US"/>
          </a:p>
        </p:txBody>
      </p:sp>
      <p:pic>
        <p:nvPicPr>
          <p:cNvPr id="23" name="Image 4" descr="icons/f_srv.png"/>
          <p:cNvPicPr>
            <a:picLocks noChangeAspect="1"/>
          </p:cNvPicPr>
          <p:nvPr/>
        </p:nvPicPr>
        <p:blipFill>
          <a:blip r:embed="rId7"/>
          <a:stretch>
            <a:fillRect/>
          </a:stretch>
        </p:blipFill>
        <p:spPr>
          <a:xfrm>
            <a:off x="8147304" y="2167128"/>
            <a:ext cx="347472" cy="347472"/>
          </a:xfrm>
          <a:prstGeom prst="rect">
            <a:avLst/>
          </a:prstGeom>
        </p:spPr>
      </p:pic>
      <p:sp>
        <p:nvSpPr>
          <p:cNvPr id="24" name="Text 17"/>
          <p:cNvSpPr/>
          <p:nvPr/>
        </p:nvSpPr>
        <p:spPr>
          <a:xfrm>
            <a:off x="7360920" y="2587752"/>
            <a:ext cx="1920240" cy="329184"/>
          </a:xfrm>
          <a:prstGeom prst="rect">
            <a:avLst/>
          </a:prstGeom>
          <a:noFill/>
          <a:ln/>
        </p:spPr>
        <p:txBody>
          <a:bodyPr wrap="square" lIns="0" tIns="0" rIns="0" bIns="0" rtlCol="0" anchor="ctr"/>
          <a:lstStyle/>
          <a:p>
            <a:pPr marL="0" indent="0" algn="ctr">
              <a:buNone/>
            </a:pPr>
            <a:r>
              <a:rPr lang="en-US" sz="1200" b="1" dirty="0">
                <a:solidFill>
                  <a:srgbClr val="67E8F9"/>
                </a:solidFill>
                <a:latin typeface="Pretendard" pitchFamily="34" charset="0"/>
                <a:ea typeface="Pretendard" pitchFamily="34" charset="-122"/>
                <a:cs typeface="Pretendard" pitchFamily="34" charset="-120"/>
              </a:rPr>
              <a:t>파싱 · 청킹 · 임베딩</a:t>
            </a:r>
            <a:endParaRPr lang="en-US" sz="1200" dirty="0"/>
          </a:p>
        </p:txBody>
      </p:sp>
      <p:sp>
        <p:nvSpPr>
          <p:cNvPr id="25" name="Text 18"/>
          <p:cNvSpPr/>
          <p:nvPr/>
        </p:nvSpPr>
        <p:spPr>
          <a:xfrm>
            <a:off x="7360920" y="2916936"/>
            <a:ext cx="1920240" cy="292608"/>
          </a:xfrm>
          <a:prstGeom prst="rect">
            <a:avLst/>
          </a:prstGeom>
          <a:noFill/>
          <a:ln/>
        </p:spPr>
        <p:txBody>
          <a:bodyPr wrap="square" lIns="0" tIns="0" rIns="0" bIns="0" rtlCol="0" anchor="t"/>
          <a:lstStyle/>
          <a:p>
            <a:pPr marL="0" indent="0" algn="ctr">
              <a:buNone/>
            </a:pPr>
            <a:r>
              <a:rPr lang="en-US" sz="1050" dirty="0">
                <a:solidFill>
                  <a:srgbClr val="BAC6D8"/>
                </a:solidFill>
                <a:latin typeface="Pretendard" pitchFamily="34" charset="0"/>
                <a:ea typeface="Pretendard" pitchFamily="34" charset="-122"/>
                <a:cs typeface="Pretendard" pitchFamily="34" charset="-120"/>
              </a:rPr>
              <a:t>RunPod Worker</a:t>
            </a:r>
            <a:endParaRPr lang="en-US" sz="1050" dirty="0"/>
          </a:p>
        </p:txBody>
      </p:sp>
      <p:sp>
        <p:nvSpPr>
          <p:cNvPr id="26" name="Shape 19"/>
          <p:cNvSpPr/>
          <p:nvPr/>
        </p:nvSpPr>
        <p:spPr>
          <a:xfrm>
            <a:off x="9368028" y="2660904"/>
            <a:ext cx="146304" cy="0"/>
          </a:xfrm>
          <a:prstGeom prst="line">
            <a:avLst/>
          </a:prstGeom>
          <a:noFill/>
          <a:ln w="19050">
            <a:solidFill>
              <a:srgbClr val="0E7490"/>
            </a:solidFill>
            <a:prstDash val="solid"/>
            <a:tailEnd type="triangle"/>
          </a:ln>
        </p:spPr>
        <p:txBody>
          <a:bodyPr/>
          <a:lstStyle/>
          <a:p>
            <a:endParaRPr lang="ko-KR" altLang="en-US"/>
          </a:p>
        </p:txBody>
      </p:sp>
      <p:sp>
        <p:nvSpPr>
          <p:cNvPr id="27" name="Shape 20"/>
          <p:cNvSpPr/>
          <p:nvPr/>
        </p:nvSpPr>
        <p:spPr>
          <a:xfrm>
            <a:off x="9528048" y="1965960"/>
            <a:ext cx="2066544" cy="1389888"/>
          </a:xfrm>
          <a:prstGeom prst="roundRect">
            <a:avLst>
              <a:gd name="adj" fmla="val 3947"/>
            </a:avLst>
          </a:prstGeom>
          <a:solidFill>
            <a:srgbClr val="161D2E"/>
          </a:solidFill>
          <a:ln w="12700">
            <a:solidFill>
              <a:srgbClr val="263049"/>
            </a:solidFill>
            <a:prstDash val="solid"/>
          </a:ln>
        </p:spPr>
        <p:txBody>
          <a:bodyPr/>
          <a:lstStyle/>
          <a:p>
            <a:endParaRPr lang="ko-KR" altLang="en-US"/>
          </a:p>
        </p:txBody>
      </p:sp>
      <p:pic>
        <p:nvPicPr>
          <p:cNvPr id="28" name="Image 5" descr="icons/f_db.png"/>
          <p:cNvPicPr>
            <a:picLocks noChangeAspect="1"/>
          </p:cNvPicPr>
          <p:nvPr/>
        </p:nvPicPr>
        <p:blipFill>
          <a:blip r:embed="rId8"/>
          <a:stretch>
            <a:fillRect/>
          </a:stretch>
        </p:blipFill>
        <p:spPr>
          <a:xfrm>
            <a:off x="10387584" y="2167128"/>
            <a:ext cx="347472" cy="347472"/>
          </a:xfrm>
          <a:prstGeom prst="rect">
            <a:avLst/>
          </a:prstGeom>
        </p:spPr>
      </p:pic>
      <p:sp>
        <p:nvSpPr>
          <p:cNvPr id="29" name="Text 21"/>
          <p:cNvSpPr/>
          <p:nvPr/>
        </p:nvSpPr>
        <p:spPr>
          <a:xfrm>
            <a:off x="9601200" y="2587752"/>
            <a:ext cx="1920240" cy="329184"/>
          </a:xfrm>
          <a:prstGeom prst="rect">
            <a:avLst/>
          </a:prstGeom>
          <a:noFill/>
          <a:ln/>
        </p:spPr>
        <p:txBody>
          <a:bodyPr wrap="square" lIns="0" tIns="0" rIns="0" bIns="0" rtlCol="0" anchor="ctr"/>
          <a:lstStyle/>
          <a:p>
            <a:pPr marL="0" indent="0" algn="ctr">
              <a:buNone/>
            </a:pPr>
            <a:r>
              <a:rPr lang="en-US" sz="1200" b="1" dirty="0">
                <a:solidFill>
                  <a:srgbClr val="F1F5F9"/>
                </a:solidFill>
                <a:latin typeface="Pretendard" pitchFamily="34" charset="0"/>
                <a:ea typeface="Pretendard" pitchFamily="34" charset="-122"/>
                <a:cs typeface="Pretendard" pitchFamily="34" charset="-120"/>
              </a:rPr>
              <a:t>적재</a:t>
            </a:r>
            <a:endParaRPr lang="en-US" sz="1200" dirty="0"/>
          </a:p>
        </p:txBody>
      </p:sp>
      <p:sp>
        <p:nvSpPr>
          <p:cNvPr id="30" name="Text 22"/>
          <p:cNvSpPr/>
          <p:nvPr/>
        </p:nvSpPr>
        <p:spPr>
          <a:xfrm>
            <a:off x="9601200" y="2916936"/>
            <a:ext cx="1920240" cy="292608"/>
          </a:xfrm>
          <a:prstGeom prst="rect">
            <a:avLst/>
          </a:prstGeom>
          <a:noFill/>
          <a:ln/>
        </p:spPr>
        <p:txBody>
          <a:bodyPr wrap="square" lIns="0" tIns="0" rIns="0" bIns="0" rtlCol="0" anchor="t"/>
          <a:lstStyle/>
          <a:p>
            <a:pPr marL="0" indent="0" algn="ctr">
              <a:buNone/>
            </a:pPr>
            <a:r>
              <a:rPr lang="en-US" sz="1050" dirty="0">
                <a:solidFill>
                  <a:srgbClr val="BAC6D8"/>
                </a:solidFill>
                <a:latin typeface="Pretendard" pitchFamily="34" charset="0"/>
                <a:ea typeface="Pretendard" pitchFamily="34" charset="-122"/>
                <a:cs typeface="Pretendard" pitchFamily="34" charset="-120"/>
              </a:rPr>
              <a:t>chunk · vec_idx</a:t>
            </a:r>
            <a:endParaRPr lang="en-US" sz="1050" dirty="0"/>
          </a:p>
        </p:txBody>
      </p:sp>
      <p:sp>
        <p:nvSpPr>
          <p:cNvPr id="31" name="Shape 23"/>
          <p:cNvSpPr/>
          <p:nvPr/>
        </p:nvSpPr>
        <p:spPr>
          <a:xfrm>
            <a:off x="10561320" y="3355848"/>
            <a:ext cx="0" cy="411480"/>
          </a:xfrm>
          <a:prstGeom prst="line">
            <a:avLst/>
          </a:prstGeom>
          <a:noFill/>
          <a:ln w="19050">
            <a:solidFill>
              <a:srgbClr val="0E7490"/>
            </a:solidFill>
            <a:prstDash val="solid"/>
          </a:ln>
        </p:spPr>
        <p:txBody>
          <a:bodyPr/>
          <a:lstStyle/>
          <a:p>
            <a:endParaRPr lang="ko-KR" altLang="en-US"/>
          </a:p>
        </p:txBody>
      </p:sp>
      <p:sp>
        <p:nvSpPr>
          <p:cNvPr id="32" name="Shape 24"/>
          <p:cNvSpPr/>
          <p:nvPr/>
        </p:nvSpPr>
        <p:spPr>
          <a:xfrm>
            <a:off x="1600200" y="3767328"/>
            <a:ext cx="8961120" cy="0"/>
          </a:xfrm>
          <a:prstGeom prst="line">
            <a:avLst/>
          </a:prstGeom>
          <a:noFill/>
          <a:ln w="19050">
            <a:solidFill>
              <a:srgbClr val="0E7490"/>
            </a:solidFill>
            <a:prstDash val="solid"/>
          </a:ln>
        </p:spPr>
        <p:txBody>
          <a:bodyPr/>
          <a:lstStyle/>
          <a:p>
            <a:endParaRPr lang="ko-KR" altLang="en-US"/>
          </a:p>
        </p:txBody>
      </p:sp>
      <p:sp>
        <p:nvSpPr>
          <p:cNvPr id="33" name="Shape 25"/>
          <p:cNvSpPr/>
          <p:nvPr/>
        </p:nvSpPr>
        <p:spPr>
          <a:xfrm>
            <a:off x="1600200" y="3767328"/>
            <a:ext cx="0" cy="576072"/>
          </a:xfrm>
          <a:prstGeom prst="line">
            <a:avLst/>
          </a:prstGeom>
          <a:noFill/>
          <a:ln w="19050">
            <a:solidFill>
              <a:srgbClr val="0E7490"/>
            </a:solidFill>
            <a:prstDash val="solid"/>
            <a:tailEnd type="triangle"/>
          </a:ln>
        </p:spPr>
        <p:txBody>
          <a:bodyPr/>
          <a:lstStyle/>
          <a:p>
            <a:endParaRPr lang="ko-KR" altLang="en-US"/>
          </a:p>
        </p:txBody>
      </p:sp>
      <p:sp>
        <p:nvSpPr>
          <p:cNvPr id="34" name="Text 26"/>
          <p:cNvSpPr/>
          <p:nvPr/>
        </p:nvSpPr>
        <p:spPr>
          <a:xfrm>
            <a:off x="566928" y="3959352"/>
            <a:ext cx="3657600" cy="292608"/>
          </a:xfrm>
          <a:prstGeom prst="rect">
            <a:avLst/>
          </a:prstGeom>
          <a:noFill/>
          <a:ln/>
        </p:spPr>
        <p:txBody>
          <a:bodyPr wrap="square" lIns="0" tIns="0" rIns="0" bIns="0" rtlCol="0" anchor="ctr"/>
          <a:lstStyle/>
          <a:p>
            <a:pPr marL="0" indent="0">
              <a:buNone/>
            </a:pPr>
            <a:r>
              <a:rPr lang="en-US" sz="1100" b="1" kern="0" spc="100" dirty="0">
                <a:solidFill>
                  <a:srgbClr val="22D3EE"/>
                </a:solidFill>
                <a:latin typeface="Consolas" pitchFamily="34" charset="0"/>
                <a:ea typeface="Consolas" pitchFamily="34" charset="-122"/>
                <a:cs typeface="Consolas" pitchFamily="34" charset="-120"/>
              </a:rPr>
              <a:t>활용</a:t>
            </a:r>
            <a:endParaRPr lang="en-US" sz="1100" dirty="0"/>
          </a:p>
        </p:txBody>
      </p:sp>
      <p:sp>
        <p:nvSpPr>
          <p:cNvPr id="35" name="Shape 27"/>
          <p:cNvSpPr/>
          <p:nvPr/>
        </p:nvSpPr>
        <p:spPr>
          <a:xfrm>
            <a:off x="566928" y="4370832"/>
            <a:ext cx="2066544" cy="1389888"/>
          </a:xfrm>
          <a:prstGeom prst="roundRect">
            <a:avLst>
              <a:gd name="adj" fmla="val 3947"/>
            </a:avLst>
          </a:prstGeom>
          <a:solidFill>
            <a:srgbClr val="161D2E"/>
          </a:solidFill>
          <a:ln w="12700">
            <a:solidFill>
              <a:srgbClr val="263049"/>
            </a:solidFill>
            <a:prstDash val="solid"/>
          </a:ln>
        </p:spPr>
        <p:txBody>
          <a:bodyPr/>
          <a:lstStyle/>
          <a:p>
            <a:endParaRPr lang="ko-KR" altLang="en-US"/>
          </a:p>
        </p:txBody>
      </p:sp>
      <p:pic>
        <p:nvPicPr>
          <p:cNvPr id="36" name="Image 6" descr="icons/f_pick.png"/>
          <p:cNvPicPr>
            <a:picLocks noChangeAspect="1"/>
          </p:cNvPicPr>
          <p:nvPr/>
        </p:nvPicPr>
        <p:blipFill>
          <a:blip r:embed="rId9"/>
          <a:stretch>
            <a:fillRect/>
          </a:stretch>
        </p:blipFill>
        <p:spPr>
          <a:xfrm>
            <a:off x="1426464" y="4572000"/>
            <a:ext cx="347472" cy="347472"/>
          </a:xfrm>
          <a:prstGeom prst="rect">
            <a:avLst/>
          </a:prstGeom>
        </p:spPr>
      </p:pic>
      <p:sp>
        <p:nvSpPr>
          <p:cNvPr id="37" name="Text 28"/>
          <p:cNvSpPr/>
          <p:nvPr/>
        </p:nvSpPr>
        <p:spPr>
          <a:xfrm>
            <a:off x="640080" y="4992624"/>
            <a:ext cx="1920240" cy="329184"/>
          </a:xfrm>
          <a:prstGeom prst="rect">
            <a:avLst/>
          </a:prstGeom>
          <a:noFill/>
          <a:ln/>
        </p:spPr>
        <p:txBody>
          <a:bodyPr wrap="square" lIns="0" tIns="0" rIns="0" bIns="0" rtlCol="0" anchor="ctr"/>
          <a:lstStyle/>
          <a:p>
            <a:pPr marL="0" indent="0" algn="ctr">
              <a:buNone/>
            </a:pPr>
            <a:r>
              <a:rPr lang="en-US" sz="1200" b="1" dirty="0">
                <a:solidFill>
                  <a:srgbClr val="F1F5F9"/>
                </a:solidFill>
                <a:latin typeface="Pretendard" pitchFamily="34" charset="0"/>
                <a:ea typeface="Pretendard" pitchFamily="34" charset="-122"/>
                <a:cs typeface="Pretendard" pitchFamily="34" charset="-120"/>
              </a:rPr>
              <a:t>기준 문서 선택</a:t>
            </a:r>
            <a:endParaRPr lang="en-US" sz="1200" dirty="0"/>
          </a:p>
        </p:txBody>
      </p:sp>
      <p:sp>
        <p:nvSpPr>
          <p:cNvPr id="38" name="Text 29"/>
          <p:cNvSpPr/>
          <p:nvPr/>
        </p:nvSpPr>
        <p:spPr>
          <a:xfrm>
            <a:off x="640080" y="5321808"/>
            <a:ext cx="1920240" cy="292608"/>
          </a:xfrm>
          <a:prstGeom prst="rect">
            <a:avLst/>
          </a:prstGeom>
          <a:noFill/>
          <a:ln/>
        </p:spPr>
        <p:txBody>
          <a:bodyPr wrap="square" lIns="0" tIns="0" rIns="0" bIns="0" rtlCol="0" anchor="t"/>
          <a:lstStyle/>
          <a:p>
            <a:pPr marL="0" indent="0" algn="ctr">
              <a:buNone/>
            </a:pPr>
            <a:r>
              <a:rPr lang="en-US" sz="1050" dirty="0">
                <a:solidFill>
                  <a:srgbClr val="9FADC2"/>
                </a:solidFill>
                <a:latin typeface="Pretendard" pitchFamily="34" charset="0"/>
                <a:ea typeface="Pretendard" pitchFamily="34" charset="-122"/>
                <a:cs typeface="Pretendard" pitchFamily="34" charset="-120"/>
              </a:rPr>
              <a:t>PM이 1건 선택</a:t>
            </a:r>
            <a:endParaRPr lang="en-US" sz="1050" dirty="0"/>
          </a:p>
        </p:txBody>
      </p:sp>
      <p:sp>
        <p:nvSpPr>
          <p:cNvPr id="39" name="Shape 30"/>
          <p:cNvSpPr/>
          <p:nvPr/>
        </p:nvSpPr>
        <p:spPr>
          <a:xfrm>
            <a:off x="2647188" y="5065776"/>
            <a:ext cx="146304" cy="0"/>
          </a:xfrm>
          <a:prstGeom prst="line">
            <a:avLst/>
          </a:prstGeom>
          <a:noFill/>
          <a:ln w="19050">
            <a:solidFill>
              <a:srgbClr val="0E7490"/>
            </a:solidFill>
            <a:prstDash val="solid"/>
            <a:tailEnd type="triangle"/>
          </a:ln>
        </p:spPr>
        <p:txBody>
          <a:bodyPr/>
          <a:lstStyle/>
          <a:p>
            <a:endParaRPr lang="ko-KR" altLang="en-US"/>
          </a:p>
        </p:txBody>
      </p:sp>
      <p:sp>
        <p:nvSpPr>
          <p:cNvPr id="40" name="Shape 31"/>
          <p:cNvSpPr/>
          <p:nvPr/>
        </p:nvSpPr>
        <p:spPr>
          <a:xfrm>
            <a:off x="2807208" y="4370832"/>
            <a:ext cx="2066544" cy="1389888"/>
          </a:xfrm>
          <a:prstGeom prst="roundRect">
            <a:avLst>
              <a:gd name="adj" fmla="val 3947"/>
            </a:avLst>
          </a:prstGeom>
          <a:solidFill>
            <a:srgbClr val="161D2E"/>
          </a:solidFill>
          <a:ln w="12700">
            <a:solidFill>
              <a:srgbClr val="263049"/>
            </a:solidFill>
            <a:prstDash val="solid"/>
          </a:ln>
        </p:spPr>
        <p:txBody>
          <a:bodyPr/>
          <a:lstStyle/>
          <a:p>
            <a:endParaRPr lang="ko-KR" altLang="en-US"/>
          </a:p>
        </p:txBody>
      </p:sp>
      <p:pic>
        <p:nvPicPr>
          <p:cNvPr id="41" name="Image 7" descr="icons/f_bot.png"/>
          <p:cNvPicPr>
            <a:picLocks noChangeAspect="1"/>
          </p:cNvPicPr>
          <p:nvPr/>
        </p:nvPicPr>
        <p:blipFill>
          <a:blip r:embed="rId10"/>
          <a:stretch>
            <a:fillRect/>
          </a:stretch>
        </p:blipFill>
        <p:spPr>
          <a:xfrm>
            <a:off x="3666744" y="4572000"/>
            <a:ext cx="347472" cy="347472"/>
          </a:xfrm>
          <a:prstGeom prst="rect">
            <a:avLst/>
          </a:prstGeom>
        </p:spPr>
      </p:pic>
      <p:sp>
        <p:nvSpPr>
          <p:cNvPr id="42" name="Text 32"/>
          <p:cNvSpPr/>
          <p:nvPr/>
        </p:nvSpPr>
        <p:spPr>
          <a:xfrm>
            <a:off x="2880360" y="4992624"/>
            <a:ext cx="1920240" cy="329184"/>
          </a:xfrm>
          <a:prstGeom prst="rect">
            <a:avLst/>
          </a:prstGeom>
          <a:noFill/>
          <a:ln/>
        </p:spPr>
        <p:txBody>
          <a:bodyPr wrap="square" lIns="0" tIns="0" rIns="0" bIns="0" rtlCol="0" anchor="ctr"/>
          <a:lstStyle/>
          <a:p>
            <a:pPr marL="0" indent="0" algn="ctr">
              <a:buNone/>
            </a:pPr>
            <a:r>
              <a:rPr lang="en-US" sz="1200" b="1" dirty="0">
                <a:solidFill>
                  <a:srgbClr val="F1F5F9"/>
                </a:solidFill>
                <a:latin typeface="Pretendard" pitchFamily="34" charset="0"/>
                <a:ea typeface="Pretendard" pitchFamily="34" charset="-122"/>
                <a:cs typeface="Pretendard" pitchFamily="34" charset="-120"/>
              </a:rPr>
              <a:t>업무 추출 Agent</a:t>
            </a:r>
            <a:endParaRPr lang="en-US" sz="1200" dirty="0"/>
          </a:p>
        </p:txBody>
      </p:sp>
      <p:sp>
        <p:nvSpPr>
          <p:cNvPr id="43" name="Text 33"/>
          <p:cNvSpPr/>
          <p:nvPr/>
        </p:nvSpPr>
        <p:spPr>
          <a:xfrm>
            <a:off x="2880360" y="5321808"/>
            <a:ext cx="1920240" cy="292608"/>
          </a:xfrm>
          <a:prstGeom prst="rect">
            <a:avLst/>
          </a:prstGeom>
          <a:noFill/>
          <a:ln/>
        </p:spPr>
        <p:txBody>
          <a:bodyPr wrap="square" lIns="0" tIns="0" rIns="0" bIns="0" rtlCol="0" anchor="t"/>
          <a:lstStyle/>
          <a:p>
            <a:pPr marL="0" indent="0" algn="ctr">
              <a:buNone/>
            </a:pPr>
            <a:r>
              <a:rPr lang="en-US" sz="1050" dirty="0">
                <a:solidFill>
                  <a:srgbClr val="9FADC2"/>
                </a:solidFill>
                <a:latin typeface="Pretendard" pitchFamily="34" charset="0"/>
                <a:ea typeface="Pretendard" pitchFamily="34" charset="-122"/>
                <a:cs typeface="Pretendard" pitchFamily="34" charset="-120"/>
              </a:rPr>
              <a:t>5단계 · 근거 수집</a:t>
            </a:r>
            <a:endParaRPr lang="en-US" sz="1050" dirty="0"/>
          </a:p>
        </p:txBody>
      </p:sp>
      <p:sp>
        <p:nvSpPr>
          <p:cNvPr id="44" name="Shape 34"/>
          <p:cNvSpPr/>
          <p:nvPr/>
        </p:nvSpPr>
        <p:spPr>
          <a:xfrm>
            <a:off x="4887468" y="5065776"/>
            <a:ext cx="146304" cy="0"/>
          </a:xfrm>
          <a:prstGeom prst="line">
            <a:avLst/>
          </a:prstGeom>
          <a:noFill/>
          <a:ln w="19050">
            <a:solidFill>
              <a:srgbClr val="0E7490"/>
            </a:solidFill>
            <a:prstDash val="solid"/>
            <a:tailEnd type="triangle"/>
          </a:ln>
        </p:spPr>
        <p:txBody>
          <a:bodyPr/>
          <a:lstStyle/>
          <a:p>
            <a:endParaRPr lang="ko-KR" altLang="en-US"/>
          </a:p>
        </p:txBody>
      </p:sp>
      <p:sp>
        <p:nvSpPr>
          <p:cNvPr id="45" name="Shape 35"/>
          <p:cNvSpPr/>
          <p:nvPr/>
        </p:nvSpPr>
        <p:spPr>
          <a:xfrm>
            <a:off x="5047488" y="4370832"/>
            <a:ext cx="2066544" cy="1389888"/>
          </a:xfrm>
          <a:prstGeom prst="roundRect">
            <a:avLst>
              <a:gd name="adj" fmla="val 3947"/>
            </a:avLst>
          </a:prstGeom>
          <a:solidFill>
            <a:srgbClr val="161D2E"/>
          </a:solidFill>
          <a:ln w="12700">
            <a:solidFill>
              <a:srgbClr val="263049"/>
            </a:solidFill>
            <a:prstDash val="solid"/>
          </a:ln>
        </p:spPr>
        <p:txBody>
          <a:bodyPr/>
          <a:lstStyle/>
          <a:p>
            <a:endParaRPr lang="ko-KR" altLang="en-US"/>
          </a:p>
        </p:txBody>
      </p:sp>
      <p:pic>
        <p:nvPicPr>
          <p:cNvPr id="46" name="Image 8" descr="icons/f_check.png"/>
          <p:cNvPicPr>
            <a:picLocks noChangeAspect="1"/>
          </p:cNvPicPr>
          <p:nvPr/>
        </p:nvPicPr>
        <p:blipFill>
          <a:blip r:embed="rId11"/>
          <a:stretch>
            <a:fillRect/>
          </a:stretch>
        </p:blipFill>
        <p:spPr>
          <a:xfrm>
            <a:off x="5907024" y="4572000"/>
            <a:ext cx="347472" cy="347472"/>
          </a:xfrm>
          <a:prstGeom prst="rect">
            <a:avLst/>
          </a:prstGeom>
        </p:spPr>
      </p:pic>
      <p:sp>
        <p:nvSpPr>
          <p:cNvPr id="47" name="Text 36"/>
          <p:cNvSpPr/>
          <p:nvPr/>
        </p:nvSpPr>
        <p:spPr>
          <a:xfrm>
            <a:off x="5120640" y="4992624"/>
            <a:ext cx="1920240" cy="329184"/>
          </a:xfrm>
          <a:prstGeom prst="rect">
            <a:avLst/>
          </a:prstGeom>
          <a:noFill/>
          <a:ln/>
        </p:spPr>
        <p:txBody>
          <a:bodyPr wrap="square" lIns="0" tIns="0" rIns="0" bIns="0" rtlCol="0" anchor="ctr"/>
          <a:lstStyle/>
          <a:p>
            <a:pPr marL="0" indent="0" algn="ctr">
              <a:buNone/>
            </a:pPr>
            <a:r>
              <a:rPr lang="en-US" sz="1200" b="1" dirty="0">
                <a:solidFill>
                  <a:srgbClr val="F1F5F9"/>
                </a:solidFill>
                <a:latin typeface="Pretendard" pitchFamily="34" charset="0"/>
                <a:ea typeface="Pretendard" pitchFamily="34" charset="-122"/>
                <a:cs typeface="Pretendard" pitchFamily="34" charset="-120"/>
              </a:rPr>
              <a:t>추출된 업무 확인</a:t>
            </a:r>
            <a:endParaRPr lang="en-US" sz="1200" dirty="0"/>
          </a:p>
        </p:txBody>
      </p:sp>
      <p:sp>
        <p:nvSpPr>
          <p:cNvPr id="48" name="Text 37"/>
          <p:cNvSpPr/>
          <p:nvPr/>
        </p:nvSpPr>
        <p:spPr>
          <a:xfrm>
            <a:off x="5120640" y="5321808"/>
            <a:ext cx="1920240" cy="292608"/>
          </a:xfrm>
          <a:prstGeom prst="rect">
            <a:avLst/>
          </a:prstGeom>
          <a:noFill/>
          <a:ln/>
        </p:spPr>
        <p:txBody>
          <a:bodyPr wrap="square" lIns="0" tIns="0" rIns="0" bIns="0" rtlCol="0" anchor="t"/>
          <a:lstStyle/>
          <a:p>
            <a:pPr marL="0" indent="0" algn="ctr">
              <a:buNone/>
            </a:pPr>
            <a:r>
              <a:rPr lang="en-US" sz="1050" dirty="0">
                <a:solidFill>
                  <a:srgbClr val="9FADC2"/>
                </a:solidFill>
                <a:latin typeface="Pretendard" pitchFamily="34" charset="0"/>
                <a:ea typeface="Pretendard" pitchFamily="34" charset="-122"/>
                <a:cs typeface="Pretendard" pitchFamily="34" charset="-120"/>
              </a:rPr>
              <a:t>근거 열람</a:t>
            </a:r>
            <a:endParaRPr lang="en-US" sz="1050" dirty="0"/>
          </a:p>
        </p:txBody>
      </p:sp>
      <p:sp>
        <p:nvSpPr>
          <p:cNvPr id="49" name="Shape 38"/>
          <p:cNvSpPr/>
          <p:nvPr/>
        </p:nvSpPr>
        <p:spPr>
          <a:xfrm>
            <a:off x="7127748" y="5065776"/>
            <a:ext cx="146304" cy="0"/>
          </a:xfrm>
          <a:prstGeom prst="line">
            <a:avLst/>
          </a:prstGeom>
          <a:noFill/>
          <a:ln w="19050">
            <a:solidFill>
              <a:srgbClr val="0E7490"/>
            </a:solidFill>
            <a:prstDash val="solid"/>
            <a:tailEnd type="triangle"/>
          </a:ln>
        </p:spPr>
        <p:txBody>
          <a:bodyPr/>
          <a:lstStyle/>
          <a:p>
            <a:endParaRPr lang="ko-KR" altLang="en-US"/>
          </a:p>
        </p:txBody>
      </p:sp>
      <p:sp>
        <p:nvSpPr>
          <p:cNvPr id="50" name="Shape 39"/>
          <p:cNvSpPr/>
          <p:nvPr/>
        </p:nvSpPr>
        <p:spPr>
          <a:xfrm>
            <a:off x="7287768" y="4370832"/>
            <a:ext cx="2066544" cy="1389888"/>
          </a:xfrm>
          <a:prstGeom prst="roundRect">
            <a:avLst>
              <a:gd name="adj" fmla="val 3947"/>
            </a:avLst>
          </a:prstGeom>
          <a:solidFill>
            <a:srgbClr val="161D2E"/>
          </a:solidFill>
          <a:ln w="12700">
            <a:solidFill>
              <a:srgbClr val="2A3346"/>
            </a:solidFill>
            <a:prstDash val="solid"/>
          </a:ln>
        </p:spPr>
        <p:txBody>
          <a:bodyPr/>
          <a:lstStyle/>
          <a:p>
            <a:endParaRPr lang="ko-KR" altLang="en-US"/>
          </a:p>
        </p:txBody>
      </p:sp>
      <p:pic>
        <p:nvPicPr>
          <p:cNvPr id="51" name="Image 9" descr="icons/f_chart.png"/>
          <p:cNvPicPr>
            <a:picLocks noChangeAspect="1"/>
          </p:cNvPicPr>
          <p:nvPr/>
        </p:nvPicPr>
        <p:blipFill>
          <a:blip r:embed="rId12"/>
          <a:stretch>
            <a:fillRect/>
          </a:stretch>
        </p:blipFill>
        <p:spPr>
          <a:xfrm>
            <a:off x="8147304" y="4572000"/>
            <a:ext cx="347472" cy="347472"/>
          </a:xfrm>
          <a:prstGeom prst="rect">
            <a:avLst/>
          </a:prstGeom>
        </p:spPr>
      </p:pic>
      <p:sp>
        <p:nvSpPr>
          <p:cNvPr id="52" name="Text 40"/>
          <p:cNvSpPr/>
          <p:nvPr/>
        </p:nvSpPr>
        <p:spPr>
          <a:xfrm>
            <a:off x="7360920" y="4992624"/>
            <a:ext cx="1920240" cy="329184"/>
          </a:xfrm>
          <a:prstGeom prst="rect">
            <a:avLst/>
          </a:prstGeom>
          <a:noFill/>
          <a:ln/>
        </p:spPr>
        <p:txBody>
          <a:bodyPr wrap="square" lIns="0" tIns="0" rIns="0" bIns="0" rtlCol="0" anchor="ctr"/>
          <a:lstStyle/>
          <a:p>
            <a:pPr marL="0" indent="0" algn="ctr">
              <a:buNone/>
            </a:pPr>
            <a:r>
              <a:rPr lang="en-US" sz="1200" b="1" dirty="0">
                <a:solidFill>
                  <a:srgbClr val="9FADC2"/>
                </a:solidFill>
                <a:latin typeface="Pretendard" pitchFamily="34" charset="0"/>
                <a:ea typeface="Pretendard" pitchFamily="34" charset="-122"/>
                <a:cs typeface="Pretendard" pitchFamily="34" charset="-120"/>
              </a:rPr>
              <a:t>업무량 비교</a:t>
            </a:r>
            <a:endParaRPr lang="en-US" sz="1200" dirty="0"/>
          </a:p>
        </p:txBody>
      </p:sp>
      <p:sp>
        <p:nvSpPr>
          <p:cNvPr id="53" name="Text 41"/>
          <p:cNvSpPr/>
          <p:nvPr/>
        </p:nvSpPr>
        <p:spPr>
          <a:xfrm>
            <a:off x="7360920" y="5321808"/>
            <a:ext cx="1920240" cy="292608"/>
          </a:xfrm>
          <a:prstGeom prst="rect">
            <a:avLst/>
          </a:prstGeom>
          <a:noFill/>
          <a:ln/>
        </p:spPr>
        <p:txBody>
          <a:bodyPr wrap="square" lIns="0" tIns="0" rIns="0" bIns="0" rtlCol="0" anchor="t"/>
          <a:lstStyle/>
          <a:p>
            <a:pPr marL="0" indent="0" algn="ctr">
              <a:buNone/>
            </a:pPr>
            <a:r>
              <a:rPr lang="en-US" sz="1050" dirty="0">
                <a:solidFill>
                  <a:srgbClr val="9FADC2"/>
                </a:solidFill>
                <a:latin typeface="Pretendard" pitchFamily="34" charset="0"/>
                <a:ea typeface="Pretendard" pitchFamily="34" charset="-122"/>
                <a:cs typeface="Pretendard" pitchFamily="34" charset="-120"/>
              </a:rPr>
              <a:t>Jira · People DB</a:t>
            </a:r>
            <a:endParaRPr lang="en-US" sz="1050" dirty="0"/>
          </a:p>
        </p:txBody>
      </p:sp>
      <p:sp>
        <p:nvSpPr>
          <p:cNvPr id="54" name="Shape 42"/>
          <p:cNvSpPr/>
          <p:nvPr/>
        </p:nvSpPr>
        <p:spPr>
          <a:xfrm>
            <a:off x="9368028" y="5065776"/>
            <a:ext cx="146304" cy="0"/>
          </a:xfrm>
          <a:prstGeom prst="line">
            <a:avLst/>
          </a:prstGeom>
          <a:noFill/>
          <a:ln w="19050">
            <a:solidFill>
              <a:srgbClr val="0E7490"/>
            </a:solidFill>
            <a:prstDash val="solid"/>
            <a:tailEnd type="triangle"/>
          </a:ln>
        </p:spPr>
        <p:txBody>
          <a:bodyPr/>
          <a:lstStyle/>
          <a:p>
            <a:endParaRPr lang="ko-KR" altLang="en-US"/>
          </a:p>
        </p:txBody>
      </p:sp>
      <p:sp>
        <p:nvSpPr>
          <p:cNvPr id="55" name="Shape 43"/>
          <p:cNvSpPr/>
          <p:nvPr/>
        </p:nvSpPr>
        <p:spPr>
          <a:xfrm>
            <a:off x="9528048" y="4370832"/>
            <a:ext cx="2066544" cy="1389888"/>
          </a:xfrm>
          <a:prstGeom prst="roundRect">
            <a:avLst>
              <a:gd name="adj" fmla="val 3947"/>
            </a:avLst>
          </a:prstGeom>
          <a:solidFill>
            <a:srgbClr val="161D2E"/>
          </a:solidFill>
          <a:ln w="12700">
            <a:solidFill>
              <a:srgbClr val="2A3346"/>
            </a:solidFill>
            <a:prstDash val="solid"/>
          </a:ln>
        </p:spPr>
        <p:txBody>
          <a:bodyPr/>
          <a:lstStyle/>
          <a:p>
            <a:endParaRPr lang="ko-KR" altLang="en-US"/>
          </a:p>
        </p:txBody>
      </p:sp>
      <p:pic>
        <p:nvPicPr>
          <p:cNvPr id="56" name="Image 10" descr="icons/f_user.png"/>
          <p:cNvPicPr>
            <a:picLocks noChangeAspect="1"/>
          </p:cNvPicPr>
          <p:nvPr/>
        </p:nvPicPr>
        <p:blipFill>
          <a:blip r:embed="rId13"/>
          <a:stretch>
            <a:fillRect/>
          </a:stretch>
        </p:blipFill>
        <p:spPr>
          <a:xfrm>
            <a:off x="10387584" y="4572000"/>
            <a:ext cx="347472" cy="347472"/>
          </a:xfrm>
          <a:prstGeom prst="rect">
            <a:avLst/>
          </a:prstGeom>
        </p:spPr>
      </p:pic>
      <p:sp>
        <p:nvSpPr>
          <p:cNvPr id="57" name="Text 44"/>
          <p:cNvSpPr/>
          <p:nvPr/>
        </p:nvSpPr>
        <p:spPr>
          <a:xfrm>
            <a:off x="9601200" y="4992624"/>
            <a:ext cx="1920240" cy="329184"/>
          </a:xfrm>
          <a:prstGeom prst="rect">
            <a:avLst/>
          </a:prstGeom>
          <a:noFill/>
          <a:ln/>
        </p:spPr>
        <p:txBody>
          <a:bodyPr wrap="square" lIns="0" tIns="0" rIns="0" bIns="0" rtlCol="0" anchor="ctr"/>
          <a:lstStyle/>
          <a:p>
            <a:pPr marL="0" indent="0" algn="ctr">
              <a:buNone/>
            </a:pPr>
            <a:r>
              <a:rPr lang="en-US" sz="1200" b="1" dirty="0">
                <a:solidFill>
                  <a:srgbClr val="9FADC2"/>
                </a:solidFill>
                <a:latin typeface="Pretendard" pitchFamily="34" charset="0"/>
                <a:ea typeface="Pretendard" pitchFamily="34" charset="-122"/>
                <a:cs typeface="Pretendard" pitchFamily="34" charset="-120"/>
              </a:rPr>
              <a:t>후보 추천 · PM 결정</a:t>
            </a:r>
            <a:endParaRPr lang="en-US" sz="1200" dirty="0"/>
          </a:p>
        </p:txBody>
      </p:sp>
      <p:sp>
        <p:nvSpPr>
          <p:cNvPr id="58" name="Text 45"/>
          <p:cNvSpPr/>
          <p:nvPr/>
        </p:nvSpPr>
        <p:spPr>
          <a:xfrm>
            <a:off x="9601200" y="5321808"/>
            <a:ext cx="1920240" cy="292608"/>
          </a:xfrm>
          <a:prstGeom prst="rect">
            <a:avLst/>
          </a:prstGeom>
          <a:noFill/>
          <a:ln/>
        </p:spPr>
        <p:txBody>
          <a:bodyPr wrap="square" lIns="0" tIns="0" rIns="0" bIns="0" rtlCol="0" anchor="t"/>
          <a:lstStyle/>
          <a:p>
            <a:pPr marL="0" indent="0" algn="ctr">
              <a:buNone/>
            </a:pPr>
            <a:r>
              <a:rPr lang="en-US" sz="1050" dirty="0">
                <a:solidFill>
                  <a:srgbClr val="9FADC2"/>
                </a:solidFill>
                <a:latin typeface="Pretendard" pitchFamily="34" charset="0"/>
                <a:ea typeface="Pretendard" pitchFamily="34" charset="-122"/>
                <a:cs typeface="Pretendard" pitchFamily="34" charset="-120"/>
              </a:rPr>
              <a:t>업무 분배 · 검증 Agent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SYSTEM</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시스템 특징</a:t>
            </a:r>
            <a:endParaRPr lang="en-US" sz="2700" dirty="0"/>
          </a:p>
        </p:txBody>
      </p:sp>
      <p:sp>
        <p:nvSpPr>
          <p:cNvPr id="5" name="Text 2"/>
          <p:cNvSpPr/>
          <p:nvPr/>
        </p:nvSpPr>
        <p:spPr>
          <a:xfrm>
            <a:off x="566928" y="1243584"/>
            <a:ext cx="11064240" cy="320040"/>
          </a:xfrm>
          <a:prstGeom prst="rect">
            <a:avLst/>
          </a:prstGeom>
          <a:noFill/>
          <a:ln/>
        </p:spPr>
        <p:txBody>
          <a:bodyPr wrap="square" lIns="0" tIns="0" rIns="0" bIns="0" rtlCol="0" anchor="ctr"/>
          <a:lstStyle/>
          <a:p>
            <a:pPr marL="0" indent="0">
              <a:buNone/>
            </a:pPr>
            <a:r>
              <a:rPr lang="en-US" sz="1300" dirty="0">
                <a:solidFill>
                  <a:srgbClr val="BAC6D8"/>
                </a:solidFill>
                <a:latin typeface="Pretendard Light" pitchFamily="34" charset="0"/>
                <a:ea typeface="Pretendard Light" pitchFamily="34" charset="-122"/>
                <a:cs typeface="Pretendard Light" pitchFamily="34" charset="-120"/>
              </a:rPr>
              <a:t>이 시스템이 다른 문서 검색·업무 도구와 다르게 정한 다섯 가지</a:t>
            </a:r>
            <a:endParaRPr lang="en-US" sz="1300" dirty="0"/>
          </a:p>
        </p:txBody>
      </p:sp>
      <p:sp>
        <p:nvSpPr>
          <p:cNvPr id="6" name="Text 3"/>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12</a:t>
            </a:r>
            <a:endParaRPr lang="en-US" sz="1050" dirty="0"/>
          </a:p>
        </p:txBody>
      </p:sp>
      <p:sp>
        <p:nvSpPr>
          <p:cNvPr id="7" name="Shape 4"/>
          <p:cNvSpPr/>
          <p:nvPr/>
        </p:nvSpPr>
        <p:spPr>
          <a:xfrm>
            <a:off x="356616" y="1783080"/>
            <a:ext cx="3657600" cy="1874520"/>
          </a:xfrm>
          <a:prstGeom prst="roundRect">
            <a:avLst>
              <a:gd name="adj" fmla="val 3902"/>
            </a:avLst>
          </a:prstGeom>
          <a:solidFill>
            <a:srgbClr val="161D2E"/>
          </a:solidFill>
          <a:ln w="12700">
            <a:solidFill>
              <a:srgbClr val="263049"/>
            </a:solidFill>
            <a:prstDash val="solid"/>
          </a:ln>
        </p:spPr>
        <p:txBody>
          <a:bodyPr/>
          <a:lstStyle/>
          <a:p>
            <a:endParaRPr lang="ko-KR" altLang="en-US"/>
          </a:p>
        </p:txBody>
      </p:sp>
      <p:pic>
        <p:nvPicPr>
          <p:cNvPr id="8" name="Image 1" descr="icons/c_team.png"/>
          <p:cNvPicPr>
            <a:picLocks noChangeAspect="1"/>
          </p:cNvPicPr>
          <p:nvPr/>
        </p:nvPicPr>
        <p:blipFill>
          <a:blip r:embed="rId4"/>
          <a:stretch>
            <a:fillRect/>
          </a:stretch>
        </p:blipFill>
        <p:spPr>
          <a:xfrm>
            <a:off x="649224" y="2057400"/>
            <a:ext cx="365760" cy="365760"/>
          </a:xfrm>
          <a:prstGeom prst="rect">
            <a:avLst/>
          </a:prstGeom>
        </p:spPr>
      </p:pic>
      <p:sp>
        <p:nvSpPr>
          <p:cNvPr id="9" name="Text 5"/>
          <p:cNvSpPr/>
          <p:nvPr/>
        </p:nvSpPr>
        <p:spPr>
          <a:xfrm>
            <a:off x="3236976" y="2057400"/>
            <a:ext cx="502920" cy="274320"/>
          </a:xfrm>
          <a:prstGeom prst="rect">
            <a:avLst/>
          </a:prstGeom>
          <a:noFill/>
          <a:ln/>
        </p:spPr>
        <p:txBody>
          <a:bodyPr wrap="square" lIns="0" tIns="0" rIns="0" bIns="0" rtlCol="0" anchor="ctr"/>
          <a:lstStyle/>
          <a:p>
            <a:pPr marL="0" indent="0" algn="r">
              <a:buNone/>
            </a:pPr>
            <a:r>
              <a:rPr lang="en-US" sz="1200" b="1" dirty="0">
                <a:solidFill>
                  <a:srgbClr val="6B7A94"/>
                </a:solidFill>
                <a:latin typeface="Consolas" pitchFamily="34" charset="0"/>
                <a:ea typeface="Consolas" pitchFamily="34" charset="-122"/>
                <a:cs typeface="Consolas" pitchFamily="34" charset="-120"/>
              </a:rPr>
              <a:t>01</a:t>
            </a:r>
            <a:endParaRPr lang="en-US" sz="1200" dirty="0"/>
          </a:p>
        </p:txBody>
      </p:sp>
      <p:sp>
        <p:nvSpPr>
          <p:cNvPr id="10" name="Text 6"/>
          <p:cNvSpPr/>
          <p:nvPr/>
        </p:nvSpPr>
        <p:spPr>
          <a:xfrm>
            <a:off x="649224" y="2551176"/>
            <a:ext cx="3072384" cy="384048"/>
          </a:xfrm>
          <a:prstGeom prst="rect">
            <a:avLst/>
          </a:prstGeom>
          <a:noFill/>
          <a:ln/>
        </p:spPr>
        <p:txBody>
          <a:bodyPr wrap="square" lIns="0" tIns="0" rIns="0" bIns="0" rtlCol="0" anchor="ctr"/>
          <a:lstStyle/>
          <a:p>
            <a:pPr marL="0" indent="0">
              <a:buNone/>
            </a:pPr>
            <a:r>
              <a:rPr lang="en-US" sz="1400" b="1" dirty="0">
                <a:solidFill>
                  <a:srgbClr val="F1F5F9"/>
                </a:solidFill>
                <a:latin typeface="Pretendard" pitchFamily="34" charset="0"/>
                <a:ea typeface="Pretendard" pitchFamily="34" charset="-122"/>
                <a:cs typeface="Pretendard" pitchFamily="34" charset="-120"/>
              </a:rPr>
              <a:t>권한 단위는 회사가 아니라 팀</a:t>
            </a:r>
            <a:endParaRPr lang="en-US" sz="1400" dirty="0"/>
          </a:p>
        </p:txBody>
      </p:sp>
      <p:sp>
        <p:nvSpPr>
          <p:cNvPr id="11" name="Text 7"/>
          <p:cNvSpPr/>
          <p:nvPr/>
        </p:nvSpPr>
        <p:spPr>
          <a:xfrm>
            <a:off x="649224" y="2953512"/>
            <a:ext cx="3072384" cy="566928"/>
          </a:xfrm>
          <a:prstGeom prst="rect">
            <a:avLst/>
          </a:prstGeom>
          <a:noFill/>
          <a:ln/>
        </p:spPr>
        <p:txBody>
          <a:bodyPr wrap="square" lIns="0" tIns="0" rIns="0" bIns="0" rtlCol="0" anchor="t"/>
          <a:lstStyle/>
          <a:p>
            <a:pPr marL="0" indent="0">
              <a:lnSpc>
                <a:spcPct val="122000"/>
              </a:lnSpc>
              <a:buNone/>
            </a:pPr>
            <a:r>
              <a:rPr lang="en-US" sz="1150" dirty="0">
                <a:solidFill>
                  <a:srgbClr val="BAC6D8"/>
                </a:solidFill>
                <a:latin typeface="Pretendard" pitchFamily="34" charset="0"/>
                <a:ea typeface="Pretendard" pitchFamily="34" charset="-122"/>
                <a:cs typeface="Pretendard" pitchFamily="34" charset="-120"/>
              </a:rPr>
              <a:t>문서 · 폴더 · 프로젝트를 팀 기준으로 조회하고, 업무를 배정할 후보 범위도 이 팀</a:t>
            </a:r>
            <a:endParaRPr lang="en-US" sz="1150" dirty="0"/>
          </a:p>
        </p:txBody>
      </p:sp>
      <p:sp>
        <p:nvSpPr>
          <p:cNvPr id="12" name="Shape 8"/>
          <p:cNvSpPr/>
          <p:nvPr/>
        </p:nvSpPr>
        <p:spPr>
          <a:xfrm>
            <a:off x="4270248" y="1783080"/>
            <a:ext cx="3657600" cy="1874520"/>
          </a:xfrm>
          <a:prstGeom prst="roundRect">
            <a:avLst>
              <a:gd name="adj" fmla="val 3902"/>
            </a:avLst>
          </a:prstGeom>
          <a:solidFill>
            <a:srgbClr val="161D2E"/>
          </a:solidFill>
          <a:ln w="12700">
            <a:solidFill>
              <a:srgbClr val="263049"/>
            </a:solidFill>
            <a:prstDash val="solid"/>
          </a:ln>
        </p:spPr>
        <p:txBody>
          <a:bodyPr/>
          <a:lstStyle/>
          <a:p>
            <a:endParaRPr lang="ko-KR" altLang="en-US"/>
          </a:p>
        </p:txBody>
      </p:sp>
      <p:pic>
        <p:nvPicPr>
          <p:cNvPr id="13" name="Image 2" descr="icons/c_search.png"/>
          <p:cNvPicPr>
            <a:picLocks noChangeAspect="1"/>
          </p:cNvPicPr>
          <p:nvPr/>
        </p:nvPicPr>
        <p:blipFill>
          <a:blip r:embed="rId5"/>
          <a:stretch>
            <a:fillRect/>
          </a:stretch>
        </p:blipFill>
        <p:spPr>
          <a:xfrm>
            <a:off x="4562856" y="2057400"/>
            <a:ext cx="365760" cy="365760"/>
          </a:xfrm>
          <a:prstGeom prst="rect">
            <a:avLst/>
          </a:prstGeom>
        </p:spPr>
      </p:pic>
      <p:sp>
        <p:nvSpPr>
          <p:cNvPr id="14" name="Text 9"/>
          <p:cNvSpPr/>
          <p:nvPr/>
        </p:nvSpPr>
        <p:spPr>
          <a:xfrm>
            <a:off x="7150608" y="2057400"/>
            <a:ext cx="502920" cy="274320"/>
          </a:xfrm>
          <a:prstGeom prst="rect">
            <a:avLst/>
          </a:prstGeom>
          <a:noFill/>
          <a:ln/>
        </p:spPr>
        <p:txBody>
          <a:bodyPr wrap="square" lIns="0" tIns="0" rIns="0" bIns="0" rtlCol="0" anchor="ctr"/>
          <a:lstStyle/>
          <a:p>
            <a:pPr marL="0" indent="0" algn="r">
              <a:buNone/>
            </a:pPr>
            <a:r>
              <a:rPr lang="en-US" sz="1200" b="1" dirty="0">
                <a:solidFill>
                  <a:srgbClr val="6B7A94"/>
                </a:solidFill>
                <a:latin typeface="Consolas" pitchFamily="34" charset="0"/>
                <a:ea typeface="Consolas" pitchFamily="34" charset="-122"/>
                <a:cs typeface="Consolas" pitchFamily="34" charset="-120"/>
              </a:rPr>
              <a:t>02</a:t>
            </a:r>
            <a:endParaRPr lang="en-US" sz="1200" dirty="0"/>
          </a:p>
        </p:txBody>
      </p:sp>
      <p:sp>
        <p:nvSpPr>
          <p:cNvPr id="15" name="Text 10"/>
          <p:cNvSpPr/>
          <p:nvPr/>
        </p:nvSpPr>
        <p:spPr>
          <a:xfrm>
            <a:off x="4562856" y="2551176"/>
            <a:ext cx="3072384" cy="384048"/>
          </a:xfrm>
          <a:prstGeom prst="rect">
            <a:avLst/>
          </a:prstGeom>
          <a:noFill/>
          <a:ln/>
        </p:spPr>
        <p:txBody>
          <a:bodyPr wrap="square" lIns="0" tIns="0" rIns="0" bIns="0" rtlCol="0" anchor="ctr"/>
          <a:lstStyle/>
          <a:p>
            <a:pPr marL="0" indent="0">
              <a:buNone/>
            </a:pPr>
            <a:r>
              <a:rPr lang="en-US" sz="1400" b="1" dirty="0">
                <a:solidFill>
                  <a:srgbClr val="F1F5F9"/>
                </a:solidFill>
                <a:latin typeface="Pretendard" pitchFamily="34" charset="0"/>
                <a:ea typeface="Pretendard" pitchFamily="34" charset="-122"/>
                <a:cs typeface="Pretendard" pitchFamily="34" charset="-120"/>
              </a:rPr>
              <a:t>등록하면 바로 검색된다</a:t>
            </a:r>
            <a:endParaRPr lang="en-US" sz="1400" dirty="0"/>
          </a:p>
        </p:txBody>
      </p:sp>
      <p:sp>
        <p:nvSpPr>
          <p:cNvPr id="16" name="Text 11"/>
          <p:cNvSpPr/>
          <p:nvPr/>
        </p:nvSpPr>
        <p:spPr>
          <a:xfrm>
            <a:off x="4562856" y="2953512"/>
            <a:ext cx="3072384" cy="566928"/>
          </a:xfrm>
          <a:prstGeom prst="rect">
            <a:avLst/>
          </a:prstGeom>
          <a:noFill/>
          <a:ln/>
        </p:spPr>
        <p:txBody>
          <a:bodyPr wrap="square" lIns="0" tIns="0" rIns="0" bIns="0" rtlCol="0" anchor="t"/>
          <a:lstStyle/>
          <a:p>
            <a:pPr marL="0" indent="0">
              <a:lnSpc>
                <a:spcPct val="122000"/>
              </a:lnSpc>
              <a:buNone/>
            </a:pPr>
            <a:r>
              <a:rPr lang="en-US" sz="1150" dirty="0">
                <a:solidFill>
                  <a:srgbClr val="BAC6D8"/>
                </a:solidFill>
                <a:latin typeface="Pretendard" pitchFamily="34" charset="0"/>
                <a:ea typeface="Pretendard" pitchFamily="34" charset="-122"/>
                <a:cs typeface="Pretendard" pitchFamily="34" charset="-120"/>
              </a:rPr>
              <a:t>등록 한 번으로 파싱 · 청킹 · 임베딩까지 이어진다</a:t>
            </a:r>
            <a:endParaRPr lang="en-US" sz="1150" dirty="0"/>
          </a:p>
        </p:txBody>
      </p:sp>
      <p:sp>
        <p:nvSpPr>
          <p:cNvPr id="17" name="Shape 12"/>
          <p:cNvSpPr/>
          <p:nvPr/>
        </p:nvSpPr>
        <p:spPr>
          <a:xfrm>
            <a:off x="8183880" y="1783080"/>
            <a:ext cx="3657600" cy="1874520"/>
          </a:xfrm>
          <a:prstGeom prst="roundRect">
            <a:avLst>
              <a:gd name="adj" fmla="val 3902"/>
            </a:avLst>
          </a:prstGeom>
          <a:solidFill>
            <a:srgbClr val="161D2E"/>
          </a:solidFill>
          <a:ln w="12700">
            <a:solidFill>
              <a:srgbClr val="263049"/>
            </a:solidFill>
            <a:prstDash val="solid"/>
          </a:ln>
        </p:spPr>
        <p:txBody>
          <a:bodyPr/>
          <a:lstStyle/>
          <a:p>
            <a:endParaRPr lang="ko-KR" altLang="en-US"/>
          </a:p>
        </p:txBody>
      </p:sp>
      <p:pic>
        <p:nvPicPr>
          <p:cNvPr id="18" name="Image 3" descr="icons/c_scale.png"/>
          <p:cNvPicPr>
            <a:picLocks noChangeAspect="1"/>
          </p:cNvPicPr>
          <p:nvPr/>
        </p:nvPicPr>
        <p:blipFill>
          <a:blip r:embed="rId6"/>
          <a:stretch>
            <a:fillRect/>
          </a:stretch>
        </p:blipFill>
        <p:spPr>
          <a:xfrm>
            <a:off x="8476488" y="2057400"/>
            <a:ext cx="365760" cy="365760"/>
          </a:xfrm>
          <a:prstGeom prst="rect">
            <a:avLst/>
          </a:prstGeom>
        </p:spPr>
      </p:pic>
      <p:sp>
        <p:nvSpPr>
          <p:cNvPr id="19" name="Text 13"/>
          <p:cNvSpPr/>
          <p:nvPr/>
        </p:nvSpPr>
        <p:spPr>
          <a:xfrm>
            <a:off x="11064240" y="2057400"/>
            <a:ext cx="502920" cy="274320"/>
          </a:xfrm>
          <a:prstGeom prst="rect">
            <a:avLst/>
          </a:prstGeom>
          <a:noFill/>
          <a:ln/>
        </p:spPr>
        <p:txBody>
          <a:bodyPr wrap="square" lIns="0" tIns="0" rIns="0" bIns="0" rtlCol="0" anchor="ctr"/>
          <a:lstStyle/>
          <a:p>
            <a:pPr marL="0" indent="0" algn="r">
              <a:buNone/>
            </a:pPr>
            <a:r>
              <a:rPr lang="en-US" sz="1200" b="1" dirty="0">
                <a:solidFill>
                  <a:srgbClr val="6B7A94"/>
                </a:solidFill>
                <a:latin typeface="Consolas" pitchFamily="34" charset="0"/>
                <a:ea typeface="Consolas" pitchFamily="34" charset="-122"/>
                <a:cs typeface="Consolas" pitchFamily="34" charset="-120"/>
              </a:rPr>
              <a:t>03</a:t>
            </a:r>
            <a:endParaRPr lang="en-US" sz="1200" dirty="0"/>
          </a:p>
        </p:txBody>
      </p:sp>
      <p:sp>
        <p:nvSpPr>
          <p:cNvPr id="20" name="Text 14"/>
          <p:cNvSpPr/>
          <p:nvPr/>
        </p:nvSpPr>
        <p:spPr>
          <a:xfrm>
            <a:off x="8476488" y="2551176"/>
            <a:ext cx="3072384" cy="384048"/>
          </a:xfrm>
          <a:prstGeom prst="rect">
            <a:avLst/>
          </a:prstGeom>
          <a:noFill/>
          <a:ln/>
        </p:spPr>
        <p:txBody>
          <a:bodyPr wrap="square" lIns="0" tIns="0" rIns="0" bIns="0" rtlCol="0" anchor="ctr"/>
          <a:lstStyle/>
          <a:p>
            <a:pPr marL="0" indent="0">
              <a:buNone/>
            </a:pPr>
            <a:r>
              <a:rPr lang="en-US" sz="1400" b="1" dirty="0">
                <a:solidFill>
                  <a:srgbClr val="F1F5F9"/>
                </a:solidFill>
                <a:latin typeface="Pretendard" pitchFamily="34" charset="0"/>
                <a:ea typeface="Pretendard" pitchFamily="34" charset="-122"/>
                <a:cs typeface="Pretendard" pitchFamily="34" charset="-120"/>
              </a:rPr>
              <a:t>계산은 코드, 해석은 LLM</a:t>
            </a:r>
            <a:endParaRPr lang="en-US" sz="1400" dirty="0"/>
          </a:p>
        </p:txBody>
      </p:sp>
      <p:sp>
        <p:nvSpPr>
          <p:cNvPr id="21" name="Text 15"/>
          <p:cNvSpPr/>
          <p:nvPr/>
        </p:nvSpPr>
        <p:spPr>
          <a:xfrm>
            <a:off x="8476488" y="2953512"/>
            <a:ext cx="3072384" cy="566928"/>
          </a:xfrm>
          <a:prstGeom prst="rect">
            <a:avLst/>
          </a:prstGeom>
          <a:noFill/>
          <a:ln/>
        </p:spPr>
        <p:txBody>
          <a:bodyPr wrap="square" lIns="0" tIns="0" rIns="0" bIns="0" rtlCol="0" anchor="t"/>
          <a:lstStyle/>
          <a:p>
            <a:pPr marL="0" indent="0">
              <a:lnSpc>
                <a:spcPct val="122000"/>
              </a:lnSpc>
              <a:buNone/>
            </a:pPr>
            <a:r>
              <a:rPr lang="en-US" sz="1150" dirty="0">
                <a:solidFill>
                  <a:srgbClr val="BAC6D8"/>
                </a:solidFill>
                <a:latin typeface="Pretendard" pitchFamily="34" charset="0"/>
                <a:ea typeface="Pretendard" pitchFamily="34" charset="-122"/>
                <a:cs typeface="Pretendard" pitchFamily="34" charset="-120"/>
              </a:rPr>
              <a:t>시간 · 부하율 · 휴가는 코드가 계산해 같은 입력이면 같은 결과</a:t>
            </a:r>
            <a:endParaRPr lang="en-US" sz="1150" dirty="0"/>
          </a:p>
        </p:txBody>
      </p:sp>
      <p:sp>
        <p:nvSpPr>
          <p:cNvPr id="22" name="Shape 16"/>
          <p:cNvSpPr/>
          <p:nvPr/>
        </p:nvSpPr>
        <p:spPr>
          <a:xfrm>
            <a:off x="2313432" y="3950208"/>
            <a:ext cx="3657600" cy="1874520"/>
          </a:xfrm>
          <a:prstGeom prst="roundRect">
            <a:avLst>
              <a:gd name="adj" fmla="val 3902"/>
            </a:avLst>
          </a:prstGeom>
          <a:solidFill>
            <a:srgbClr val="161D2E"/>
          </a:solidFill>
          <a:ln w="12700">
            <a:solidFill>
              <a:srgbClr val="263049"/>
            </a:solidFill>
            <a:prstDash val="solid"/>
          </a:ln>
        </p:spPr>
        <p:txBody>
          <a:bodyPr/>
          <a:lstStyle/>
          <a:p>
            <a:endParaRPr lang="ko-KR" altLang="en-US"/>
          </a:p>
        </p:txBody>
      </p:sp>
      <p:pic>
        <p:nvPicPr>
          <p:cNvPr id="23" name="Image 4" descr="icons/c_blank.png"/>
          <p:cNvPicPr>
            <a:picLocks noChangeAspect="1"/>
          </p:cNvPicPr>
          <p:nvPr/>
        </p:nvPicPr>
        <p:blipFill>
          <a:blip r:embed="rId7"/>
          <a:stretch>
            <a:fillRect/>
          </a:stretch>
        </p:blipFill>
        <p:spPr>
          <a:xfrm>
            <a:off x="2606040" y="4224528"/>
            <a:ext cx="365760" cy="365760"/>
          </a:xfrm>
          <a:prstGeom prst="rect">
            <a:avLst/>
          </a:prstGeom>
        </p:spPr>
      </p:pic>
      <p:sp>
        <p:nvSpPr>
          <p:cNvPr id="24" name="Text 17"/>
          <p:cNvSpPr/>
          <p:nvPr/>
        </p:nvSpPr>
        <p:spPr>
          <a:xfrm>
            <a:off x="5193792" y="4224528"/>
            <a:ext cx="502920" cy="274320"/>
          </a:xfrm>
          <a:prstGeom prst="rect">
            <a:avLst/>
          </a:prstGeom>
          <a:noFill/>
          <a:ln/>
        </p:spPr>
        <p:txBody>
          <a:bodyPr wrap="square" lIns="0" tIns="0" rIns="0" bIns="0" rtlCol="0" anchor="ctr"/>
          <a:lstStyle/>
          <a:p>
            <a:pPr marL="0" indent="0" algn="r">
              <a:buNone/>
            </a:pPr>
            <a:r>
              <a:rPr lang="en-US" sz="1200" b="1" dirty="0">
                <a:solidFill>
                  <a:srgbClr val="6B7A94"/>
                </a:solidFill>
                <a:latin typeface="Consolas" pitchFamily="34" charset="0"/>
                <a:ea typeface="Consolas" pitchFamily="34" charset="-122"/>
                <a:cs typeface="Consolas" pitchFamily="34" charset="-120"/>
              </a:rPr>
              <a:t>04</a:t>
            </a:r>
            <a:endParaRPr lang="en-US" sz="1200" dirty="0"/>
          </a:p>
        </p:txBody>
      </p:sp>
      <p:sp>
        <p:nvSpPr>
          <p:cNvPr id="25" name="Text 18"/>
          <p:cNvSpPr/>
          <p:nvPr/>
        </p:nvSpPr>
        <p:spPr>
          <a:xfrm>
            <a:off x="2606040" y="4718304"/>
            <a:ext cx="3072384" cy="384048"/>
          </a:xfrm>
          <a:prstGeom prst="rect">
            <a:avLst/>
          </a:prstGeom>
          <a:noFill/>
          <a:ln/>
        </p:spPr>
        <p:txBody>
          <a:bodyPr wrap="square" lIns="0" tIns="0" rIns="0" bIns="0" rtlCol="0" anchor="ctr"/>
          <a:lstStyle/>
          <a:p>
            <a:pPr marL="0" indent="0">
              <a:buNone/>
            </a:pPr>
            <a:r>
              <a:rPr lang="en-US" sz="1400" b="1" dirty="0">
                <a:solidFill>
                  <a:srgbClr val="F1F5F9"/>
                </a:solidFill>
                <a:latin typeface="Pretendard" pitchFamily="34" charset="0"/>
                <a:ea typeface="Pretendard" pitchFamily="34" charset="-122"/>
                <a:cs typeface="Pretendard" pitchFamily="34" charset="-120"/>
              </a:rPr>
              <a:t>없는 값은 지어내지 않는다</a:t>
            </a:r>
            <a:endParaRPr lang="en-US" sz="1400" dirty="0"/>
          </a:p>
        </p:txBody>
      </p:sp>
      <p:sp>
        <p:nvSpPr>
          <p:cNvPr id="26" name="Text 19"/>
          <p:cNvSpPr/>
          <p:nvPr/>
        </p:nvSpPr>
        <p:spPr>
          <a:xfrm>
            <a:off x="2606040" y="5120640"/>
            <a:ext cx="3072384" cy="566928"/>
          </a:xfrm>
          <a:prstGeom prst="rect">
            <a:avLst/>
          </a:prstGeom>
          <a:noFill/>
          <a:ln/>
        </p:spPr>
        <p:txBody>
          <a:bodyPr wrap="square" lIns="0" tIns="0" rIns="0" bIns="0" rtlCol="0" anchor="t"/>
          <a:lstStyle/>
          <a:p>
            <a:pPr marL="0" indent="0">
              <a:lnSpc>
                <a:spcPct val="122000"/>
              </a:lnSpc>
              <a:buNone/>
            </a:pPr>
            <a:r>
              <a:rPr lang="en-US" sz="1150" dirty="0">
                <a:solidFill>
                  <a:srgbClr val="BAC6D8"/>
                </a:solidFill>
                <a:latin typeface="Pretendard" pitchFamily="34" charset="0"/>
                <a:ea typeface="Pretendard" pitchFamily="34" charset="-122"/>
                <a:cs typeface="Pretendard" pitchFamily="34" charset="-120"/>
              </a:rPr>
              <a:t>문서에 없는 공수 · 담당 · 일정은 비워 두고 missing_fields로 표시</a:t>
            </a:r>
            <a:endParaRPr lang="en-US" sz="1150" dirty="0"/>
          </a:p>
        </p:txBody>
      </p:sp>
      <p:sp>
        <p:nvSpPr>
          <p:cNvPr id="27" name="Shape 20"/>
          <p:cNvSpPr/>
          <p:nvPr/>
        </p:nvSpPr>
        <p:spPr>
          <a:xfrm>
            <a:off x="6227064" y="3950208"/>
            <a:ext cx="3657600" cy="1874520"/>
          </a:xfrm>
          <a:prstGeom prst="roundRect">
            <a:avLst>
              <a:gd name="adj" fmla="val 3902"/>
            </a:avLst>
          </a:prstGeom>
          <a:solidFill>
            <a:srgbClr val="161D2E"/>
          </a:solidFill>
          <a:ln w="12700">
            <a:solidFill>
              <a:srgbClr val="263049"/>
            </a:solidFill>
            <a:prstDash val="solid"/>
          </a:ln>
        </p:spPr>
        <p:txBody>
          <a:bodyPr/>
          <a:lstStyle/>
          <a:p>
            <a:endParaRPr lang="ko-KR" altLang="en-US"/>
          </a:p>
        </p:txBody>
      </p:sp>
      <p:pic>
        <p:nvPicPr>
          <p:cNvPr id="28" name="Image 5" descr="icons/c_lock.png"/>
          <p:cNvPicPr>
            <a:picLocks noChangeAspect="1"/>
          </p:cNvPicPr>
          <p:nvPr/>
        </p:nvPicPr>
        <p:blipFill>
          <a:blip r:embed="rId8"/>
          <a:stretch>
            <a:fillRect/>
          </a:stretch>
        </p:blipFill>
        <p:spPr>
          <a:xfrm>
            <a:off x="6519672" y="4224528"/>
            <a:ext cx="365760" cy="365760"/>
          </a:xfrm>
          <a:prstGeom prst="rect">
            <a:avLst/>
          </a:prstGeom>
        </p:spPr>
      </p:pic>
      <p:sp>
        <p:nvSpPr>
          <p:cNvPr id="29" name="Text 21"/>
          <p:cNvSpPr/>
          <p:nvPr/>
        </p:nvSpPr>
        <p:spPr>
          <a:xfrm>
            <a:off x="9107424" y="4224528"/>
            <a:ext cx="502920" cy="274320"/>
          </a:xfrm>
          <a:prstGeom prst="rect">
            <a:avLst/>
          </a:prstGeom>
          <a:noFill/>
          <a:ln/>
        </p:spPr>
        <p:txBody>
          <a:bodyPr wrap="square" lIns="0" tIns="0" rIns="0" bIns="0" rtlCol="0" anchor="ctr"/>
          <a:lstStyle/>
          <a:p>
            <a:pPr marL="0" indent="0" algn="r">
              <a:buNone/>
            </a:pPr>
            <a:r>
              <a:rPr lang="en-US" sz="1200" b="1" dirty="0">
                <a:solidFill>
                  <a:srgbClr val="6B7A94"/>
                </a:solidFill>
                <a:latin typeface="Consolas" pitchFamily="34" charset="0"/>
                <a:ea typeface="Consolas" pitchFamily="34" charset="-122"/>
                <a:cs typeface="Consolas" pitchFamily="34" charset="-120"/>
              </a:rPr>
              <a:t>05</a:t>
            </a:r>
            <a:endParaRPr lang="en-US" sz="1200" dirty="0"/>
          </a:p>
        </p:txBody>
      </p:sp>
      <p:sp>
        <p:nvSpPr>
          <p:cNvPr id="30" name="Text 22"/>
          <p:cNvSpPr/>
          <p:nvPr/>
        </p:nvSpPr>
        <p:spPr>
          <a:xfrm>
            <a:off x="6519672" y="4718304"/>
            <a:ext cx="3072384" cy="384048"/>
          </a:xfrm>
          <a:prstGeom prst="rect">
            <a:avLst/>
          </a:prstGeom>
          <a:noFill/>
          <a:ln/>
        </p:spPr>
        <p:txBody>
          <a:bodyPr wrap="square" lIns="0" tIns="0" rIns="0" bIns="0" rtlCol="0" anchor="ctr"/>
          <a:lstStyle/>
          <a:p>
            <a:pPr marL="0" indent="0">
              <a:buNone/>
            </a:pPr>
            <a:r>
              <a:rPr lang="en-US" sz="1400" b="1" dirty="0">
                <a:solidFill>
                  <a:srgbClr val="F1F5F9"/>
                </a:solidFill>
                <a:latin typeface="Pretendard" pitchFamily="34" charset="0"/>
                <a:ea typeface="Pretendard" pitchFamily="34" charset="-122"/>
                <a:cs typeface="Pretendard" pitchFamily="34" charset="-120"/>
              </a:rPr>
              <a:t>원문은 외부에 남지 않는다</a:t>
            </a:r>
            <a:endParaRPr lang="en-US" sz="1400" dirty="0"/>
          </a:p>
        </p:txBody>
      </p:sp>
      <p:sp>
        <p:nvSpPr>
          <p:cNvPr id="31" name="Text 23"/>
          <p:cNvSpPr/>
          <p:nvPr/>
        </p:nvSpPr>
        <p:spPr>
          <a:xfrm>
            <a:off x="6519672" y="5120640"/>
            <a:ext cx="3072384" cy="566928"/>
          </a:xfrm>
          <a:prstGeom prst="rect">
            <a:avLst/>
          </a:prstGeom>
          <a:noFill/>
          <a:ln/>
        </p:spPr>
        <p:txBody>
          <a:bodyPr wrap="square" lIns="0" tIns="0" rIns="0" bIns="0" rtlCol="0" anchor="t"/>
          <a:lstStyle/>
          <a:p>
            <a:pPr marL="0" indent="0">
              <a:lnSpc>
                <a:spcPct val="122000"/>
              </a:lnSpc>
              <a:buNone/>
            </a:pPr>
            <a:r>
              <a:rPr lang="en-US" sz="1150" dirty="0">
                <a:solidFill>
                  <a:srgbClr val="BAC6D8"/>
                </a:solidFill>
                <a:latin typeface="Pretendard" pitchFamily="34" charset="0"/>
                <a:ea typeface="Pretendard" pitchFamily="34" charset="-122"/>
                <a:cs typeface="Pretendard" pitchFamily="34" charset="-120"/>
              </a:rPr>
              <a:t>GPU 워커에 만료되는 서명 URL로 원문만 넘긴다 — DB 접근은 없음</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bg_dk_div.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58368" y="1325880"/>
            <a:ext cx="5486400" cy="2103120"/>
          </a:xfrm>
          <a:prstGeom prst="rect">
            <a:avLst/>
          </a:prstGeom>
          <a:noFill/>
          <a:ln/>
        </p:spPr>
        <p:txBody>
          <a:bodyPr wrap="square" lIns="0" tIns="0" rIns="0" bIns="0" rtlCol="0" anchor="ctr"/>
          <a:lstStyle/>
          <a:p>
            <a:pPr marL="0" indent="0">
              <a:buNone/>
            </a:pPr>
            <a:r>
              <a:rPr lang="en-US" sz="13000" b="1" dirty="0">
                <a:solidFill>
                  <a:srgbClr val="133449"/>
                </a:solidFill>
                <a:latin typeface="Consolas" pitchFamily="34" charset="0"/>
                <a:ea typeface="Consolas" pitchFamily="34" charset="-122"/>
                <a:cs typeface="Consolas" pitchFamily="34" charset="-120"/>
              </a:rPr>
              <a:t>03</a:t>
            </a:r>
            <a:endParaRPr lang="en-US" sz="13000" dirty="0"/>
          </a:p>
        </p:txBody>
      </p:sp>
      <p:sp>
        <p:nvSpPr>
          <p:cNvPr id="4" name="Shape 1"/>
          <p:cNvSpPr/>
          <p:nvPr/>
        </p:nvSpPr>
        <p:spPr>
          <a:xfrm>
            <a:off x="777240" y="3611880"/>
            <a:ext cx="548640" cy="91440"/>
          </a:xfrm>
          <a:prstGeom prst="rect">
            <a:avLst/>
          </a:prstGeom>
          <a:solidFill>
            <a:srgbClr val="22D3EE"/>
          </a:solidFill>
          <a:ln/>
        </p:spPr>
        <p:txBody>
          <a:bodyPr/>
          <a:lstStyle/>
          <a:p>
            <a:endParaRPr lang="ko-KR" altLang="en-US"/>
          </a:p>
        </p:txBody>
      </p:sp>
      <p:sp>
        <p:nvSpPr>
          <p:cNvPr id="5" name="Text 2"/>
          <p:cNvSpPr/>
          <p:nvPr/>
        </p:nvSpPr>
        <p:spPr>
          <a:xfrm>
            <a:off x="749808" y="3840480"/>
            <a:ext cx="10515600" cy="777240"/>
          </a:xfrm>
          <a:prstGeom prst="rect">
            <a:avLst/>
          </a:prstGeom>
          <a:noFill/>
          <a:ln/>
        </p:spPr>
        <p:txBody>
          <a:bodyPr wrap="square" lIns="0" tIns="0" rIns="0" bIns="0" rtlCol="0" anchor="ctr"/>
          <a:lstStyle/>
          <a:p>
            <a:pPr marL="0" indent="0">
              <a:buNone/>
            </a:pPr>
            <a:r>
              <a:rPr lang="en-US" sz="3600" b="1" dirty="0">
                <a:solidFill>
                  <a:srgbClr val="F1F5F9"/>
                </a:solidFill>
                <a:latin typeface="Pretendard" pitchFamily="34" charset="0"/>
                <a:ea typeface="Pretendard" pitchFamily="34" charset="-122"/>
                <a:cs typeface="Pretendard" pitchFamily="34" charset="-120"/>
              </a:rPr>
              <a:t>비정형 문서 처리</a:t>
            </a:r>
            <a:endParaRPr lang="en-US" sz="3600" dirty="0"/>
          </a:p>
        </p:txBody>
      </p:sp>
      <p:sp>
        <p:nvSpPr>
          <p:cNvPr id="6" name="Text 3"/>
          <p:cNvSpPr/>
          <p:nvPr/>
        </p:nvSpPr>
        <p:spPr>
          <a:xfrm>
            <a:off x="777240" y="4709160"/>
            <a:ext cx="10515600" cy="365760"/>
          </a:xfrm>
          <a:prstGeom prst="rect">
            <a:avLst/>
          </a:prstGeom>
          <a:noFill/>
          <a:ln/>
        </p:spPr>
        <p:txBody>
          <a:bodyPr wrap="square" lIns="0" tIns="0" rIns="0" bIns="0" rtlCol="0" anchor="ctr"/>
          <a:lstStyle/>
          <a:p>
            <a:pPr marL="0" indent="0">
              <a:buNone/>
            </a:pPr>
            <a:r>
              <a:rPr lang="en-US" sz="1400" dirty="0">
                <a:solidFill>
                  <a:srgbClr val="BAC6D8"/>
                </a:solidFill>
                <a:latin typeface="Pretendard Light" pitchFamily="34" charset="0"/>
                <a:ea typeface="Pretendard Light" pitchFamily="34" charset="-122"/>
                <a:cs typeface="Pretendard Light" pitchFamily="34" charset="-120"/>
              </a:rPr>
              <a:t>파싱 · 청킹 · 임베딩  —  이 프로젝트에서 가장 많은 시간을 쓴 부분</a:t>
            </a:r>
            <a:endParaRPr lang="en-US" sz="1400" dirty="0"/>
          </a:p>
        </p:txBody>
      </p:sp>
      <p:sp>
        <p:nvSpPr>
          <p:cNvPr id="7" name="Text 4"/>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PARSING</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파싱 — 도클링 파이프라인을 어떻게 사용했는가</a:t>
            </a:r>
            <a:endParaRPr lang="en-US" sz="2700" dirty="0"/>
          </a:p>
        </p:txBody>
      </p:sp>
      <p:sp>
        <p:nvSpPr>
          <p:cNvPr id="5" name="Text 2"/>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14</a:t>
            </a:r>
            <a:endParaRPr lang="en-US" sz="1050" dirty="0"/>
          </a:p>
        </p:txBody>
      </p:sp>
      <p:sp>
        <p:nvSpPr>
          <p:cNvPr id="6" name="Shape 3"/>
          <p:cNvSpPr/>
          <p:nvPr/>
        </p:nvSpPr>
        <p:spPr>
          <a:xfrm>
            <a:off x="566928" y="1600200"/>
            <a:ext cx="2103120" cy="868680"/>
          </a:xfrm>
          <a:prstGeom prst="roundRect">
            <a:avLst>
              <a:gd name="adj" fmla="val 6316"/>
            </a:avLst>
          </a:prstGeom>
          <a:solidFill>
            <a:srgbClr val="161D2E"/>
          </a:solidFill>
          <a:ln w="12700">
            <a:solidFill>
              <a:srgbClr val="263049"/>
            </a:solidFill>
            <a:prstDash val="solid"/>
          </a:ln>
        </p:spPr>
        <p:txBody>
          <a:bodyPr/>
          <a:lstStyle/>
          <a:p>
            <a:endParaRPr lang="ko-KR" altLang="en-US"/>
          </a:p>
        </p:txBody>
      </p:sp>
      <p:sp>
        <p:nvSpPr>
          <p:cNvPr id="7" name="Text 4"/>
          <p:cNvSpPr/>
          <p:nvPr/>
        </p:nvSpPr>
        <p:spPr>
          <a:xfrm>
            <a:off x="630936" y="1713128"/>
            <a:ext cx="1975104" cy="382219"/>
          </a:xfrm>
          <a:prstGeom prst="rect">
            <a:avLst/>
          </a:prstGeom>
          <a:noFill/>
          <a:ln/>
        </p:spPr>
        <p:txBody>
          <a:bodyPr wrap="square" lIns="0" tIns="0" rIns="0" bIns="0" rtlCol="0" anchor="ctr"/>
          <a:lstStyle/>
          <a:p>
            <a:pPr marL="0" indent="0" algn="ctr">
              <a:buNone/>
            </a:pPr>
            <a:r>
              <a:rPr lang="en-US" sz="1300" b="1" dirty="0">
                <a:solidFill>
                  <a:srgbClr val="F1F5F9"/>
                </a:solidFill>
                <a:latin typeface="Pretendard" pitchFamily="34" charset="0"/>
                <a:ea typeface="Pretendard" pitchFamily="34" charset="-122"/>
                <a:cs typeface="Pretendard" pitchFamily="34" charset="-120"/>
              </a:rPr>
              <a:t>BACKEND</a:t>
            </a:r>
            <a:endParaRPr lang="en-US" sz="1300" dirty="0"/>
          </a:p>
        </p:txBody>
      </p:sp>
      <p:sp>
        <p:nvSpPr>
          <p:cNvPr id="8" name="Text 5"/>
          <p:cNvSpPr/>
          <p:nvPr/>
        </p:nvSpPr>
        <p:spPr>
          <a:xfrm>
            <a:off x="630936" y="2069287"/>
            <a:ext cx="1975104" cy="312725"/>
          </a:xfrm>
          <a:prstGeom prst="rect">
            <a:avLst/>
          </a:prstGeom>
          <a:noFill/>
          <a:ln/>
        </p:spPr>
        <p:txBody>
          <a:bodyPr wrap="square" lIns="0" tIns="0" rIns="0" bIns="0" rtlCol="0" anchor="t"/>
          <a:lstStyle/>
          <a:p>
            <a:pPr marL="0" indent="0" algn="ctr">
              <a:buNone/>
            </a:pPr>
            <a:r>
              <a:rPr lang="en-US" sz="1150" dirty="0">
                <a:solidFill>
                  <a:srgbClr val="9FADC2"/>
                </a:solidFill>
                <a:latin typeface="Pretendard" pitchFamily="34" charset="0"/>
                <a:ea typeface="Pretendard" pitchFamily="34" charset="-122"/>
                <a:cs typeface="Pretendard" pitchFamily="34" charset="-120"/>
              </a:rPr>
              <a:t>원문 텍스트 · 좌표 추출</a:t>
            </a:r>
            <a:endParaRPr lang="en-US" sz="1150" dirty="0"/>
          </a:p>
        </p:txBody>
      </p:sp>
      <p:sp>
        <p:nvSpPr>
          <p:cNvPr id="9" name="Shape 6"/>
          <p:cNvSpPr/>
          <p:nvPr/>
        </p:nvSpPr>
        <p:spPr>
          <a:xfrm>
            <a:off x="2683764" y="2034540"/>
            <a:ext cx="146304" cy="0"/>
          </a:xfrm>
          <a:prstGeom prst="line">
            <a:avLst/>
          </a:prstGeom>
          <a:noFill/>
          <a:ln w="19050">
            <a:solidFill>
              <a:srgbClr val="0E7490"/>
            </a:solidFill>
            <a:prstDash val="solid"/>
            <a:tailEnd type="triangle"/>
          </a:ln>
        </p:spPr>
        <p:txBody>
          <a:bodyPr/>
          <a:lstStyle/>
          <a:p>
            <a:endParaRPr lang="ko-KR" altLang="en-US"/>
          </a:p>
        </p:txBody>
      </p:sp>
      <p:sp>
        <p:nvSpPr>
          <p:cNvPr id="10" name="Shape 7"/>
          <p:cNvSpPr/>
          <p:nvPr/>
        </p:nvSpPr>
        <p:spPr>
          <a:xfrm>
            <a:off x="2843784" y="1600200"/>
            <a:ext cx="2103120" cy="868680"/>
          </a:xfrm>
          <a:prstGeom prst="roundRect">
            <a:avLst>
              <a:gd name="adj" fmla="val 6316"/>
            </a:avLst>
          </a:prstGeom>
          <a:solidFill>
            <a:srgbClr val="161D2E"/>
          </a:solidFill>
          <a:ln w="12700">
            <a:solidFill>
              <a:srgbClr val="263049"/>
            </a:solidFill>
            <a:prstDash val="solid"/>
          </a:ln>
        </p:spPr>
        <p:txBody>
          <a:bodyPr/>
          <a:lstStyle/>
          <a:p>
            <a:endParaRPr lang="ko-KR" altLang="en-US"/>
          </a:p>
        </p:txBody>
      </p:sp>
      <p:sp>
        <p:nvSpPr>
          <p:cNvPr id="11" name="Text 8"/>
          <p:cNvSpPr/>
          <p:nvPr/>
        </p:nvSpPr>
        <p:spPr>
          <a:xfrm>
            <a:off x="2907792" y="1713128"/>
            <a:ext cx="1975104" cy="382219"/>
          </a:xfrm>
          <a:prstGeom prst="rect">
            <a:avLst/>
          </a:prstGeom>
          <a:noFill/>
          <a:ln/>
        </p:spPr>
        <p:txBody>
          <a:bodyPr wrap="square" lIns="0" tIns="0" rIns="0" bIns="0" rtlCol="0" anchor="ctr"/>
          <a:lstStyle/>
          <a:p>
            <a:pPr marL="0" indent="0" algn="ctr">
              <a:buNone/>
            </a:pPr>
            <a:r>
              <a:rPr lang="en-US" sz="1300" b="1" dirty="0">
                <a:solidFill>
                  <a:srgbClr val="F1F5F9"/>
                </a:solidFill>
                <a:latin typeface="Pretendard" pitchFamily="34" charset="0"/>
                <a:ea typeface="Pretendard" pitchFamily="34" charset="-122"/>
                <a:cs typeface="Pretendard" pitchFamily="34" charset="-120"/>
              </a:rPr>
              <a:t>LAYOUT</a:t>
            </a:r>
            <a:endParaRPr lang="en-US" sz="1300" dirty="0"/>
          </a:p>
        </p:txBody>
      </p:sp>
      <p:sp>
        <p:nvSpPr>
          <p:cNvPr id="12" name="Text 9"/>
          <p:cNvSpPr/>
          <p:nvPr/>
        </p:nvSpPr>
        <p:spPr>
          <a:xfrm>
            <a:off x="2907792" y="2069287"/>
            <a:ext cx="1975104" cy="312725"/>
          </a:xfrm>
          <a:prstGeom prst="rect">
            <a:avLst/>
          </a:prstGeom>
          <a:noFill/>
          <a:ln/>
        </p:spPr>
        <p:txBody>
          <a:bodyPr wrap="square" lIns="0" tIns="0" rIns="0" bIns="0" rtlCol="0" anchor="t"/>
          <a:lstStyle/>
          <a:p>
            <a:pPr marL="0" indent="0" algn="ctr">
              <a:buNone/>
            </a:pPr>
            <a:r>
              <a:rPr lang="en-US" sz="1150" dirty="0">
                <a:solidFill>
                  <a:srgbClr val="9FADC2"/>
                </a:solidFill>
                <a:latin typeface="Pretendard" pitchFamily="34" charset="0"/>
                <a:ea typeface="Pretendard" pitchFamily="34" charset="-122"/>
                <a:cs typeface="Pretendard" pitchFamily="34" charset="-120"/>
              </a:rPr>
              <a:t>영역 · 라벨 분류</a:t>
            </a:r>
            <a:endParaRPr lang="en-US" sz="1150" dirty="0"/>
          </a:p>
        </p:txBody>
      </p:sp>
      <p:sp>
        <p:nvSpPr>
          <p:cNvPr id="13" name="Shape 10"/>
          <p:cNvSpPr/>
          <p:nvPr/>
        </p:nvSpPr>
        <p:spPr>
          <a:xfrm>
            <a:off x="4960620" y="2034540"/>
            <a:ext cx="146304" cy="0"/>
          </a:xfrm>
          <a:prstGeom prst="line">
            <a:avLst/>
          </a:prstGeom>
          <a:noFill/>
          <a:ln w="19050">
            <a:solidFill>
              <a:srgbClr val="0E7490"/>
            </a:solidFill>
            <a:prstDash val="solid"/>
            <a:tailEnd type="triangle"/>
          </a:ln>
        </p:spPr>
        <p:txBody>
          <a:bodyPr/>
          <a:lstStyle/>
          <a:p>
            <a:endParaRPr lang="ko-KR" altLang="en-US"/>
          </a:p>
        </p:txBody>
      </p:sp>
      <p:sp>
        <p:nvSpPr>
          <p:cNvPr id="14" name="Shape 11"/>
          <p:cNvSpPr/>
          <p:nvPr/>
        </p:nvSpPr>
        <p:spPr>
          <a:xfrm>
            <a:off x="5120640" y="1600200"/>
            <a:ext cx="2103120" cy="868680"/>
          </a:xfrm>
          <a:prstGeom prst="roundRect">
            <a:avLst>
              <a:gd name="adj" fmla="val 6316"/>
            </a:avLst>
          </a:prstGeom>
          <a:solidFill>
            <a:srgbClr val="0F2A3A"/>
          </a:solidFill>
          <a:ln w="12700">
            <a:solidFill>
              <a:srgbClr val="155E75"/>
            </a:solidFill>
            <a:prstDash val="solid"/>
          </a:ln>
        </p:spPr>
        <p:txBody>
          <a:bodyPr/>
          <a:lstStyle/>
          <a:p>
            <a:endParaRPr lang="ko-KR" altLang="en-US"/>
          </a:p>
        </p:txBody>
      </p:sp>
      <p:sp>
        <p:nvSpPr>
          <p:cNvPr id="15" name="Text 12"/>
          <p:cNvSpPr/>
          <p:nvPr/>
        </p:nvSpPr>
        <p:spPr>
          <a:xfrm>
            <a:off x="5184648" y="1713128"/>
            <a:ext cx="1975104" cy="382219"/>
          </a:xfrm>
          <a:prstGeom prst="rect">
            <a:avLst/>
          </a:prstGeom>
          <a:noFill/>
          <a:ln/>
        </p:spPr>
        <p:txBody>
          <a:bodyPr wrap="square" lIns="0" tIns="0" rIns="0" bIns="0" rtlCol="0" anchor="ctr"/>
          <a:lstStyle/>
          <a:p>
            <a:pPr marL="0" indent="0" algn="ctr">
              <a:buNone/>
            </a:pPr>
            <a:r>
              <a:rPr lang="en-US" sz="1300" b="1" dirty="0">
                <a:solidFill>
                  <a:srgbClr val="67E8F9"/>
                </a:solidFill>
                <a:latin typeface="Pretendard" pitchFamily="34" charset="0"/>
                <a:ea typeface="Pretendard" pitchFamily="34" charset="-122"/>
                <a:cs typeface="Pretendard" pitchFamily="34" charset="-120"/>
              </a:rPr>
              <a:t>OCR</a:t>
            </a:r>
            <a:endParaRPr lang="en-US" sz="1300" dirty="0"/>
          </a:p>
        </p:txBody>
      </p:sp>
      <p:sp>
        <p:nvSpPr>
          <p:cNvPr id="16" name="Text 13"/>
          <p:cNvSpPr/>
          <p:nvPr/>
        </p:nvSpPr>
        <p:spPr>
          <a:xfrm>
            <a:off x="5184648" y="2069287"/>
            <a:ext cx="1975104" cy="312725"/>
          </a:xfrm>
          <a:prstGeom prst="rect">
            <a:avLst/>
          </a:prstGeom>
          <a:noFill/>
          <a:ln/>
        </p:spPr>
        <p:txBody>
          <a:bodyPr wrap="square" lIns="0" tIns="0" rIns="0" bIns="0" rtlCol="0" anchor="t"/>
          <a:lstStyle/>
          <a:p>
            <a:pPr marL="0" indent="0" algn="ctr">
              <a:buNone/>
            </a:pPr>
            <a:r>
              <a:rPr lang="en-US" sz="1150" dirty="0">
                <a:solidFill>
                  <a:srgbClr val="9FADC2"/>
                </a:solidFill>
                <a:latin typeface="Pretendard" pitchFamily="34" charset="0"/>
                <a:ea typeface="Pretendard" pitchFamily="34" charset="-122"/>
                <a:cs typeface="Pretendard" pitchFamily="34" charset="-120"/>
              </a:rPr>
              <a:t>이미지 글자 인식</a:t>
            </a:r>
            <a:endParaRPr lang="en-US" sz="1150" dirty="0"/>
          </a:p>
        </p:txBody>
      </p:sp>
      <p:sp>
        <p:nvSpPr>
          <p:cNvPr id="17" name="Shape 14"/>
          <p:cNvSpPr/>
          <p:nvPr/>
        </p:nvSpPr>
        <p:spPr>
          <a:xfrm>
            <a:off x="7237476" y="2034540"/>
            <a:ext cx="146304" cy="0"/>
          </a:xfrm>
          <a:prstGeom prst="line">
            <a:avLst/>
          </a:prstGeom>
          <a:noFill/>
          <a:ln w="19050">
            <a:solidFill>
              <a:srgbClr val="0E7490"/>
            </a:solidFill>
            <a:prstDash val="solid"/>
            <a:tailEnd type="triangle"/>
          </a:ln>
        </p:spPr>
        <p:txBody>
          <a:bodyPr/>
          <a:lstStyle/>
          <a:p>
            <a:endParaRPr lang="ko-KR" altLang="en-US"/>
          </a:p>
        </p:txBody>
      </p:sp>
      <p:sp>
        <p:nvSpPr>
          <p:cNvPr id="18" name="Shape 15"/>
          <p:cNvSpPr/>
          <p:nvPr/>
        </p:nvSpPr>
        <p:spPr>
          <a:xfrm>
            <a:off x="7397496" y="1600200"/>
            <a:ext cx="2103120" cy="868680"/>
          </a:xfrm>
          <a:prstGeom prst="roundRect">
            <a:avLst>
              <a:gd name="adj" fmla="val 6316"/>
            </a:avLst>
          </a:prstGeom>
          <a:solidFill>
            <a:srgbClr val="161D2E"/>
          </a:solidFill>
          <a:ln w="12700">
            <a:solidFill>
              <a:srgbClr val="2A3346"/>
            </a:solidFill>
            <a:prstDash val="solid"/>
          </a:ln>
        </p:spPr>
        <p:txBody>
          <a:bodyPr/>
          <a:lstStyle/>
          <a:p>
            <a:endParaRPr lang="ko-KR" altLang="en-US"/>
          </a:p>
        </p:txBody>
      </p:sp>
      <p:sp>
        <p:nvSpPr>
          <p:cNvPr id="19" name="Text 16"/>
          <p:cNvSpPr/>
          <p:nvPr/>
        </p:nvSpPr>
        <p:spPr>
          <a:xfrm>
            <a:off x="7461504" y="1713128"/>
            <a:ext cx="1975104" cy="382219"/>
          </a:xfrm>
          <a:prstGeom prst="rect">
            <a:avLst/>
          </a:prstGeom>
          <a:noFill/>
          <a:ln/>
        </p:spPr>
        <p:txBody>
          <a:bodyPr wrap="square" lIns="0" tIns="0" rIns="0" bIns="0" rtlCol="0" anchor="ctr"/>
          <a:lstStyle/>
          <a:p>
            <a:pPr marL="0" indent="0" algn="ctr">
              <a:buNone/>
            </a:pPr>
            <a:r>
              <a:rPr lang="en-US" sz="1300" b="1" dirty="0">
                <a:solidFill>
                  <a:srgbClr val="9FADC2"/>
                </a:solidFill>
                <a:latin typeface="Pretendard" pitchFamily="34" charset="0"/>
                <a:ea typeface="Pretendard" pitchFamily="34" charset="-122"/>
                <a:cs typeface="Pretendard" pitchFamily="34" charset="-120"/>
              </a:rPr>
              <a:t>TABLE</a:t>
            </a:r>
            <a:endParaRPr lang="en-US" sz="1300" dirty="0"/>
          </a:p>
        </p:txBody>
      </p:sp>
      <p:sp>
        <p:nvSpPr>
          <p:cNvPr id="20" name="Text 17"/>
          <p:cNvSpPr/>
          <p:nvPr/>
        </p:nvSpPr>
        <p:spPr>
          <a:xfrm>
            <a:off x="7461504" y="2069287"/>
            <a:ext cx="1975104" cy="312725"/>
          </a:xfrm>
          <a:prstGeom prst="rect">
            <a:avLst/>
          </a:prstGeom>
          <a:noFill/>
          <a:ln/>
        </p:spPr>
        <p:txBody>
          <a:bodyPr wrap="square" lIns="0" tIns="0" rIns="0" bIns="0" rtlCol="0" anchor="t"/>
          <a:lstStyle/>
          <a:p>
            <a:pPr marL="0" indent="0" algn="ctr">
              <a:buNone/>
            </a:pPr>
            <a:r>
              <a:rPr lang="en-US" sz="1150" dirty="0">
                <a:solidFill>
                  <a:srgbClr val="4A5568"/>
                </a:solidFill>
                <a:latin typeface="Pretendard" pitchFamily="34" charset="0"/>
                <a:ea typeface="Pretendard" pitchFamily="34" charset="-122"/>
                <a:cs typeface="Pretendard" pitchFamily="34" charset="-120"/>
              </a:rPr>
              <a:t>표 행 · 열 예측</a:t>
            </a:r>
            <a:endParaRPr lang="en-US" sz="1150" dirty="0"/>
          </a:p>
        </p:txBody>
      </p:sp>
      <p:sp>
        <p:nvSpPr>
          <p:cNvPr id="21" name="Shape 18"/>
          <p:cNvSpPr/>
          <p:nvPr/>
        </p:nvSpPr>
        <p:spPr>
          <a:xfrm>
            <a:off x="9514332" y="2034540"/>
            <a:ext cx="146304" cy="0"/>
          </a:xfrm>
          <a:prstGeom prst="line">
            <a:avLst/>
          </a:prstGeom>
          <a:noFill/>
          <a:ln w="19050">
            <a:solidFill>
              <a:srgbClr val="0E7490"/>
            </a:solidFill>
            <a:prstDash val="solid"/>
            <a:tailEnd type="triangle"/>
          </a:ln>
        </p:spPr>
        <p:txBody>
          <a:bodyPr/>
          <a:lstStyle/>
          <a:p>
            <a:endParaRPr lang="ko-KR" altLang="en-US"/>
          </a:p>
        </p:txBody>
      </p:sp>
      <p:sp>
        <p:nvSpPr>
          <p:cNvPr id="22" name="Shape 19"/>
          <p:cNvSpPr/>
          <p:nvPr/>
        </p:nvSpPr>
        <p:spPr>
          <a:xfrm>
            <a:off x="9674352" y="1600200"/>
            <a:ext cx="2103120" cy="868680"/>
          </a:xfrm>
          <a:prstGeom prst="roundRect">
            <a:avLst>
              <a:gd name="adj" fmla="val 6316"/>
            </a:avLst>
          </a:prstGeom>
          <a:solidFill>
            <a:srgbClr val="0F2A3A"/>
          </a:solidFill>
          <a:ln w="12700">
            <a:solidFill>
              <a:srgbClr val="155E75"/>
            </a:solidFill>
            <a:prstDash val="solid"/>
          </a:ln>
        </p:spPr>
        <p:txBody>
          <a:bodyPr/>
          <a:lstStyle/>
          <a:p>
            <a:endParaRPr lang="ko-KR" altLang="en-US"/>
          </a:p>
        </p:txBody>
      </p:sp>
      <p:sp>
        <p:nvSpPr>
          <p:cNvPr id="23" name="Text 20"/>
          <p:cNvSpPr/>
          <p:nvPr/>
        </p:nvSpPr>
        <p:spPr>
          <a:xfrm>
            <a:off x="9738360" y="1713128"/>
            <a:ext cx="1975104" cy="382219"/>
          </a:xfrm>
          <a:prstGeom prst="rect">
            <a:avLst/>
          </a:prstGeom>
          <a:noFill/>
          <a:ln/>
        </p:spPr>
        <p:txBody>
          <a:bodyPr wrap="square" lIns="0" tIns="0" rIns="0" bIns="0" rtlCol="0" anchor="ctr"/>
          <a:lstStyle/>
          <a:p>
            <a:pPr marL="0" indent="0" algn="ctr">
              <a:buNone/>
            </a:pPr>
            <a:r>
              <a:rPr lang="en-US" sz="1300" b="1" dirty="0">
                <a:solidFill>
                  <a:srgbClr val="67E8F9"/>
                </a:solidFill>
                <a:latin typeface="Pretendard" pitchFamily="34" charset="0"/>
                <a:ea typeface="Pretendard" pitchFamily="34" charset="-122"/>
                <a:cs typeface="Pretendard" pitchFamily="34" charset="-120"/>
              </a:rPr>
              <a:t>PICTURE</a:t>
            </a:r>
            <a:endParaRPr lang="en-US" sz="1300" dirty="0"/>
          </a:p>
        </p:txBody>
      </p:sp>
      <p:sp>
        <p:nvSpPr>
          <p:cNvPr id="24" name="Text 21"/>
          <p:cNvSpPr/>
          <p:nvPr/>
        </p:nvSpPr>
        <p:spPr>
          <a:xfrm>
            <a:off x="9738360" y="2069287"/>
            <a:ext cx="1975104" cy="312725"/>
          </a:xfrm>
          <a:prstGeom prst="rect">
            <a:avLst/>
          </a:prstGeom>
          <a:noFill/>
          <a:ln/>
        </p:spPr>
        <p:txBody>
          <a:bodyPr wrap="square" lIns="0" tIns="0" rIns="0" bIns="0" rtlCol="0" anchor="t"/>
          <a:lstStyle/>
          <a:p>
            <a:pPr marL="0" indent="0" algn="ctr">
              <a:buNone/>
            </a:pPr>
            <a:r>
              <a:rPr lang="en-US" sz="1150" dirty="0">
                <a:solidFill>
                  <a:srgbClr val="9FADC2"/>
                </a:solidFill>
                <a:latin typeface="Pretendard" pitchFamily="34" charset="0"/>
                <a:ea typeface="Pretendard" pitchFamily="34" charset="-122"/>
                <a:cs typeface="Pretendard" pitchFamily="34" charset="-120"/>
              </a:rPr>
              <a:t>분류 · 설명 · 차트 추출</a:t>
            </a:r>
            <a:endParaRPr lang="en-US" sz="1150" dirty="0"/>
          </a:p>
        </p:txBody>
      </p:sp>
      <p:sp>
        <p:nvSpPr>
          <p:cNvPr id="25" name="Shape 22"/>
          <p:cNvSpPr/>
          <p:nvPr/>
        </p:nvSpPr>
        <p:spPr>
          <a:xfrm>
            <a:off x="566928" y="2880360"/>
            <a:ext cx="11064240" cy="0"/>
          </a:xfrm>
          <a:prstGeom prst="line">
            <a:avLst/>
          </a:prstGeom>
          <a:noFill/>
          <a:ln w="12700">
            <a:solidFill>
              <a:srgbClr val="263049"/>
            </a:solidFill>
            <a:prstDash val="solid"/>
          </a:ln>
        </p:spPr>
        <p:txBody>
          <a:bodyPr/>
          <a:lstStyle/>
          <a:p>
            <a:endParaRPr lang="ko-KR" altLang="en-US"/>
          </a:p>
        </p:txBody>
      </p:sp>
      <p:sp>
        <p:nvSpPr>
          <p:cNvPr id="26" name="Text 23"/>
          <p:cNvSpPr/>
          <p:nvPr/>
        </p:nvSpPr>
        <p:spPr>
          <a:xfrm>
            <a:off x="566928" y="3008376"/>
            <a:ext cx="2286000" cy="384048"/>
          </a:xfrm>
          <a:prstGeom prst="rect">
            <a:avLst/>
          </a:prstGeom>
          <a:noFill/>
          <a:ln/>
        </p:spPr>
        <p:txBody>
          <a:bodyPr wrap="square" lIns="0" tIns="0" rIns="0" bIns="0" rtlCol="0" anchor="ctr"/>
          <a:lstStyle/>
          <a:p>
            <a:pPr marL="0" indent="0">
              <a:buNone/>
            </a:pPr>
            <a:r>
              <a:rPr lang="en-US" sz="1250" b="1" dirty="0">
                <a:solidFill>
                  <a:srgbClr val="67E8F9"/>
                </a:solidFill>
                <a:latin typeface="Pretendard" pitchFamily="34" charset="0"/>
                <a:ea typeface="Pretendard" pitchFamily="34" charset="-122"/>
                <a:cs typeface="Pretendard" pitchFamily="34" charset="-120"/>
              </a:rPr>
              <a:t>OCR 언어</a:t>
            </a:r>
            <a:endParaRPr lang="en-US" sz="1250" dirty="0"/>
          </a:p>
        </p:txBody>
      </p:sp>
      <p:sp>
        <p:nvSpPr>
          <p:cNvPr id="27" name="Text 24"/>
          <p:cNvSpPr/>
          <p:nvPr/>
        </p:nvSpPr>
        <p:spPr>
          <a:xfrm>
            <a:off x="2926080" y="3008376"/>
            <a:ext cx="4937760" cy="384048"/>
          </a:xfrm>
          <a:prstGeom prst="rect">
            <a:avLst/>
          </a:prstGeom>
          <a:noFill/>
          <a:ln/>
        </p:spPr>
        <p:txBody>
          <a:bodyPr wrap="square" lIns="0" tIns="0" rIns="0" bIns="0" rtlCol="0" anchor="ctr"/>
          <a:lstStyle/>
          <a:p>
            <a:pPr marL="0" indent="0">
              <a:buNone/>
            </a:pPr>
            <a:r>
              <a:rPr lang="en-US" sz="1150" dirty="0">
                <a:solidFill>
                  <a:srgbClr val="F1F5F9"/>
                </a:solidFill>
                <a:latin typeface="Pretendard" pitchFamily="34" charset="0"/>
                <a:ea typeface="Pretendard" pitchFamily="34" charset="-122"/>
                <a:cs typeface="Pretendard" pitchFamily="34" charset="-120"/>
              </a:rPr>
              <a:t>한국어 + 영어 동시 인식 (EasyOCR ko·en)</a:t>
            </a:r>
            <a:endParaRPr lang="en-US" sz="1150" dirty="0"/>
          </a:p>
        </p:txBody>
      </p:sp>
      <p:sp>
        <p:nvSpPr>
          <p:cNvPr id="28" name="Text 25"/>
          <p:cNvSpPr/>
          <p:nvPr/>
        </p:nvSpPr>
        <p:spPr>
          <a:xfrm>
            <a:off x="8046720" y="3008376"/>
            <a:ext cx="3584448" cy="384048"/>
          </a:xfrm>
          <a:prstGeom prst="rect">
            <a:avLst/>
          </a:prstGeom>
          <a:noFill/>
          <a:ln/>
        </p:spPr>
        <p:txBody>
          <a:bodyPr wrap="square" lIns="0" tIns="0" rIns="0" bIns="0" rtlCol="0" anchor="ctr"/>
          <a:lstStyle/>
          <a:p>
            <a:pPr marL="0" indent="0">
              <a:buNone/>
            </a:pPr>
            <a:r>
              <a:rPr lang="en-US" sz="1050" i="1" dirty="0">
                <a:solidFill>
                  <a:srgbClr val="9FADC2"/>
                </a:solidFill>
                <a:latin typeface="Pretendard" pitchFamily="34" charset="0"/>
                <a:ea typeface="Pretendard" pitchFamily="34" charset="-122"/>
                <a:cs typeface="Pretendard" pitchFamily="34" charset="-120"/>
              </a:rPr>
              <a:t>국문 문서에 영문 용어·수치가 섞여 있다</a:t>
            </a:r>
            <a:endParaRPr lang="en-US" sz="1050" dirty="0"/>
          </a:p>
        </p:txBody>
      </p:sp>
      <p:sp>
        <p:nvSpPr>
          <p:cNvPr id="29" name="Shape 26"/>
          <p:cNvSpPr/>
          <p:nvPr/>
        </p:nvSpPr>
        <p:spPr>
          <a:xfrm>
            <a:off x="566928" y="3502152"/>
            <a:ext cx="11064240" cy="0"/>
          </a:xfrm>
          <a:prstGeom prst="line">
            <a:avLst/>
          </a:prstGeom>
          <a:noFill/>
          <a:ln w="12700">
            <a:solidFill>
              <a:srgbClr val="263049"/>
            </a:solidFill>
            <a:prstDash val="solid"/>
          </a:ln>
        </p:spPr>
        <p:txBody>
          <a:bodyPr/>
          <a:lstStyle/>
          <a:p>
            <a:endParaRPr lang="ko-KR" altLang="en-US"/>
          </a:p>
        </p:txBody>
      </p:sp>
      <p:sp>
        <p:nvSpPr>
          <p:cNvPr id="30" name="Text 27"/>
          <p:cNvSpPr/>
          <p:nvPr/>
        </p:nvSpPr>
        <p:spPr>
          <a:xfrm>
            <a:off x="566928" y="3630168"/>
            <a:ext cx="2286000" cy="384048"/>
          </a:xfrm>
          <a:prstGeom prst="rect">
            <a:avLst/>
          </a:prstGeom>
          <a:noFill/>
          <a:ln/>
        </p:spPr>
        <p:txBody>
          <a:bodyPr wrap="square" lIns="0" tIns="0" rIns="0" bIns="0" rtlCol="0" anchor="ctr"/>
          <a:lstStyle/>
          <a:p>
            <a:pPr marL="0" indent="0">
              <a:buNone/>
            </a:pPr>
            <a:r>
              <a:rPr lang="en-US" sz="1250" b="1" dirty="0">
                <a:solidFill>
                  <a:srgbClr val="67E8F9"/>
                </a:solidFill>
                <a:latin typeface="Pretendard" pitchFamily="34" charset="0"/>
                <a:ea typeface="Pretendard" pitchFamily="34" charset="-122"/>
                <a:cs typeface="Pretendard" pitchFamily="34" charset="-120"/>
              </a:rPr>
              <a:t>OCR 영역</a:t>
            </a:r>
            <a:endParaRPr lang="en-US" sz="1250" dirty="0"/>
          </a:p>
        </p:txBody>
      </p:sp>
      <p:sp>
        <p:nvSpPr>
          <p:cNvPr id="31" name="Text 28"/>
          <p:cNvSpPr/>
          <p:nvPr/>
        </p:nvSpPr>
        <p:spPr>
          <a:xfrm>
            <a:off x="2926080" y="3630168"/>
            <a:ext cx="4937760" cy="384048"/>
          </a:xfrm>
          <a:prstGeom prst="rect">
            <a:avLst/>
          </a:prstGeom>
          <a:noFill/>
          <a:ln/>
        </p:spPr>
        <p:txBody>
          <a:bodyPr wrap="square" lIns="0" tIns="0" rIns="0" bIns="0" rtlCol="0" anchor="ctr"/>
          <a:lstStyle/>
          <a:p>
            <a:pPr marL="0" indent="0">
              <a:buNone/>
            </a:pPr>
            <a:r>
              <a:rPr lang="en-US" sz="1150" dirty="0">
                <a:solidFill>
                  <a:srgbClr val="F1F5F9"/>
                </a:solidFill>
                <a:latin typeface="Pretendard" pitchFamily="34" charset="0"/>
                <a:ea typeface="Pretendard" pitchFamily="34" charset="-122"/>
                <a:cs typeface="Pretendard" pitchFamily="34" charset="-120"/>
              </a:rPr>
              <a:t>페이지 전체가 아니라 레이아웃이 찾은 영역만 (LAYOUT_REGIONS)</a:t>
            </a:r>
            <a:endParaRPr lang="en-US" sz="1150" dirty="0"/>
          </a:p>
        </p:txBody>
      </p:sp>
      <p:sp>
        <p:nvSpPr>
          <p:cNvPr id="32" name="Text 29"/>
          <p:cNvSpPr/>
          <p:nvPr/>
        </p:nvSpPr>
        <p:spPr>
          <a:xfrm>
            <a:off x="8046720" y="3630168"/>
            <a:ext cx="3584448" cy="384048"/>
          </a:xfrm>
          <a:prstGeom prst="rect">
            <a:avLst/>
          </a:prstGeom>
          <a:noFill/>
          <a:ln/>
        </p:spPr>
        <p:txBody>
          <a:bodyPr wrap="square" lIns="0" tIns="0" rIns="0" bIns="0" rtlCol="0" anchor="ctr"/>
          <a:lstStyle/>
          <a:p>
            <a:pPr marL="0" indent="0">
              <a:buNone/>
            </a:pPr>
            <a:r>
              <a:rPr lang="en-US" sz="1050" i="1" dirty="0">
                <a:solidFill>
                  <a:srgbClr val="9FADC2"/>
                </a:solidFill>
                <a:latin typeface="Pretendard" pitchFamily="34" charset="0"/>
                <a:ea typeface="Pretendard" pitchFamily="34" charset="-122"/>
                <a:cs typeface="Pretendard" pitchFamily="34" charset="-120"/>
              </a:rPr>
              <a:t>처리량과 중복 인식을 줄인다</a:t>
            </a:r>
            <a:endParaRPr lang="en-US" sz="1050" dirty="0"/>
          </a:p>
        </p:txBody>
      </p:sp>
      <p:sp>
        <p:nvSpPr>
          <p:cNvPr id="33" name="Shape 30"/>
          <p:cNvSpPr/>
          <p:nvPr/>
        </p:nvSpPr>
        <p:spPr>
          <a:xfrm>
            <a:off x="566928" y="4123944"/>
            <a:ext cx="11064240" cy="0"/>
          </a:xfrm>
          <a:prstGeom prst="line">
            <a:avLst/>
          </a:prstGeom>
          <a:noFill/>
          <a:ln w="12700">
            <a:solidFill>
              <a:srgbClr val="263049"/>
            </a:solidFill>
            <a:prstDash val="solid"/>
          </a:ln>
        </p:spPr>
        <p:txBody>
          <a:bodyPr/>
          <a:lstStyle/>
          <a:p>
            <a:endParaRPr lang="ko-KR" altLang="en-US"/>
          </a:p>
        </p:txBody>
      </p:sp>
      <p:sp>
        <p:nvSpPr>
          <p:cNvPr id="34" name="Text 31"/>
          <p:cNvSpPr/>
          <p:nvPr/>
        </p:nvSpPr>
        <p:spPr>
          <a:xfrm>
            <a:off x="566928" y="4251960"/>
            <a:ext cx="2286000" cy="384048"/>
          </a:xfrm>
          <a:prstGeom prst="rect">
            <a:avLst/>
          </a:prstGeom>
          <a:noFill/>
          <a:ln/>
        </p:spPr>
        <p:txBody>
          <a:bodyPr wrap="square" lIns="0" tIns="0" rIns="0" bIns="0" rtlCol="0" anchor="ctr"/>
          <a:lstStyle/>
          <a:p>
            <a:pPr marL="0" indent="0">
              <a:buNone/>
            </a:pPr>
            <a:r>
              <a:rPr lang="en-US" sz="1250" b="1" dirty="0">
                <a:solidFill>
                  <a:srgbClr val="67E8F9"/>
                </a:solidFill>
                <a:latin typeface="Pretendard" pitchFamily="34" charset="0"/>
                <a:ea typeface="Pretendard" pitchFamily="34" charset="-122"/>
                <a:cs typeface="Pretendard" pitchFamily="34" charset="-120"/>
              </a:rPr>
              <a:t>OCR 실행 조건</a:t>
            </a:r>
            <a:endParaRPr lang="en-US" sz="1250" dirty="0"/>
          </a:p>
        </p:txBody>
      </p:sp>
      <p:sp>
        <p:nvSpPr>
          <p:cNvPr id="35" name="Text 32"/>
          <p:cNvSpPr/>
          <p:nvPr/>
        </p:nvSpPr>
        <p:spPr>
          <a:xfrm>
            <a:off x="2926080" y="4251960"/>
            <a:ext cx="4937760" cy="384048"/>
          </a:xfrm>
          <a:prstGeom prst="rect">
            <a:avLst/>
          </a:prstGeom>
          <a:noFill/>
          <a:ln/>
        </p:spPr>
        <p:txBody>
          <a:bodyPr wrap="square" lIns="0" tIns="0" rIns="0" bIns="0" rtlCol="0" anchor="ctr"/>
          <a:lstStyle/>
          <a:p>
            <a:pPr marL="0" indent="0">
              <a:buNone/>
            </a:pPr>
            <a:r>
              <a:rPr lang="en-US" sz="1150" dirty="0">
                <a:solidFill>
                  <a:srgbClr val="F1F5F9"/>
                </a:solidFill>
                <a:latin typeface="Pretendard" pitchFamily="34" charset="0"/>
                <a:ea typeface="Pretendard" pitchFamily="34" charset="-122"/>
                <a:cs typeface="Pretendard" pitchFamily="34" charset="-120"/>
              </a:rPr>
              <a:t>텍스트 레이어가 있는 PDF는 OCR을 돌리지 않는다</a:t>
            </a:r>
            <a:endParaRPr lang="en-US" sz="1150" dirty="0"/>
          </a:p>
        </p:txBody>
      </p:sp>
      <p:sp>
        <p:nvSpPr>
          <p:cNvPr id="36" name="Text 33"/>
          <p:cNvSpPr/>
          <p:nvPr/>
        </p:nvSpPr>
        <p:spPr>
          <a:xfrm>
            <a:off x="8046720" y="4251960"/>
            <a:ext cx="3584448" cy="384048"/>
          </a:xfrm>
          <a:prstGeom prst="rect">
            <a:avLst/>
          </a:prstGeom>
          <a:noFill/>
          <a:ln/>
        </p:spPr>
        <p:txBody>
          <a:bodyPr wrap="square" lIns="0" tIns="0" rIns="0" bIns="0" rtlCol="0" anchor="ctr"/>
          <a:lstStyle/>
          <a:p>
            <a:pPr marL="0" indent="0">
              <a:buNone/>
            </a:pPr>
            <a:r>
              <a:rPr lang="en-US" sz="1050" i="1" dirty="0">
                <a:solidFill>
                  <a:srgbClr val="9FADC2"/>
                </a:solidFill>
                <a:latin typeface="Pretendard" pitchFamily="34" charset="0"/>
                <a:ea typeface="Pretendard" pitchFamily="34" charset="-122"/>
                <a:cs typeface="Pretendard" pitchFamily="34" charset="-120"/>
              </a:rPr>
              <a:t>OCR이 본문을 덮어써 「중도탈락을」이 「중도달락올」로 적재됐다</a:t>
            </a:r>
            <a:endParaRPr lang="en-US" sz="1050" dirty="0"/>
          </a:p>
        </p:txBody>
      </p:sp>
      <p:sp>
        <p:nvSpPr>
          <p:cNvPr id="37" name="Shape 34"/>
          <p:cNvSpPr/>
          <p:nvPr/>
        </p:nvSpPr>
        <p:spPr>
          <a:xfrm>
            <a:off x="566928" y="4745736"/>
            <a:ext cx="11064240" cy="0"/>
          </a:xfrm>
          <a:prstGeom prst="line">
            <a:avLst/>
          </a:prstGeom>
          <a:noFill/>
          <a:ln w="12700">
            <a:solidFill>
              <a:srgbClr val="263049"/>
            </a:solidFill>
            <a:prstDash val="solid"/>
          </a:ln>
        </p:spPr>
        <p:txBody>
          <a:bodyPr/>
          <a:lstStyle/>
          <a:p>
            <a:endParaRPr lang="ko-KR" altLang="en-US"/>
          </a:p>
        </p:txBody>
      </p:sp>
      <p:sp>
        <p:nvSpPr>
          <p:cNvPr id="38" name="Text 35"/>
          <p:cNvSpPr/>
          <p:nvPr/>
        </p:nvSpPr>
        <p:spPr>
          <a:xfrm>
            <a:off x="566928" y="4873752"/>
            <a:ext cx="2286000" cy="384048"/>
          </a:xfrm>
          <a:prstGeom prst="rect">
            <a:avLst/>
          </a:prstGeom>
          <a:noFill/>
          <a:ln/>
        </p:spPr>
        <p:txBody>
          <a:bodyPr wrap="square" lIns="0" tIns="0" rIns="0" bIns="0" rtlCol="0" anchor="ctr"/>
          <a:lstStyle/>
          <a:p>
            <a:pPr marL="0" indent="0">
              <a:buNone/>
            </a:pPr>
            <a:r>
              <a:rPr lang="en-US" sz="1250" b="1" dirty="0">
                <a:solidFill>
                  <a:srgbClr val="67E8F9"/>
                </a:solidFill>
                <a:latin typeface="Pretendard" pitchFamily="34" charset="0"/>
                <a:ea typeface="Pretendard" pitchFamily="34" charset="-122"/>
                <a:cs typeface="Pretendard" pitchFamily="34" charset="-120"/>
              </a:rPr>
              <a:t>제목 계층</a:t>
            </a:r>
            <a:endParaRPr lang="en-US" sz="1250" dirty="0"/>
          </a:p>
        </p:txBody>
      </p:sp>
      <p:sp>
        <p:nvSpPr>
          <p:cNvPr id="39" name="Text 36"/>
          <p:cNvSpPr/>
          <p:nvPr/>
        </p:nvSpPr>
        <p:spPr>
          <a:xfrm>
            <a:off x="2926080" y="4873752"/>
            <a:ext cx="4937760" cy="384048"/>
          </a:xfrm>
          <a:prstGeom prst="rect">
            <a:avLst/>
          </a:prstGeom>
          <a:noFill/>
          <a:ln/>
        </p:spPr>
        <p:txBody>
          <a:bodyPr wrap="square" lIns="0" tIns="0" rIns="0" bIns="0" rtlCol="0" anchor="ctr"/>
          <a:lstStyle/>
          <a:p>
            <a:pPr marL="0" indent="0">
              <a:buNone/>
            </a:pPr>
            <a:r>
              <a:rPr lang="en-US" sz="1150" dirty="0">
                <a:solidFill>
                  <a:srgbClr val="F1F5F9"/>
                </a:solidFill>
                <a:latin typeface="Pretendard" pitchFamily="34" charset="0"/>
                <a:ea typeface="Pretendard" pitchFamily="34" charset="-122"/>
                <a:cs typeface="Pretendard" pitchFamily="34" charset="-120"/>
              </a:rPr>
              <a:t>Bookmark · 번호 · 글꼴 스타일로 깊이 추론 활성화</a:t>
            </a:r>
            <a:endParaRPr lang="en-US" sz="1150" dirty="0"/>
          </a:p>
        </p:txBody>
      </p:sp>
      <p:sp>
        <p:nvSpPr>
          <p:cNvPr id="40" name="Text 37"/>
          <p:cNvSpPr/>
          <p:nvPr/>
        </p:nvSpPr>
        <p:spPr>
          <a:xfrm>
            <a:off x="8046720" y="4873752"/>
            <a:ext cx="3584448" cy="384048"/>
          </a:xfrm>
          <a:prstGeom prst="rect">
            <a:avLst/>
          </a:prstGeom>
          <a:noFill/>
          <a:ln/>
        </p:spPr>
        <p:txBody>
          <a:bodyPr wrap="square" lIns="0" tIns="0" rIns="0" bIns="0" rtlCol="0" anchor="ctr"/>
          <a:lstStyle/>
          <a:p>
            <a:pPr marL="0" indent="0">
              <a:buNone/>
            </a:pPr>
            <a:r>
              <a:rPr lang="en-US" sz="1050" i="1" dirty="0">
                <a:solidFill>
                  <a:srgbClr val="9FADC2"/>
                </a:solidFill>
                <a:latin typeface="Pretendard" pitchFamily="34" charset="0"/>
                <a:ea typeface="Pretendard" pitchFamily="34" charset="-122"/>
                <a:cs typeface="Pretendard" pitchFamily="34" charset="-120"/>
              </a:rPr>
              <a:t>제목을 찾는 것과 몇 단계인지 아는 것은 다른 문제다</a:t>
            </a:r>
            <a:endParaRPr lang="en-US" sz="1050" dirty="0"/>
          </a:p>
        </p:txBody>
      </p:sp>
      <p:sp>
        <p:nvSpPr>
          <p:cNvPr id="41" name="Shape 38"/>
          <p:cNvSpPr/>
          <p:nvPr/>
        </p:nvSpPr>
        <p:spPr>
          <a:xfrm>
            <a:off x="566928" y="5367528"/>
            <a:ext cx="11064240" cy="0"/>
          </a:xfrm>
          <a:prstGeom prst="line">
            <a:avLst/>
          </a:prstGeom>
          <a:noFill/>
          <a:ln w="12700">
            <a:solidFill>
              <a:srgbClr val="263049"/>
            </a:solidFill>
            <a:prstDash val="solid"/>
          </a:ln>
        </p:spPr>
        <p:txBody>
          <a:bodyPr/>
          <a:lstStyle/>
          <a:p>
            <a:endParaRPr lang="ko-KR" altLang="en-US"/>
          </a:p>
        </p:txBody>
      </p:sp>
      <p:sp>
        <p:nvSpPr>
          <p:cNvPr id="42" name="Text 39"/>
          <p:cNvSpPr/>
          <p:nvPr/>
        </p:nvSpPr>
        <p:spPr>
          <a:xfrm>
            <a:off x="566928" y="5495544"/>
            <a:ext cx="2286000" cy="384048"/>
          </a:xfrm>
          <a:prstGeom prst="rect">
            <a:avLst/>
          </a:prstGeom>
          <a:noFill/>
          <a:ln/>
        </p:spPr>
        <p:txBody>
          <a:bodyPr wrap="square" lIns="0" tIns="0" rIns="0" bIns="0" rtlCol="0" anchor="ctr"/>
          <a:lstStyle/>
          <a:p>
            <a:pPr marL="0" indent="0">
              <a:buNone/>
            </a:pPr>
            <a:r>
              <a:rPr lang="en-US" sz="1250" b="1" dirty="0">
                <a:solidFill>
                  <a:srgbClr val="67E8F9"/>
                </a:solidFill>
                <a:latin typeface="Pretendard" pitchFamily="34" charset="0"/>
                <a:ea typeface="Pretendard" pitchFamily="34" charset="-122"/>
                <a:cs typeface="Pretendard" pitchFamily="34" charset="-120"/>
              </a:rPr>
              <a:t>표 구조</a:t>
            </a:r>
            <a:endParaRPr lang="en-US" sz="1250" dirty="0"/>
          </a:p>
        </p:txBody>
      </p:sp>
      <p:sp>
        <p:nvSpPr>
          <p:cNvPr id="43" name="Text 40"/>
          <p:cNvSpPr/>
          <p:nvPr/>
        </p:nvSpPr>
        <p:spPr>
          <a:xfrm>
            <a:off x="2926080" y="5495544"/>
            <a:ext cx="4937760" cy="384048"/>
          </a:xfrm>
          <a:prstGeom prst="rect">
            <a:avLst/>
          </a:prstGeom>
          <a:noFill/>
          <a:ln/>
        </p:spPr>
        <p:txBody>
          <a:bodyPr wrap="square" lIns="0" tIns="0" rIns="0" bIns="0" rtlCol="0" anchor="ctr"/>
          <a:lstStyle/>
          <a:p>
            <a:pPr marL="0" indent="0">
              <a:buNone/>
            </a:pPr>
            <a:r>
              <a:rPr lang="en-US" sz="1150" dirty="0">
                <a:solidFill>
                  <a:srgbClr val="F1F5F9"/>
                </a:solidFill>
                <a:latin typeface="Pretendard" pitchFamily="34" charset="0"/>
                <a:ea typeface="Pretendard" pitchFamily="34" charset="-122"/>
                <a:cs typeface="Pretendard" pitchFamily="34" charset="-120"/>
              </a:rPr>
              <a:t>도클링 기본값 — 파싱 단계에서 손대지 않았다</a:t>
            </a:r>
            <a:endParaRPr lang="en-US" sz="1150" dirty="0"/>
          </a:p>
        </p:txBody>
      </p:sp>
      <p:sp>
        <p:nvSpPr>
          <p:cNvPr id="44" name="Text 41"/>
          <p:cNvSpPr/>
          <p:nvPr/>
        </p:nvSpPr>
        <p:spPr>
          <a:xfrm>
            <a:off x="8046720" y="5495544"/>
            <a:ext cx="3584448" cy="384048"/>
          </a:xfrm>
          <a:prstGeom prst="rect">
            <a:avLst/>
          </a:prstGeom>
          <a:noFill/>
          <a:ln/>
        </p:spPr>
        <p:txBody>
          <a:bodyPr wrap="square" lIns="0" tIns="0" rIns="0" bIns="0" rtlCol="0" anchor="ctr"/>
          <a:lstStyle/>
          <a:p>
            <a:pPr marL="0" indent="0">
              <a:buNone/>
            </a:pPr>
            <a:r>
              <a:rPr lang="en-US" sz="1050" i="1" dirty="0">
                <a:solidFill>
                  <a:srgbClr val="9FADC2"/>
                </a:solidFill>
                <a:latin typeface="Pretendard" pitchFamily="34" charset="0"/>
                <a:ea typeface="Pretendard" pitchFamily="34" charset="-122"/>
                <a:cs typeface="Pretendard" pitchFamily="34" charset="-120"/>
              </a:rPr>
              <a:t>표는 청킹 단계에서 행·제품 단위로 다시 만든다</a:t>
            </a:r>
            <a:endParaRPr lang="en-US" sz="1050" dirty="0"/>
          </a:p>
        </p:txBody>
      </p:sp>
      <p:sp>
        <p:nvSpPr>
          <p:cNvPr id="45" name="Shape 42"/>
          <p:cNvSpPr/>
          <p:nvPr/>
        </p:nvSpPr>
        <p:spPr>
          <a:xfrm>
            <a:off x="566928" y="5989320"/>
            <a:ext cx="11064240" cy="0"/>
          </a:xfrm>
          <a:prstGeom prst="line">
            <a:avLst/>
          </a:prstGeom>
          <a:noFill/>
          <a:ln w="12700">
            <a:solidFill>
              <a:srgbClr val="263049"/>
            </a:solidFill>
            <a:prstDash val="solid"/>
          </a:ln>
        </p:spPr>
        <p:txBody>
          <a:bodyPr/>
          <a:lstStyle/>
          <a:p>
            <a:endParaRPr lang="ko-KR"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PARSING · 발생한 문제</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① Text — 제목과 본문 구분 정확도가 낮다</a:t>
            </a:r>
            <a:endParaRPr lang="en-US" sz="2700" dirty="0"/>
          </a:p>
        </p:txBody>
      </p:sp>
      <p:sp>
        <p:nvSpPr>
          <p:cNvPr id="5" name="Text 2"/>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15</a:t>
            </a:r>
            <a:endParaRPr lang="en-US" sz="1050" dirty="0"/>
          </a:p>
        </p:txBody>
      </p:sp>
      <p:sp>
        <p:nvSpPr>
          <p:cNvPr id="6" name="Text 3"/>
          <p:cNvSpPr/>
          <p:nvPr/>
        </p:nvSpPr>
        <p:spPr>
          <a:xfrm>
            <a:off x="566928" y="1371600"/>
            <a:ext cx="2743200" cy="292608"/>
          </a:xfrm>
          <a:prstGeom prst="rect">
            <a:avLst/>
          </a:prstGeom>
          <a:solidFill>
            <a:srgbClr val="2E2510"/>
          </a:solidFill>
          <a:ln/>
        </p:spPr>
        <p:txBody>
          <a:bodyPr wrap="square" lIns="0" tIns="0" rIns="0" bIns="0" rtlCol="0" anchor="ctr"/>
          <a:lstStyle/>
          <a:p>
            <a:pPr marL="0" indent="0" algn="ctr">
              <a:buNone/>
            </a:pPr>
            <a:r>
              <a:rPr lang="en-US" sz="1000" b="1" dirty="0">
                <a:solidFill>
                  <a:srgbClr val="FBBF24"/>
                </a:solidFill>
                <a:latin typeface="Pretendard" pitchFamily="34" charset="0"/>
                <a:ea typeface="Pretendard" pitchFamily="34" charset="-122"/>
                <a:cs typeface="Pretendard" pitchFamily="34" charset="-120"/>
              </a:rPr>
              <a:t>실제 문서 검증에서 발견  1 / 3</a:t>
            </a:r>
            <a:endParaRPr lang="en-US" sz="1000" dirty="0"/>
          </a:p>
        </p:txBody>
      </p:sp>
      <p:sp>
        <p:nvSpPr>
          <p:cNvPr id="7" name="Text 4"/>
          <p:cNvSpPr/>
          <p:nvPr/>
        </p:nvSpPr>
        <p:spPr>
          <a:xfrm>
            <a:off x="3520440" y="1371600"/>
            <a:ext cx="8110728" cy="292608"/>
          </a:xfrm>
          <a:prstGeom prst="rect">
            <a:avLst/>
          </a:prstGeom>
          <a:noFill/>
          <a:ln/>
        </p:spPr>
        <p:txBody>
          <a:bodyPr wrap="square" lIns="0" tIns="0" rIns="0" bIns="0" rtlCol="0" anchor="ctr"/>
          <a:lstStyle/>
          <a:p>
            <a:pPr marL="0" indent="0">
              <a:buNone/>
            </a:pPr>
            <a:r>
              <a:rPr lang="en-US" sz="1100" dirty="0">
                <a:solidFill>
                  <a:srgbClr val="9FADC2"/>
                </a:solidFill>
                <a:latin typeface="Pretendard" pitchFamily="34" charset="0"/>
                <a:ea typeface="Pretendard" pitchFamily="34" charset="-122"/>
                <a:cs typeface="Pretendard" pitchFamily="34" charset="-120"/>
              </a:rPr>
              <a:t>검증 문서 — 다단 편집 · 표 · 차트 · 복합 그림이 한 문서에 모두 있는 기업 리서치 보고서 5페이지</a:t>
            </a:r>
            <a:endParaRPr lang="en-US" sz="1100" dirty="0"/>
          </a:p>
        </p:txBody>
      </p:sp>
      <p:sp>
        <p:nvSpPr>
          <p:cNvPr id="8" name="Shape 5"/>
          <p:cNvSpPr/>
          <p:nvPr/>
        </p:nvSpPr>
        <p:spPr>
          <a:xfrm>
            <a:off x="777240" y="1965960"/>
            <a:ext cx="5394960" cy="1859280"/>
          </a:xfrm>
          <a:prstGeom prst="rect">
            <a:avLst/>
          </a:prstGeom>
          <a:solidFill>
            <a:srgbClr val="1B2436"/>
          </a:solidFill>
          <a:ln w="15875">
            <a:solidFill>
              <a:srgbClr val="36486B"/>
            </a:solidFill>
            <a:prstDash val="solid"/>
          </a:ln>
        </p:spPr>
        <p:txBody>
          <a:bodyPr/>
          <a:lstStyle/>
          <a:p>
            <a:endParaRPr lang="ko-KR" altLang="en-US"/>
          </a:p>
        </p:txBody>
      </p:sp>
      <p:pic>
        <p:nvPicPr>
          <p:cNvPr id="9" name="Image 1" descr="img/s_zoom_raw.png"/>
          <p:cNvPicPr>
            <a:picLocks noChangeAspect="1"/>
          </p:cNvPicPr>
          <p:nvPr/>
        </p:nvPicPr>
        <p:blipFill>
          <a:blip r:embed="rId4"/>
          <a:stretch>
            <a:fillRect/>
          </a:stretch>
        </p:blipFill>
        <p:spPr>
          <a:xfrm>
            <a:off x="822960" y="2011680"/>
            <a:ext cx="5303520" cy="1767840"/>
          </a:xfrm>
          <a:prstGeom prst="rect">
            <a:avLst/>
          </a:prstGeom>
        </p:spPr>
      </p:pic>
      <p:sp>
        <p:nvSpPr>
          <p:cNvPr id="10" name="Text 6"/>
          <p:cNvSpPr/>
          <p:nvPr/>
        </p:nvSpPr>
        <p:spPr>
          <a:xfrm>
            <a:off x="6583680" y="2438400"/>
            <a:ext cx="4754880" cy="914400"/>
          </a:xfrm>
          <a:prstGeom prst="rect">
            <a:avLst/>
          </a:prstGeom>
          <a:noFill/>
          <a:ln/>
        </p:spPr>
        <p:txBody>
          <a:bodyPr wrap="square" lIns="0" tIns="0" rIns="0" bIns="0" rtlCol="0" anchor="ctr"/>
          <a:lstStyle/>
          <a:p>
            <a:pPr marL="0" indent="0">
              <a:lnSpc>
                <a:spcPct val="125000"/>
              </a:lnSpc>
              <a:buNone/>
            </a:pPr>
            <a:r>
              <a:rPr lang="en-US" sz="1250" b="1" dirty="0">
                <a:solidFill>
                  <a:srgbClr val="F1F5F9"/>
                </a:solidFill>
                <a:latin typeface="Pretendard" pitchFamily="34" charset="0"/>
                <a:ea typeface="Pretendard" pitchFamily="34" charset="-122"/>
                <a:cs typeface="Pretendard" pitchFamily="34" charset="-120"/>
              </a:rPr>
              <a:t>1차 판단 — TITLE 0.39 · SECTION_HEADER 0.59</a:t>
            </a:r>
            <a:endParaRPr lang="en-US" sz="1250" dirty="0"/>
          </a:p>
          <a:p>
            <a:pPr marL="0" indent="0">
              <a:lnSpc>
                <a:spcPct val="125000"/>
              </a:lnSpc>
              <a:buNone/>
            </a:pPr>
            <a:r>
              <a:rPr lang="en-US" sz="1250" b="1" dirty="0">
                <a:solidFill>
                  <a:srgbClr val="F1F5F9"/>
                </a:solidFill>
                <a:latin typeface="Pretendard" pitchFamily="34" charset="0"/>
                <a:ea typeface="Pretendard" pitchFamily="34" charset="-122"/>
                <a:cs typeface="Pretendard" pitchFamily="34" charset="-120"/>
              </a:rPr>
              <a:t>후보가 겹치고 신뢰도가 낮다</a:t>
            </a:r>
            <a:endParaRPr lang="en-US" sz="1250" dirty="0"/>
          </a:p>
        </p:txBody>
      </p:sp>
      <p:sp>
        <p:nvSpPr>
          <p:cNvPr id="11" name="Shape 7"/>
          <p:cNvSpPr/>
          <p:nvPr/>
        </p:nvSpPr>
        <p:spPr>
          <a:xfrm>
            <a:off x="777240" y="4026408"/>
            <a:ext cx="5394960" cy="1859280"/>
          </a:xfrm>
          <a:prstGeom prst="rect">
            <a:avLst/>
          </a:prstGeom>
          <a:solidFill>
            <a:srgbClr val="1B2436"/>
          </a:solidFill>
          <a:ln w="15875">
            <a:solidFill>
              <a:srgbClr val="36486B"/>
            </a:solidFill>
            <a:prstDash val="solid"/>
          </a:ln>
        </p:spPr>
        <p:txBody>
          <a:bodyPr/>
          <a:lstStyle/>
          <a:p>
            <a:endParaRPr lang="ko-KR" altLang="en-US"/>
          </a:p>
        </p:txBody>
      </p:sp>
      <p:pic>
        <p:nvPicPr>
          <p:cNvPr id="12" name="Image 2" descr="img/s_zoom_post.png"/>
          <p:cNvPicPr>
            <a:picLocks noChangeAspect="1"/>
          </p:cNvPicPr>
          <p:nvPr/>
        </p:nvPicPr>
        <p:blipFill>
          <a:blip r:embed="rId5"/>
          <a:stretch>
            <a:fillRect/>
          </a:stretch>
        </p:blipFill>
        <p:spPr>
          <a:xfrm>
            <a:off x="822960" y="4072128"/>
            <a:ext cx="5303520" cy="1767840"/>
          </a:xfrm>
          <a:prstGeom prst="rect">
            <a:avLst/>
          </a:prstGeom>
        </p:spPr>
      </p:pic>
      <p:sp>
        <p:nvSpPr>
          <p:cNvPr id="13" name="Text 8"/>
          <p:cNvSpPr/>
          <p:nvPr/>
        </p:nvSpPr>
        <p:spPr>
          <a:xfrm>
            <a:off x="6583680" y="4498848"/>
            <a:ext cx="4754880" cy="914400"/>
          </a:xfrm>
          <a:prstGeom prst="rect">
            <a:avLst/>
          </a:prstGeom>
          <a:noFill/>
          <a:ln/>
        </p:spPr>
        <p:txBody>
          <a:bodyPr wrap="square" lIns="0" tIns="0" rIns="0" bIns="0" rtlCol="0" anchor="ctr"/>
          <a:lstStyle/>
          <a:p>
            <a:pPr marL="0" indent="0">
              <a:lnSpc>
                <a:spcPct val="125000"/>
              </a:lnSpc>
              <a:buNone/>
            </a:pPr>
            <a:r>
              <a:rPr lang="en-US" sz="1250" b="1" dirty="0">
                <a:solidFill>
                  <a:srgbClr val="22D3EE"/>
                </a:solidFill>
                <a:latin typeface="Pretendard" pitchFamily="34" charset="0"/>
                <a:ea typeface="Pretendard" pitchFamily="34" charset="-122"/>
                <a:cs typeface="Pretendard" pitchFamily="34" charset="-120"/>
              </a:rPr>
              <a:t>후처리 후 — SECTION_HEADER 0.51</a:t>
            </a:r>
            <a:endParaRPr lang="en-US" sz="1250" dirty="0"/>
          </a:p>
          <a:p>
            <a:pPr marL="0" indent="0">
              <a:lnSpc>
                <a:spcPct val="125000"/>
              </a:lnSpc>
              <a:buNone/>
            </a:pPr>
            <a:r>
              <a:rPr lang="en-US" sz="1250" b="1" dirty="0">
                <a:solidFill>
                  <a:srgbClr val="22D3EE"/>
                </a:solidFill>
                <a:latin typeface="Pretendard" pitchFamily="34" charset="0"/>
                <a:ea typeface="Pretendard" pitchFamily="34" charset="-122"/>
                <a:cs typeface="Pretendard" pitchFamily="34" charset="-120"/>
              </a:rPr>
              <a:t>후보는 하나로 정리되지만 신뢰도는 그대로 낮다</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PARSING · 발생한 문제</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② Table — 표 하나가 개별 텍스트로 흩어진다</a:t>
            </a:r>
            <a:endParaRPr lang="en-US" sz="2700" dirty="0"/>
          </a:p>
        </p:txBody>
      </p:sp>
      <p:sp>
        <p:nvSpPr>
          <p:cNvPr id="5" name="Text 2"/>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16</a:t>
            </a:r>
            <a:endParaRPr lang="en-US" sz="1050" dirty="0"/>
          </a:p>
        </p:txBody>
      </p:sp>
      <p:sp>
        <p:nvSpPr>
          <p:cNvPr id="6" name="Text 3"/>
          <p:cNvSpPr/>
          <p:nvPr/>
        </p:nvSpPr>
        <p:spPr>
          <a:xfrm>
            <a:off x="566928" y="1371600"/>
            <a:ext cx="2743200" cy="292608"/>
          </a:xfrm>
          <a:prstGeom prst="rect">
            <a:avLst/>
          </a:prstGeom>
          <a:solidFill>
            <a:srgbClr val="2E2510"/>
          </a:solidFill>
          <a:ln/>
        </p:spPr>
        <p:txBody>
          <a:bodyPr wrap="square" lIns="0" tIns="0" rIns="0" bIns="0" rtlCol="0" anchor="ctr"/>
          <a:lstStyle/>
          <a:p>
            <a:pPr marL="0" indent="0" algn="ctr">
              <a:buNone/>
            </a:pPr>
            <a:r>
              <a:rPr lang="en-US" sz="1000" b="1" dirty="0">
                <a:solidFill>
                  <a:srgbClr val="FBBF24"/>
                </a:solidFill>
                <a:latin typeface="Pretendard" pitchFamily="34" charset="0"/>
                <a:ea typeface="Pretendard" pitchFamily="34" charset="-122"/>
                <a:cs typeface="Pretendard" pitchFamily="34" charset="-120"/>
              </a:rPr>
              <a:t>실제 문서 검증에서 발견  2 / 3</a:t>
            </a:r>
            <a:endParaRPr lang="en-US" sz="1000" dirty="0"/>
          </a:p>
        </p:txBody>
      </p:sp>
      <p:sp>
        <p:nvSpPr>
          <p:cNvPr id="7" name="Shape 4"/>
          <p:cNvSpPr/>
          <p:nvPr/>
        </p:nvSpPr>
        <p:spPr>
          <a:xfrm>
            <a:off x="521208" y="2057400"/>
            <a:ext cx="5577840" cy="2767733"/>
          </a:xfrm>
          <a:prstGeom prst="rect">
            <a:avLst/>
          </a:prstGeom>
          <a:solidFill>
            <a:srgbClr val="1B2436"/>
          </a:solidFill>
          <a:ln w="15875">
            <a:solidFill>
              <a:srgbClr val="36486B"/>
            </a:solidFill>
            <a:prstDash val="solid"/>
          </a:ln>
        </p:spPr>
        <p:txBody>
          <a:bodyPr/>
          <a:lstStyle/>
          <a:p>
            <a:endParaRPr lang="ko-KR" altLang="en-US"/>
          </a:p>
        </p:txBody>
      </p:sp>
      <p:pic>
        <p:nvPicPr>
          <p:cNvPr id="8" name="Image 1" descr="img/s_tbl_zoom.png"/>
          <p:cNvPicPr>
            <a:picLocks noChangeAspect="1"/>
          </p:cNvPicPr>
          <p:nvPr/>
        </p:nvPicPr>
        <p:blipFill>
          <a:blip r:embed="rId4"/>
          <a:stretch>
            <a:fillRect/>
          </a:stretch>
        </p:blipFill>
        <p:spPr>
          <a:xfrm>
            <a:off x="566928" y="2103120"/>
            <a:ext cx="5486400" cy="2676293"/>
          </a:xfrm>
          <a:prstGeom prst="rect">
            <a:avLst/>
          </a:prstGeom>
        </p:spPr>
      </p:pic>
      <p:sp>
        <p:nvSpPr>
          <p:cNvPr id="9" name="Text 5"/>
          <p:cNvSpPr/>
          <p:nvPr/>
        </p:nvSpPr>
        <p:spPr>
          <a:xfrm>
            <a:off x="521208" y="4889141"/>
            <a:ext cx="5577840" cy="274320"/>
          </a:xfrm>
          <a:prstGeom prst="rect">
            <a:avLst/>
          </a:prstGeom>
          <a:noFill/>
          <a:ln/>
        </p:spPr>
        <p:txBody>
          <a:bodyPr wrap="square" lIns="0" tIns="0" rIns="0" bIns="0" rtlCol="0" anchor="ctr"/>
          <a:lstStyle/>
          <a:p>
            <a:pPr marL="0" indent="0" algn="ctr">
              <a:buNone/>
            </a:pPr>
            <a:r>
              <a:rPr lang="en-US" sz="1050" dirty="0">
                <a:solidFill>
                  <a:srgbClr val="BAC6D8"/>
                </a:solidFill>
                <a:latin typeface="Pretendard" pitchFamily="34" charset="0"/>
                <a:ea typeface="Pretendard" pitchFamily="34" charset="-122"/>
                <a:cs typeface="Pretendard" pitchFamily="34" charset="-120"/>
              </a:rPr>
              <a:t>2단 구성 페이지의 표 영역 — TABLE(0.98) 안이 TEXT 수십 개로 덮여 있다</a:t>
            </a:r>
            <a:endParaRPr lang="en-US" sz="1050" dirty="0"/>
          </a:p>
        </p:txBody>
      </p:sp>
      <p:sp>
        <p:nvSpPr>
          <p:cNvPr id="10" name="Text 6"/>
          <p:cNvSpPr/>
          <p:nvPr/>
        </p:nvSpPr>
        <p:spPr>
          <a:xfrm>
            <a:off x="6446520" y="2103120"/>
            <a:ext cx="5184648" cy="457200"/>
          </a:xfrm>
          <a:prstGeom prst="rect">
            <a:avLst/>
          </a:prstGeom>
          <a:noFill/>
          <a:ln/>
        </p:spPr>
        <p:txBody>
          <a:bodyPr wrap="square" lIns="0" tIns="0" rIns="0" bIns="0" rtlCol="0" anchor="ctr"/>
          <a:lstStyle/>
          <a:p>
            <a:pPr marL="0" indent="0">
              <a:buNone/>
            </a:pPr>
            <a:r>
              <a:rPr lang="en-US" sz="1600" b="1" dirty="0">
                <a:solidFill>
                  <a:srgbClr val="F1F5F9"/>
                </a:solidFill>
                <a:latin typeface="Pretendard" pitchFamily="34" charset="0"/>
                <a:ea typeface="Pretendard" pitchFamily="34" charset="-122"/>
                <a:cs typeface="Pretendard" pitchFamily="34" charset="-120"/>
              </a:rPr>
              <a:t>표가 하나의 구조가 아니라 개별 텍스트 좌표로 잡힌다</a:t>
            </a:r>
            <a:endParaRPr lang="en-US" sz="1600" dirty="0"/>
          </a:p>
        </p:txBody>
      </p:sp>
      <p:sp>
        <p:nvSpPr>
          <p:cNvPr id="11" name="Text 7"/>
          <p:cNvSpPr/>
          <p:nvPr/>
        </p:nvSpPr>
        <p:spPr>
          <a:xfrm>
            <a:off x="6446520" y="2880360"/>
            <a:ext cx="914400" cy="329184"/>
          </a:xfrm>
          <a:prstGeom prst="rect">
            <a:avLst/>
          </a:prstGeom>
          <a:noFill/>
          <a:ln/>
        </p:spPr>
        <p:txBody>
          <a:bodyPr wrap="square" lIns="0" tIns="0" rIns="0" bIns="0" rtlCol="0" anchor="ctr"/>
          <a:lstStyle/>
          <a:p>
            <a:pPr marL="0" indent="0">
              <a:buNone/>
            </a:pPr>
            <a:r>
              <a:rPr lang="en-US" sz="1150" b="1" dirty="0">
                <a:solidFill>
                  <a:srgbClr val="22D3EE"/>
                </a:solidFill>
                <a:latin typeface="Consolas" pitchFamily="34" charset="0"/>
                <a:ea typeface="Consolas" pitchFamily="34" charset="-122"/>
                <a:cs typeface="Consolas" pitchFamily="34" charset="-120"/>
              </a:rPr>
              <a:t>원인</a:t>
            </a:r>
            <a:endParaRPr lang="en-US" sz="1150" dirty="0"/>
          </a:p>
        </p:txBody>
      </p:sp>
      <p:sp>
        <p:nvSpPr>
          <p:cNvPr id="12" name="Text 8"/>
          <p:cNvSpPr/>
          <p:nvPr/>
        </p:nvSpPr>
        <p:spPr>
          <a:xfrm>
            <a:off x="6446520" y="3191256"/>
            <a:ext cx="5184648" cy="512064"/>
          </a:xfrm>
          <a:prstGeom prst="rect">
            <a:avLst/>
          </a:prstGeom>
          <a:noFill/>
          <a:ln/>
        </p:spPr>
        <p:txBody>
          <a:bodyPr wrap="square" lIns="0" tIns="0" rIns="0" bIns="0" rtlCol="0" anchor="t"/>
          <a:lstStyle/>
          <a:p>
            <a:pPr marL="0" indent="0">
              <a:lnSpc>
                <a:spcPct val="120000"/>
              </a:lnSpc>
              <a:buNone/>
            </a:pPr>
            <a:r>
              <a:rPr lang="en-US" sz="1250" dirty="0">
                <a:solidFill>
                  <a:srgbClr val="BAC6D8"/>
                </a:solidFill>
                <a:latin typeface="Pretendard Light" pitchFamily="34" charset="0"/>
                <a:ea typeface="Pretendard Light" pitchFamily="34" charset="-122"/>
                <a:cs typeface="Pretendard Light" pitchFamily="34" charset="-120"/>
              </a:rPr>
              <a:t>다단 레이아웃에서 표와 본문이 같은 평면으로 처리된다</a:t>
            </a:r>
            <a:endParaRPr lang="en-US" sz="1250" dirty="0"/>
          </a:p>
        </p:txBody>
      </p:sp>
      <p:sp>
        <p:nvSpPr>
          <p:cNvPr id="13" name="Shape 9"/>
          <p:cNvSpPr/>
          <p:nvPr/>
        </p:nvSpPr>
        <p:spPr>
          <a:xfrm>
            <a:off x="6446520" y="3657600"/>
            <a:ext cx="4910328" cy="0"/>
          </a:xfrm>
          <a:prstGeom prst="line">
            <a:avLst/>
          </a:prstGeom>
          <a:noFill/>
          <a:ln w="12700">
            <a:solidFill>
              <a:srgbClr val="263049"/>
            </a:solidFill>
            <a:prstDash val="solid"/>
          </a:ln>
        </p:spPr>
        <p:txBody>
          <a:bodyPr/>
          <a:lstStyle/>
          <a:p>
            <a:endParaRPr lang="ko-KR" altLang="en-US"/>
          </a:p>
        </p:txBody>
      </p:sp>
      <p:sp>
        <p:nvSpPr>
          <p:cNvPr id="14" name="Text 10"/>
          <p:cNvSpPr/>
          <p:nvPr/>
        </p:nvSpPr>
        <p:spPr>
          <a:xfrm>
            <a:off x="6446520" y="3749040"/>
            <a:ext cx="914400" cy="329184"/>
          </a:xfrm>
          <a:prstGeom prst="rect">
            <a:avLst/>
          </a:prstGeom>
          <a:noFill/>
          <a:ln/>
        </p:spPr>
        <p:txBody>
          <a:bodyPr wrap="square" lIns="0" tIns="0" rIns="0" bIns="0" rtlCol="0" anchor="ctr"/>
          <a:lstStyle/>
          <a:p>
            <a:pPr marL="0" indent="0">
              <a:buNone/>
            </a:pPr>
            <a:r>
              <a:rPr lang="en-US" sz="1150" b="1" dirty="0">
                <a:solidFill>
                  <a:srgbClr val="22D3EE"/>
                </a:solidFill>
                <a:latin typeface="Consolas" pitchFamily="34" charset="0"/>
                <a:ea typeface="Consolas" pitchFamily="34" charset="-122"/>
                <a:cs typeface="Consolas" pitchFamily="34" charset="-120"/>
              </a:rPr>
              <a:t>증상</a:t>
            </a:r>
            <a:endParaRPr lang="en-US" sz="1150" dirty="0"/>
          </a:p>
        </p:txBody>
      </p:sp>
      <p:sp>
        <p:nvSpPr>
          <p:cNvPr id="15" name="Text 11"/>
          <p:cNvSpPr/>
          <p:nvPr/>
        </p:nvSpPr>
        <p:spPr>
          <a:xfrm>
            <a:off x="6446520" y="4059936"/>
            <a:ext cx="5184648" cy="512064"/>
          </a:xfrm>
          <a:prstGeom prst="rect">
            <a:avLst/>
          </a:prstGeom>
          <a:noFill/>
          <a:ln/>
        </p:spPr>
        <p:txBody>
          <a:bodyPr wrap="square" lIns="0" tIns="0" rIns="0" bIns="0" rtlCol="0" anchor="t"/>
          <a:lstStyle/>
          <a:p>
            <a:pPr marL="0" indent="0">
              <a:lnSpc>
                <a:spcPct val="120000"/>
              </a:lnSpc>
              <a:buNone/>
            </a:pPr>
            <a:r>
              <a:rPr lang="en-US" sz="1250" dirty="0">
                <a:solidFill>
                  <a:srgbClr val="BAC6D8"/>
                </a:solidFill>
                <a:latin typeface="Pretendard Light" pitchFamily="34" charset="0"/>
                <a:ea typeface="Pretendard Light" pitchFamily="34" charset="-122"/>
                <a:cs typeface="Pretendard Light" pitchFamily="34" charset="-120"/>
              </a:rPr>
              <a:t>표 하나에서 TEXT 박스 수십 개가 나오고 행·열 관계가 사라진다</a:t>
            </a:r>
            <a:endParaRPr lang="en-US" sz="1250" dirty="0"/>
          </a:p>
        </p:txBody>
      </p:sp>
      <p:sp>
        <p:nvSpPr>
          <p:cNvPr id="16" name="Shape 12"/>
          <p:cNvSpPr/>
          <p:nvPr/>
        </p:nvSpPr>
        <p:spPr>
          <a:xfrm>
            <a:off x="6446520" y="4526280"/>
            <a:ext cx="4910328" cy="0"/>
          </a:xfrm>
          <a:prstGeom prst="line">
            <a:avLst/>
          </a:prstGeom>
          <a:noFill/>
          <a:ln w="12700">
            <a:solidFill>
              <a:srgbClr val="263049"/>
            </a:solidFill>
            <a:prstDash val="solid"/>
          </a:ln>
        </p:spPr>
        <p:txBody>
          <a:bodyPr/>
          <a:lstStyle/>
          <a:p>
            <a:endParaRPr lang="ko-KR" altLang="en-US"/>
          </a:p>
        </p:txBody>
      </p:sp>
      <p:sp>
        <p:nvSpPr>
          <p:cNvPr id="17" name="Text 13"/>
          <p:cNvSpPr/>
          <p:nvPr/>
        </p:nvSpPr>
        <p:spPr>
          <a:xfrm>
            <a:off x="6446520" y="4617720"/>
            <a:ext cx="914400" cy="329184"/>
          </a:xfrm>
          <a:prstGeom prst="rect">
            <a:avLst/>
          </a:prstGeom>
          <a:noFill/>
          <a:ln/>
        </p:spPr>
        <p:txBody>
          <a:bodyPr wrap="square" lIns="0" tIns="0" rIns="0" bIns="0" rtlCol="0" anchor="ctr"/>
          <a:lstStyle/>
          <a:p>
            <a:pPr marL="0" indent="0">
              <a:buNone/>
            </a:pPr>
            <a:r>
              <a:rPr lang="en-US" sz="1150" b="1" dirty="0">
                <a:solidFill>
                  <a:srgbClr val="22D3EE"/>
                </a:solidFill>
                <a:latin typeface="Consolas" pitchFamily="34" charset="0"/>
                <a:ea typeface="Consolas" pitchFamily="34" charset="-122"/>
                <a:cs typeface="Consolas" pitchFamily="34" charset="-120"/>
              </a:rPr>
              <a:t>영향</a:t>
            </a:r>
            <a:endParaRPr lang="en-US" sz="1150" dirty="0"/>
          </a:p>
        </p:txBody>
      </p:sp>
      <p:sp>
        <p:nvSpPr>
          <p:cNvPr id="18" name="Text 14"/>
          <p:cNvSpPr/>
          <p:nvPr/>
        </p:nvSpPr>
        <p:spPr>
          <a:xfrm>
            <a:off x="6446520" y="4928616"/>
            <a:ext cx="5184648" cy="512064"/>
          </a:xfrm>
          <a:prstGeom prst="rect">
            <a:avLst/>
          </a:prstGeom>
          <a:noFill/>
          <a:ln/>
        </p:spPr>
        <p:txBody>
          <a:bodyPr wrap="square" lIns="0" tIns="0" rIns="0" bIns="0" rtlCol="0" anchor="t"/>
          <a:lstStyle/>
          <a:p>
            <a:pPr marL="0" indent="0">
              <a:lnSpc>
                <a:spcPct val="120000"/>
              </a:lnSpc>
              <a:buNone/>
            </a:pPr>
            <a:r>
              <a:rPr lang="en-US" sz="1250" dirty="0">
                <a:solidFill>
                  <a:srgbClr val="BAC6D8"/>
                </a:solidFill>
                <a:latin typeface="Pretendard Light" pitchFamily="34" charset="0"/>
                <a:ea typeface="Pretendard Light" pitchFamily="34" charset="-122"/>
                <a:cs typeface="Pretendard Light" pitchFamily="34" charset="-120"/>
              </a:rPr>
              <a:t>뽑은 값이 어느 행·열의 것인지 알 수 없게 된다</a:t>
            </a:r>
            <a:endParaRPr lang="en-US" sz="1250" dirty="0"/>
          </a:p>
        </p:txBody>
      </p:sp>
      <p:sp>
        <p:nvSpPr>
          <p:cNvPr id="19" name="Text 15"/>
          <p:cNvSpPr/>
          <p:nvPr/>
        </p:nvSpPr>
        <p:spPr>
          <a:xfrm>
            <a:off x="6446520" y="5623560"/>
            <a:ext cx="5184648" cy="457200"/>
          </a:xfrm>
          <a:prstGeom prst="rect">
            <a:avLst/>
          </a:prstGeom>
          <a:noFill/>
          <a:ln/>
        </p:spPr>
        <p:txBody>
          <a:bodyPr wrap="square" lIns="0" tIns="0" rIns="0" bIns="0" rtlCol="0" anchor="t"/>
          <a:lstStyle/>
          <a:p>
            <a:pPr marL="0" indent="0">
              <a:lnSpc>
                <a:spcPct val="120000"/>
              </a:lnSpc>
              <a:buNone/>
            </a:pPr>
            <a:r>
              <a:rPr lang="en-US" sz="1150" dirty="0">
                <a:solidFill>
                  <a:srgbClr val="67E8F9"/>
                </a:solidFill>
                <a:latin typeface="Pretendard" pitchFamily="34" charset="0"/>
                <a:ea typeface="Pretendard" pitchFamily="34" charset="-122"/>
                <a:cs typeface="Pretendard" pitchFamily="34" charset="-120"/>
              </a:rPr>
              <a:t>표는 파싱 옵션으로 풀 수 있는 문제가 아니다 — 청킹에서 유형별로 따로 다뤄야 한다</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PARSING · 발생한 문제</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③ Image — 좌표 분석이 미흡하고 설명이 없다</a:t>
            </a:r>
            <a:endParaRPr lang="en-US" sz="2700" dirty="0"/>
          </a:p>
        </p:txBody>
      </p:sp>
      <p:sp>
        <p:nvSpPr>
          <p:cNvPr id="5" name="Text 2"/>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17</a:t>
            </a:r>
            <a:endParaRPr lang="en-US" sz="1050" dirty="0"/>
          </a:p>
        </p:txBody>
      </p:sp>
      <p:sp>
        <p:nvSpPr>
          <p:cNvPr id="6" name="Text 3"/>
          <p:cNvSpPr/>
          <p:nvPr/>
        </p:nvSpPr>
        <p:spPr>
          <a:xfrm>
            <a:off x="566928" y="1371600"/>
            <a:ext cx="2743200" cy="292608"/>
          </a:xfrm>
          <a:prstGeom prst="rect">
            <a:avLst/>
          </a:prstGeom>
          <a:solidFill>
            <a:srgbClr val="2E2510"/>
          </a:solidFill>
          <a:ln/>
        </p:spPr>
        <p:txBody>
          <a:bodyPr wrap="square" lIns="0" tIns="0" rIns="0" bIns="0" rtlCol="0" anchor="ctr"/>
          <a:lstStyle/>
          <a:p>
            <a:pPr marL="0" indent="0" algn="ctr">
              <a:buNone/>
            </a:pPr>
            <a:r>
              <a:rPr lang="en-US" sz="1000" b="1" dirty="0">
                <a:solidFill>
                  <a:srgbClr val="FBBF24"/>
                </a:solidFill>
                <a:latin typeface="Pretendard" pitchFamily="34" charset="0"/>
                <a:ea typeface="Pretendard" pitchFamily="34" charset="-122"/>
                <a:cs typeface="Pretendard" pitchFamily="34" charset="-120"/>
              </a:rPr>
              <a:t>실제 문서 검증에서 발견  3 / 3</a:t>
            </a:r>
            <a:endParaRPr lang="en-US" sz="1000" dirty="0"/>
          </a:p>
        </p:txBody>
      </p:sp>
      <p:sp>
        <p:nvSpPr>
          <p:cNvPr id="7" name="Shape 4"/>
          <p:cNvSpPr/>
          <p:nvPr/>
        </p:nvSpPr>
        <p:spPr>
          <a:xfrm>
            <a:off x="612648" y="1828800"/>
            <a:ext cx="5440680" cy="2192927"/>
          </a:xfrm>
          <a:prstGeom prst="rect">
            <a:avLst/>
          </a:prstGeom>
          <a:solidFill>
            <a:srgbClr val="1B2436"/>
          </a:solidFill>
          <a:ln w="15875">
            <a:solidFill>
              <a:srgbClr val="36486B"/>
            </a:solidFill>
            <a:prstDash val="solid"/>
          </a:ln>
        </p:spPr>
        <p:txBody>
          <a:bodyPr/>
          <a:lstStyle/>
          <a:p>
            <a:endParaRPr lang="ko-KR" altLang="en-US"/>
          </a:p>
        </p:txBody>
      </p:sp>
      <p:pic>
        <p:nvPicPr>
          <p:cNvPr id="8" name="Image 1" descr="img/s_prob2.png"/>
          <p:cNvPicPr>
            <a:picLocks noChangeAspect="1"/>
          </p:cNvPicPr>
          <p:nvPr/>
        </p:nvPicPr>
        <p:blipFill>
          <a:blip r:embed="rId4"/>
          <a:stretch>
            <a:fillRect/>
          </a:stretch>
        </p:blipFill>
        <p:spPr>
          <a:xfrm>
            <a:off x="658368" y="1874520"/>
            <a:ext cx="5349240" cy="2101487"/>
          </a:xfrm>
          <a:prstGeom prst="rect">
            <a:avLst/>
          </a:prstGeom>
        </p:spPr>
      </p:pic>
      <p:sp>
        <p:nvSpPr>
          <p:cNvPr id="9" name="Text 5"/>
          <p:cNvSpPr/>
          <p:nvPr/>
        </p:nvSpPr>
        <p:spPr>
          <a:xfrm>
            <a:off x="612648" y="4085735"/>
            <a:ext cx="5440680" cy="274320"/>
          </a:xfrm>
          <a:prstGeom prst="rect">
            <a:avLst/>
          </a:prstGeom>
          <a:noFill/>
          <a:ln/>
        </p:spPr>
        <p:txBody>
          <a:bodyPr wrap="square" lIns="0" tIns="0" rIns="0" bIns="0" rtlCol="0" anchor="ctr"/>
          <a:lstStyle/>
          <a:p>
            <a:pPr marL="0" indent="0" algn="ctr">
              <a:buNone/>
            </a:pPr>
            <a:r>
              <a:rPr lang="en-US" sz="1050" dirty="0">
                <a:solidFill>
                  <a:srgbClr val="BAC6D8"/>
                </a:solidFill>
                <a:latin typeface="Pretendard" pitchFamily="34" charset="0"/>
                <a:ea typeface="Pretendard" pitchFamily="34" charset="-122"/>
                <a:cs typeface="Pretendard" pitchFamily="34" charset="-120"/>
              </a:rPr>
              <a:t>차트 — 축·범례·숫자가 수십 개의 개별 Text로 파편화</a:t>
            </a:r>
            <a:endParaRPr lang="en-US" sz="1050" dirty="0"/>
          </a:p>
        </p:txBody>
      </p:sp>
      <p:sp>
        <p:nvSpPr>
          <p:cNvPr id="10" name="Shape 6"/>
          <p:cNvSpPr/>
          <p:nvPr/>
        </p:nvSpPr>
        <p:spPr>
          <a:xfrm>
            <a:off x="6217920" y="1828800"/>
            <a:ext cx="5440680" cy="2926080"/>
          </a:xfrm>
          <a:prstGeom prst="rect">
            <a:avLst/>
          </a:prstGeom>
          <a:solidFill>
            <a:srgbClr val="1B2436"/>
          </a:solidFill>
          <a:ln w="15875">
            <a:solidFill>
              <a:srgbClr val="36486B"/>
            </a:solidFill>
            <a:prstDash val="solid"/>
          </a:ln>
        </p:spPr>
        <p:txBody>
          <a:bodyPr/>
          <a:lstStyle/>
          <a:p>
            <a:endParaRPr lang="ko-KR" altLang="en-US"/>
          </a:p>
        </p:txBody>
      </p:sp>
      <p:pic>
        <p:nvPicPr>
          <p:cNvPr id="11" name="Image 2" descr="img/s_prob3.png"/>
          <p:cNvPicPr>
            <a:picLocks noChangeAspect="1"/>
          </p:cNvPicPr>
          <p:nvPr/>
        </p:nvPicPr>
        <p:blipFill>
          <a:blip r:embed="rId5"/>
          <a:stretch>
            <a:fillRect/>
          </a:stretch>
        </p:blipFill>
        <p:spPr>
          <a:xfrm>
            <a:off x="6263640" y="1874520"/>
            <a:ext cx="5349240" cy="2834640"/>
          </a:xfrm>
          <a:prstGeom prst="rect">
            <a:avLst/>
          </a:prstGeom>
        </p:spPr>
      </p:pic>
      <p:sp>
        <p:nvSpPr>
          <p:cNvPr id="12" name="Text 7"/>
          <p:cNvSpPr/>
          <p:nvPr/>
        </p:nvSpPr>
        <p:spPr>
          <a:xfrm>
            <a:off x="6217920" y="4818888"/>
            <a:ext cx="5440680" cy="274320"/>
          </a:xfrm>
          <a:prstGeom prst="rect">
            <a:avLst/>
          </a:prstGeom>
          <a:noFill/>
          <a:ln/>
        </p:spPr>
        <p:txBody>
          <a:bodyPr wrap="square" lIns="0" tIns="0" rIns="0" bIns="0" rtlCol="0" anchor="ctr"/>
          <a:lstStyle/>
          <a:p>
            <a:pPr marL="0" indent="0" algn="ctr">
              <a:buNone/>
            </a:pPr>
            <a:r>
              <a:rPr lang="en-US" sz="1050" dirty="0">
                <a:solidFill>
                  <a:srgbClr val="BAC6D8"/>
                </a:solidFill>
                <a:latin typeface="Pretendard" pitchFamily="34" charset="0"/>
                <a:ea typeface="Pretendard" pitchFamily="34" charset="-122"/>
                <a:cs typeface="Pretendard" pitchFamily="34" charset="-120"/>
              </a:rPr>
              <a:t>복합 그림 — 사진·라벨·목록이 겹친 채 뒤섞임</a:t>
            </a:r>
            <a:endParaRPr lang="en-US" sz="1050" dirty="0"/>
          </a:p>
        </p:txBody>
      </p:sp>
      <p:sp>
        <p:nvSpPr>
          <p:cNvPr id="13" name="Text 8"/>
          <p:cNvSpPr/>
          <p:nvPr/>
        </p:nvSpPr>
        <p:spPr>
          <a:xfrm>
            <a:off x="566928" y="5257800"/>
            <a:ext cx="11064240" cy="365760"/>
          </a:xfrm>
          <a:prstGeom prst="rect">
            <a:avLst/>
          </a:prstGeom>
          <a:noFill/>
          <a:ln/>
        </p:spPr>
        <p:txBody>
          <a:bodyPr wrap="square" lIns="0" tIns="0" rIns="0" bIns="0" rtlCol="0" anchor="ctr"/>
          <a:lstStyle/>
          <a:p>
            <a:pPr marL="0" indent="0" algn="ctr">
              <a:buNone/>
            </a:pPr>
            <a:r>
              <a:rPr lang="en-US" sz="1250" dirty="0">
                <a:solidFill>
                  <a:srgbClr val="BAC6D8"/>
                </a:solidFill>
                <a:latin typeface="Pretendard Light" pitchFamily="34" charset="0"/>
                <a:ea typeface="Pretendard Light" pitchFamily="34" charset="-122"/>
                <a:cs typeface="Pretendard Light" pitchFamily="34" charset="-120"/>
              </a:rPr>
              <a:t>그림 안의 요소는 찾아내지만 요소 사이의 구조와 순서를 놓치고, 그림이 무엇을 말하는지에 대한 설명도 남지 않는다</a:t>
            </a:r>
            <a:endParaRPr lang="en-US" sz="1250" dirty="0"/>
          </a:p>
        </p:txBody>
      </p:sp>
      <p:sp>
        <p:nvSpPr>
          <p:cNvPr id="14" name="Text 9"/>
          <p:cNvSpPr/>
          <p:nvPr/>
        </p:nvSpPr>
        <p:spPr>
          <a:xfrm>
            <a:off x="566928" y="5760720"/>
            <a:ext cx="11064240" cy="640080"/>
          </a:xfrm>
          <a:prstGeom prst="rect">
            <a:avLst/>
          </a:prstGeom>
          <a:solidFill>
            <a:srgbClr val="22D3EE"/>
          </a:solidFill>
          <a:ln/>
        </p:spPr>
        <p:txBody>
          <a:bodyPr wrap="square" lIns="0" tIns="0" rIns="0" bIns="0" rtlCol="0" anchor="ctr"/>
          <a:lstStyle/>
          <a:p>
            <a:pPr marL="0" indent="0" algn="ctr">
              <a:buNone/>
            </a:pPr>
            <a:r>
              <a:rPr lang="en-US" sz="1450" b="1" dirty="0">
                <a:solidFill>
                  <a:srgbClr val="0D1321"/>
                </a:solidFill>
                <a:latin typeface="Pretendard" pitchFamily="34" charset="0"/>
                <a:ea typeface="Pretendard" pitchFamily="34" charset="-122"/>
                <a:cs typeface="Pretendard" pitchFamily="34" charset="-120"/>
              </a:rPr>
              <a:t>세 문제의 뿌리는 하나 — 개별 요소는 찾지만 요소 사이의 구조를 보존하지 못한다</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PARSING</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파싱 — 개선 방향</a:t>
            </a:r>
            <a:endParaRPr lang="en-US" sz="2700" dirty="0"/>
          </a:p>
        </p:txBody>
      </p:sp>
      <p:sp>
        <p:nvSpPr>
          <p:cNvPr id="5" name="Text 2"/>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18</a:t>
            </a:r>
            <a:endParaRPr lang="en-US" sz="1050" dirty="0"/>
          </a:p>
        </p:txBody>
      </p:sp>
      <p:sp>
        <p:nvSpPr>
          <p:cNvPr id="6" name="Shape 3"/>
          <p:cNvSpPr/>
          <p:nvPr/>
        </p:nvSpPr>
        <p:spPr>
          <a:xfrm>
            <a:off x="566928" y="1737360"/>
            <a:ext cx="5349240" cy="3291840"/>
          </a:xfrm>
          <a:prstGeom prst="roundRect">
            <a:avLst>
              <a:gd name="adj" fmla="val 2222"/>
            </a:avLst>
          </a:prstGeom>
          <a:solidFill>
            <a:srgbClr val="161D2E"/>
          </a:solidFill>
          <a:ln w="12700">
            <a:solidFill>
              <a:srgbClr val="263049"/>
            </a:solidFill>
            <a:prstDash val="solid"/>
          </a:ln>
        </p:spPr>
        <p:txBody>
          <a:bodyPr/>
          <a:lstStyle/>
          <a:p>
            <a:endParaRPr lang="ko-KR" altLang="en-US"/>
          </a:p>
        </p:txBody>
      </p:sp>
      <p:sp>
        <p:nvSpPr>
          <p:cNvPr id="7" name="Text 4"/>
          <p:cNvSpPr/>
          <p:nvPr/>
        </p:nvSpPr>
        <p:spPr>
          <a:xfrm>
            <a:off x="859536" y="2048256"/>
            <a:ext cx="420624" cy="420624"/>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1</a:t>
            </a:r>
            <a:endParaRPr lang="en-US" sz="1400" dirty="0"/>
          </a:p>
        </p:txBody>
      </p:sp>
      <p:sp>
        <p:nvSpPr>
          <p:cNvPr id="8" name="Text 5"/>
          <p:cNvSpPr/>
          <p:nvPr/>
        </p:nvSpPr>
        <p:spPr>
          <a:xfrm>
            <a:off x="1435608" y="2048256"/>
            <a:ext cx="4206240" cy="420624"/>
          </a:xfrm>
          <a:prstGeom prst="rect">
            <a:avLst/>
          </a:prstGeom>
          <a:noFill/>
          <a:ln/>
        </p:spPr>
        <p:txBody>
          <a:bodyPr wrap="square" lIns="0" tIns="0" rIns="0" bIns="0" rtlCol="0" anchor="ctr"/>
          <a:lstStyle/>
          <a:p>
            <a:pPr marL="0" indent="0">
              <a:buNone/>
            </a:pPr>
            <a:r>
              <a:rPr lang="en-US" sz="1500" b="1" dirty="0">
                <a:solidFill>
                  <a:srgbClr val="67E8F9"/>
                </a:solidFill>
                <a:latin typeface="Pretendard" pitchFamily="34" charset="0"/>
                <a:ea typeface="Pretendard" pitchFamily="34" charset="-122"/>
                <a:cs typeface="Pretendard" pitchFamily="34" charset="-120"/>
              </a:rPr>
              <a:t>내부 파이프라인 모델 변경 테스트</a:t>
            </a:r>
            <a:endParaRPr lang="en-US" sz="1500" dirty="0"/>
          </a:p>
        </p:txBody>
      </p:sp>
      <p:sp>
        <p:nvSpPr>
          <p:cNvPr id="9" name="Text 6"/>
          <p:cNvSpPr/>
          <p:nvPr/>
        </p:nvSpPr>
        <p:spPr>
          <a:xfrm>
            <a:off x="859536" y="2596896"/>
            <a:ext cx="4764024" cy="310896"/>
          </a:xfrm>
          <a:prstGeom prst="rect">
            <a:avLst/>
          </a:prstGeom>
          <a:noFill/>
          <a:ln/>
        </p:spPr>
        <p:txBody>
          <a:bodyPr wrap="square" lIns="0" tIns="0" rIns="0" bIns="0" rtlCol="0" anchor="ctr"/>
          <a:lstStyle/>
          <a:p>
            <a:pPr marL="0" indent="0">
              <a:buNone/>
            </a:pPr>
            <a:r>
              <a:rPr lang="en-US" sz="1200" i="1" dirty="0">
                <a:solidFill>
                  <a:srgbClr val="9FADC2"/>
                </a:solidFill>
                <a:latin typeface="Pretendard" pitchFamily="34" charset="0"/>
                <a:ea typeface="Pretendard" pitchFamily="34" charset="-122"/>
                <a:cs typeface="Pretendard" pitchFamily="34" charset="-120"/>
              </a:rPr>
              <a:t>지금 쓰는 조합이 최선인지는 아직 모른다</a:t>
            </a:r>
            <a:endParaRPr lang="en-US" sz="1200" dirty="0"/>
          </a:p>
        </p:txBody>
      </p:sp>
      <p:sp>
        <p:nvSpPr>
          <p:cNvPr id="10" name="Shape 7"/>
          <p:cNvSpPr/>
          <p:nvPr/>
        </p:nvSpPr>
        <p:spPr>
          <a:xfrm>
            <a:off x="859536" y="2980944"/>
            <a:ext cx="4764024" cy="0"/>
          </a:xfrm>
          <a:prstGeom prst="line">
            <a:avLst/>
          </a:prstGeom>
          <a:noFill/>
          <a:ln w="12700">
            <a:solidFill>
              <a:srgbClr val="263049"/>
            </a:solidFill>
            <a:prstDash val="solid"/>
          </a:ln>
        </p:spPr>
        <p:txBody>
          <a:bodyPr/>
          <a:lstStyle/>
          <a:p>
            <a:endParaRPr lang="ko-KR" altLang="en-US"/>
          </a:p>
        </p:txBody>
      </p:sp>
      <p:sp>
        <p:nvSpPr>
          <p:cNvPr id="11" name="Text 8"/>
          <p:cNvSpPr/>
          <p:nvPr/>
        </p:nvSpPr>
        <p:spPr>
          <a:xfrm>
            <a:off x="859536" y="3154680"/>
            <a:ext cx="4764024" cy="1737360"/>
          </a:xfrm>
          <a:prstGeom prst="rect">
            <a:avLst/>
          </a:prstGeom>
          <a:noFill/>
          <a:ln/>
        </p:spPr>
        <p:txBody>
          <a:bodyPr wrap="square" lIns="0" tIns="0" rIns="0" bIns="0" rtlCol="0" anchor="t"/>
          <a:lstStyle/>
          <a:p>
            <a:pPr marL="177800" indent="-177800">
              <a:lnSpc>
                <a:spcPct val="115000"/>
              </a:lnSpc>
              <a:spcAft>
                <a:spcPts val="1400"/>
              </a:spcAft>
              <a:buSzPct val="100000"/>
              <a:buChar char="–"/>
            </a:pPr>
            <a:r>
              <a:rPr lang="en-US" sz="1200" dirty="0">
                <a:solidFill>
                  <a:srgbClr val="BAC6D8"/>
                </a:solidFill>
                <a:latin typeface="Pretendard" pitchFamily="34" charset="0"/>
                <a:ea typeface="Pretendard" pitchFamily="34" charset="-122"/>
                <a:cs typeface="Pretendard" pitchFamily="34" charset="-120"/>
              </a:rPr>
              <a:t>레이아웃 · 표 모델을 교체해 가며 같은 문서를 돌리고 결과를 나란히 본다</a:t>
            </a:r>
            <a:endParaRPr lang="en-US" sz="1200" dirty="0"/>
          </a:p>
          <a:p>
            <a:pPr marL="177800" indent="-177800">
              <a:lnSpc>
                <a:spcPct val="115000"/>
              </a:lnSpc>
              <a:spcAft>
                <a:spcPts val="1400"/>
              </a:spcAft>
              <a:buSzPct val="100000"/>
              <a:buChar char="–"/>
            </a:pPr>
            <a:r>
              <a:rPr lang="en-US" sz="1200" dirty="0">
                <a:solidFill>
                  <a:srgbClr val="BAC6D8"/>
                </a:solidFill>
                <a:latin typeface="Pretendard" pitchFamily="34" charset="0"/>
                <a:ea typeface="Pretendard" pitchFamily="34" charset="-122"/>
                <a:cs typeface="Pretendard" pitchFamily="34" charset="-120"/>
              </a:rPr>
              <a:t>우리가 다룰 문서(제안요청서 · 기획서)에서 잘 나오는 조합을 고른다</a:t>
            </a:r>
            <a:endParaRPr lang="en-US" sz="1200" dirty="0"/>
          </a:p>
          <a:p>
            <a:pPr marL="177800" indent="-177800">
              <a:lnSpc>
                <a:spcPct val="115000"/>
              </a:lnSpc>
              <a:spcAft>
                <a:spcPts val="1400"/>
              </a:spcAft>
              <a:buSzPct val="100000"/>
              <a:buChar char="–"/>
            </a:pPr>
            <a:r>
              <a:rPr lang="en-US" sz="1200" dirty="0">
                <a:solidFill>
                  <a:srgbClr val="BAC6D8"/>
                </a:solidFill>
                <a:latin typeface="Pretendard" pitchFamily="34" charset="0"/>
                <a:ea typeface="Pretendard" pitchFamily="34" charset="-122"/>
                <a:cs typeface="Pretendard" pitchFamily="34" charset="-120"/>
              </a:rPr>
              <a:t>단계마다 중간 결과를 남겨 어느 단계에서 틀렸는지 짚는다</a:t>
            </a:r>
            <a:endParaRPr lang="en-US" sz="1200" dirty="0"/>
          </a:p>
        </p:txBody>
      </p:sp>
      <p:sp>
        <p:nvSpPr>
          <p:cNvPr id="12" name="Shape 9"/>
          <p:cNvSpPr/>
          <p:nvPr/>
        </p:nvSpPr>
        <p:spPr>
          <a:xfrm>
            <a:off x="6281928" y="1737360"/>
            <a:ext cx="5349240" cy="3291840"/>
          </a:xfrm>
          <a:prstGeom prst="roundRect">
            <a:avLst>
              <a:gd name="adj" fmla="val 2222"/>
            </a:avLst>
          </a:prstGeom>
          <a:solidFill>
            <a:srgbClr val="161D2E"/>
          </a:solidFill>
          <a:ln w="12700">
            <a:solidFill>
              <a:srgbClr val="263049"/>
            </a:solidFill>
            <a:prstDash val="solid"/>
          </a:ln>
        </p:spPr>
        <p:txBody>
          <a:bodyPr/>
          <a:lstStyle/>
          <a:p>
            <a:endParaRPr lang="ko-KR" altLang="en-US"/>
          </a:p>
        </p:txBody>
      </p:sp>
      <p:sp>
        <p:nvSpPr>
          <p:cNvPr id="13" name="Text 10"/>
          <p:cNvSpPr/>
          <p:nvPr/>
        </p:nvSpPr>
        <p:spPr>
          <a:xfrm>
            <a:off x="6574536" y="2048256"/>
            <a:ext cx="420624" cy="420624"/>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2</a:t>
            </a:r>
            <a:endParaRPr lang="en-US" sz="1400" dirty="0"/>
          </a:p>
        </p:txBody>
      </p:sp>
      <p:sp>
        <p:nvSpPr>
          <p:cNvPr id="14" name="Text 11"/>
          <p:cNvSpPr/>
          <p:nvPr/>
        </p:nvSpPr>
        <p:spPr>
          <a:xfrm>
            <a:off x="7150608" y="2048256"/>
            <a:ext cx="4206240" cy="420624"/>
          </a:xfrm>
          <a:prstGeom prst="rect">
            <a:avLst/>
          </a:prstGeom>
          <a:noFill/>
          <a:ln/>
        </p:spPr>
        <p:txBody>
          <a:bodyPr wrap="square" lIns="0" tIns="0" rIns="0" bIns="0" rtlCol="0" anchor="ctr"/>
          <a:lstStyle/>
          <a:p>
            <a:pPr marL="0" indent="0">
              <a:buNone/>
            </a:pPr>
            <a:r>
              <a:rPr lang="en-US" sz="1500" b="1" dirty="0">
                <a:solidFill>
                  <a:srgbClr val="67E8F9"/>
                </a:solidFill>
                <a:latin typeface="Pretendard" pitchFamily="34" charset="0"/>
                <a:ea typeface="Pretendard" pitchFamily="34" charset="-122"/>
                <a:cs typeface="Pretendard" pitchFamily="34" charset="-120"/>
              </a:rPr>
              <a:t>검증 · 보완 레이어 추가</a:t>
            </a:r>
            <a:endParaRPr lang="en-US" sz="1500" dirty="0"/>
          </a:p>
        </p:txBody>
      </p:sp>
      <p:sp>
        <p:nvSpPr>
          <p:cNvPr id="15" name="Text 12"/>
          <p:cNvSpPr/>
          <p:nvPr/>
        </p:nvSpPr>
        <p:spPr>
          <a:xfrm>
            <a:off x="6574536" y="2596896"/>
            <a:ext cx="4764024" cy="310896"/>
          </a:xfrm>
          <a:prstGeom prst="rect">
            <a:avLst/>
          </a:prstGeom>
          <a:noFill/>
          <a:ln/>
        </p:spPr>
        <p:txBody>
          <a:bodyPr wrap="square" lIns="0" tIns="0" rIns="0" bIns="0" rtlCol="0" anchor="ctr"/>
          <a:lstStyle/>
          <a:p>
            <a:pPr marL="0" indent="0">
              <a:buNone/>
            </a:pPr>
            <a:r>
              <a:rPr lang="en-US" sz="1200" i="1" dirty="0">
                <a:solidFill>
                  <a:srgbClr val="9FADC2"/>
                </a:solidFill>
                <a:latin typeface="Pretendard" pitchFamily="34" charset="0"/>
                <a:ea typeface="Pretendard" pitchFamily="34" charset="-122"/>
                <a:cs typeface="Pretendard" pitchFamily="34" charset="-120"/>
              </a:rPr>
              <a:t>파싱 결과를 그대로 믿지 않는다</a:t>
            </a:r>
            <a:endParaRPr lang="en-US" sz="1200" dirty="0"/>
          </a:p>
        </p:txBody>
      </p:sp>
      <p:sp>
        <p:nvSpPr>
          <p:cNvPr id="16" name="Shape 13"/>
          <p:cNvSpPr/>
          <p:nvPr/>
        </p:nvSpPr>
        <p:spPr>
          <a:xfrm>
            <a:off x="6574536" y="2980944"/>
            <a:ext cx="4764024" cy="0"/>
          </a:xfrm>
          <a:prstGeom prst="line">
            <a:avLst/>
          </a:prstGeom>
          <a:noFill/>
          <a:ln w="12700">
            <a:solidFill>
              <a:srgbClr val="263049"/>
            </a:solidFill>
            <a:prstDash val="solid"/>
          </a:ln>
        </p:spPr>
        <p:txBody>
          <a:bodyPr/>
          <a:lstStyle/>
          <a:p>
            <a:endParaRPr lang="ko-KR" altLang="en-US"/>
          </a:p>
        </p:txBody>
      </p:sp>
      <p:sp>
        <p:nvSpPr>
          <p:cNvPr id="17" name="Text 14"/>
          <p:cNvSpPr/>
          <p:nvPr/>
        </p:nvSpPr>
        <p:spPr>
          <a:xfrm>
            <a:off x="6574536" y="3154680"/>
            <a:ext cx="4764024" cy="1737360"/>
          </a:xfrm>
          <a:prstGeom prst="rect">
            <a:avLst/>
          </a:prstGeom>
          <a:noFill/>
          <a:ln/>
        </p:spPr>
        <p:txBody>
          <a:bodyPr wrap="square" lIns="0" tIns="0" rIns="0" bIns="0" rtlCol="0" anchor="t"/>
          <a:lstStyle/>
          <a:p>
            <a:pPr marL="177800" indent="-177800">
              <a:lnSpc>
                <a:spcPct val="115000"/>
              </a:lnSpc>
              <a:spcAft>
                <a:spcPts val="1400"/>
              </a:spcAft>
              <a:buSzPct val="100000"/>
              <a:buChar char="–"/>
            </a:pPr>
            <a:r>
              <a:rPr lang="en-US" sz="1200" dirty="0">
                <a:solidFill>
                  <a:srgbClr val="BAC6D8"/>
                </a:solidFill>
                <a:latin typeface="Pretendard" pitchFamily="34" charset="0"/>
                <a:ea typeface="Pretendard" pitchFamily="34" charset="-122"/>
                <a:cs typeface="Pretendard" pitchFamily="34" charset="-120"/>
              </a:rPr>
              <a:t>신뢰도가 낮거나 박스가 겹치거나 순서가 뒤집힌 경우를 규칙으로 고친다</a:t>
            </a:r>
            <a:endParaRPr lang="en-US" sz="1200" dirty="0"/>
          </a:p>
          <a:p>
            <a:pPr marL="177800" indent="-177800">
              <a:lnSpc>
                <a:spcPct val="115000"/>
              </a:lnSpc>
              <a:spcAft>
                <a:spcPts val="1400"/>
              </a:spcAft>
              <a:buSzPct val="100000"/>
              <a:buChar char="–"/>
            </a:pPr>
            <a:r>
              <a:rPr lang="en-US" sz="1200" dirty="0">
                <a:solidFill>
                  <a:srgbClr val="BAC6D8"/>
                </a:solidFill>
                <a:latin typeface="Pretendard" pitchFamily="34" charset="0"/>
                <a:ea typeface="Pretendard" pitchFamily="34" charset="-122"/>
                <a:cs typeface="Pretendard" pitchFamily="34" charset="-120"/>
              </a:rPr>
              <a:t>규칙으로 못 고치는 건은 조용히 넘기지 않고 실패로 남겨 사람이 본다</a:t>
            </a:r>
            <a:endParaRPr lang="en-US" sz="1200" dirty="0"/>
          </a:p>
          <a:p>
            <a:pPr marL="177800" indent="-177800">
              <a:lnSpc>
                <a:spcPct val="115000"/>
              </a:lnSpc>
              <a:spcAft>
                <a:spcPts val="1400"/>
              </a:spcAft>
              <a:buSzPct val="100000"/>
              <a:buChar char="–"/>
            </a:pPr>
            <a:r>
              <a:rPr lang="en-US" sz="1200" dirty="0">
                <a:solidFill>
                  <a:srgbClr val="BAC6D8"/>
                </a:solidFill>
                <a:latin typeface="Pretendard" pitchFamily="34" charset="0"/>
                <a:ea typeface="Pretendard" pitchFamily="34" charset="-122"/>
                <a:cs typeface="Pretendard" pitchFamily="34" charset="-120"/>
              </a:rPr>
              <a:t>파싱이 틀리면 청킹과 검색까지 그대로 따라가므로, 파싱 단계에서 걸러낸다</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CHUNKING</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청킹 — HybridChunker가 하는 일</a:t>
            </a:r>
            <a:endParaRPr lang="en-US" sz="2700" dirty="0"/>
          </a:p>
        </p:txBody>
      </p:sp>
      <p:sp>
        <p:nvSpPr>
          <p:cNvPr id="5" name="Text 2"/>
          <p:cNvSpPr/>
          <p:nvPr/>
        </p:nvSpPr>
        <p:spPr>
          <a:xfrm>
            <a:off x="566928" y="1243584"/>
            <a:ext cx="11064240" cy="320040"/>
          </a:xfrm>
          <a:prstGeom prst="rect">
            <a:avLst/>
          </a:prstGeom>
          <a:noFill/>
          <a:ln/>
        </p:spPr>
        <p:txBody>
          <a:bodyPr wrap="square" lIns="0" tIns="0" rIns="0" bIns="0" rtlCol="0" anchor="ctr"/>
          <a:lstStyle/>
          <a:p>
            <a:pPr marL="0" indent="0">
              <a:buNone/>
            </a:pPr>
            <a:r>
              <a:rPr lang="en-US" sz="1300" dirty="0">
                <a:solidFill>
                  <a:srgbClr val="BAC6D8"/>
                </a:solidFill>
                <a:latin typeface="Pretendard Light" pitchFamily="34" charset="0"/>
                <a:ea typeface="Pretendard Light" pitchFamily="34" charset="-122"/>
                <a:cs typeface="Pretendard Light" pitchFamily="34" charset="-120"/>
              </a:rPr>
              <a:t>글자 수가 아니라 문서 구조와 토큰 수로 자른다</a:t>
            </a:r>
            <a:endParaRPr lang="en-US" sz="1300" dirty="0"/>
          </a:p>
        </p:txBody>
      </p:sp>
      <p:sp>
        <p:nvSpPr>
          <p:cNvPr id="6" name="Text 3"/>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19</a:t>
            </a:r>
            <a:endParaRPr lang="en-US" sz="1050" dirty="0"/>
          </a:p>
        </p:txBody>
      </p:sp>
      <p:sp>
        <p:nvSpPr>
          <p:cNvPr id="7" name="Shape 4"/>
          <p:cNvSpPr/>
          <p:nvPr/>
        </p:nvSpPr>
        <p:spPr>
          <a:xfrm>
            <a:off x="566928" y="1874520"/>
            <a:ext cx="3538728" cy="2606040"/>
          </a:xfrm>
          <a:prstGeom prst="roundRect">
            <a:avLst>
              <a:gd name="adj" fmla="val 2807"/>
            </a:avLst>
          </a:prstGeom>
          <a:solidFill>
            <a:srgbClr val="161D2E"/>
          </a:solidFill>
          <a:ln w="12700">
            <a:solidFill>
              <a:srgbClr val="263049"/>
            </a:solidFill>
            <a:prstDash val="solid"/>
          </a:ln>
        </p:spPr>
        <p:txBody>
          <a:bodyPr/>
          <a:lstStyle/>
          <a:p>
            <a:endParaRPr lang="ko-KR" altLang="en-US"/>
          </a:p>
        </p:txBody>
      </p:sp>
      <p:sp>
        <p:nvSpPr>
          <p:cNvPr id="8" name="Text 5"/>
          <p:cNvSpPr/>
          <p:nvPr/>
        </p:nvSpPr>
        <p:spPr>
          <a:xfrm>
            <a:off x="841248" y="2148840"/>
            <a:ext cx="347472" cy="347472"/>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1</a:t>
            </a:r>
            <a:endParaRPr lang="en-US" sz="1400" dirty="0"/>
          </a:p>
        </p:txBody>
      </p:sp>
      <p:sp>
        <p:nvSpPr>
          <p:cNvPr id="9" name="Text 6"/>
          <p:cNvSpPr/>
          <p:nvPr/>
        </p:nvSpPr>
        <p:spPr>
          <a:xfrm>
            <a:off x="1298448" y="2148840"/>
            <a:ext cx="2532888" cy="347472"/>
          </a:xfrm>
          <a:prstGeom prst="rect">
            <a:avLst/>
          </a:prstGeom>
          <a:noFill/>
          <a:ln/>
        </p:spPr>
        <p:txBody>
          <a:bodyPr wrap="square" lIns="0" tIns="0" rIns="0" bIns="0" rtlCol="0" anchor="ctr"/>
          <a:lstStyle/>
          <a:p>
            <a:pPr marL="0" indent="0">
              <a:buNone/>
            </a:pPr>
            <a:r>
              <a:rPr lang="en-US" sz="1400" b="1" dirty="0">
                <a:solidFill>
                  <a:srgbClr val="F1F5F9"/>
                </a:solidFill>
                <a:latin typeface="Pretendard" pitchFamily="34" charset="0"/>
                <a:ea typeface="Pretendard" pitchFamily="34" charset="-122"/>
                <a:cs typeface="Pretendard" pitchFamily="34" charset="-120"/>
              </a:rPr>
              <a:t>구조대로 자른다</a:t>
            </a:r>
            <a:endParaRPr lang="en-US" sz="1400" dirty="0"/>
          </a:p>
        </p:txBody>
      </p:sp>
      <p:sp>
        <p:nvSpPr>
          <p:cNvPr id="10" name="Text 7"/>
          <p:cNvSpPr/>
          <p:nvPr/>
        </p:nvSpPr>
        <p:spPr>
          <a:xfrm>
            <a:off x="841248" y="3794760"/>
            <a:ext cx="2990088" cy="566928"/>
          </a:xfrm>
          <a:prstGeom prst="rect">
            <a:avLst/>
          </a:prstGeom>
          <a:noFill/>
          <a:ln/>
        </p:spPr>
        <p:txBody>
          <a:bodyPr wrap="square" lIns="0" tIns="0" rIns="0" bIns="0" rtlCol="0" anchor="t"/>
          <a:lstStyle/>
          <a:p>
            <a:pPr marL="0" indent="0">
              <a:lnSpc>
                <a:spcPct val="122000"/>
              </a:lnSpc>
              <a:buNone/>
            </a:pPr>
            <a:r>
              <a:rPr lang="en-US" sz="1150" dirty="0">
                <a:solidFill>
                  <a:srgbClr val="BAC6D8"/>
                </a:solidFill>
                <a:latin typeface="Pretendard" pitchFamily="34" charset="0"/>
                <a:ea typeface="Pretendard" pitchFamily="34" charset="-122"/>
                <a:cs typeface="Pretendard" pitchFamily="34" charset="-120"/>
              </a:rPr>
              <a:t>제목 · 문단 · 표 같은 문서 구조 단위로 먼저 나눈다</a:t>
            </a:r>
            <a:endParaRPr lang="en-US" sz="1150" dirty="0"/>
          </a:p>
        </p:txBody>
      </p:sp>
      <p:sp>
        <p:nvSpPr>
          <p:cNvPr id="11" name="Shape 8"/>
          <p:cNvSpPr/>
          <p:nvPr/>
        </p:nvSpPr>
        <p:spPr>
          <a:xfrm>
            <a:off x="1170432" y="2734056"/>
            <a:ext cx="2331720" cy="256032"/>
          </a:xfrm>
          <a:prstGeom prst="roundRect">
            <a:avLst>
              <a:gd name="adj" fmla="val 17857"/>
            </a:avLst>
          </a:prstGeom>
          <a:solidFill>
            <a:srgbClr val="1B2436"/>
          </a:solidFill>
          <a:ln w="12700">
            <a:solidFill>
              <a:srgbClr val="263049"/>
            </a:solidFill>
            <a:prstDash val="solid"/>
          </a:ln>
        </p:spPr>
        <p:txBody>
          <a:bodyPr/>
          <a:lstStyle/>
          <a:p>
            <a:endParaRPr lang="ko-KR" altLang="en-US"/>
          </a:p>
        </p:txBody>
      </p:sp>
      <p:sp>
        <p:nvSpPr>
          <p:cNvPr id="12" name="Text 9"/>
          <p:cNvSpPr/>
          <p:nvPr/>
        </p:nvSpPr>
        <p:spPr>
          <a:xfrm>
            <a:off x="1170432" y="2734056"/>
            <a:ext cx="2331720" cy="256032"/>
          </a:xfrm>
          <a:prstGeom prst="rect">
            <a:avLst/>
          </a:prstGeom>
          <a:noFill/>
          <a:ln/>
        </p:spPr>
        <p:txBody>
          <a:bodyPr wrap="square" lIns="0" tIns="0" rIns="0" bIns="0" rtlCol="0" anchor="ctr"/>
          <a:lstStyle/>
          <a:p>
            <a:pPr marL="0" indent="0" algn="ctr">
              <a:buNone/>
            </a:pPr>
            <a:r>
              <a:rPr lang="en-US" sz="950" b="1" dirty="0">
                <a:solidFill>
                  <a:srgbClr val="BAC6D8"/>
                </a:solidFill>
                <a:latin typeface="Pretendard" pitchFamily="34" charset="0"/>
                <a:ea typeface="Pretendard" pitchFamily="34" charset="-122"/>
                <a:cs typeface="Pretendard" pitchFamily="34" charset="-120"/>
              </a:rPr>
              <a:t>제목</a:t>
            </a:r>
            <a:endParaRPr lang="en-US" sz="950" dirty="0"/>
          </a:p>
        </p:txBody>
      </p:sp>
      <p:sp>
        <p:nvSpPr>
          <p:cNvPr id="13" name="Shape 10"/>
          <p:cNvSpPr/>
          <p:nvPr/>
        </p:nvSpPr>
        <p:spPr>
          <a:xfrm>
            <a:off x="1060704" y="3040380"/>
            <a:ext cx="2551176" cy="0"/>
          </a:xfrm>
          <a:prstGeom prst="line">
            <a:avLst/>
          </a:prstGeom>
          <a:noFill/>
          <a:ln w="12700">
            <a:solidFill>
              <a:srgbClr val="0E7490"/>
            </a:solidFill>
            <a:prstDash val="dash"/>
          </a:ln>
        </p:spPr>
        <p:txBody>
          <a:bodyPr/>
          <a:lstStyle/>
          <a:p>
            <a:endParaRPr lang="ko-KR" altLang="en-US"/>
          </a:p>
        </p:txBody>
      </p:sp>
      <p:sp>
        <p:nvSpPr>
          <p:cNvPr id="14" name="Shape 11"/>
          <p:cNvSpPr/>
          <p:nvPr/>
        </p:nvSpPr>
        <p:spPr>
          <a:xfrm>
            <a:off x="1170432" y="3090672"/>
            <a:ext cx="2331720" cy="256032"/>
          </a:xfrm>
          <a:prstGeom prst="roundRect">
            <a:avLst>
              <a:gd name="adj" fmla="val 17857"/>
            </a:avLst>
          </a:prstGeom>
          <a:solidFill>
            <a:srgbClr val="1B2436"/>
          </a:solidFill>
          <a:ln w="12700">
            <a:solidFill>
              <a:srgbClr val="263049"/>
            </a:solidFill>
            <a:prstDash val="solid"/>
          </a:ln>
        </p:spPr>
        <p:txBody>
          <a:bodyPr/>
          <a:lstStyle/>
          <a:p>
            <a:endParaRPr lang="ko-KR" altLang="en-US"/>
          </a:p>
        </p:txBody>
      </p:sp>
      <p:sp>
        <p:nvSpPr>
          <p:cNvPr id="15" name="Text 12"/>
          <p:cNvSpPr/>
          <p:nvPr/>
        </p:nvSpPr>
        <p:spPr>
          <a:xfrm>
            <a:off x="1170432" y="3090672"/>
            <a:ext cx="2331720" cy="256032"/>
          </a:xfrm>
          <a:prstGeom prst="rect">
            <a:avLst/>
          </a:prstGeom>
          <a:noFill/>
          <a:ln/>
        </p:spPr>
        <p:txBody>
          <a:bodyPr wrap="square" lIns="0" tIns="0" rIns="0" bIns="0" rtlCol="0" anchor="ctr"/>
          <a:lstStyle/>
          <a:p>
            <a:pPr marL="0" indent="0" algn="ctr">
              <a:buNone/>
            </a:pPr>
            <a:r>
              <a:rPr lang="en-US" sz="950" b="1" dirty="0">
                <a:solidFill>
                  <a:srgbClr val="BAC6D8"/>
                </a:solidFill>
                <a:latin typeface="Pretendard" pitchFamily="34" charset="0"/>
                <a:ea typeface="Pretendard" pitchFamily="34" charset="-122"/>
                <a:cs typeface="Pretendard" pitchFamily="34" charset="-120"/>
              </a:rPr>
              <a:t>본문 문단</a:t>
            </a:r>
            <a:endParaRPr lang="en-US" sz="950" dirty="0"/>
          </a:p>
        </p:txBody>
      </p:sp>
      <p:sp>
        <p:nvSpPr>
          <p:cNvPr id="16" name="Shape 13"/>
          <p:cNvSpPr/>
          <p:nvPr/>
        </p:nvSpPr>
        <p:spPr>
          <a:xfrm>
            <a:off x="1060704" y="3396996"/>
            <a:ext cx="2551176" cy="0"/>
          </a:xfrm>
          <a:prstGeom prst="line">
            <a:avLst/>
          </a:prstGeom>
          <a:noFill/>
          <a:ln w="12700">
            <a:solidFill>
              <a:srgbClr val="0E7490"/>
            </a:solidFill>
            <a:prstDash val="dash"/>
          </a:ln>
        </p:spPr>
        <p:txBody>
          <a:bodyPr/>
          <a:lstStyle/>
          <a:p>
            <a:endParaRPr lang="ko-KR" altLang="en-US"/>
          </a:p>
        </p:txBody>
      </p:sp>
      <p:sp>
        <p:nvSpPr>
          <p:cNvPr id="17" name="Shape 14"/>
          <p:cNvSpPr/>
          <p:nvPr/>
        </p:nvSpPr>
        <p:spPr>
          <a:xfrm>
            <a:off x="1170432" y="3447288"/>
            <a:ext cx="2331720" cy="256032"/>
          </a:xfrm>
          <a:prstGeom prst="roundRect">
            <a:avLst>
              <a:gd name="adj" fmla="val 17857"/>
            </a:avLst>
          </a:prstGeom>
          <a:solidFill>
            <a:srgbClr val="0F2A3A"/>
          </a:solidFill>
          <a:ln w="12700">
            <a:solidFill>
              <a:srgbClr val="155E75"/>
            </a:solidFill>
            <a:prstDash val="solid"/>
          </a:ln>
        </p:spPr>
        <p:txBody>
          <a:bodyPr/>
          <a:lstStyle/>
          <a:p>
            <a:endParaRPr lang="ko-KR" altLang="en-US"/>
          </a:p>
        </p:txBody>
      </p:sp>
      <p:sp>
        <p:nvSpPr>
          <p:cNvPr id="18" name="Text 15"/>
          <p:cNvSpPr/>
          <p:nvPr/>
        </p:nvSpPr>
        <p:spPr>
          <a:xfrm>
            <a:off x="1170432" y="3447288"/>
            <a:ext cx="2331720" cy="256032"/>
          </a:xfrm>
          <a:prstGeom prst="rect">
            <a:avLst/>
          </a:prstGeom>
          <a:noFill/>
          <a:ln/>
        </p:spPr>
        <p:txBody>
          <a:bodyPr wrap="square" lIns="0" tIns="0" rIns="0" bIns="0" rtlCol="0" anchor="ctr"/>
          <a:lstStyle/>
          <a:p>
            <a:pPr marL="0" indent="0" algn="ctr">
              <a:buNone/>
            </a:pPr>
            <a:r>
              <a:rPr lang="en-US" sz="950" b="1" dirty="0">
                <a:solidFill>
                  <a:srgbClr val="67E8F9"/>
                </a:solidFill>
                <a:latin typeface="Pretendard" pitchFamily="34" charset="0"/>
                <a:ea typeface="Pretendard" pitchFamily="34" charset="-122"/>
                <a:cs typeface="Pretendard" pitchFamily="34" charset="-120"/>
              </a:rPr>
              <a:t>표</a:t>
            </a:r>
            <a:endParaRPr lang="en-US" sz="950" dirty="0"/>
          </a:p>
        </p:txBody>
      </p:sp>
      <p:sp>
        <p:nvSpPr>
          <p:cNvPr id="19" name="Shape 16"/>
          <p:cNvSpPr/>
          <p:nvPr/>
        </p:nvSpPr>
        <p:spPr>
          <a:xfrm>
            <a:off x="4325112" y="1874520"/>
            <a:ext cx="3538728" cy="2606040"/>
          </a:xfrm>
          <a:prstGeom prst="roundRect">
            <a:avLst>
              <a:gd name="adj" fmla="val 2807"/>
            </a:avLst>
          </a:prstGeom>
          <a:solidFill>
            <a:srgbClr val="161D2E"/>
          </a:solidFill>
          <a:ln w="12700">
            <a:solidFill>
              <a:srgbClr val="263049"/>
            </a:solidFill>
            <a:prstDash val="solid"/>
          </a:ln>
        </p:spPr>
        <p:txBody>
          <a:bodyPr/>
          <a:lstStyle/>
          <a:p>
            <a:endParaRPr lang="ko-KR" altLang="en-US"/>
          </a:p>
        </p:txBody>
      </p:sp>
      <p:sp>
        <p:nvSpPr>
          <p:cNvPr id="20" name="Text 17"/>
          <p:cNvSpPr/>
          <p:nvPr/>
        </p:nvSpPr>
        <p:spPr>
          <a:xfrm>
            <a:off x="4599432" y="2148840"/>
            <a:ext cx="347472" cy="347472"/>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2</a:t>
            </a:r>
            <a:endParaRPr lang="en-US" sz="1400" dirty="0"/>
          </a:p>
        </p:txBody>
      </p:sp>
      <p:sp>
        <p:nvSpPr>
          <p:cNvPr id="21" name="Text 18"/>
          <p:cNvSpPr/>
          <p:nvPr/>
        </p:nvSpPr>
        <p:spPr>
          <a:xfrm>
            <a:off x="5056632" y="2148840"/>
            <a:ext cx="2532888" cy="347472"/>
          </a:xfrm>
          <a:prstGeom prst="rect">
            <a:avLst/>
          </a:prstGeom>
          <a:noFill/>
          <a:ln/>
        </p:spPr>
        <p:txBody>
          <a:bodyPr wrap="square" lIns="0" tIns="0" rIns="0" bIns="0" rtlCol="0" anchor="ctr"/>
          <a:lstStyle/>
          <a:p>
            <a:pPr marL="0" indent="0">
              <a:buNone/>
            </a:pPr>
            <a:r>
              <a:rPr lang="en-US" sz="1400" b="1" dirty="0">
                <a:solidFill>
                  <a:srgbClr val="F1F5F9"/>
                </a:solidFill>
                <a:latin typeface="Pretendard" pitchFamily="34" charset="0"/>
                <a:ea typeface="Pretendard" pitchFamily="34" charset="-122"/>
                <a:cs typeface="Pretendard" pitchFamily="34" charset="-120"/>
              </a:rPr>
              <a:t>넘치면 나눈다</a:t>
            </a:r>
            <a:endParaRPr lang="en-US" sz="1400" dirty="0"/>
          </a:p>
        </p:txBody>
      </p:sp>
      <p:sp>
        <p:nvSpPr>
          <p:cNvPr id="22" name="Text 19"/>
          <p:cNvSpPr/>
          <p:nvPr/>
        </p:nvSpPr>
        <p:spPr>
          <a:xfrm>
            <a:off x="4599432" y="3794760"/>
            <a:ext cx="2990088" cy="566928"/>
          </a:xfrm>
          <a:prstGeom prst="rect">
            <a:avLst/>
          </a:prstGeom>
          <a:noFill/>
          <a:ln/>
        </p:spPr>
        <p:txBody>
          <a:bodyPr wrap="square" lIns="0" tIns="0" rIns="0" bIns="0" rtlCol="0" anchor="t"/>
          <a:lstStyle/>
          <a:p>
            <a:pPr marL="0" indent="0">
              <a:lnSpc>
                <a:spcPct val="122000"/>
              </a:lnSpc>
              <a:buNone/>
            </a:pPr>
            <a:r>
              <a:rPr lang="en-US" sz="1150" dirty="0">
                <a:solidFill>
                  <a:srgbClr val="BAC6D8"/>
                </a:solidFill>
                <a:latin typeface="Pretendard" pitchFamily="34" charset="0"/>
                <a:ea typeface="Pretendard" pitchFamily="34" charset="-122"/>
                <a:cs typeface="Pretendard" pitchFamily="34" charset="-120"/>
              </a:rPr>
              <a:t>512 토큰을 넘는 조각만 토큰 기준으로 다시 나눈다</a:t>
            </a:r>
            <a:endParaRPr lang="en-US" sz="1150" dirty="0"/>
          </a:p>
        </p:txBody>
      </p:sp>
      <p:sp>
        <p:nvSpPr>
          <p:cNvPr id="23" name="Shape 20"/>
          <p:cNvSpPr/>
          <p:nvPr/>
        </p:nvSpPr>
        <p:spPr>
          <a:xfrm>
            <a:off x="4722876" y="2807208"/>
            <a:ext cx="2743200" cy="292608"/>
          </a:xfrm>
          <a:prstGeom prst="roundRect">
            <a:avLst>
              <a:gd name="adj" fmla="val 15625"/>
            </a:avLst>
          </a:prstGeom>
          <a:solidFill>
            <a:srgbClr val="351717"/>
          </a:solidFill>
          <a:ln w="12700">
            <a:solidFill>
              <a:srgbClr val="7F1D1D"/>
            </a:solidFill>
            <a:prstDash val="solid"/>
          </a:ln>
        </p:spPr>
        <p:txBody>
          <a:bodyPr/>
          <a:lstStyle/>
          <a:p>
            <a:endParaRPr lang="ko-KR" altLang="en-US"/>
          </a:p>
        </p:txBody>
      </p:sp>
      <p:sp>
        <p:nvSpPr>
          <p:cNvPr id="24" name="Text 21"/>
          <p:cNvSpPr/>
          <p:nvPr/>
        </p:nvSpPr>
        <p:spPr>
          <a:xfrm>
            <a:off x="4722876" y="2807208"/>
            <a:ext cx="2743200" cy="292608"/>
          </a:xfrm>
          <a:prstGeom prst="rect">
            <a:avLst/>
          </a:prstGeom>
          <a:noFill/>
          <a:ln/>
        </p:spPr>
        <p:txBody>
          <a:bodyPr wrap="square" lIns="0" tIns="0" rIns="0" bIns="0" rtlCol="0" anchor="ctr"/>
          <a:lstStyle/>
          <a:p>
            <a:pPr marL="0" indent="0" algn="ctr">
              <a:buNone/>
            </a:pPr>
            <a:r>
              <a:rPr lang="en-US" sz="950" b="1" dirty="0">
                <a:solidFill>
                  <a:srgbClr val="F87171"/>
                </a:solidFill>
                <a:latin typeface="Pretendard" pitchFamily="34" charset="0"/>
                <a:ea typeface="Pretendard" pitchFamily="34" charset="-122"/>
                <a:cs typeface="Pretendard" pitchFamily="34" charset="-120"/>
              </a:rPr>
              <a:t>512 토큰 초과</a:t>
            </a:r>
            <a:endParaRPr lang="en-US" sz="950" dirty="0"/>
          </a:p>
        </p:txBody>
      </p:sp>
      <p:sp>
        <p:nvSpPr>
          <p:cNvPr id="25" name="Shape 22"/>
          <p:cNvSpPr/>
          <p:nvPr/>
        </p:nvSpPr>
        <p:spPr>
          <a:xfrm>
            <a:off x="6094476" y="3154680"/>
            <a:ext cx="0" cy="274320"/>
          </a:xfrm>
          <a:prstGeom prst="line">
            <a:avLst/>
          </a:prstGeom>
          <a:noFill/>
          <a:ln w="15875">
            <a:solidFill>
              <a:srgbClr val="0E7490"/>
            </a:solidFill>
            <a:prstDash val="solid"/>
            <a:tailEnd type="triangle"/>
          </a:ln>
        </p:spPr>
        <p:txBody>
          <a:bodyPr/>
          <a:lstStyle/>
          <a:p>
            <a:endParaRPr lang="ko-KR" altLang="en-US"/>
          </a:p>
        </p:txBody>
      </p:sp>
      <p:sp>
        <p:nvSpPr>
          <p:cNvPr id="26" name="Shape 23"/>
          <p:cNvSpPr/>
          <p:nvPr/>
        </p:nvSpPr>
        <p:spPr>
          <a:xfrm>
            <a:off x="4722876" y="3465576"/>
            <a:ext cx="1325880" cy="292608"/>
          </a:xfrm>
          <a:prstGeom prst="roundRect">
            <a:avLst>
              <a:gd name="adj" fmla="val 15625"/>
            </a:avLst>
          </a:prstGeom>
          <a:solidFill>
            <a:srgbClr val="0F2A3A"/>
          </a:solidFill>
          <a:ln w="12700">
            <a:solidFill>
              <a:srgbClr val="155E75"/>
            </a:solidFill>
            <a:prstDash val="solid"/>
          </a:ln>
        </p:spPr>
        <p:txBody>
          <a:bodyPr/>
          <a:lstStyle/>
          <a:p>
            <a:endParaRPr lang="ko-KR" altLang="en-US"/>
          </a:p>
        </p:txBody>
      </p:sp>
      <p:sp>
        <p:nvSpPr>
          <p:cNvPr id="27" name="Shape 24"/>
          <p:cNvSpPr/>
          <p:nvPr/>
        </p:nvSpPr>
        <p:spPr>
          <a:xfrm>
            <a:off x="6140196" y="3465576"/>
            <a:ext cx="1325880" cy="292608"/>
          </a:xfrm>
          <a:prstGeom prst="roundRect">
            <a:avLst>
              <a:gd name="adj" fmla="val 15625"/>
            </a:avLst>
          </a:prstGeom>
          <a:solidFill>
            <a:srgbClr val="0F2A3A"/>
          </a:solidFill>
          <a:ln w="12700">
            <a:solidFill>
              <a:srgbClr val="155E75"/>
            </a:solidFill>
            <a:prstDash val="solid"/>
          </a:ln>
        </p:spPr>
        <p:txBody>
          <a:bodyPr/>
          <a:lstStyle/>
          <a:p>
            <a:endParaRPr lang="ko-KR" altLang="en-US"/>
          </a:p>
        </p:txBody>
      </p:sp>
      <p:sp>
        <p:nvSpPr>
          <p:cNvPr id="28" name="Shape 25"/>
          <p:cNvSpPr/>
          <p:nvPr/>
        </p:nvSpPr>
        <p:spPr>
          <a:xfrm>
            <a:off x="8083296" y="1874520"/>
            <a:ext cx="3538728" cy="2606040"/>
          </a:xfrm>
          <a:prstGeom prst="roundRect">
            <a:avLst>
              <a:gd name="adj" fmla="val 2807"/>
            </a:avLst>
          </a:prstGeom>
          <a:solidFill>
            <a:srgbClr val="161D2E"/>
          </a:solidFill>
          <a:ln w="12700">
            <a:solidFill>
              <a:srgbClr val="263049"/>
            </a:solidFill>
            <a:prstDash val="solid"/>
          </a:ln>
        </p:spPr>
        <p:txBody>
          <a:bodyPr/>
          <a:lstStyle/>
          <a:p>
            <a:endParaRPr lang="ko-KR" altLang="en-US"/>
          </a:p>
        </p:txBody>
      </p:sp>
      <p:sp>
        <p:nvSpPr>
          <p:cNvPr id="29" name="Text 26"/>
          <p:cNvSpPr/>
          <p:nvPr/>
        </p:nvSpPr>
        <p:spPr>
          <a:xfrm>
            <a:off x="8357616" y="2148840"/>
            <a:ext cx="347472" cy="347472"/>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3</a:t>
            </a:r>
            <a:endParaRPr lang="en-US" sz="1400" dirty="0"/>
          </a:p>
        </p:txBody>
      </p:sp>
      <p:sp>
        <p:nvSpPr>
          <p:cNvPr id="30" name="Text 27"/>
          <p:cNvSpPr/>
          <p:nvPr/>
        </p:nvSpPr>
        <p:spPr>
          <a:xfrm>
            <a:off x="8814816" y="2148840"/>
            <a:ext cx="2532888" cy="347472"/>
          </a:xfrm>
          <a:prstGeom prst="rect">
            <a:avLst/>
          </a:prstGeom>
          <a:noFill/>
          <a:ln/>
        </p:spPr>
        <p:txBody>
          <a:bodyPr wrap="square" lIns="0" tIns="0" rIns="0" bIns="0" rtlCol="0" anchor="ctr"/>
          <a:lstStyle/>
          <a:p>
            <a:pPr marL="0" indent="0">
              <a:buNone/>
            </a:pPr>
            <a:r>
              <a:rPr lang="en-US" sz="1400" b="1" dirty="0">
                <a:solidFill>
                  <a:srgbClr val="F1F5F9"/>
                </a:solidFill>
                <a:latin typeface="Pretendard" pitchFamily="34" charset="0"/>
                <a:ea typeface="Pretendard" pitchFamily="34" charset="-122"/>
                <a:cs typeface="Pretendard" pitchFamily="34" charset="-120"/>
              </a:rPr>
              <a:t>모자라면 붙인다</a:t>
            </a:r>
            <a:endParaRPr lang="en-US" sz="1400" dirty="0"/>
          </a:p>
        </p:txBody>
      </p:sp>
      <p:sp>
        <p:nvSpPr>
          <p:cNvPr id="31" name="Text 28"/>
          <p:cNvSpPr/>
          <p:nvPr/>
        </p:nvSpPr>
        <p:spPr>
          <a:xfrm>
            <a:off x="8357616" y="3794760"/>
            <a:ext cx="2990088" cy="566928"/>
          </a:xfrm>
          <a:prstGeom prst="rect">
            <a:avLst/>
          </a:prstGeom>
          <a:noFill/>
          <a:ln/>
        </p:spPr>
        <p:txBody>
          <a:bodyPr wrap="square" lIns="0" tIns="0" rIns="0" bIns="0" rtlCol="0" anchor="t"/>
          <a:lstStyle/>
          <a:p>
            <a:pPr marL="0" indent="0">
              <a:lnSpc>
                <a:spcPct val="122000"/>
              </a:lnSpc>
              <a:buNone/>
            </a:pPr>
            <a:r>
              <a:rPr lang="en-US" sz="1150" dirty="0">
                <a:solidFill>
                  <a:srgbClr val="BAC6D8"/>
                </a:solidFill>
                <a:latin typeface="Pretendard" pitchFamily="34" charset="0"/>
                <a:ea typeface="Pretendard" pitchFamily="34" charset="-122"/>
                <a:cs typeface="Pretendard" pitchFamily="34" charset="-120"/>
              </a:rPr>
              <a:t>같은 제목 아래 붙어 있는 짧은 조각은 한도 안에서 합친다</a:t>
            </a:r>
            <a:endParaRPr lang="en-US" sz="1150" dirty="0"/>
          </a:p>
        </p:txBody>
      </p:sp>
      <p:sp>
        <p:nvSpPr>
          <p:cNvPr id="32" name="Shape 29"/>
          <p:cNvSpPr/>
          <p:nvPr/>
        </p:nvSpPr>
        <p:spPr>
          <a:xfrm>
            <a:off x="8481060" y="2807208"/>
            <a:ext cx="960120" cy="292608"/>
          </a:xfrm>
          <a:prstGeom prst="roundRect">
            <a:avLst>
              <a:gd name="adj" fmla="val 15625"/>
            </a:avLst>
          </a:prstGeom>
          <a:solidFill>
            <a:srgbClr val="1B2436"/>
          </a:solidFill>
          <a:ln w="12700">
            <a:solidFill>
              <a:srgbClr val="263049"/>
            </a:solidFill>
            <a:prstDash val="solid"/>
          </a:ln>
        </p:spPr>
        <p:txBody>
          <a:bodyPr/>
          <a:lstStyle/>
          <a:p>
            <a:endParaRPr lang="ko-KR" altLang="en-US"/>
          </a:p>
        </p:txBody>
      </p:sp>
      <p:sp>
        <p:nvSpPr>
          <p:cNvPr id="33" name="Shape 30"/>
          <p:cNvSpPr/>
          <p:nvPr/>
        </p:nvSpPr>
        <p:spPr>
          <a:xfrm>
            <a:off x="9532620" y="2807208"/>
            <a:ext cx="960120" cy="292608"/>
          </a:xfrm>
          <a:prstGeom prst="roundRect">
            <a:avLst>
              <a:gd name="adj" fmla="val 15625"/>
            </a:avLst>
          </a:prstGeom>
          <a:solidFill>
            <a:srgbClr val="1B2436"/>
          </a:solidFill>
          <a:ln w="12700">
            <a:solidFill>
              <a:srgbClr val="263049"/>
            </a:solidFill>
            <a:prstDash val="solid"/>
          </a:ln>
        </p:spPr>
        <p:txBody>
          <a:bodyPr/>
          <a:lstStyle/>
          <a:p>
            <a:endParaRPr lang="ko-KR" altLang="en-US"/>
          </a:p>
        </p:txBody>
      </p:sp>
      <p:sp>
        <p:nvSpPr>
          <p:cNvPr id="34" name="Text 31"/>
          <p:cNvSpPr/>
          <p:nvPr/>
        </p:nvSpPr>
        <p:spPr>
          <a:xfrm>
            <a:off x="10584180" y="2807208"/>
            <a:ext cx="822960" cy="292608"/>
          </a:xfrm>
          <a:prstGeom prst="rect">
            <a:avLst/>
          </a:prstGeom>
          <a:noFill/>
          <a:ln/>
        </p:spPr>
        <p:txBody>
          <a:bodyPr wrap="square" lIns="0" tIns="0" rIns="0" bIns="0" rtlCol="0" anchor="ctr"/>
          <a:lstStyle/>
          <a:p>
            <a:pPr marL="0" indent="0">
              <a:buNone/>
            </a:pPr>
            <a:r>
              <a:rPr lang="en-US" sz="950" dirty="0">
                <a:solidFill>
                  <a:srgbClr val="9FADC2"/>
                </a:solidFill>
                <a:latin typeface="Pretendard" pitchFamily="34" charset="0"/>
                <a:ea typeface="Pretendard" pitchFamily="34" charset="-122"/>
                <a:cs typeface="Pretendard" pitchFamily="34" charset="-120"/>
              </a:rPr>
              <a:t>짧은 조각</a:t>
            </a:r>
            <a:endParaRPr lang="en-US" sz="950" dirty="0"/>
          </a:p>
        </p:txBody>
      </p:sp>
      <p:sp>
        <p:nvSpPr>
          <p:cNvPr id="35" name="Shape 32"/>
          <p:cNvSpPr/>
          <p:nvPr/>
        </p:nvSpPr>
        <p:spPr>
          <a:xfrm>
            <a:off x="9486900" y="3154680"/>
            <a:ext cx="0" cy="274320"/>
          </a:xfrm>
          <a:prstGeom prst="line">
            <a:avLst/>
          </a:prstGeom>
          <a:noFill/>
          <a:ln w="15875">
            <a:solidFill>
              <a:srgbClr val="0E7490"/>
            </a:solidFill>
            <a:prstDash val="solid"/>
            <a:tailEnd type="triangle"/>
          </a:ln>
        </p:spPr>
        <p:txBody>
          <a:bodyPr/>
          <a:lstStyle/>
          <a:p>
            <a:endParaRPr lang="ko-KR" altLang="en-US"/>
          </a:p>
        </p:txBody>
      </p:sp>
      <p:sp>
        <p:nvSpPr>
          <p:cNvPr id="36" name="Shape 33"/>
          <p:cNvSpPr/>
          <p:nvPr/>
        </p:nvSpPr>
        <p:spPr>
          <a:xfrm>
            <a:off x="8481060" y="3465576"/>
            <a:ext cx="2011680" cy="292608"/>
          </a:xfrm>
          <a:prstGeom prst="roundRect">
            <a:avLst>
              <a:gd name="adj" fmla="val 15625"/>
            </a:avLst>
          </a:prstGeom>
          <a:solidFill>
            <a:srgbClr val="0F2A3A"/>
          </a:solidFill>
          <a:ln w="12700">
            <a:solidFill>
              <a:srgbClr val="155E75"/>
            </a:solidFill>
            <a:prstDash val="solid"/>
          </a:ln>
        </p:spPr>
        <p:txBody>
          <a:bodyPr/>
          <a:lstStyle/>
          <a:p>
            <a:endParaRPr lang="ko-KR" altLang="en-US"/>
          </a:p>
        </p:txBody>
      </p:sp>
      <p:sp>
        <p:nvSpPr>
          <p:cNvPr id="37" name="Text 34"/>
          <p:cNvSpPr/>
          <p:nvPr/>
        </p:nvSpPr>
        <p:spPr>
          <a:xfrm>
            <a:off x="10584180" y="3465576"/>
            <a:ext cx="914400" cy="292608"/>
          </a:xfrm>
          <a:prstGeom prst="rect">
            <a:avLst/>
          </a:prstGeom>
          <a:noFill/>
          <a:ln/>
        </p:spPr>
        <p:txBody>
          <a:bodyPr wrap="square" lIns="0" tIns="0" rIns="0" bIns="0" rtlCol="0" anchor="ctr"/>
          <a:lstStyle/>
          <a:p>
            <a:pPr marL="0" indent="0">
              <a:buNone/>
            </a:pPr>
            <a:r>
              <a:rPr lang="en-US" sz="950" dirty="0">
                <a:solidFill>
                  <a:srgbClr val="67E8F9"/>
                </a:solidFill>
                <a:latin typeface="Pretendard" pitchFamily="34" charset="0"/>
                <a:ea typeface="Pretendard" pitchFamily="34" charset="-122"/>
                <a:cs typeface="Pretendard" pitchFamily="34" charset="-120"/>
              </a:rPr>
              <a:t>하나의 청크</a:t>
            </a:r>
            <a:endParaRPr lang="en-US" sz="950" dirty="0"/>
          </a:p>
        </p:txBody>
      </p:sp>
      <p:sp>
        <p:nvSpPr>
          <p:cNvPr id="38" name="Shape 35"/>
          <p:cNvSpPr/>
          <p:nvPr/>
        </p:nvSpPr>
        <p:spPr>
          <a:xfrm>
            <a:off x="566928" y="4709160"/>
            <a:ext cx="11064240" cy="1417320"/>
          </a:xfrm>
          <a:prstGeom prst="roundRect">
            <a:avLst>
              <a:gd name="adj" fmla="val 5161"/>
            </a:avLst>
          </a:prstGeom>
          <a:solidFill>
            <a:srgbClr val="161D2E"/>
          </a:solidFill>
          <a:ln w="12700">
            <a:solidFill>
              <a:srgbClr val="263049"/>
            </a:solidFill>
            <a:prstDash val="solid"/>
          </a:ln>
        </p:spPr>
        <p:txBody>
          <a:bodyPr/>
          <a:lstStyle/>
          <a:p>
            <a:endParaRPr lang="ko-KR" altLang="en-US"/>
          </a:p>
        </p:txBody>
      </p:sp>
      <p:sp>
        <p:nvSpPr>
          <p:cNvPr id="39" name="Text 36"/>
          <p:cNvSpPr/>
          <p:nvPr/>
        </p:nvSpPr>
        <p:spPr>
          <a:xfrm>
            <a:off x="868680" y="4873752"/>
            <a:ext cx="2743200" cy="274320"/>
          </a:xfrm>
          <a:prstGeom prst="rect">
            <a:avLst/>
          </a:prstGeom>
          <a:noFill/>
          <a:ln/>
        </p:spPr>
        <p:txBody>
          <a:bodyPr wrap="square" lIns="0" tIns="0" rIns="0" bIns="0" rtlCol="0" anchor="ctr"/>
          <a:lstStyle/>
          <a:p>
            <a:pPr marL="0" indent="0">
              <a:buNone/>
            </a:pPr>
            <a:r>
              <a:rPr lang="en-US" sz="1050" b="1" kern="0" spc="100" dirty="0">
                <a:solidFill>
                  <a:srgbClr val="22D3EE"/>
                </a:solidFill>
                <a:latin typeface="Consolas" pitchFamily="34" charset="0"/>
                <a:ea typeface="Consolas" pitchFamily="34" charset="-122"/>
                <a:cs typeface="Consolas" pitchFamily="34" charset="-120"/>
              </a:rPr>
              <a:t>우리가 정한 값</a:t>
            </a:r>
            <a:endParaRPr lang="en-US" sz="1050" dirty="0"/>
          </a:p>
        </p:txBody>
      </p:sp>
      <p:sp>
        <p:nvSpPr>
          <p:cNvPr id="40" name="Text 37"/>
          <p:cNvSpPr/>
          <p:nvPr/>
        </p:nvSpPr>
        <p:spPr>
          <a:xfrm>
            <a:off x="868680" y="5193792"/>
            <a:ext cx="3383280" cy="256032"/>
          </a:xfrm>
          <a:prstGeom prst="rect">
            <a:avLst/>
          </a:prstGeom>
          <a:noFill/>
          <a:ln/>
        </p:spPr>
        <p:txBody>
          <a:bodyPr wrap="square" lIns="0" tIns="0" rIns="0" bIns="0" rtlCol="0" anchor="ctr"/>
          <a:lstStyle/>
          <a:p>
            <a:pPr marL="0" indent="0">
              <a:buNone/>
            </a:pPr>
            <a:r>
              <a:rPr lang="en-US" sz="1200" dirty="0">
                <a:solidFill>
                  <a:srgbClr val="67E8F9"/>
                </a:solidFill>
                <a:latin typeface="Pretendard" pitchFamily="34" charset="0"/>
                <a:ea typeface="Pretendard" pitchFamily="34" charset="-122"/>
                <a:cs typeface="Pretendard" pitchFamily="34" charset="-120"/>
              </a:rPr>
              <a:t>토큰 한도</a:t>
            </a:r>
            <a:endParaRPr lang="en-US" sz="1200" dirty="0"/>
          </a:p>
        </p:txBody>
      </p:sp>
      <p:sp>
        <p:nvSpPr>
          <p:cNvPr id="41" name="Text 38"/>
          <p:cNvSpPr/>
          <p:nvPr/>
        </p:nvSpPr>
        <p:spPr>
          <a:xfrm>
            <a:off x="868680" y="5431536"/>
            <a:ext cx="3383280" cy="292608"/>
          </a:xfrm>
          <a:prstGeom prst="rect">
            <a:avLst/>
          </a:prstGeom>
          <a:noFill/>
          <a:ln/>
        </p:spPr>
        <p:txBody>
          <a:bodyPr wrap="square" lIns="0" tIns="0" rIns="0" bIns="0" rtlCol="0" anchor="ctr"/>
          <a:lstStyle/>
          <a:p>
            <a:pPr marL="0" indent="0">
              <a:buNone/>
            </a:pPr>
            <a:r>
              <a:rPr lang="en-US" sz="1300" b="1" dirty="0">
                <a:solidFill>
                  <a:srgbClr val="F1F5F9"/>
                </a:solidFill>
                <a:latin typeface="Pretendard" pitchFamily="34" charset="0"/>
                <a:ea typeface="Pretendard" pitchFamily="34" charset="-122"/>
                <a:cs typeface="Pretendard" pitchFamily="34" charset="-120"/>
              </a:rPr>
              <a:t>512</a:t>
            </a:r>
            <a:endParaRPr lang="en-US" sz="1300" dirty="0"/>
          </a:p>
        </p:txBody>
      </p:sp>
      <p:sp>
        <p:nvSpPr>
          <p:cNvPr id="42" name="Text 39"/>
          <p:cNvSpPr/>
          <p:nvPr/>
        </p:nvSpPr>
        <p:spPr>
          <a:xfrm>
            <a:off x="4526280" y="5193792"/>
            <a:ext cx="3383280" cy="256032"/>
          </a:xfrm>
          <a:prstGeom prst="rect">
            <a:avLst/>
          </a:prstGeom>
          <a:noFill/>
          <a:ln/>
        </p:spPr>
        <p:txBody>
          <a:bodyPr wrap="square" lIns="0" tIns="0" rIns="0" bIns="0" rtlCol="0" anchor="ctr"/>
          <a:lstStyle/>
          <a:p>
            <a:pPr marL="0" indent="0">
              <a:buNone/>
            </a:pPr>
            <a:r>
              <a:rPr lang="en-US" sz="1200" dirty="0">
                <a:solidFill>
                  <a:srgbClr val="67E8F9"/>
                </a:solidFill>
                <a:latin typeface="Pretendard" pitchFamily="34" charset="0"/>
                <a:ea typeface="Pretendard" pitchFamily="34" charset="-122"/>
                <a:cs typeface="Pretendard" pitchFamily="34" charset="-120"/>
              </a:rPr>
              <a:t>인접 병합</a:t>
            </a:r>
            <a:endParaRPr lang="en-US" sz="1200" dirty="0"/>
          </a:p>
        </p:txBody>
      </p:sp>
      <p:sp>
        <p:nvSpPr>
          <p:cNvPr id="43" name="Text 40"/>
          <p:cNvSpPr/>
          <p:nvPr/>
        </p:nvSpPr>
        <p:spPr>
          <a:xfrm>
            <a:off x="4526280" y="5431536"/>
            <a:ext cx="3383280" cy="292608"/>
          </a:xfrm>
          <a:prstGeom prst="rect">
            <a:avLst/>
          </a:prstGeom>
          <a:noFill/>
          <a:ln/>
        </p:spPr>
        <p:txBody>
          <a:bodyPr wrap="square" lIns="0" tIns="0" rIns="0" bIns="0" rtlCol="0" anchor="ctr"/>
          <a:lstStyle/>
          <a:p>
            <a:pPr marL="0" indent="0">
              <a:buNone/>
            </a:pPr>
            <a:r>
              <a:rPr lang="en-US" sz="1300" b="1" dirty="0">
                <a:solidFill>
                  <a:srgbClr val="F1F5F9"/>
                </a:solidFill>
                <a:latin typeface="Pretendard" pitchFamily="34" charset="0"/>
                <a:ea typeface="Pretendard" pitchFamily="34" charset="-122"/>
                <a:cs typeface="Pretendard" pitchFamily="34" charset="-120"/>
              </a:rPr>
              <a:t>사용</a:t>
            </a:r>
            <a:endParaRPr lang="en-US" sz="1300" dirty="0"/>
          </a:p>
        </p:txBody>
      </p:sp>
      <p:sp>
        <p:nvSpPr>
          <p:cNvPr id="44" name="Text 41"/>
          <p:cNvSpPr/>
          <p:nvPr/>
        </p:nvSpPr>
        <p:spPr>
          <a:xfrm>
            <a:off x="8183880" y="5193792"/>
            <a:ext cx="3383280" cy="256032"/>
          </a:xfrm>
          <a:prstGeom prst="rect">
            <a:avLst/>
          </a:prstGeom>
          <a:noFill/>
          <a:ln/>
        </p:spPr>
        <p:txBody>
          <a:bodyPr wrap="square" lIns="0" tIns="0" rIns="0" bIns="0" rtlCol="0" anchor="ctr"/>
          <a:lstStyle/>
          <a:p>
            <a:pPr marL="0" indent="0">
              <a:buNone/>
            </a:pPr>
            <a:r>
              <a:rPr lang="en-US" sz="1200" dirty="0">
                <a:solidFill>
                  <a:srgbClr val="67E8F9"/>
                </a:solidFill>
                <a:latin typeface="Pretendard" pitchFamily="34" charset="0"/>
                <a:ea typeface="Pretendard" pitchFamily="34" charset="-122"/>
                <a:cs typeface="Pretendard" pitchFamily="34" charset="-120"/>
              </a:rPr>
              <a:t>토큰 계산</a:t>
            </a:r>
            <a:endParaRPr lang="en-US" sz="1200" dirty="0"/>
          </a:p>
        </p:txBody>
      </p:sp>
      <p:sp>
        <p:nvSpPr>
          <p:cNvPr id="45" name="Text 42"/>
          <p:cNvSpPr/>
          <p:nvPr/>
        </p:nvSpPr>
        <p:spPr>
          <a:xfrm>
            <a:off x="8183880" y="5431536"/>
            <a:ext cx="3383280" cy="292608"/>
          </a:xfrm>
          <a:prstGeom prst="rect">
            <a:avLst/>
          </a:prstGeom>
          <a:noFill/>
          <a:ln/>
        </p:spPr>
        <p:txBody>
          <a:bodyPr wrap="square" lIns="0" tIns="0" rIns="0" bIns="0" rtlCol="0" anchor="ctr"/>
          <a:lstStyle/>
          <a:p>
            <a:pPr marL="0" indent="0">
              <a:buNone/>
            </a:pPr>
            <a:r>
              <a:rPr lang="en-US" sz="1300" b="1" dirty="0">
                <a:solidFill>
                  <a:srgbClr val="F1F5F9"/>
                </a:solidFill>
                <a:latin typeface="Pretendard" pitchFamily="34" charset="0"/>
                <a:ea typeface="Pretendard" pitchFamily="34" charset="-122"/>
                <a:cs typeface="Pretendard" pitchFamily="34" charset="-120"/>
              </a:rPr>
              <a:t>임베딩 모델과 같은 tokenizer</a:t>
            </a:r>
            <a:endParaRPr lang="en-US" sz="1300" dirty="0"/>
          </a:p>
        </p:txBody>
      </p:sp>
      <p:sp>
        <p:nvSpPr>
          <p:cNvPr id="46" name="Shape 43"/>
          <p:cNvSpPr/>
          <p:nvPr/>
        </p:nvSpPr>
        <p:spPr>
          <a:xfrm>
            <a:off x="868680" y="5751576"/>
            <a:ext cx="10460736" cy="0"/>
          </a:xfrm>
          <a:prstGeom prst="line">
            <a:avLst/>
          </a:prstGeom>
          <a:noFill/>
          <a:ln w="12700">
            <a:solidFill>
              <a:srgbClr val="263049"/>
            </a:solidFill>
            <a:prstDash val="solid"/>
          </a:ln>
        </p:spPr>
        <p:txBody>
          <a:bodyPr/>
          <a:lstStyle/>
          <a:p>
            <a:endParaRPr lang="ko-KR" altLang="en-US"/>
          </a:p>
        </p:txBody>
      </p:sp>
      <p:sp>
        <p:nvSpPr>
          <p:cNvPr id="47" name="Text 44"/>
          <p:cNvSpPr/>
          <p:nvPr/>
        </p:nvSpPr>
        <p:spPr>
          <a:xfrm>
            <a:off x="868680" y="5769864"/>
            <a:ext cx="10460736" cy="292608"/>
          </a:xfrm>
          <a:prstGeom prst="rect">
            <a:avLst/>
          </a:prstGeom>
          <a:noFill/>
          <a:ln/>
        </p:spPr>
        <p:txBody>
          <a:bodyPr wrap="square" lIns="0" tIns="0" rIns="0" bIns="0" rtlCol="0" anchor="ctr"/>
          <a:lstStyle/>
          <a:p>
            <a:pPr marL="0" indent="0">
              <a:buNone/>
            </a:pPr>
            <a:r>
              <a:rPr lang="en-US" sz="1200" dirty="0">
                <a:solidFill>
                  <a:srgbClr val="BAC6D8"/>
                </a:solidFill>
                <a:latin typeface="Pretendard" pitchFamily="34" charset="0"/>
                <a:ea typeface="Pretendard" pitchFamily="34" charset="-122"/>
                <a:cs typeface="Pretendard" pitchFamily="34" charset="-120"/>
              </a:rPr>
              <a:t>한도를 넘는 청크가 하나라도 남으면 </a:t>
            </a:r>
            <a:r>
              <a:rPr lang="en-US" sz="1200" b="1" dirty="0">
                <a:solidFill>
                  <a:srgbClr val="FBBF24"/>
                </a:solidFill>
                <a:latin typeface="Pretendard" pitchFamily="34" charset="0"/>
                <a:ea typeface="Pretendard" pitchFamily="34" charset="-122"/>
                <a:cs typeface="Pretendard" pitchFamily="34" charset="-120"/>
              </a:rPr>
              <a:t>적재하지 않고 실패로 돌린다</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CHUNKING · 발생한 문제</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확인된 문제 세 가지</a:t>
            </a:r>
            <a:endParaRPr lang="en-US" sz="2700" dirty="0"/>
          </a:p>
        </p:txBody>
      </p:sp>
      <p:sp>
        <p:nvSpPr>
          <p:cNvPr id="5" name="Text 2"/>
          <p:cNvSpPr/>
          <p:nvPr/>
        </p:nvSpPr>
        <p:spPr>
          <a:xfrm>
            <a:off x="566928" y="1243584"/>
            <a:ext cx="11064240" cy="320040"/>
          </a:xfrm>
          <a:prstGeom prst="rect">
            <a:avLst/>
          </a:prstGeom>
          <a:noFill/>
          <a:ln/>
        </p:spPr>
        <p:txBody>
          <a:bodyPr wrap="square" lIns="0" tIns="0" rIns="0" bIns="0" rtlCol="0" anchor="ctr"/>
          <a:lstStyle/>
          <a:p>
            <a:pPr marL="0" indent="0">
              <a:buNone/>
            </a:pPr>
            <a:r>
              <a:rPr lang="en-US" sz="1300" dirty="0">
                <a:solidFill>
                  <a:srgbClr val="BAC6D8"/>
                </a:solidFill>
                <a:latin typeface="Pretendard Light" pitchFamily="34" charset="0"/>
                <a:ea typeface="Pretendard Light" pitchFamily="34" charset="-122"/>
                <a:cs typeface="Pretendard Light" pitchFamily="34" charset="-120"/>
              </a:rPr>
              <a:t>공통 원인 — 파싱이 준 문서 구조를 그대로 믿고, 모든 유형을 같은 방식으로 직렬화한다</a:t>
            </a:r>
            <a:endParaRPr lang="en-US" sz="1300" dirty="0"/>
          </a:p>
        </p:txBody>
      </p:sp>
      <p:sp>
        <p:nvSpPr>
          <p:cNvPr id="6" name="Text 3"/>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20</a:t>
            </a:r>
            <a:endParaRPr lang="en-US" sz="1050" dirty="0"/>
          </a:p>
        </p:txBody>
      </p:sp>
      <p:sp>
        <p:nvSpPr>
          <p:cNvPr id="7" name="Shape 4"/>
          <p:cNvSpPr/>
          <p:nvPr/>
        </p:nvSpPr>
        <p:spPr>
          <a:xfrm>
            <a:off x="566928" y="1828800"/>
            <a:ext cx="3538728" cy="3520440"/>
          </a:xfrm>
          <a:prstGeom prst="roundRect">
            <a:avLst>
              <a:gd name="adj" fmla="val 2078"/>
            </a:avLst>
          </a:prstGeom>
          <a:solidFill>
            <a:srgbClr val="351717"/>
          </a:solidFill>
          <a:ln w="12700">
            <a:solidFill>
              <a:srgbClr val="7F1D1D"/>
            </a:solidFill>
            <a:prstDash val="solid"/>
          </a:ln>
        </p:spPr>
        <p:txBody>
          <a:bodyPr/>
          <a:lstStyle/>
          <a:p>
            <a:endParaRPr lang="ko-KR" altLang="en-US"/>
          </a:p>
        </p:txBody>
      </p:sp>
      <p:sp>
        <p:nvSpPr>
          <p:cNvPr id="8" name="Text 5"/>
          <p:cNvSpPr/>
          <p:nvPr/>
        </p:nvSpPr>
        <p:spPr>
          <a:xfrm>
            <a:off x="841248" y="2103120"/>
            <a:ext cx="365760" cy="365760"/>
          </a:xfrm>
          <a:prstGeom prst="rect">
            <a:avLst/>
          </a:prstGeom>
          <a:solidFill>
            <a:srgbClr val="F87171"/>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1</a:t>
            </a:r>
            <a:endParaRPr lang="en-US" sz="1400" dirty="0"/>
          </a:p>
        </p:txBody>
      </p:sp>
      <p:sp>
        <p:nvSpPr>
          <p:cNvPr id="9" name="Text 6"/>
          <p:cNvSpPr/>
          <p:nvPr/>
        </p:nvSpPr>
        <p:spPr>
          <a:xfrm>
            <a:off x="1316736" y="2103120"/>
            <a:ext cx="2514600" cy="365760"/>
          </a:xfrm>
          <a:prstGeom prst="rect">
            <a:avLst/>
          </a:prstGeom>
          <a:noFill/>
          <a:ln/>
        </p:spPr>
        <p:txBody>
          <a:bodyPr wrap="square" lIns="0" tIns="0" rIns="0" bIns="0" rtlCol="0" anchor="ctr"/>
          <a:lstStyle/>
          <a:p>
            <a:pPr marL="0" indent="0">
              <a:buNone/>
            </a:pPr>
            <a:r>
              <a:rPr lang="en-US" sz="1350" b="1" dirty="0">
                <a:solidFill>
                  <a:srgbClr val="F87171"/>
                </a:solidFill>
                <a:latin typeface="Pretendard" pitchFamily="34" charset="0"/>
                <a:ea typeface="Pretendard" pitchFamily="34" charset="-122"/>
                <a:cs typeface="Pretendard" pitchFamily="34" charset="-120"/>
              </a:rPr>
              <a:t>제목이 몇 단계인지 사라진다</a:t>
            </a:r>
            <a:endParaRPr lang="en-US" sz="1350" dirty="0"/>
          </a:p>
        </p:txBody>
      </p:sp>
      <p:sp>
        <p:nvSpPr>
          <p:cNvPr id="10" name="Text 7"/>
          <p:cNvSpPr/>
          <p:nvPr/>
        </p:nvSpPr>
        <p:spPr>
          <a:xfrm>
            <a:off x="841248" y="2697480"/>
            <a:ext cx="2990088" cy="237744"/>
          </a:xfrm>
          <a:prstGeom prst="rect">
            <a:avLst/>
          </a:prstGeom>
          <a:noFill/>
          <a:ln/>
        </p:spPr>
        <p:txBody>
          <a:bodyPr wrap="square" lIns="0" tIns="0" rIns="0" bIns="0" rtlCol="0" anchor="ctr"/>
          <a:lstStyle/>
          <a:p>
            <a:pPr marL="0" indent="0">
              <a:buNone/>
            </a:pPr>
            <a:r>
              <a:rPr lang="en-US" sz="950" dirty="0">
                <a:solidFill>
                  <a:srgbClr val="9FADC2"/>
                </a:solidFill>
                <a:latin typeface="Pretendard" pitchFamily="34" charset="0"/>
                <a:ea typeface="Pretendard" pitchFamily="34" charset="-122"/>
                <a:cs typeface="Pretendard" pitchFamily="34" charset="-120"/>
              </a:rPr>
              <a:t>원본 문서</a:t>
            </a:r>
            <a:endParaRPr lang="en-US" sz="950" dirty="0"/>
          </a:p>
        </p:txBody>
      </p:sp>
      <p:sp>
        <p:nvSpPr>
          <p:cNvPr id="11" name="Shape 8"/>
          <p:cNvSpPr/>
          <p:nvPr/>
        </p:nvSpPr>
        <p:spPr>
          <a:xfrm>
            <a:off x="841248" y="2935224"/>
            <a:ext cx="2990088" cy="457200"/>
          </a:xfrm>
          <a:prstGeom prst="roundRect">
            <a:avLst>
              <a:gd name="adj" fmla="val 10000"/>
            </a:avLst>
          </a:prstGeom>
          <a:solidFill>
            <a:srgbClr val="1A1414"/>
          </a:solidFill>
          <a:ln w="12700">
            <a:solidFill>
              <a:srgbClr val="3A2020"/>
            </a:solidFill>
            <a:prstDash val="solid"/>
          </a:ln>
        </p:spPr>
        <p:txBody>
          <a:bodyPr/>
          <a:lstStyle/>
          <a:p>
            <a:endParaRPr lang="ko-KR" altLang="en-US"/>
          </a:p>
        </p:txBody>
      </p:sp>
      <p:sp>
        <p:nvSpPr>
          <p:cNvPr id="12" name="Text 9"/>
          <p:cNvSpPr/>
          <p:nvPr/>
        </p:nvSpPr>
        <p:spPr>
          <a:xfrm>
            <a:off x="950976" y="2935224"/>
            <a:ext cx="2770632" cy="457200"/>
          </a:xfrm>
          <a:prstGeom prst="rect">
            <a:avLst/>
          </a:prstGeom>
          <a:noFill/>
          <a:ln/>
        </p:spPr>
        <p:txBody>
          <a:bodyPr wrap="square" lIns="0" tIns="0" rIns="0" bIns="0" rtlCol="0" anchor="ctr"/>
          <a:lstStyle/>
          <a:p>
            <a:pPr marL="0" indent="0">
              <a:buNone/>
            </a:pPr>
            <a:r>
              <a:rPr lang="en-US" sz="1050" dirty="0">
                <a:solidFill>
                  <a:srgbClr val="BAC6D8"/>
                </a:solidFill>
                <a:latin typeface="Consolas" pitchFamily="34" charset="0"/>
                <a:ea typeface="Consolas" pitchFamily="34" charset="-122"/>
                <a:cs typeface="Consolas" pitchFamily="34" charset="-120"/>
              </a:rPr>
              <a:t>제품군 › 세부 제품 › Specifications</a:t>
            </a:r>
            <a:endParaRPr lang="en-US" sz="1050" dirty="0"/>
          </a:p>
        </p:txBody>
      </p:sp>
      <p:sp>
        <p:nvSpPr>
          <p:cNvPr id="13" name="Text 10"/>
          <p:cNvSpPr/>
          <p:nvPr/>
        </p:nvSpPr>
        <p:spPr>
          <a:xfrm>
            <a:off x="841248" y="3557016"/>
            <a:ext cx="2990088" cy="237744"/>
          </a:xfrm>
          <a:prstGeom prst="rect">
            <a:avLst/>
          </a:prstGeom>
          <a:noFill/>
          <a:ln/>
        </p:spPr>
        <p:txBody>
          <a:bodyPr wrap="square" lIns="0" tIns="0" rIns="0" bIns="0" rtlCol="0" anchor="ctr"/>
          <a:lstStyle/>
          <a:p>
            <a:pPr marL="0" indent="0">
              <a:buNone/>
            </a:pPr>
            <a:r>
              <a:rPr lang="en-US" sz="950" dirty="0">
                <a:solidFill>
                  <a:srgbClr val="9FADC2"/>
                </a:solidFill>
                <a:latin typeface="Pretendard" pitchFamily="34" charset="0"/>
                <a:ea typeface="Pretendard" pitchFamily="34" charset="-122"/>
                <a:cs typeface="Pretendard" pitchFamily="34" charset="-120"/>
              </a:rPr>
              <a:t>청크에 남는 것</a:t>
            </a:r>
            <a:endParaRPr lang="en-US" sz="950" dirty="0"/>
          </a:p>
        </p:txBody>
      </p:sp>
      <p:sp>
        <p:nvSpPr>
          <p:cNvPr id="14" name="Shape 11"/>
          <p:cNvSpPr/>
          <p:nvPr/>
        </p:nvSpPr>
        <p:spPr>
          <a:xfrm>
            <a:off x="841248" y="3794760"/>
            <a:ext cx="2990088" cy="457200"/>
          </a:xfrm>
          <a:prstGeom prst="roundRect">
            <a:avLst>
              <a:gd name="adj" fmla="val 10000"/>
            </a:avLst>
          </a:prstGeom>
          <a:solidFill>
            <a:srgbClr val="1A1414"/>
          </a:solidFill>
          <a:ln w="12700">
            <a:solidFill>
              <a:srgbClr val="3A2020"/>
            </a:solidFill>
            <a:prstDash val="solid"/>
          </a:ln>
        </p:spPr>
        <p:txBody>
          <a:bodyPr/>
          <a:lstStyle/>
          <a:p>
            <a:endParaRPr lang="ko-KR" altLang="en-US"/>
          </a:p>
        </p:txBody>
      </p:sp>
      <p:sp>
        <p:nvSpPr>
          <p:cNvPr id="15" name="Text 12"/>
          <p:cNvSpPr/>
          <p:nvPr/>
        </p:nvSpPr>
        <p:spPr>
          <a:xfrm>
            <a:off x="950976" y="3794760"/>
            <a:ext cx="2770632" cy="457200"/>
          </a:xfrm>
          <a:prstGeom prst="rect">
            <a:avLst/>
          </a:prstGeom>
          <a:noFill/>
          <a:ln/>
        </p:spPr>
        <p:txBody>
          <a:bodyPr wrap="square" lIns="0" tIns="0" rIns="0" bIns="0" rtlCol="0" anchor="ctr"/>
          <a:lstStyle/>
          <a:p>
            <a:pPr marL="0" indent="0">
              <a:buNone/>
            </a:pPr>
            <a:r>
              <a:rPr lang="en-US" sz="1050" dirty="0">
                <a:solidFill>
                  <a:srgbClr val="BAC6D8"/>
                </a:solidFill>
                <a:latin typeface="Consolas" pitchFamily="34" charset="0"/>
                <a:ea typeface="Consolas" pitchFamily="34" charset="-122"/>
                <a:cs typeface="Consolas" pitchFamily="34" charset="-120"/>
              </a:rPr>
              <a:t>Specifications</a:t>
            </a:r>
            <a:endParaRPr lang="en-US" sz="1050" dirty="0"/>
          </a:p>
        </p:txBody>
      </p:sp>
      <p:sp>
        <p:nvSpPr>
          <p:cNvPr id="16" name="Shape 13"/>
          <p:cNvSpPr/>
          <p:nvPr/>
        </p:nvSpPr>
        <p:spPr>
          <a:xfrm>
            <a:off x="841248" y="4343400"/>
            <a:ext cx="2990088" cy="0"/>
          </a:xfrm>
          <a:prstGeom prst="line">
            <a:avLst/>
          </a:prstGeom>
          <a:noFill/>
          <a:ln w="12700">
            <a:solidFill>
              <a:srgbClr val="7F1D1D"/>
            </a:solidFill>
            <a:prstDash val="solid"/>
          </a:ln>
        </p:spPr>
        <p:txBody>
          <a:bodyPr/>
          <a:lstStyle/>
          <a:p>
            <a:endParaRPr lang="ko-KR" altLang="en-US"/>
          </a:p>
        </p:txBody>
      </p:sp>
      <p:sp>
        <p:nvSpPr>
          <p:cNvPr id="17" name="Text 14"/>
          <p:cNvSpPr/>
          <p:nvPr/>
        </p:nvSpPr>
        <p:spPr>
          <a:xfrm>
            <a:off x="841248" y="4462272"/>
            <a:ext cx="2990088" cy="237744"/>
          </a:xfrm>
          <a:prstGeom prst="rect">
            <a:avLst/>
          </a:prstGeom>
          <a:noFill/>
          <a:ln/>
        </p:spPr>
        <p:txBody>
          <a:bodyPr wrap="square" lIns="0" tIns="0" rIns="0" bIns="0" rtlCol="0" anchor="ctr"/>
          <a:lstStyle/>
          <a:p>
            <a:pPr marL="0" indent="0">
              <a:buNone/>
            </a:pPr>
            <a:r>
              <a:rPr lang="en-US" sz="1000" b="1" kern="0" spc="100" dirty="0">
                <a:solidFill>
                  <a:srgbClr val="F87171"/>
                </a:solidFill>
                <a:latin typeface="Consolas" pitchFamily="34" charset="0"/>
                <a:ea typeface="Consolas" pitchFamily="34" charset="-122"/>
                <a:cs typeface="Consolas" pitchFamily="34" charset="-120"/>
              </a:rPr>
              <a:t>그래서</a:t>
            </a:r>
            <a:endParaRPr lang="en-US" sz="1000" dirty="0"/>
          </a:p>
        </p:txBody>
      </p:sp>
      <p:sp>
        <p:nvSpPr>
          <p:cNvPr id="18" name="Text 15"/>
          <p:cNvSpPr/>
          <p:nvPr/>
        </p:nvSpPr>
        <p:spPr>
          <a:xfrm>
            <a:off x="841248" y="4700016"/>
            <a:ext cx="2990088" cy="548640"/>
          </a:xfrm>
          <a:prstGeom prst="rect">
            <a:avLst/>
          </a:prstGeom>
          <a:noFill/>
          <a:ln/>
        </p:spPr>
        <p:txBody>
          <a:bodyPr wrap="square" lIns="0" tIns="0" rIns="0" bIns="0" rtlCol="0" anchor="t"/>
          <a:lstStyle/>
          <a:p>
            <a:pPr marL="0" indent="0">
              <a:lnSpc>
                <a:spcPct val="120000"/>
              </a:lnSpc>
              <a:buNone/>
            </a:pPr>
            <a:r>
              <a:rPr lang="en-US" sz="1150" dirty="0">
                <a:solidFill>
                  <a:srgbClr val="F1F5F9"/>
                </a:solidFill>
                <a:latin typeface="Pretendard" pitchFamily="34" charset="0"/>
                <a:ea typeface="Pretendard" pitchFamily="34" charset="-122"/>
                <a:cs typeface="Pretendard" pitchFamily="34" charset="-120"/>
              </a:rPr>
              <a:t>어느 제품 이야기인지 모른 채</a:t>
            </a:r>
            <a:endParaRPr lang="en-US" sz="1150" dirty="0"/>
          </a:p>
          <a:p>
            <a:pPr marL="0" indent="0">
              <a:lnSpc>
                <a:spcPct val="120000"/>
              </a:lnSpc>
              <a:buNone/>
            </a:pPr>
            <a:r>
              <a:rPr lang="en-US" sz="1150" dirty="0">
                <a:solidFill>
                  <a:srgbClr val="F1F5F9"/>
                </a:solidFill>
                <a:latin typeface="Pretendard" pitchFamily="34" charset="0"/>
                <a:ea typeface="Pretendard" pitchFamily="34" charset="-122"/>
                <a:cs typeface="Pretendard" pitchFamily="34" charset="-120"/>
              </a:rPr>
              <a:t>본문과 표가 검색된다</a:t>
            </a:r>
            <a:endParaRPr lang="en-US" sz="1150" dirty="0"/>
          </a:p>
        </p:txBody>
      </p:sp>
      <p:sp>
        <p:nvSpPr>
          <p:cNvPr id="19" name="Shape 16"/>
          <p:cNvSpPr/>
          <p:nvPr/>
        </p:nvSpPr>
        <p:spPr>
          <a:xfrm>
            <a:off x="4325112" y="1828800"/>
            <a:ext cx="3538728" cy="3520440"/>
          </a:xfrm>
          <a:prstGeom prst="roundRect">
            <a:avLst>
              <a:gd name="adj" fmla="val 2078"/>
            </a:avLst>
          </a:prstGeom>
          <a:solidFill>
            <a:srgbClr val="351717"/>
          </a:solidFill>
          <a:ln w="12700">
            <a:solidFill>
              <a:srgbClr val="7F1D1D"/>
            </a:solidFill>
            <a:prstDash val="solid"/>
          </a:ln>
        </p:spPr>
        <p:txBody>
          <a:bodyPr/>
          <a:lstStyle/>
          <a:p>
            <a:endParaRPr lang="ko-KR" altLang="en-US"/>
          </a:p>
        </p:txBody>
      </p:sp>
      <p:sp>
        <p:nvSpPr>
          <p:cNvPr id="20" name="Text 17"/>
          <p:cNvSpPr/>
          <p:nvPr/>
        </p:nvSpPr>
        <p:spPr>
          <a:xfrm>
            <a:off x="4599432" y="2103120"/>
            <a:ext cx="365760" cy="365760"/>
          </a:xfrm>
          <a:prstGeom prst="rect">
            <a:avLst/>
          </a:prstGeom>
          <a:solidFill>
            <a:srgbClr val="F87171"/>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2</a:t>
            </a:r>
            <a:endParaRPr lang="en-US" sz="1400" dirty="0"/>
          </a:p>
        </p:txBody>
      </p:sp>
      <p:sp>
        <p:nvSpPr>
          <p:cNvPr id="21" name="Text 18"/>
          <p:cNvSpPr/>
          <p:nvPr/>
        </p:nvSpPr>
        <p:spPr>
          <a:xfrm>
            <a:off x="5074920" y="2103120"/>
            <a:ext cx="2514600" cy="365760"/>
          </a:xfrm>
          <a:prstGeom prst="rect">
            <a:avLst/>
          </a:prstGeom>
          <a:noFill/>
          <a:ln/>
        </p:spPr>
        <p:txBody>
          <a:bodyPr wrap="square" lIns="0" tIns="0" rIns="0" bIns="0" rtlCol="0" anchor="ctr"/>
          <a:lstStyle/>
          <a:p>
            <a:pPr marL="0" indent="0">
              <a:buNone/>
            </a:pPr>
            <a:r>
              <a:rPr lang="en-US" sz="1350" b="1" dirty="0">
                <a:solidFill>
                  <a:srgbClr val="F87171"/>
                </a:solidFill>
                <a:latin typeface="Pretendard" pitchFamily="34" charset="0"/>
                <a:ea typeface="Pretendard" pitchFamily="34" charset="-122"/>
                <a:cs typeface="Pretendard" pitchFamily="34" charset="-120"/>
              </a:rPr>
              <a:t>표가 글자로 펴진 뒤 잘린다</a:t>
            </a:r>
            <a:endParaRPr lang="en-US" sz="1350" dirty="0"/>
          </a:p>
        </p:txBody>
      </p:sp>
      <p:sp>
        <p:nvSpPr>
          <p:cNvPr id="22" name="Text 19"/>
          <p:cNvSpPr/>
          <p:nvPr/>
        </p:nvSpPr>
        <p:spPr>
          <a:xfrm>
            <a:off x="4599432" y="2697480"/>
            <a:ext cx="2990088" cy="237744"/>
          </a:xfrm>
          <a:prstGeom prst="rect">
            <a:avLst/>
          </a:prstGeom>
          <a:noFill/>
          <a:ln/>
        </p:spPr>
        <p:txBody>
          <a:bodyPr wrap="square" lIns="0" tIns="0" rIns="0" bIns="0" rtlCol="0" anchor="ctr"/>
          <a:lstStyle/>
          <a:p>
            <a:pPr marL="0" indent="0">
              <a:buNone/>
            </a:pPr>
            <a:r>
              <a:rPr lang="en-US" sz="950" dirty="0">
                <a:solidFill>
                  <a:srgbClr val="9FADC2"/>
                </a:solidFill>
                <a:latin typeface="Pretendard" pitchFamily="34" charset="0"/>
                <a:ea typeface="Pretendard" pitchFamily="34" charset="-122"/>
                <a:cs typeface="Pretendard" pitchFamily="34" charset="-120"/>
              </a:rPr>
              <a:t>원본 표의 값</a:t>
            </a:r>
            <a:endParaRPr lang="en-US" sz="950" dirty="0"/>
          </a:p>
        </p:txBody>
      </p:sp>
      <p:sp>
        <p:nvSpPr>
          <p:cNvPr id="23" name="Shape 20"/>
          <p:cNvSpPr/>
          <p:nvPr/>
        </p:nvSpPr>
        <p:spPr>
          <a:xfrm>
            <a:off x="4599432" y="2935224"/>
            <a:ext cx="2990088" cy="457200"/>
          </a:xfrm>
          <a:prstGeom prst="roundRect">
            <a:avLst>
              <a:gd name="adj" fmla="val 10000"/>
            </a:avLst>
          </a:prstGeom>
          <a:solidFill>
            <a:srgbClr val="1A1414"/>
          </a:solidFill>
          <a:ln w="12700">
            <a:solidFill>
              <a:srgbClr val="3A2020"/>
            </a:solidFill>
            <a:prstDash val="solid"/>
          </a:ln>
        </p:spPr>
        <p:txBody>
          <a:bodyPr/>
          <a:lstStyle/>
          <a:p>
            <a:endParaRPr lang="ko-KR" altLang="en-US"/>
          </a:p>
        </p:txBody>
      </p:sp>
      <p:sp>
        <p:nvSpPr>
          <p:cNvPr id="24" name="Text 21"/>
          <p:cNvSpPr/>
          <p:nvPr/>
        </p:nvSpPr>
        <p:spPr>
          <a:xfrm>
            <a:off x="4709160" y="2935224"/>
            <a:ext cx="2770632" cy="457200"/>
          </a:xfrm>
          <a:prstGeom prst="rect">
            <a:avLst/>
          </a:prstGeom>
          <a:noFill/>
          <a:ln/>
        </p:spPr>
        <p:txBody>
          <a:bodyPr wrap="square" lIns="0" tIns="0" rIns="0" bIns="0" rtlCol="0" anchor="ctr"/>
          <a:lstStyle/>
          <a:p>
            <a:pPr marL="0" indent="0">
              <a:buNone/>
            </a:pPr>
            <a:r>
              <a:rPr lang="en-US" sz="1050" dirty="0">
                <a:solidFill>
                  <a:srgbClr val="BAC6D8"/>
                </a:solidFill>
                <a:latin typeface="Consolas" pitchFamily="34" charset="0"/>
                <a:ea typeface="Consolas" pitchFamily="34" charset="-122"/>
                <a:cs typeface="Consolas" pitchFamily="34" charset="-120"/>
              </a:rPr>
              <a:t>5,700 x 2,800 x 2,950</a:t>
            </a:r>
            <a:endParaRPr lang="en-US" sz="1050" dirty="0"/>
          </a:p>
        </p:txBody>
      </p:sp>
      <p:sp>
        <p:nvSpPr>
          <p:cNvPr id="25" name="Text 22"/>
          <p:cNvSpPr/>
          <p:nvPr/>
        </p:nvSpPr>
        <p:spPr>
          <a:xfrm>
            <a:off x="4599432" y="3557016"/>
            <a:ext cx="2990088" cy="237744"/>
          </a:xfrm>
          <a:prstGeom prst="rect">
            <a:avLst/>
          </a:prstGeom>
          <a:noFill/>
          <a:ln/>
        </p:spPr>
        <p:txBody>
          <a:bodyPr wrap="square" lIns="0" tIns="0" rIns="0" bIns="0" rtlCol="0" anchor="ctr"/>
          <a:lstStyle/>
          <a:p>
            <a:pPr marL="0" indent="0">
              <a:buNone/>
            </a:pPr>
            <a:r>
              <a:rPr lang="en-US" sz="950" dirty="0">
                <a:solidFill>
                  <a:srgbClr val="9FADC2"/>
                </a:solidFill>
                <a:latin typeface="Pretendard" pitchFamily="34" charset="0"/>
                <a:ea typeface="Pretendard" pitchFamily="34" charset="-122"/>
                <a:cs typeface="Pretendard" pitchFamily="34" charset="-120"/>
              </a:rPr>
              <a:t>잘린 결과</a:t>
            </a:r>
            <a:endParaRPr lang="en-US" sz="950" dirty="0"/>
          </a:p>
        </p:txBody>
      </p:sp>
      <p:sp>
        <p:nvSpPr>
          <p:cNvPr id="26" name="Shape 23"/>
          <p:cNvSpPr/>
          <p:nvPr/>
        </p:nvSpPr>
        <p:spPr>
          <a:xfrm>
            <a:off x="4599432" y="3794760"/>
            <a:ext cx="2990088" cy="457200"/>
          </a:xfrm>
          <a:prstGeom prst="roundRect">
            <a:avLst>
              <a:gd name="adj" fmla="val 10000"/>
            </a:avLst>
          </a:prstGeom>
          <a:solidFill>
            <a:srgbClr val="1A1414"/>
          </a:solidFill>
          <a:ln w="12700">
            <a:solidFill>
              <a:srgbClr val="3A2020"/>
            </a:solidFill>
            <a:prstDash val="solid"/>
          </a:ln>
        </p:spPr>
        <p:txBody>
          <a:bodyPr/>
          <a:lstStyle/>
          <a:p>
            <a:endParaRPr lang="ko-KR" altLang="en-US"/>
          </a:p>
        </p:txBody>
      </p:sp>
      <p:sp>
        <p:nvSpPr>
          <p:cNvPr id="27" name="Text 24"/>
          <p:cNvSpPr/>
          <p:nvPr/>
        </p:nvSpPr>
        <p:spPr>
          <a:xfrm>
            <a:off x="4709160" y="3794760"/>
            <a:ext cx="2770632" cy="457200"/>
          </a:xfrm>
          <a:prstGeom prst="rect">
            <a:avLst/>
          </a:prstGeom>
          <a:noFill/>
          <a:ln/>
        </p:spPr>
        <p:txBody>
          <a:bodyPr wrap="square" lIns="0" tIns="0" rIns="0" bIns="0" rtlCol="0" anchor="ctr"/>
          <a:lstStyle/>
          <a:p>
            <a:pPr marL="0" indent="0">
              <a:buNone/>
            </a:pPr>
            <a:r>
              <a:rPr lang="en-US" sz="1050" dirty="0">
                <a:solidFill>
                  <a:srgbClr val="BAC6D8"/>
                </a:solidFill>
                <a:latin typeface="Consolas" pitchFamily="34" charset="0"/>
                <a:ea typeface="Consolas" pitchFamily="34" charset="-122"/>
                <a:cs typeface="Consolas" pitchFamily="34" charset="-120"/>
              </a:rPr>
              <a:t>5,700 x | 2,800 x 2,950</a:t>
            </a:r>
            <a:endParaRPr lang="en-US" sz="1050" dirty="0"/>
          </a:p>
        </p:txBody>
      </p:sp>
      <p:sp>
        <p:nvSpPr>
          <p:cNvPr id="28" name="Shape 25"/>
          <p:cNvSpPr/>
          <p:nvPr/>
        </p:nvSpPr>
        <p:spPr>
          <a:xfrm>
            <a:off x="4599432" y="4343400"/>
            <a:ext cx="2990088" cy="0"/>
          </a:xfrm>
          <a:prstGeom prst="line">
            <a:avLst/>
          </a:prstGeom>
          <a:noFill/>
          <a:ln w="12700">
            <a:solidFill>
              <a:srgbClr val="7F1D1D"/>
            </a:solidFill>
            <a:prstDash val="solid"/>
          </a:ln>
        </p:spPr>
        <p:txBody>
          <a:bodyPr/>
          <a:lstStyle/>
          <a:p>
            <a:endParaRPr lang="ko-KR" altLang="en-US"/>
          </a:p>
        </p:txBody>
      </p:sp>
      <p:sp>
        <p:nvSpPr>
          <p:cNvPr id="29" name="Text 26"/>
          <p:cNvSpPr/>
          <p:nvPr/>
        </p:nvSpPr>
        <p:spPr>
          <a:xfrm>
            <a:off x="4599432" y="4462272"/>
            <a:ext cx="2990088" cy="237744"/>
          </a:xfrm>
          <a:prstGeom prst="rect">
            <a:avLst/>
          </a:prstGeom>
          <a:noFill/>
          <a:ln/>
        </p:spPr>
        <p:txBody>
          <a:bodyPr wrap="square" lIns="0" tIns="0" rIns="0" bIns="0" rtlCol="0" anchor="ctr"/>
          <a:lstStyle/>
          <a:p>
            <a:pPr marL="0" indent="0">
              <a:buNone/>
            </a:pPr>
            <a:r>
              <a:rPr lang="en-US" sz="1000" b="1" kern="0" spc="100" dirty="0">
                <a:solidFill>
                  <a:srgbClr val="F87171"/>
                </a:solidFill>
                <a:latin typeface="Consolas" pitchFamily="34" charset="0"/>
                <a:ea typeface="Consolas" pitchFamily="34" charset="-122"/>
                <a:cs typeface="Consolas" pitchFamily="34" charset="-120"/>
              </a:rPr>
              <a:t>그래서</a:t>
            </a:r>
            <a:endParaRPr lang="en-US" sz="1000" dirty="0"/>
          </a:p>
        </p:txBody>
      </p:sp>
      <p:sp>
        <p:nvSpPr>
          <p:cNvPr id="30" name="Text 27"/>
          <p:cNvSpPr/>
          <p:nvPr/>
        </p:nvSpPr>
        <p:spPr>
          <a:xfrm>
            <a:off x="4599432" y="4700016"/>
            <a:ext cx="2990088" cy="548640"/>
          </a:xfrm>
          <a:prstGeom prst="rect">
            <a:avLst/>
          </a:prstGeom>
          <a:noFill/>
          <a:ln/>
        </p:spPr>
        <p:txBody>
          <a:bodyPr wrap="square" lIns="0" tIns="0" rIns="0" bIns="0" rtlCol="0" anchor="t"/>
          <a:lstStyle/>
          <a:p>
            <a:pPr marL="0" indent="0">
              <a:lnSpc>
                <a:spcPct val="120000"/>
              </a:lnSpc>
              <a:buNone/>
            </a:pPr>
            <a:r>
              <a:rPr lang="en-US" sz="1150" dirty="0">
                <a:solidFill>
                  <a:srgbClr val="F1F5F9"/>
                </a:solidFill>
                <a:latin typeface="Pretendard" pitchFamily="34" charset="0"/>
                <a:ea typeface="Pretendard" pitchFamily="34" charset="-122"/>
                <a:cs typeface="Pretendard" pitchFamily="34" charset="-120"/>
              </a:rPr>
              <a:t>값이 어느 제품 · 어느 항목의 것인지</a:t>
            </a:r>
            <a:endParaRPr lang="en-US" sz="1150" dirty="0"/>
          </a:p>
          <a:p>
            <a:pPr marL="0" indent="0">
              <a:lnSpc>
                <a:spcPct val="120000"/>
              </a:lnSpc>
              <a:buNone/>
            </a:pPr>
            <a:r>
              <a:rPr lang="en-US" sz="1150" dirty="0">
                <a:solidFill>
                  <a:srgbClr val="F1F5F9"/>
                </a:solidFill>
                <a:latin typeface="Pretendard" pitchFamily="34" charset="0"/>
                <a:ea typeface="Pretendard" pitchFamily="34" charset="-122"/>
                <a:cs typeface="Pretendard" pitchFamily="34" charset="-120"/>
              </a:rPr>
              <a:t>알 수 없게 된다</a:t>
            </a:r>
            <a:endParaRPr lang="en-US" sz="1150" dirty="0"/>
          </a:p>
        </p:txBody>
      </p:sp>
      <p:sp>
        <p:nvSpPr>
          <p:cNvPr id="31" name="Shape 28"/>
          <p:cNvSpPr/>
          <p:nvPr/>
        </p:nvSpPr>
        <p:spPr>
          <a:xfrm>
            <a:off x="8083296" y="1828800"/>
            <a:ext cx="3538728" cy="3520440"/>
          </a:xfrm>
          <a:prstGeom prst="roundRect">
            <a:avLst>
              <a:gd name="adj" fmla="val 2078"/>
            </a:avLst>
          </a:prstGeom>
          <a:solidFill>
            <a:srgbClr val="351717"/>
          </a:solidFill>
          <a:ln w="12700">
            <a:solidFill>
              <a:srgbClr val="7F1D1D"/>
            </a:solidFill>
            <a:prstDash val="solid"/>
          </a:ln>
        </p:spPr>
        <p:txBody>
          <a:bodyPr/>
          <a:lstStyle/>
          <a:p>
            <a:endParaRPr lang="ko-KR" altLang="en-US"/>
          </a:p>
        </p:txBody>
      </p:sp>
      <p:sp>
        <p:nvSpPr>
          <p:cNvPr id="32" name="Text 29"/>
          <p:cNvSpPr/>
          <p:nvPr/>
        </p:nvSpPr>
        <p:spPr>
          <a:xfrm>
            <a:off x="8357616" y="2103120"/>
            <a:ext cx="365760" cy="365760"/>
          </a:xfrm>
          <a:prstGeom prst="rect">
            <a:avLst/>
          </a:prstGeom>
          <a:solidFill>
            <a:srgbClr val="F87171"/>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3</a:t>
            </a:r>
            <a:endParaRPr lang="en-US" sz="1400" dirty="0"/>
          </a:p>
        </p:txBody>
      </p:sp>
      <p:sp>
        <p:nvSpPr>
          <p:cNvPr id="33" name="Text 30"/>
          <p:cNvSpPr/>
          <p:nvPr/>
        </p:nvSpPr>
        <p:spPr>
          <a:xfrm>
            <a:off x="8833104" y="2103120"/>
            <a:ext cx="2514600" cy="365760"/>
          </a:xfrm>
          <a:prstGeom prst="rect">
            <a:avLst/>
          </a:prstGeom>
          <a:noFill/>
          <a:ln/>
        </p:spPr>
        <p:txBody>
          <a:bodyPr wrap="square" lIns="0" tIns="0" rIns="0" bIns="0" rtlCol="0" anchor="ctr"/>
          <a:lstStyle/>
          <a:p>
            <a:pPr marL="0" indent="0">
              <a:buNone/>
            </a:pPr>
            <a:r>
              <a:rPr lang="en-US" sz="1350" b="1" dirty="0">
                <a:solidFill>
                  <a:srgbClr val="F87171"/>
                </a:solidFill>
                <a:latin typeface="Pretendard" pitchFamily="34" charset="0"/>
                <a:ea typeface="Pretendard" pitchFamily="34" charset="-122"/>
                <a:cs typeface="Pretendard" pitchFamily="34" charset="-120"/>
              </a:rPr>
              <a:t>그림에서 나온 글자가 섞여 든다</a:t>
            </a:r>
            <a:endParaRPr lang="en-US" sz="1350" dirty="0"/>
          </a:p>
        </p:txBody>
      </p:sp>
      <p:sp>
        <p:nvSpPr>
          <p:cNvPr id="34" name="Text 31"/>
          <p:cNvSpPr/>
          <p:nvPr/>
        </p:nvSpPr>
        <p:spPr>
          <a:xfrm>
            <a:off x="8357616" y="2697480"/>
            <a:ext cx="2990088" cy="237744"/>
          </a:xfrm>
          <a:prstGeom prst="rect">
            <a:avLst/>
          </a:prstGeom>
          <a:noFill/>
          <a:ln/>
        </p:spPr>
        <p:txBody>
          <a:bodyPr wrap="square" lIns="0" tIns="0" rIns="0" bIns="0" rtlCol="0" anchor="ctr"/>
          <a:lstStyle/>
          <a:p>
            <a:pPr marL="0" indent="0">
              <a:buNone/>
            </a:pPr>
            <a:r>
              <a:rPr lang="en-US" sz="950" dirty="0">
                <a:solidFill>
                  <a:srgbClr val="9FADC2"/>
                </a:solidFill>
                <a:latin typeface="Pretendard" pitchFamily="34" charset="0"/>
                <a:ea typeface="Pretendard" pitchFamily="34" charset="-122"/>
                <a:cs typeface="Pretendard" pitchFamily="34" charset="-120"/>
              </a:rPr>
              <a:t>청크에 들어온 문자열</a:t>
            </a:r>
            <a:endParaRPr lang="en-US" sz="950" dirty="0"/>
          </a:p>
        </p:txBody>
      </p:sp>
      <p:sp>
        <p:nvSpPr>
          <p:cNvPr id="35" name="Shape 32"/>
          <p:cNvSpPr/>
          <p:nvPr/>
        </p:nvSpPr>
        <p:spPr>
          <a:xfrm>
            <a:off x="8357616" y="2935224"/>
            <a:ext cx="2990088" cy="457200"/>
          </a:xfrm>
          <a:prstGeom prst="roundRect">
            <a:avLst>
              <a:gd name="adj" fmla="val 10000"/>
            </a:avLst>
          </a:prstGeom>
          <a:solidFill>
            <a:srgbClr val="1A1414"/>
          </a:solidFill>
          <a:ln w="12700">
            <a:solidFill>
              <a:srgbClr val="3A2020"/>
            </a:solidFill>
            <a:prstDash val="solid"/>
          </a:ln>
        </p:spPr>
        <p:txBody>
          <a:bodyPr/>
          <a:lstStyle/>
          <a:p>
            <a:endParaRPr lang="ko-KR" altLang="en-US"/>
          </a:p>
        </p:txBody>
      </p:sp>
      <p:sp>
        <p:nvSpPr>
          <p:cNvPr id="36" name="Text 33"/>
          <p:cNvSpPr/>
          <p:nvPr/>
        </p:nvSpPr>
        <p:spPr>
          <a:xfrm>
            <a:off x="8467344" y="2935224"/>
            <a:ext cx="2770632" cy="457200"/>
          </a:xfrm>
          <a:prstGeom prst="rect">
            <a:avLst/>
          </a:prstGeom>
          <a:noFill/>
          <a:ln/>
        </p:spPr>
        <p:txBody>
          <a:bodyPr wrap="square" lIns="0" tIns="0" rIns="0" bIns="0" rtlCol="0" anchor="ctr"/>
          <a:lstStyle/>
          <a:p>
            <a:pPr marL="0" indent="0">
              <a:buNone/>
            </a:pPr>
            <a:r>
              <a:rPr lang="en-US" sz="1050" dirty="0">
                <a:solidFill>
                  <a:srgbClr val="BAC6D8"/>
                </a:solidFill>
                <a:latin typeface="Consolas" pitchFamily="34" charset="0"/>
                <a:ea typeface="Consolas" pitchFamily="34" charset="-122"/>
                <a:cs typeface="Consolas" pitchFamily="34" charset="-120"/>
              </a:rPr>
              <a:t>Logo / Icon / Engineering drawing</a:t>
            </a:r>
            <a:endParaRPr lang="en-US" sz="1050" dirty="0"/>
          </a:p>
        </p:txBody>
      </p:sp>
      <p:sp>
        <p:nvSpPr>
          <p:cNvPr id="37" name="Shape 34"/>
          <p:cNvSpPr/>
          <p:nvPr/>
        </p:nvSpPr>
        <p:spPr>
          <a:xfrm>
            <a:off x="8357616" y="3575304"/>
            <a:ext cx="2990088" cy="457200"/>
          </a:xfrm>
          <a:prstGeom prst="roundRect">
            <a:avLst>
              <a:gd name="adj" fmla="val 10000"/>
            </a:avLst>
          </a:prstGeom>
          <a:solidFill>
            <a:srgbClr val="1A1414"/>
          </a:solidFill>
          <a:ln w="12700">
            <a:solidFill>
              <a:srgbClr val="3A2020"/>
            </a:solidFill>
            <a:prstDash val="solid"/>
          </a:ln>
        </p:spPr>
        <p:txBody>
          <a:bodyPr/>
          <a:lstStyle/>
          <a:p>
            <a:endParaRPr lang="ko-KR" altLang="en-US"/>
          </a:p>
        </p:txBody>
      </p:sp>
      <p:sp>
        <p:nvSpPr>
          <p:cNvPr id="38" name="Text 35"/>
          <p:cNvSpPr/>
          <p:nvPr/>
        </p:nvSpPr>
        <p:spPr>
          <a:xfrm>
            <a:off x="8467344" y="3575304"/>
            <a:ext cx="2770632" cy="457200"/>
          </a:xfrm>
          <a:prstGeom prst="rect">
            <a:avLst/>
          </a:prstGeom>
          <a:noFill/>
          <a:ln/>
        </p:spPr>
        <p:txBody>
          <a:bodyPr wrap="square" lIns="0" tIns="0" rIns="0" bIns="0" rtlCol="0" anchor="ctr"/>
          <a:lstStyle/>
          <a:p>
            <a:pPr marL="0" indent="0">
              <a:buNone/>
            </a:pPr>
            <a:r>
              <a:rPr lang="en-US" sz="1050" dirty="0">
                <a:solidFill>
                  <a:srgbClr val="BAC6D8"/>
                </a:solidFill>
                <a:latin typeface="Consolas" pitchFamily="34" charset="0"/>
                <a:ea typeface="Consolas" pitchFamily="34" charset="-122"/>
                <a:cs typeface="Consolas" pitchFamily="34" charset="-120"/>
              </a:rPr>
              <a:t>부정확한 이미지 설명</a:t>
            </a:r>
            <a:endParaRPr lang="en-US" sz="1050" dirty="0"/>
          </a:p>
        </p:txBody>
      </p:sp>
      <p:sp>
        <p:nvSpPr>
          <p:cNvPr id="39" name="Shape 36"/>
          <p:cNvSpPr/>
          <p:nvPr/>
        </p:nvSpPr>
        <p:spPr>
          <a:xfrm>
            <a:off x="8357616" y="4343400"/>
            <a:ext cx="2990088" cy="0"/>
          </a:xfrm>
          <a:prstGeom prst="line">
            <a:avLst/>
          </a:prstGeom>
          <a:noFill/>
          <a:ln w="12700">
            <a:solidFill>
              <a:srgbClr val="7F1D1D"/>
            </a:solidFill>
            <a:prstDash val="solid"/>
          </a:ln>
        </p:spPr>
        <p:txBody>
          <a:bodyPr/>
          <a:lstStyle/>
          <a:p>
            <a:endParaRPr lang="ko-KR" altLang="en-US"/>
          </a:p>
        </p:txBody>
      </p:sp>
      <p:sp>
        <p:nvSpPr>
          <p:cNvPr id="40" name="Text 37"/>
          <p:cNvSpPr/>
          <p:nvPr/>
        </p:nvSpPr>
        <p:spPr>
          <a:xfrm>
            <a:off x="8357616" y="4462272"/>
            <a:ext cx="2990088" cy="237744"/>
          </a:xfrm>
          <a:prstGeom prst="rect">
            <a:avLst/>
          </a:prstGeom>
          <a:noFill/>
          <a:ln/>
        </p:spPr>
        <p:txBody>
          <a:bodyPr wrap="square" lIns="0" tIns="0" rIns="0" bIns="0" rtlCol="0" anchor="ctr"/>
          <a:lstStyle/>
          <a:p>
            <a:pPr marL="0" indent="0">
              <a:buNone/>
            </a:pPr>
            <a:r>
              <a:rPr lang="en-US" sz="1000" b="1" kern="0" spc="100" dirty="0">
                <a:solidFill>
                  <a:srgbClr val="F87171"/>
                </a:solidFill>
                <a:latin typeface="Consolas" pitchFamily="34" charset="0"/>
                <a:ea typeface="Consolas" pitchFamily="34" charset="-122"/>
                <a:cs typeface="Consolas" pitchFamily="34" charset="-120"/>
              </a:rPr>
              <a:t>그래서</a:t>
            </a:r>
            <a:endParaRPr lang="en-US" sz="1000" dirty="0"/>
          </a:p>
        </p:txBody>
      </p:sp>
      <p:sp>
        <p:nvSpPr>
          <p:cNvPr id="41" name="Text 38"/>
          <p:cNvSpPr/>
          <p:nvPr/>
        </p:nvSpPr>
        <p:spPr>
          <a:xfrm>
            <a:off x="8357616" y="4700016"/>
            <a:ext cx="2990088" cy="548640"/>
          </a:xfrm>
          <a:prstGeom prst="rect">
            <a:avLst/>
          </a:prstGeom>
          <a:noFill/>
          <a:ln/>
        </p:spPr>
        <p:txBody>
          <a:bodyPr wrap="square" lIns="0" tIns="0" rIns="0" bIns="0" rtlCol="0" anchor="t"/>
          <a:lstStyle/>
          <a:p>
            <a:pPr marL="0" indent="0">
              <a:lnSpc>
                <a:spcPct val="120000"/>
              </a:lnSpc>
              <a:buNone/>
            </a:pPr>
            <a:r>
              <a:rPr lang="en-US" sz="1150" dirty="0">
                <a:solidFill>
                  <a:srgbClr val="F1F5F9"/>
                </a:solidFill>
                <a:latin typeface="Pretendard" pitchFamily="34" charset="0"/>
                <a:ea typeface="Pretendard" pitchFamily="34" charset="-122"/>
                <a:cs typeface="Pretendard" pitchFamily="34" charset="-120"/>
              </a:rPr>
              <a:t>뜻 없는 조각이 본문과</a:t>
            </a:r>
            <a:endParaRPr lang="en-US" sz="1150" dirty="0"/>
          </a:p>
          <a:p>
            <a:pPr marL="0" indent="0">
              <a:lnSpc>
                <a:spcPct val="120000"/>
              </a:lnSpc>
              <a:buNone/>
            </a:pPr>
            <a:r>
              <a:rPr lang="en-US" sz="1150" dirty="0">
                <a:solidFill>
                  <a:srgbClr val="F1F5F9"/>
                </a:solidFill>
                <a:latin typeface="Pretendard" pitchFamily="34" charset="0"/>
                <a:ea typeface="Pretendard" pitchFamily="34" charset="-122"/>
                <a:cs typeface="Pretendard" pitchFamily="34" charset="-120"/>
              </a:rPr>
              <a:t>같은 자격으로 검색된다</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CHUNKING</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청킹 — 남은 개선 방향</a:t>
            </a:r>
            <a:endParaRPr lang="en-US" sz="2700" dirty="0"/>
          </a:p>
        </p:txBody>
      </p:sp>
      <p:sp>
        <p:nvSpPr>
          <p:cNvPr id="5" name="Text 2"/>
          <p:cNvSpPr/>
          <p:nvPr/>
        </p:nvSpPr>
        <p:spPr>
          <a:xfrm>
            <a:off x="566928" y="1243584"/>
            <a:ext cx="11064240" cy="320040"/>
          </a:xfrm>
          <a:prstGeom prst="rect">
            <a:avLst/>
          </a:prstGeom>
          <a:noFill/>
          <a:ln/>
        </p:spPr>
        <p:txBody>
          <a:bodyPr wrap="square" lIns="0" tIns="0" rIns="0" bIns="0" rtlCol="0" anchor="ctr"/>
          <a:lstStyle/>
          <a:p>
            <a:pPr marL="0" indent="0">
              <a:buNone/>
            </a:pPr>
            <a:r>
              <a:rPr lang="en-US" sz="1300" dirty="0">
                <a:solidFill>
                  <a:srgbClr val="BAC6D8"/>
                </a:solidFill>
                <a:latin typeface="Pretendard Light" pitchFamily="34" charset="0"/>
                <a:ea typeface="Pretendard Light" pitchFamily="34" charset="-122"/>
                <a:cs typeface="Pretendard Light" pitchFamily="34" charset="-120"/>
              </a:rPr>
              <a:t>텍스트 · 표 · 이미지를 한 방식으로 직렬화하는 것이 문제 — 유형별로 다른 파이프라인을 검토한다</a:t>
            </a:r>
            <a:endParaRPr lang="en-US" sz="1300" dirty="0"/>
          </a:p>
        </p:txBody>
      </p:sp>
      <p:sp>
        <p:nvSpPr>
          <p:cNvPr id="6" name="Text 3"/>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21</a:t>
            </a:r>
            <a:endParaRPr lang="en-US" sz="1050" dirty="0"/>
          </a:p>
        </p:txBody>
      </p:sp>
      <p:sp>
        <p:nvSpPr>
          <p:cNvPr id="7" name="Shape 4"/>
          <p:cNvSpPr/>
          <p:nvPr/>
        </p:nvSpPr>
        <p:spPr>
          <a:xfrm>
            <a:off x="566928" y="1874520"/>
            <a:ext cx="3538728" cy="3566160"/>
          </a:xfrm>
          <a:prstGeom prst="roundRect">
            <a:avLst>
              <a:gd name="adj" fmla="val 2067"/>
            </a:avLst>
          </a:prstGeom>
          <a:solidFill>
            <a:srgbClr val="161D2E"/>
          </a:solidFill>
          <a:ln w="12700">
            <a:solidFill>
              <a:srgbClr val="263049"/>
            </a:solidFill>
            <a:prstDash val="solid"/>
          </a:ln>
        </p:spPr>
        <p:txBody>
          <a:bodyPr/>
          <a:lstStyle/>
          <a:p>
            <a:endParaRPr lang="ko-KR" altLang="en-US"/>
          </a:p>
        </p:txBody>
      </p:sp>
      <p:sp>
        <p:nvSpPr>
          <p:cNvPr id="8" name="Text 5"/>
          <p:cNvSpPr/>
          <p:nvPr/>
        </p:nvSpPr>
        <p:spPr>
          <a:xfrm>
            <a:off x="841248" y="2148840"/>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1</a:t>
            </a:r>
            <a:endParaRPr lang="en-US" sz="1400" dirty="0"/>
          </a:p>
        </p:txBody>
      </p:sp>
      <p:sp>
        <p:nvSpPr>
          <p:cNvPr id="9" name="Text 6"/>
          <p:cNvSpPr/>
          <p:nvPr/>
        </p:nvSpPr>
        <p:spPr>
          <a:xfrm>
            <a:off x="1371600" y="2148840"/>
            <a:ext cx="2459736" cy="384048"/>
          </a:xfrm>
          <a:prstGeom prst="rect">
            <a:avLst/>
          </a:prstGeom>
          <a:noFill/>
          <a:ln/>
        </p:spPr>
        <p:txBody>
          <a:bodyPr wrap="square" lIns="0" tIns="0" rIns="0" bIns="0" rtlCol="0" anchor="ctr"/>
          <a:lstStyle/>
          <a:p>
            <a:pPr marL="0" indent="0">
              <a:buNone/>
            </a:pPr>
            <a:r>
              <a:rPr lang="en-US" sz="1350" b="1" dirty="0">
                <a:solidFill>
                  <a:srgbClr val="67E8F9"/>
                </a:solidFill>
                <a:latin typeface="Pretendard" pitchFamily="34" charset="0"/>
                <a:ea typeface="Pretendard" pitchFamily="34" charset="-122"/>
                <a:cs typeface="Pretendard" pitchFamily="34" charset="-120"/>
              </a:rPr>
              <a:t>제목 계층 복원</a:t>
            </a:r>
            <a:endParaRPr lang="en-US" sz="1350" dirty="0"/>
          </a:p>
        </p:txBody>
      </p:sp>
      <p:sp>
        <p:nvSpPr>
          <p:cNvPr id="10" name="Text 7"/>
          <p:cNvSpPr/>
          <p:nvPr/>
        </p:nvSpPr>
        <p:spPr>
          <a:xfrm>
            <a:off x="841248" y="2743200"/>
            <a:ext cx="777240" cy="256032"/>
          </a:xfrm>
          <a:prstGeom prst="rect">
            <a:avLst/>
          </a:prstGeom>
          <a:noFill/>
          <a:ln/>
        </p:spPr>
        <p:txBody>
          <a:bodyPr wrap="square" lIns="0" tIns="0" rIns="0" bIns="0" rtlCol="0" anchor="ctr"/>
          <a:lstStyle/>
          <a:p>
            <a:pPr marL="0" indent="0">
              <a:buNone/>
            </a:pPr>
            <a:r>
              <a:rPr lang="en-US" sz="1000" b="1" kern="0" spc="100" dirty="0">
                <a:solidFill>
                  <a:srgbClr val="9FADC2"/>
                </a:solidFill>
                <a:latin typeface="Consolas" pitchFamily="34" charset="0"/>
                <a:ea typeface="Consolas" pitchFamily="34" charset="-122"/>
                <a:cs typeface="Consolas" pitchFamily="34" charset="-120"/>
              </a:rPr>
              <a:t>지금</a:t>
            </a:r>
            <a:endParaRPr lang="en-US" sz="1000" dirty="0"/>
          </a:p>
        </p:txBody>
      </p:sp>
      <p:sp>
        <p:nvSpPr>
          <p:cNvPr id="11" name="Text 8"/>
          <p:cNvSpPr/>
          <p:nvPr/>
        </p:nvSpPr>
        <p:spPr>
          <a:xfrm>
            <a:off x="841248" y="3008376"/>
            <a:ext cx="2990088" cy="566928"/>
          </a:xfrm>
          <a:prstGeom prst="rect">
            <a:avLst/>
          </a:prstGeom>
          <a:noFill/>
          <a:ln/>
        </p:spPr>
        <p:txBody>
          <a:bodyPr wrap="square" lIns="0" tIns="0" rIns="0" bIns="0" rtlCol="0" anchor="t"/>
          <a:lstStyle/>
          <a:p>
            <a:pPr marL="0" indent="0">
              <a:lnSpc>
                <a:spcPct val="125000"/>
              </a:lnSpc>
              <a:buNone/>
            </a:pPr>
            <a:r>
              <a:rPr lang="en-US" sz="1150" dirty="0">
                <a:solidFill>
                  <a:srgbClr val="BAC6D8"/>
                </a:solidFill>
                <a:latin typeface="Pretendard" pitchFamily="34" charset="0"/>
                <a:ea typeface="Pretendard" pitchFamily="34" charset="-122"/>
                <a:cs typeface="Pretendard" pitchFamily="34" charset="-120"/>
              </a:rPr>
              <a:t>제목이 전부 같은 단계로 들어와</a:t>
            </a:r>
            <a:endParaRPr lang="en-US" sz="1150" dirty="0"/>
          </a:p>
          <a:p>
            <a:pPr marL="0" indent="0">
              <a:lnSpc>
                <a:spcPct val="125000"/>
              </a:lnSpc>
              <a:buNone/>
            </a:pPr>
            <a:r>
              <a:rPr lang="en-US" sz="1150" dirty="0">
                <a:solidFill>
                  <a:srgbClr val="BAC6D8"/>
                </a:solidFill>
                <a:latin typeface="Pretendard" pitchFamily="34" charset="0"/>
                <a:ea typeface="Pretendard" pitchFamily="34" charset="-122"/>
                <a:cs typeface="Pretendard" pitchFamily="34" charset="-120"/>
              </a:rPr>
              <a:t>상하 관계가 없다</a:t>
            </a:r>
            <a:endParaRPr lang="en-US" sz="1150" dirty="0"/>
          </a:p>
        </p:txBody>
      </p:sp>
      <p:sp>
        <p:nvSpPr>
          <p:cNvPr id="12" name="Text 9"/>
          <p:cNvSpPr/>
          <p:nvPr/>
        </p:nvSpPr>
        <p:spPr>
          <a:xfrm>
            <a:off x="841248" y="3666744"/>
            <a:ext cx="868680" cy="256032"/>
          </a:xfrm>
          <a:prstGeom prst="rect">
            <a:avLst/>
          </a:prstGeom>
          <a:noFill/>
          <a:ln/>
        </p:spPr>
        <p:txBody>
          <a:bodyPr wrap="square" lIns="0" tIns="0" rIns="0" bIns="0" rtlCol="0" anchor="ctr"/>
          <a:lstStyle/>
          <a:p>
            <a:pPr marL="0" indent="0">
              <a:buNone/>
            </a:pPr>
            <a:r>
              <a:rPr lang="en-US" sz="1000" b="1" kern="0" spc="100" dirty="0">
                <a:solidFill>
                  <a:srgbClr val="22D3EE"/>
                </a:solidFill>
                <a:latin typeface="Consolas" pitchFamily="34" charset="0"/>
                <a:ea typeface="Consolas" pitchFamily="34" charset="-122"/>
                <a:cs typeface="Consolas" pitchFamily="34" charset="-120"/>
              </a:rPr>
              <a:t>바꿀 것</a:t>
            </a:r>
            <a:endParaRPr lang="en-US" sz="1000" dirty="0"/>
          </a:p>
        </p:txBody>
      </p:sp>
      <p:sp>
        <p:nvSpPr>
          <p:cNvPr id="13" name="Text 10"/>
          <p:cNvSpPr/>
          <p:nvPr/>
        </p:nvSpPr>
        <p:spPr>
          <a:xfrm>
            <a:off x="841248" y="3931920"/>
            <a:ext cx="2990088" cy="868680"/>
          </a:xfrm>
          <a:prstGeom prst="rect">
            <a:avLst/>
          </a:prstGeom>
          <a:noFill/>
          <a:ln/>
        </p:spPr>
        <p:txBody>
          <a:bodyPr wrap="square" lIns="0" tIns="0" rIns="0" bIns="0" rtlCol="0" anchor="t"/>
          <a:lstStyle/>
          <a:p>
            <a:pPr marL="0" indent="0">
              <a:lnSpc>
                <a:spcPct val="125000"/>
              </a:lnSpc>
              <a:buNone/>
            </a:pPr>
            <a:r>
              <a:rPr lang="en-US" sz="1150" dirty="0">
                <a:solidFill>
                  <a:srgbClr val="F1F5F9"/>
                </a:solidFill>
                <a:latin typeface="Pretendard" pitchFamily="34" charset="0"/>
                <a:ea typeface="Pretendard" pitchFamily="34" charset="-122"/>
                <a:cs typeface="Pretendard" pitchFamily="34" charset="-120"/>
              </a:rPr>
              <a:t>글자만 보고 제목 단계를 정하지 않는다</a:t>
            </a:r>
            <a:endParaRPr lang="en-US" sz="1150" dirty="0"/>
          </a:p>
          <a:p>
            <a:pPr marL="0" indent="0">
              <a:lnSpc>
                <a:spcPct val="125000"/>
              </a:lnSpc>
              <a:buNone/>
            </a:pPr>
            <a:r>
              <a:rPr lang="en-US" sz="1150" dirty="0">
                <a:solidFill>
                  <a:srgbClr val="F1F5F9"/>
                </a:solidFill>
                <a:latin typeface="Pretendard" pitchFamily="34" charset="0"/>
                <a:ea typeface="Pretendard" pitchFamily="34" charset="-122"/>
                <a:cs typeface="Pretendard" pitchFamily="34" charset="-120"/>
              </a:rPr>
              <a:t>위치와 글꼴 크기 · 굵기까지 함께 보고</a:t>
            </a:r>
            <a:endParaRPr lang="en-US" sz="1150" dirty="0"/>
          </a:p>
          <a:p>
            <a:pPr marL="0" indent="0">
              <a:lnSpc>
                <a:spcPct val="125000"/>
              </a:lnSpc>
              <a:buNone/>
            </a:pPr>
            <a:r>
              <a:rPr lang="en-US" sz="1150" dirty="0">
                <a:solidFill>
                  <a:srgbClr val="F1F5F9"/>
                </a:solidFill>
                <a:latin typeface="Pretendard" pitchFamily="34" charset="0"/>
                <a:ea typeface="Pretendard" pitchFamily="34" charset="-122"/>
                <a:cs typeface="Pretendard" pitchFamily="34" charset="-120"/>
              </a:rPr>
              <a:t>어느 제목 밑에 속하는지 판단한다</a:t>
            </a:r>
            <a:endParaRPr lang="en-US" sz="1150" dirty="0"/>
          </a:p>
        </p:txBody>
      </p:sp>
      <p:sp>
        <p:nvSpPr>
          <p:cNvPr id="14" name="Shape 11"/>
          <p:cNvSpPr/>
          <p:nvPr/>
        </p:nvSpPr>
        <p:spPr>
          <a:xfrm>
            <a:off x="841248" y="4837176"/>
            <a:ext cx="2990088" cy="0"/>
          </a:xfrm>
          <a:prstGeom prst="line">
            <a:avLst/>
          </a:prstGeom>
          <a:noFill/>
          <a:ln w="12700">
            <a:solidFill>
              <a:srgbClr val="263049"/>
            </a:solidFill>
            <a:prstDash val="solid"/>
          </a:ln>
        </p:spPr>
        <p:txBody>
          <a:bodyPr/>
          <a:lstStyle/>
          <a:p>
            <a:endParaRPr lang="ko-KR" altLang="en-US"/>
          </a:p>
        </p:txBody>
      </p:sp>
      <p:sp>
        <p:nvSpPr>
          <p:cNvPr id="15" name="Text 12"/>
          <p:cNvSpPr/>
          <p:nvPr/>
        </p:nvSpPr>
        <p:spPr>
          <a:xfrm>
            <a:off x="841248" y="4928616"/>
            <a:ext cx="2990088" cy="237744"/>
          </a:xfrm>
          <a:prstGeom prst="rect">
            <a:avLst/>
          </a:prstGeom>
          <a:noFill/>
          <a:ln/>
        </p:spPr>
        <p:txBody>
          <a:bodyPr wrap="square" lIns="0" tIns="0" rIns="0" bIns="0" rtlCol="0" anchor="ctr"/>
          <a:lstStyle/>
          <a:p>
            <a:pPr marL="0" indent="0">
              <a:buNone/>
            </a:pPr>
            <a:r>
              <a:rPr lang="en-US" sz="1000" dirty="0">
                <a:solidFill>
                  <a:srgbClr val="9FADC2"/>
                </a:solidFill>
                <a:latin typeface="Pretendard" pitchFamily="34" charset="0"/>
                <a:ea typeface="Pretendard" pitchFamily="34" charset="-122"/>
                <a:cs typeface="Pretendard" pitchFamily="34" charset="-120"/>
              </a:rPr>
              <a:t>글자만 → + 위치 → + 글꼴  (부모 제목 적중률)</a:t>
            </a:r>
            <a:endParaRPr lang="en-US" sz="1000" dirty="0"/>
          </a:p>
        </p:txBody>
      </p:sp>
      <p:sp>
        <p:nvSpPr>
          <p:cNvPr id="16" name="Text 13"/>
          <p:cNvSpPr/>
          <p:nvPr/>
        </p:nvSpPr>
        <p:spPr>
          <a:xfrm>
            <a:off x="841248" y="5148072"/>
            <a:ext cx="2990088" cy="256032"/>
          </a:xfrm>
          <a:prstGeom prst="rect">
            <a:avLst/>
          </a:prstGeom>
          <a:noFill/>
          <a:ln/>
        </p:spPr>
        <p:txBody>
          <a:bodyPr wrap="square" lIns="0" tIns="0" rIns="0" bIns="0" rtlCol="0" anchor="ctr"/>
          <a:lstStyle/>
          <a:p>
            <a:pPr marL="0" indent="0">
              <a:buNone/>
            </a:pPr>
            <a:r>
              <a:rPr lang="en-US" sz="1000" b="1" dirty="0">
                <a:solidFill>
                  <a:srgbClr val="22D3EE"/>
                </a:solidFill>
                <a:latin typeface="Consolas" pitchFamily="34" charset="0"/>
                <a:ea typeface="Consolas" pitchFamily="34" charset="-122"/>
                <a:cs typeface="Consolas" pitchFamily="34" charset="-120"/>
              </a:rPr>
              <a:t>56.96%  →  84.85%  →  88.41%</a:t>
            </a:r>
            <a:endParaRPr lang="en-US" sz="1000" dirty="0"/>
          </a:p>
        </p:txBody>
      </p:sp>
      <p:sp>
        <p:nvSpPr>
          <p:cNvPr id="17" name="Shape 14"/>
          <p:cNvSpPr/>
          <p:nvPr/>
        </p:nvSpPr>
        <p:spPr>
          <a:xfrm>
            <a:off x="4325112" y="1874520"/>
            <a:ext cx="3538728" cy="3566160"/>
          </a:xfrm>
          <a:prstGeom prst="roundRect">
            <a:avLst>
              <a:gd name="adj" fmla="val 2067"/>
            </a:avLst>
          </a:prstGeom>
          <a:solidFill>
            <a:srgbClr val="161D2E"/>
          </a:solidFill>
          <a:ln w="12700">
            <a:solidFill>
              <a:srgbClr val="263049"/>
            </a:solidFill>
            <a:prstDash val="solid"/>
          </a:ln>
        </p:spPr>
        <p:txBody>
          <a:bodyPr/>
          <a:lstStyle/>
          <a:p>
            <a:endParaRPr lang="ko-KR" altLang="en-US"/>
          </a:p>
        </p:txBody>
      </p:sp>
      <p:sp>
        <p:nvSpPr>
          <p:cNvPr id="18" name="Text 15"/>
          <p:cNvSpPr/>
          <p:nvPr/>
        </p:nvSpPr>
        <p:spPr>
          <a:xfrm>
            <a:off x="4599432" y="2148840"/>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2</a:t>
            </a:r>
            <a:endParaRPr lang="en-US" sz="1400" dirty="0"/>
          </a:p>
        </p:txBody>
      </p:sp>
      <p:sp>
        <p:nvSpPr>
          <p:cNvPr id="19" name="Text 16"/>
          <p:cNvSpPr/>
          <p:nvPr/>
        </p:nvSpPr>
        <p:spPr>
          <a:xfrm>
            <a:off x="5129784" y="2148840"/>
            <a:ext cx="2459736" cy="384048"/>
          </a:xfrm>
          <a:prstGeom prst="rect">
            <a:avLst/>
          </a:prstGeom>
          <a:noFill/>
          <a:ln/>
        </p:spPr>
        <p:txBody>
          <a:bodyPr wrap="square" lIns="0" tIns="0" rIns="0" bIns="0" rtlCol="0" anchor="ctr"/>
          <a:lstStyle/>
          <a:p>
            <a:pPr marL="0" indent="0">
              <a:buNone/>
            </a:pPr>
            <a:r>
              <a:rPr lang="en-US" sz="1350" b="1" dirty="0">
                <a:solidFill>
                  <a:srgbClr val="67E8F9"/>
                </a:solidFill>
                <a:latin typeface="Pretendard" pitchFamily="34" charset="0"/>
                <a:ea typeface="Pretendard" pitchFamily="34" charset="-122"/>
                <a:cs typeface="Pretendard" pitchFamily="34" charset="-120"/>
              </a:rPr>
              <a:t>표 전용 청킹</a:t>
            </a:r>
            <a:endParaRPr lang="en-US" sz="1350" dirty="0"/>
          </a:p>
        </p:txBody>
      </p:sp>
      <p:sp>
        <p:nvSpPr>
          <p:cNvPr id="20" name="Text 17"/>
          <p:cNvSpPr/>
          <p:nvPr/>
        </p:nvSpPr>
        <p:spPr>
          <a:xfrm>
            <a:off x="4599432" y="2743200"/>
            <a:ext cx="777240" cy="256032"/>
          </a:xfrm>
          <a:prstGeom prst="rect">
            <a:avLst/>
          </a:prstGeom>
          <a:noFill/>
          <a:ln/>
        </p:spPr>
        <p:txBody>
          <a:bodyPr wrap="square" lIns="0" tIns="0" rIns="0" bIns="0" rtlCol="0" anchor="ctr"/>
          <a:lstStyle/>
          <a:p>
            <a:pPr marL="0" indent="0">
              <a:buNone/>
            </a:pPr>
            <a:r>
              <a:rPr lang="en-US" sz="1000" b="1" kern="0" spc="100" dirty="0">
                <a:solidFill>
                  <a:srgbClr val="9FADC2"/>
                </a:solidFill>
                <a:latin typeface="Consolas" pitchFamily="34" charset="0"/>
                <a:ea typeface="Consolas" pitchFamily="34" charset="-122"/>
                <a:cs typeface="Consolas" pitchFamily="34" charset="-120"/>
              </a:rPr>
              <a:t>지금</a:t>
            </a:r>
            <a:endParaRPr lang="en-US" sz="1000" dirty="0"/>
          </a:p>
        </p:txBody>
      </p:sp>
      <p:sp>
        <p:nvSpPr>
          <p:cNvPr id="21" name="Text 18"/>
          <p:cNvSpPr/>
          <p:nvPr/>
        </p:nvSpPr>
        <p:spPr>
          <a:xfrm>
            <a:off x="4599432" y="3008376"/>
            <a:ext cx="2990088" cy="566928"/>
          </a:xfrm>
          <a:prstGeom prst="rect">
            <a:avLst/>
          </a:prstGeom>
          <a:noFill/>
          <a:ln/>
        </p:spPr>
        <p:txBody>
          <a:bodyPr wrap="square" lIns="0" tIns="0" rIns="0" bIns="0" rtlCol="0" anchor="t"/>
          <a:lstStyle/>
          <a:p>
            <a:pPr marL="0" indent="0">
              <a:lnSpc>
                <a:spcPct val="125000"/>
              </a:lnSpc>
              <a:buNone/>
            </a:pPr>
            <a:r>
              <a:rPr lang="en-US" sz="1150" dirty="0">
                <a:solidFill>
                  <a:srgbClr val="BAC6D8"/>
                </a:solidFill>
                <a:latin typeface="Pretendard" pitchFamily="34" charset="0"/>
                <a:ea typeface="Pretendard" pitchFamily="34" charset="-122"/>
                <a:cs typeface="Pretendard" pitchFamily="34" charset="-120"/>
              </a:rPr>
              <a:t>표를 글자로 펴서 다른 본문과</a:t>
            </a:r>
            <a:endParaRPr lang="en-US" sz="1150" dirty="0"/>
          </a:p>
          <a:p>
            <a:pPr marL="0" indent="0">
              <a:lnSpc>
                <a:spcPct val="125000"/>
              </a:lnSpc>
              <a:buNone/>
            </a:pPr>
            <a:r>
              <a:rPr lang="en-US" sz="1150" dirty="0">
                <a:solidFill>
                  <a:srgbClr val="BAC6D8"/>
                </a:solidFill>
                <a:latin typeface="Pretendard" pitchFamily="34" charset="0"/>
                <a:ea typeface="Pretendard" pitchFamily="34" charset="-122"/>
                <a:cs typeface="Pretendard" pitchFamily="34" charset="-120"/>
              </a:rPr>
              <a:t>같은 기준으로 자른다</a:t>
            </a:r>
            <a:endParaRPr lang="en-US" sz="1150" dirty="0"/>
          </a:p>
        </p:txBody>
      </p:sp>
      <p:sp>
        <p:nvSpPr>
          <p:cNvPr id="22" name="Text 19"/>
          <p:cNvSpPr/>
          <p:nvPr/>
        </p:nvSpPr>
        <p:spPr>
          <a:xfrm>
            <a:off x="4599432" y="3666744"/>
            <a:ext cx="868680" cy="256032"/>
          </a:xfrm>
          <a:prstGeom prst="rect">
            <a:avLst/>
          </a:prstGeom>
          <a:noFill/>
          <a:ln/>
        </p:spPr>
        <p:txBody>
          <a:bodyPr wrap="square" lIns="0" tIns="0" rIns="0" bIns="0" rtlCol="0" anchor="ctr"/>
          <a:lstStyle/>
          <a:p>
            <a:pPr marL="0" indent="0">
              <a:buNone/>
            </a:pPr>
            <a:r>
              <a:rPr lang="en-US" sz="1000" b="1" kern="0" spc="100" dirty="0">
                <a:solidFill>
                  <a:srgbClr val="22D3EE"/>
                </a:solidFill>
                <a:latin typeface="Consolas" pitchFamily="34" charset="0"/>
                <a:ea typeface="Consolas" pitchFamily="34" charset="-122"/>
                <a:cs typeface="Consolas" pitchFamily="34" charset="-120"/>
              </a:rPr>
              <a:t>바꿀 것</a:t>
            </a:r>
            <a:endParaRPr lang="en-US" sz="1000" dirty="0"/>
          </a:p>
        </p:txBody>
      </p:sp>
      <p:sp>
        <p:nvSpPr>
          <p:cNvPr id="23" name="Text 20"/>
          <p:cNvSpPr/>
          <p:nvPr/>
        </p:nvSpPr>
        <p:spPr>
          <a:xfrm>
            <a:off x="4599432" y="3931920"/>
            <a:ext cx="2990088" cy="868680"/>
          </a:xfrm>
          <a:prstGeom prst="rect">
            <a:avLst/>
          </a:prstGeom>
          <a:noFill/>
          <a:ln/>
        </p:spPr>
        <p:txBody>
          <a:bodyPr wrap="square" lIns="0" tIns="0" rIns="0" bIns="0" rtlCol="0" anchor="t"/>
          <a:lstStyle/>
          <a:p>
            <a:pPr marL="0" indent="0">
              <a:lnSpc>
                <a:spcPct val="125000"/>
              </a:lnSpc>
              <a:buNone/>
            </a:pPr>
            <a:r>
              <a:rPr lang="en-US" sz="1150" dirty="0">
                <a:solidFill>
                  <a:srgbClr val="F1F5F9"/>
                </a:solidFill>
                <a:latin typeface="Pretendard" pitchFamily="34" charset="0"/>
                <a:ea typeface="Pretendard" pitchFamily="34" charset="-122"/>
                <a:cs typeface="Pretendard" pitchFamily="34" charset="-120"/>
              </a:rPr>
              <a:t>셀 좌표를 읽어 행 · 제품 단위로 다시 만든다</a:t>
            </a:r>
            <a:endParaRPr lang="en-US" sz="1150" dirty="0"/>
          </a:p>
          <a:p>
            <a:pPr marL="0" indent="0">
              <a:lnSpc>
                <a:spcPct val="125000"/>
              </a:lnSpc>
              <a:buNone/>
            </a:pPr>
            <a:r>
              <a:rPr lang="en-US" sz="1150" dirty="0">
                <a:solidFill>
                  <a:srgbClr val="F1F5F9"/>
                </a:solidFill>
                <a:latin typeface="Pretendard" pitchFamily="34" charset="0"/>
                <a:ea typeface="Pretendard" pitchFamily="34" charset="-122"/>
                <a:cs typeface="Pretendard" pitchFamily="34" charset="-120"/>
              </a:rPr>
              <a:t>셀 하나를 원자 단위로 두어</a:t>
            </a:r>
            <a:endParaRPr lang="en-US" sz="1150" dirty="0"/>
          </a:p>
          <a:p>
            <a:pPr marL="0" indent="0">
              <a:lnSpc>
                <a:spcPct val="125000"/>
              </a:lnSpc>
              <a:buNone/>
            </a:pPr>
            <a:r>
              <a:rPr lang="en-US" sz="1150" dirty="0">
                <a:solidFill>
                  <a:srgbClr val="F1F5F9"/>
                </a:solidFill>
                <a:latin typeface="Pretendard" pitchFamily="34" charset="0"/>
                <a:ea typeface="Pretendard" pitchFamily="34" charset="-122"/>
                <a:cs typeface="Pretendard" pitchFamily="34" charset="-120"/>
              </a:rPr>
              <a:t>값이 중간에서 나뉘지 않게 한다</a:t>
            </a:r>
            <a:endParaRPr lang="en-US" sz="1150" dirty="0"/>
          </a:p>
        </p:txBody>
      </p:sp>
      <p:sp>
        <p:nvSpPr>
          <p:cNvPr id="24" name="Shape 21"/>
          <p:cNvSpPr/>
          <p:nvPr/>
        </p:nvSpPr>
        <p:spPr>
          <a:xfrm>
            <a:off x="4599432" y="4837176"/>
            <a:ext cx="2990088" cy="0"/>
          </a:xfrm>
          <a:prstGeom prst="line">
            <a:avLst/>
          </a:prstGeom>
          <a:noFill/>
          <a:ln w="12700">
            <a:solidFill>
              <a:srgbClr val="263049"/>
            </a:solidFill>
            <a:prstDash val="solid"/>
          </a:ln>
        </p:spPr>
        <p:txBody>
          <a:bodyPr/>
          <a:lstStyle/>
          <a:p>
            <a:endParaRPr lang="ko-KR" altLang="en-US"/>
          </a:p>
        </p:txBody>
      </p:sp>
      <p:sp>
        <p:nvSpPr>
          <p:cNvPr id="25" name="Text 22"/>
          <p:cNvSpPr/>
          <p:nvPr/>
        </p:nvSpPr>
        <p:spPr>
          <a:xfrm>
            <a:off x="4599432" y="4946904"/>
            <a:ext cx="2990088" cy="457200"/>
          </a:xfrm>
          <a:prstGeom prst="rect">
            <a:avLst/>
          </a:prstGeom>
          <a:noFill/>
          <a:ln/>
        </p:spPr>
        <p:txBody>
          <a:bodyPr wrap="square" lIns="0" tIns="0" rIns="0" bIns="0" rtlCol="0" anchor="t"/>
          <a:lstStyle/>
          <a:p>
            <a:pPr marL="0" indent="0">
              <a:lnSpc>
                <a:spcPct val="120000"/>
              </a:lnSpc>
              <a:buNone/>
            </a:pPr>
            <a:r>
              <a:rPr lang="en-US" sz="1050" i="1" dirty="0">
                <a:solidFill>
                  <a:srgbClr val="BAC6D8"/>
                </a:solidFill>
                <a:latin typeface="Pretendard" pitchFamily="34" charset="0"/>
                <a:ea typeface="Pretendard" pitchFamily="34" charset="-122"/>
                <a:cs typeface="Pretendard" pitchFamily="34" charset="-120"/>
              </a:rPr>
              <a:t>행 방향 표 · 다단 헤더 · 다중 페이지 표는 별도 설계가 필요하다</a:t>
            </a:r>
            <a:endParaRPr lang="en-US" sz="1050" dirty="0"/>
          </a:p>
        </p:txBody>
      </p:sp>
      <p:sp>
        <p:nvSpPr>
          <p:cNvPr id="26" name="Shape 23"/>
          <p:cNvSpPr/>
          <p:nvPr/>
        </p:nvSpPr>
        <p:spPr>
          <a:xfrm>
            <a:off x="8083296" y="1874520"/>
            <a:ext cx="3538728" cy="3566160"/>
          </a:xfrm>
          <a:prstGeom prst="roundRect">
            <a:avLst>
              <a:gd name="adj" fmla="val 2067"/>
            </a:avLst>
          </a:prstGeom>
          <a:solidFill>
            <a:srgbClr val="161D2E"/>
          </a:solidFill>
          <a:ln w="12700">
            <a:solidFill>
              <a:srgbClr val="263049"/>
            </a:solidFill>
            <a:prstDash val="solid"/>
          </a:ln>
        </p:spPr>
        <p:txBody>
          <a:bodyPr/>
          <a:lstStyle/>
          <a:p>
            <a:endParaRPr lang="ko-KR" altLang="en-US"/>
          </a:p>
        </p:txBody>
      </p:sp>
      <p:sp>
        <p:nvSpPr>
          <p:cNvPr id="27" name="Text 24"/>
          <p:cNvSpPr/>
          <p:nvPr/>
        </p:nvSpPr>
        <p:spPr>
          <a:xfrm>
            <a:off x="8357616" y="2148840"/>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3</a:t>
            </a:r>
            <a:endParaRPr lang="en-US" sz="1400" dirty="0"/>
          </a:p>
        </p:txBody>
      </p:sp>
      <p:sp>
        <p:nvSpPr>
          <p:cNvPr id="28" name="Text 25"/>
          <p:cNvSpPr/>
          <p:nvPr/>
        </p:nvSpPr>
        <p:spPr>
          <a:xfrm>
            <a:off x="8887968" y="2148840"/>
            <a:ext cx="2459736" cy="384048"/>
          </a:xfrm>
          <a:prstGeom prst="rect">
            <a:avLst/>
          </a:prstGeom>
          <a:noFill/>
          <a:ln/>
        </p:spPr>
        <p:txBody>
          <a:bodyPr wrap="square" lIns="0" tIns="0" rIns="0" bIns="0" rtlCol="0" anchor="ctr"/>
          <a:lstStyle/>
          <a:p>
            <a:pPr marL="0" indent="0">
              <a:buNone/>
            </a:pPr>
            <a:r>
              <a:rPr lang="en-US" sz="1350" b="1" dirty="0">
                <a:solidFill>
                  <a:srgbClr val="67E8F9"/>
                </a:solidFill>
                <a:latin typeface="Pretendard" pitchFamily="34" charset="0"/>
                <a:ea typeface="Pretendard" pitchFamily="34" charset="-122"/>
                <a:cs typeface="Pretendard" pitchFamily="34" charset="-120"/>
              </a:rPr>
              <a:t>이미지 유형별 처리</a:t>
            </a:r>
            <a:endParaRPr lang="en-US" sz="1350" dirty="0"/>
          </a:p>
        </p:txBody>
      </p:sp>
      <p:sp>
        <p:nvSpPr>
          <p:cNvPr id="29" name="Text 26"/>
          <p:cNvSpPr/>
          <p:nvPr/>
        </p:nvSpPr>
        <p:spPr>
          <a:xfrm>
            <a:off x="8357616" y="2743200"/>
            <a:ext cx="777240" cy="256032"/>
          </a:xfrm>
          <a:prstGeom prst="rect">
            <a:avLst/>
          </a:prstGeom>
          <a:noFill/>
          <a:ln/>
        </p:spPr>
        <p:txBody>
          <a:bodyPr wrap="square" lIns="0" tIns="0" rIns="0" bIns="0" rtlCol="0" anchor="ctr"/>
          <a:lstStyle/>
          <a:p>
            <a:pPr marL="0" indent="0">
              <a:buNone/>
            </a:pPr>
            <a:r>
              <a:rPr lang="en-US" sz="1000" b="1" kern="0" spc="100" dirty="0">
                <a:solidFill>
                  <a:srgbClr val="9FADC2"/>
                </a:solidFill>
                <a:latin typeface="Consolas" pitchFamily="34" charset="0"/>
                <a:ea typeface="Consolas" pitchFamily="34" charset="-122"/>
                <a:cs typeface="Consolas" pitchFamily="34" charset="-120"/>
              </a:rPr>
              <a:t>지금</a:t>
            </a:r>
            <a:endParaRPr lang="en-US" sz="1000" dirty="0"/>
          </a:p>
        </p:txBody>
      </p:sp>
      <p:sp>
        <p:nvSpPr>
          <p:cNvPr id="30" name="Text 27"/>
          <p:cNvSpPr/>
          <p:nvPr/>
        </p:nvSpPr>
        <p:spPr>
          <a:xfrm>
            <a:off x="8357616" y="3008376"/>
            <a:ext cx="2990088" cy="566928"/>
          </a:xfrm>
          <a:prstGeom prst="rect">
            <a:avLst/>
          </a:prstGeom>
          <a:noFill/>
          <a:ln/>
        </p:spPr>
        <p:txBody>
          <a:bodyPr wrap="square" lIns="0" tIns="0" rIns="0" bIns="0" rtlCol="0" anchor="t"/>
          <a:lstStyle/>
          <a:p>
            <a:pPr marL="0" indent="0">
              <a:lnSpc>
                <a:spcPct val="125000"/>
              </a:lnSpc>
              <a:buNone/>
            </a:pPr>
            <a:r>
              <a:rPr lang="en-US" sz="1150" dirty="0">
                <a:solidFill>
                  <a:srgbClr val="BAC6D8"/>
                </a:solidFill>
                <a:latin typeface="Pretendard" pitchFamily="34" charset="0"/>
                <a:ea typeface="Pretendard" pitchFamily="34" charset="-122"/>
                <a:cs typeface="Pretendard" pitchFamily="34" charset="-120"/>
              </a:rPr>
              <a:t>그림에서 나온 청크를</a:t>
            </a:r>
            <a:endParaRPr lang="en-US" sz="1150" dirty="0"/>
          </a:p>
          <a:p>
            <a:pPr marL="0" indent="0">
              <a:lnSpc>
                <a:spcPct val="125000"/>
              </a:lnSpc>
              <a:buNone/>
            </a:pPr>
            <a:r>
              <a:rPr lang="en-US" sz="1150" dirty="0">
                <a:solidFill>
                  <a:srgbClr val="BAC6D8"/>
                </a:solidFill>
                <a:latin typeface="Pretendard" pitchFamily="34" charset="0"/>
                <a:ea typeface="Pretendard" pitchFamily="34" charset="-122"/>
                <a:cs typeface="Pretendard" pitchFamily="34" charset="-120"/>
              </a:rPr>
              <a:t>검색에서 빼 두는 것으로 막고 있다</a:t>
            </a:r>
            <a:endParaRPr lang="en-US" sz="1150" dirty="0"/>
          </a:p>
        </p:txBody>
      </p:sp>
      <p:sp>
        <p:nvSpPr>
          <p:cNvPr id="31" name="Text 28"/>
          <p:cNvSpPr/>
          <p:nvPr/>
        </p:nvSpPr>
        <p:spPr>
          <a:xfrm>
            <a:off x="8357616" y="3666744"/>
            <a:ext cx="868680" cy="256032"/>
          </a:xfrm>
          <a:prstGeom prst="rect">
            <a:avLst/>
          </a:prstGeom>
          <a:noFill/>
          <a:ln/>
        </p:spPr>
        <p:txBody>
          <a:bodyPr wrap="square" lIns="0" tIns="0" rIns="0" bIns="0" rtlCol="0" anchor="ctr"/>
          <a:lstStyle/>
          <a:p>
            <a:pPr marL="0" indent="0">
              <a:buNone/>
            </a:pPr>
            <a:r>
              <a:rPr lang="en-US" sz="1000" b="1" kern="0" spc="100" dirty="0">
                <a:solidFill>
                  <a:srgbClr val="22D3EE"/>
                </a:solidFill>
                <a:latin typeface="Consolas" pitchFamily="34" charset="0"/>
                <a:ea typeface="Consolas" pitchFamily="34" charset="-122"/>
                <a:cs typeface="Consolas" pitchFamily="34" charset="-120"/>
              </a:rPr>
              <a:t>바꿀 것</a:t>
            </a:r>
            <a:endParaRPr lang="en-US" sz="1000" dirty="0"/>
          </a:p>
        </p:txBody>
      </p:sp>
      <p:sp>
        <p:nvSpPr>
          <p:cNvPr id="32" name="Text 29"/>
          <p:cNvSpPr/>
          <p:nvPr/>
        </p:nvSpPr>
        <p:spPr>
          <a:xfrm>
            <a:off x="8357616" y="3931920"/>
            <a:ext cx="2990088" cy="868680"/>
          </a:xfrm>
          <a:prstGeom prst="rect">
            <a:avLst/>
          </a:prstGeom>
          <a:noFill/>
          <a:ln/>
        </p:spPr>
        <p:txBody>
          <a:bodyPr wrap="square" lIns="0" tIns="0" rIns="0" bIns="0" rtlCol="0" anchor="t"/>
          <a:lstStyle/>
          <a:p>
            <a:pPr marL="0" indent="0">
              <a:lnSpc>
                <a:spcPct val="125000"/>
              </a:lnSpc>
              <a:buNone/>
            </a:pPr>
            <a:r>
              <a:rPr lang="en-US" sz="1150" dirty="0">
                <a:solidFill>
                  <a:srgbClr val="F1F5F9"/>
                </a:solidFill>
                <a:latin typeface="Pretendard" pitchFamily="34" charset="0"/>
                <a:ea typeface="Pretendard" pitchFamily="34" charset="-122"/>
                <a:cs typeface="Pretendard" pitchFamily="34" charset="-120"/>
              </a:rPr>
              <a:t>그림을 종류별로 나눠 다르게 다루고</a:t>
            </a:r>
            <a:endParaRPr lang="en-US" sz="1150" dirty="0"/>
          </a:p>
          <a:p>
            <a:pPr marL="0" indent="0">
              <a:lnSpc>
                <a:spcPct val="125000"/>
              </a:lnSpc>
              <a:buNone/>
            </a:pPr>
            <a:r>
              <a:rPr lang="en-US" sz="1150" dirty="0">
                <a:solidFill>
                  <a:srgbClr val="F1F5F9"/>
                </a:solidFill>
                <a:latin typeface="Pretendard" pitchFamily="34" charset="0"/>
                <a:ea typeface="Pretendard" pitchFamily="34" charset="-122"/>
                <a:cs typeface="Pretendard" pitchFamily="34" charset="-120"/>
              </a:rPr>
              <a:t>주변 제목 · 본문과 묶어</a:t>
            </a:r>
            <a:endParaRPr lang="en-US" sz="1150" dirty="0"/>
          </a:p>
          <a:p>
            <a:pPr marL="0" indent="0">
              <a:lnSpc>
                <a:spcPct val="125000"/>
              </a:lnSpc>
              <a:buNone/>
            </a:pPr>
            <a:r>
              <a:rPr lang="en-US" sz="1150" dirty="0">
                <a:solidFill>
                  <a:srgbClr val="F1F5F9"/>
                </a:solidFill>
                <a:latin typeface="Pretendard" pitchFamily="34" charset="0"/>
                <a:ea typeface="Pretendard" pitchFamily="34" charset="-122"/>
                <a:cs typeface="Pretendard" pitchFamily="34" charset="-120"/>
              </a:rPr>
              <a:t>그림이 무엇을 말하는지 설명을 만든다</a:t>
            </a:r>
            <a:endParaRPr lang="en-US" sz="1150" dirty="0"/>
          </a:p>
        </p:txBody>
      </p:sp>
      <p:sp>
        <p:nvSpPr>
          <p:cNvPr id="33" name="Shape 30"/>
          <p:cNvSpPr/>
          <p:nvPr/>
        </p:nvSpPr>
        <p:spPr>
          <a:xfrm>
            <a:off x="8357616" y="4837176"/>
            <a:ext cx="2990088" cy="0"/>
          </a:xfrm>
          <a:prstGeom prst="line">
            <a:avLst/>
          </a:prstGeom>
          <a:noFill/>
          <a:ln w="12700">
            <a:solidFill>
              <a:srgbClr val="263049"/>
            </a:solidFill>
            <a:prstDash val="solid"/>
          </a:ln>
        </p:spPr>
        <p:txBody>
          <a:bodyPr/>
          <a:lstStyle/>
          <a:p>
            <a:endParaRPr lang="ko-KR" altLang="en-US"/>
          </a:p>
        </p:txBody>
      </p:sp>
      <p:sp>
        <p:nvSpPr>
          <p:cNvPr id="34" name="Text 31"/>
          <p:cNvSpPr/>
          <p:nvPr/>
        </p:nvSpPr>
        <p:spPr>
          <a:xfrm>
            <a:off x="8357616" y="4946904"/>
            <a:ext cx="2990088" cy="457200"/>
          </a:xfrm>
          <a:prstGeom prst="rect">
            <a:avLst/>
          </a:prstGeom>
          <a:noFill/>
          <a:ln/>
        </p:spPr>
        <p:txBody>
          <a:bodyPr wrap="square" lIns="0" tIns="0" rIns="0" bIns="0" rtlCol="0" anchor="t"/>
          <a:lstStyle/>
          <a:p>
            <a:pPr marL="0" indent="0">
              <a:lnSpc>
                <a:spcPct val="120000"/>
              </a:lnSpc>
              <a:buNone/>
            </a:pPr>
            <a:r>
              <a:rPr lang="en-US" sz="1050" i="1" dirty="0">
                <a:solidFill>
                  <a:srgbClr val="BAC6D8"/>
                </a:solidFill>
                <a:latin typeface="Pretendard" pitchFamily="34" charset="0"/>
                <a:ea typeface="Pretendard" pitchFamily="34" charset="-122"/>
                <a:cs typeface="Pretendard" pitchFamily="34" charset="-120"/>
              </a:rPr>
              <a:t>지금은 오염을 막는 수준이지, 그림 정보를 쓰는 단계가 아니다</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EMBEDDING</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임베딩 — 기준 모델 변경</a:t>
            </a:r>
            <a:endParaRPr lang="en-US" sz="2700" dirty="0"/>
          </a:p>
        </p:txBody>
      </p:sp>
      <p:sp>
        <p:nvSpPr>
          <p:cNvPr id="5" name="Text 2"/>
          <p:cNvSpPr/>
          <p:nvPr/>
        </p:nvSpPr>
        <p:spPr>
          <a:xfrm>
            <a:off x="566928" y="1243584"/>
            <a:ext cx="11064240" cy="320040"/>
          </a:xfrm>
          <a:prstGeom prst="rect">
            <a:avLst/>
          </a:prstGeom>
          <a:noFill/>
          <a:ln/>
        </p:spPr>
        <p:txBody>
          <a:bodyPr wrap="square" lIns="0" tIns="0" rIns="0" bIns="0" rtlCol="0" anchor="ctr"/>
          <a:lstStyle/>
          <a:p>
            <a:pPr marL="0" indent="0">
              <a:buNone/>
            </a:pPr>
            <a:r>
              <a:rPr lang="en-US" sz="1300" dirty="0">
                <a:solidFill>
                  <a:srgbClr val="BAC6D8"/>
                </a:solidFill>
                <a:latin typeface="Pretendard Light" pitchFamily="34" charset="0"/>
                <a:ea typeface="Pretendard Light" pitchFamily="34" charset="-122"/>
                <a:cs typeface="Pretendard Light" pitchFamily="34" charset="-120"/>
              </a:rPr>
              <a:t>2026-08-04 마이그레이션으로 확정 — 청킹의 토큰 계산도 같은 tokenizer를 쓴다</a:t>
            </a:r>
            <a:endParaRPr lang="en-US" sz="1300" dirty="0"/>
          </a:p>
        </p:txBody>
      </p:sp>
      <p:sp>
        <p:nvSpPr>
          <p:cNvPr id="6" name="Text 3"/>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22</a:t>
            </a:r>
            <a:endParaRPr lang="en-US" sz="1050" dirty="0"/>
          </a:p>
        </p:txBody>
      </p:sp>
      <p:sp>
        <p:nvSpPr>
          <p:cNvPr id="7" name="Shape 4"/>
          <p:cNvSpPr/>
          <p:nvPr/>
        </p:nvSpPr>
        <p:spPr>
          <a:xfrm>
            <a:off x="658368" y="1965960"/>
            <a:ext cx="4846320" cy="2606040"/>
          </a:xfrm>
          <a:prstGeom prst="roundRect">
            <a:avLst>
              <a:gd name="adj" fmla="val 2807"/>
            </a:avLst>
          </a:prstGeom>
          <a:solidFill>
            <a:srgbClr val="351717"/>
          </a:solidFill>
          <a:ln w="12700">
            <a:solidFill>
              <a:srgbClr val="7F1D1D"/>
            </a:solidFill>
            <a:prstDash val="solid"/>
          </a:ln>
        </p:spPr>
        <p:txBody>
          <a:bodyPr/>
          <a:lstStyle/>
          <a:p>
            <a:endParaRPr lang="ko-KR" altLang="en-US"/>
          </a:p>
        </p:txBody>
      </p:sp>
      <p:sp>
        <p:nvSpPr>
          <p:cNvPr id="8" name="Text 5"/>
          <p:cNvSpPr/>
          <p:nvPr/>
        </p:nvSpPr>
        <p:spPr>
          <a:xfrm>
            <a:off x="960120" y="2203704"/>
            <a:ext cx="1005840" cy="292608"/>
          </a:xfrm>
          <a:prstGeom prst="rect">
            <a:avLst/>
          </a:prstGeom>
          <a:solidFill>
            <a:srgbClr val="4A1D1D"/>
          </a:solidFill>
          <a:ln/>
        </p:spPr>
        <p:txBody>
          <a:bodyPr wrap="square" lIns="0" tIns="0" rIns="0" bIns="0" rtlCol="0" anchor="ctr"/>
          <a:lstStyle/>
          <a:p>
            <a:pPr marL="0" indent="0" algn="ctr">
              <a:buNone/>
            </a:pPr>
            <a:r>
              <a:rPr lang="en-US" sz="1000" b="1" dirty="0">
                <a:solidFill>
                  <a:srgbClr val="F87171"/>
                </a:solidFill>
                <a:latin typeface="Pretendard" pitchFamily="34" charset="0"/>
                <a:ea typeface="Pretendard" pitchFamily="34" charset="-122"/>
                <a:cs typeface="Pretendard" pitchFamily="34" charset="-120"/>
              </a:rPr>
              <a:t>이전</a:t>
            </a:r>
            <a:endParaRPr lang="en-US" sz="1000" dirty="0"/>
          </a:p>
        </p:txBody>
      </p:sp>
      <p:sp>
        <p:nvSpPr>
          <p:cNvPr id="9" name="Text 6"/>
          <p:cNvSpPr/>
          <p:nvPr/>
        </p:nvSpPr>
        <p:spPr>
          <a:xfrm>
            <a:off x="960120" y="2624328"/>
            <a:ext cx="4242816" cy="502920"/>
          </a:xfrm>
          <a:prstGeom prst="rect">
            <a:avLst/>
          </a:prstGeom>
          <a:noFill/>
          <a:ln/>
        </p:spPr>
        <p:txBody>
          <a:bodyPr wrap="square" lIns="0" tIns="0" rIns="0" bIns="0" rtlCol="0" anchor="ctr"/>
          <a:lstStyle/>
          <a:p>
            <a:pPr marL="0" indent="0">
              <a:buNone/>
            </a:pPr>
            <a:r>
              <a:rPr lang="en-US" sz="2200" b="1" dirty="0">
                <a:solidFill>
                  <a:srgbClr val="F87171"/>
                </a:solidFill>
                <a:latin typeface="Consolas" pitchFamily="34" charset="0"/>
                <a:ea typeface="Consolas" pitchFamily="34" charset="-122"/>
                <a:cs typeface="Consolas" pitchFamily="34" charset="-120"/>
              </a:rPr>
              <a:t>MiniLM-L12-v2</a:t>
            </a:r>
            <a:endParaRPr lang="en-US" sz="2200" dirty="0"/>
          </a:p>
        </p:txBody>
      </p:sp>
      <p:sp>
        <p:nvSpPr>
          <p:cNvPr id="10" name="Text 7"/>
          <p:cNvSpPr/>
          <p:nvPr/>
        </p:nvSpPr>
        <p:spPr>
          <a:xfrm>
            <a:off x="960120" y="3200400"/>
            <a:ext cx="4242816" cy="320040"/>
          </a:xfrm>
          <a:prstGeom prst="rect">
            <a:avLst/>
          </a:prstGeom>
          <a:noFill/>
          <a:ln/>
        </p:spPr>
        <p:txBody>
          <a:bodyPr wrap="square" lIns="0" tIns="0" rIns="0" bIns="0" rtlCol="0" anchor="ctr"/>
          <a:lstStyle/>
          <a:p>
            <a:pPr marL="0" indent="0">
              <a:buNone/>
            </a:pPr>
            <a:r>
              <a:rPr lang="en-US" sz="1350" b="1" dirty="0">
                <a:solidFill>
                  <a:srgbClr val="F1F5F9"/>
                </a:solidFill>
                <a:latin typeface="Pretendard" pitchFamily="34" charset="0"/>
                <a:ea typeface="Pretendard" pitchFamily="34" charset="-122"/>
                <a:cs typeface="Pretendard" pitchFamily="34" charset="-120"/>
              </a:rPr>
              <a:t>최대 입력 128 토큰  ·  384 차원</a:t>
            </a:r>
            <a:endParaRPr lang="en-US" sz="1350" dirty="0"/>
          </a:p>
        </p:txBody>
      </p:sp>
      <p:sp>
        <p:nvSpPr>
          <p:cNvPr id="11" name="Text 8"/>
          <p:cNvSpPr/>
          <p:nvPr/>
        </p:nvSpPr>
        <p:spPr>
          <a:xfrm>
            <a:off x="960120" y="3611880"/>
            <a:ext cx="4242816" cy="777240"/>
          </a:xfrm>
          <a:prstGeom prst="rect">
            <a:avLst/>
          </a:prstGeom>
          <a:noFill/>
          <a:ln/>
        </p:spPr>
        <p:txBody>
          <a:bodyPr wrap="square" lIns="0" tIns="0" rIns="0" bIns="0" rtlCol="0" anchor="t"/>
          <a:lstStyle/>
          <a:p>
            <a:pPr marL="0" indent="0">
              <a:lnSpc>
                <a:spcPct val="130000"/>
              </a:lnSpc>
              <a:buNone/>
            </a:pPr>
            <a:r>
              <a:rPr lang="en-US" sz="1150" dirty="0">
                <a:solidFill>
                  <a:srgbClr val="BAC6D8"/>
                </a:solidFill>
                <a:latin typeface="Pretendard" pitchFamily="34" charset="0"/>
                <a:ea typeface="Pretendard" pitchFamily="34" charset="-122"/>
                <a:cs typeface="Pretendard" pitchFamily="34" charset="-120"/>
              </a:rPr>
              <a:t>제목 계층 · 표 헤더 · 긴 표 행 · 이미지 설명을</a:t>
            </a:r>
            <a:endParaRPr lang="en-US" sz="1150" dirty="0"/>
          </a:p>
          <a:p>
            <a:pPr marL="0" indent="0">
              <a:lnSpc>
                <a:spcPct val="130000"/>
              </a:lnSpc>
              <a:buNone/>
            </a:pPr>
            <a:r>
              <a:rPr lang="en-US" sz="1150" dirty="0">
                <a:solidFill>
                  <a:srgbClr val="BAC6D8"/>
                </a:solidFill>
                <a:latin typeface="Pretendard" pitchFamily="34" charset="0"/>
                <a:ea typeface="Pretendard" pitchFamily="34" charset="-122"/>
                <a:cs typeface="Pretendard" pitchFamily="34" charset="-120"/>
              </a:rPr>
              <a:t>함께 담는 청킹 개선을 실험하기에</a:t>
            </a:r>
            <a:endParaRPr lang="en-US" sz="1150" dirty="0"/>
          </a:p>
          <a:p>
            <a:pPr marL="0" indent="0">
              <a:lnSpc>
                <a:spcPct val="130000"/>
              </a:lnSpc>
              <a:buNone/>
            </a:pPr>
            <a:r>
              <a:rPr lang="en-US" sz="1150" dirty="0">
                <a:solidFill>
                  <a:srgbClr val="BAC6D8"/>
                </a:solidFill>
                <a:latin typeface="Pretendard" pitchFamily="34" charset="0"/>
                <a:ea typeface="Pretendard" pitchFamily="34" charset="-122"/>
                <a:cs typeface="Pretendard" pitchFamily="34" charset="-120"/>
              </a:rPr>
              <a:t>128토큰은 제약이 컸다</a:t>
            </a:r>
            <a:endParaRPr lang="en-US" sz="1150" dirty="0"/>
          </a:p>
        </p:txBody>
      </p:sp>
      <p:sp>
        <p:nvSpPr>
          <p:cNvPr id="12" name="Shape 9"/>
          <p:cNvSpPr/>
          <p:nvPr/>
        </p:nvSpPr>
        <p:spPr>
          <a:xfrm>
            <a:off x="5760720" y="3040380"/>
            <a:ext cx="658368" cy="457200"/>
          </a:xfrm>
          <a:prstGeom prst="rightArrow">
            <a:avLst/>
          </a:prstGeom>
          <a:solidFill>
            <a:srgbClr val="0E7490"/>
          </a:solidFill>
          <a:ln w="12700">
            <a:solidFill>
              <a:srgbClr val="0E7490"/>
            </a:solidFill>
            <a:prstDash val="solid"/>
          </a:ln>
        </p:spPr>
        <p:txBody>
          <a:bodyPr/>
          <a:lstStyle/>
          <a:p>
            <a:endParaRPr lang="ko-KR" altLang="en-US"/>
          </a:p>
        </p:txBody>
      </p:sp>
      <p:sp>
        <p:nvSpPr>
          <p:cNvPr id="13" name="Shape 10"/>
          <p:cNvSpPr/>
          <p:nvPr/>
        </p:nvSpPr>
        <p:spPr>
          <a:xfrm>
            <a:off x="6675120" y="1965960"/>
            <a:ext cx="4846320" cy="2606040"/>
          </a:xfrm>
          <a:prstGeom prst="roundRect">
            <a:avLst>
              <a:gd name="adj" fmla="val 2807"/>
            </a:avLst>
          </a:prstGeom>
          <a:solidFill>
            <a:srgbClr val="0F2A3A"/>
          </a:solidFill>
          <a:ln w="12700">
            <a:solidFill>
              <a:srgbClr val="155E75"/>
            </a:solidFill>
            <a:prstDash val="solid"/>
          </a:ln>
        </p:spPr>
        <p:txBody>
          <a:bodyPr/>
          <a:lstStyle/>
          <a:p>
            <a:endParaRPr lang="ko-KR" altLang="en-US"/>
          </a:p>
        </p:txBody>
      </p:sp>
      <p:sp>
        <p:nvSpPr>
          <p:cNvPr id="14" name="Text 11"/>
          <p:cNvSpPr/>
          <p:nvPr/>
        </p:nvSpPr>
        <p:spPr>
          <a:xfrm>
            <a:off x="6976872" y="2203704"/>
            <a:ext cx="1005840" cy="292608"/>
          </a:xfrm>
          <a:prstGeom prst="rect">
            <a:avLst/>
          </a:prstGeom>
          <a:solidFill>
            <a:srgbClr val="0A3B4F"/>
          </a:solidFill>
          <a:ln/>
        </p:spPr>
        <p:txBody>
          <a:bodyPr wrap="square" lIns="0" tIns="0" rIns="0" bIns="0" rtlCol="0" anchor="ctr"/>
          <a:lstStyle/>
          <a:p>
            <a:pPr marL="0" indent="0" algn="ctr">
              <a:buNone/>
            </a:pPr>
            <a:r>
              <a:rPr lang="en-US" sz="1000" b="1" dirty="0">
                <a:solidFill>
                  <a:srgbClr val="67E8F9"/>
                </a:solidFill>
                <a:latin typeface="Pretendard" pitchFamily="34" charset="0"/>
                <a:ea typeface="Pretendard" pitchFamily="34" charset="-122"/>
                <a:cs typeface="Pretendard" pitchFamily="34" charset="-120"/>
              </a:rPr>
              <a:t>현재</a:t>
            </a:r>
            <a:endParaRPr lang="en-US" sz="1000" dirty="0"/>
          </a:p>
        </p:txBody>
      </p:sp>
      <p:sp>
        <p:nvSpPr>
          <p:cNvPr id="15" name="Text 12"/>
          <p:cNvSpPr/>
          <p:nvPr/>
        </p:nvSpPr>
        <p:spPr>
          <a:xfrm>
            <a:off x="6976872" y="2624328"/>
            <a:ext cx="4242816" cy="502920"/>
          </a:xfrm>
          <a:prstGeom prst="rect">
            <a:avLst/>
          </a:prstGeom>
          <a:noFill/>
          <a:ln/>
        </p:spPr>
        <p:txBody>
          <a:bodyPr wrap="square" lIns="0" tIns="0" rIns="0" bIns="0" rtlCol="0" anchor="ctr"/>
          <a:lstStyle/>
          <a:p>
            <a:pPr marL="0" indent="0">
              <a:buNone/>
            </a:pPr>
            <a:r>
              <a:rPr lang="en-US" sz="1900" b="1" dirty="0">
                <a:solidFill>
                  <a:srgbClr val="22D3EE"/>
                </a:solidFill>
                <a:latin typeface="Consolas" pitchFamily="34" charset="0"/>
                <a:ea typeface="Consolas" pitchFamily="34" charset="-122"/>
                <a:cs typeface="Consolas" pitchFamily="34" charset="-120"/>
              </a:rPr>
              <a:t>EmbeddingGemma-300m</a:t>
            </a:r>
            <a:endParaRPr lang="en-US" sz="1900" dirty="0"/>
          </a:p>
        </p:txBody>
      </p:sp>
      <p:sp>
        <p:nvSpPr>
          <p:cNvPr id="16" name="Text 13"/>
          <p:cNvSpPr/>
          <p:nvPr/>
        </p:nvSpPr>
        <p:spPr>
          <a:xfrm>
            <a:off x="6976872" y="3200400"/>
            <a:ext cx="4242816" cy="320040"/>
          </a:xfrm>
          <a:prstGeom prst="rect">
            <a:avLst/>
          </a:prstGeom>
          <a:noFill/>
          <a:ln/>
        </p:spPr>
        <p:txBody>
          <a:bodyPr wrap="square" lIns="0" tIns="0" rIns="0" bIns="0" rtlCol="0" anchor="ctr"/>
          <a:lstStyle/>
          <a:p>
            <a:pPr marL="0" indent="0">
              <a:buNone/>
            </a:pPr>
            <a:r>
              <a:rPr lang="en-US" sz="1350" b="1" dirty="0">
                <a:solidFill>
                  <a:srgbClr val="F1F5F9"/>
                </a:solidFill>
                <a:latin typeface="Pretendard" pitchFamily="34" charset="0"/>
                <a:ea typeface="Pretendard" pitchFamily="34" charset="-122"/>
                <a:cs typeface="Pretendard" pitchFamily="34" charset="-120"/>
              </a:rPr>
              <a:t>최대 입력 2,048 토큰  ·  768 차원</a:t>
            </a:r>
            <a:endParaRPr lang="en-US" sz="1350" dirty="0"/>
          </a:p>
        </p:txBody>
      </p:sp>
      <p:sp>
        <p:nvSpPr>
          <p:cNvPr id="17" name="Text 14"/>
          <p:cNvSpPr/>
          <p:nvPr/>
        </p:nvSpPr>
        <p:spPr>
          <a:xfrm>
            <a:off x="6976872" y="3611880"/>
            <a:ext cx="4242816" cy="777240"/>
          </a:xfrm>
          <a:prstGeom prst="rect">
            <a:avLst/>
          </a:prstGeom>
          <a:noFill/>
          <a:ln/>
        </p:spPr>
        <p:txBody>
          <a:bodyPr wrap="square" lIns="0" tIns="0" rIns="0" bIns="0" rtlCol="0" anchor="t"/>
          <a:lstStyle/>
          <a:p>
            <a:pPr marL="0" indent="0">
              <a:lnSpc>
                <a:spcPct val="130000"/>
              </a:lnSpc>
              <a:buNone/>
            </a:pPr>
            <a:r>
              <a:rPr lang="en-US" sz="1150" dirty="0">
                <a:solidFill>
                  <a:srgbClr val="BAC6D8"/>
                </a:solidFill>
                <a:latin typeface="Pretendard" pitchFamily="34" charset="0"/>
                <a:ea typeface="Pretendard" pitchFamily="34" charset="-122"/>
                <a:cs typeface="Pretendard" pitchFamily="34" charset="-120"/>
              </a:rPr>
              <a:t>구조 경계로 만든 청크를 자르지 않고 담는다</a:t>
            </a:r>
            <a:endParaRPr lang="en-US" sz="1150" dirty="0"/>
          </a:p>
          <a:p>
            <a:pPr marL="0" indent="0">
              <a:lnSpc>
                <a:spcPct val="130000"/>
              </a:lnSpc>
              <a:buNone/>
            </a:pPr>
            <a:r>
              <a:rPr lang="en-US" sz="1150" dirty="0">
                <a:solidFill>
                  <a:srgbClr val="BAC6D8"/>
                </a:solidFill>
                <a:latin typeface="Pretendard" pitchFamily="34" charset="0"/>
                <a:ea typeface="Pretendard" pitchFamily="34" charset="-122"/>
                <a:cs typeface="Pretendard" pitchFamily="34" charset="-120"/>
              </a:rPr>
              <a:t>파이프라인은 512토큰 상한으로 운용한다</a:t>
            </a:r>
            <a:endParaRPr lang="en-US" sz="1150" dirty="0"/>
          </a:p>
        </p:txBody>
      </p:sp>
      <p:sp>
        <p:nvSpPr>
          <p:cNvPr id="18" name="Shape 15"/>
          <p:cNvSpPr/>
          <p:nvPr/>
        </p:nvSpPr>
        <p:spPr>
          <a:xfrm>
            <a:off x="658368" y="4892040"/>
            <a:ext cx="10881360" cy="1051560"/>
          </a:xfrm>
          <a:prstGeom prst="roundRect">
            <a:avLst>
              <a:gd name="adj" fmla="val 6957"/>
            </a:avLst>
          </a:prstGeom>
          <a:solidFill>
            <a:srgbClr val="1B2436"/>
          </a:solidFill>
          <a:ln w="12700">
            <a:solidFill>
              <a:srgbClr val="263049"/>
            </a:solidFill>
            <a:prstDash val="solid"/>
          </a:ln>
        </p:spPr>
        <p:txBody>
          <a:bodyPr/>
          <a:lstStyle/>
          <a:p>
            <a:endParaRPr lang="ko-KR" altLang="en-US"/>
          </a:p>
        </p:txBody>
      </p:sp>
      <p:sp>
        <p:nvSpPr>
          <p:cNvPr id="19" name="Text 16"/>
          <p:cNvSpPr/>
          <p:nvPr/>
        </p:nvSpPr>
        <p:spPr>
          <a:xfrm>
            <a:off x="960120" y="5047488"/>
            <a:ext cx="10241280" cy="292608"/>
          </a:xfrm>
          <a:prstGeom prst="rect">
            <a:avLst/>
          </a:prstGeom>
          <a:noFill/>
          <a:ln/>
        </p:spPr>
        <p:txBody>
          <a:bodyPr wrap="square" lIns="0" tIns="0" rIns="0" bIns="0" rtlCol="0" anchor="ctr"/>
          <a:lstStyle/>
          <a:p>
            <a:pPr marL="0" indent="0">
              <a:buNone/>
            </a:pPr>
            <a:r>
              <a:rPr lang="en-US" sz="1250" b="1" dirty="0">
                <a:solidFill>
                  <a:srgbClr val="67E8F9"/>
                </a:solidFill>
                <a:latin typeface="Pretendard" pitchFamily="34" charset="0"/>
                <a:ea typeface="Pretendard" pitchFamily="34" charset="-122"/>
                <a:cs typeface="Pretendard" pitchFamily="34" charset="-120"/>
              </a:rPr>
              <a:t>모델을 키워 성능을 얻으려는 선택이 아니다</a:t>
            </a:r>
            <a:endParaRPr lang="en-US" sz="1250" dirty="0"/>
          </a:p>
        </p:txBody>
      </p:sp>
      <p:sp>
        <p:nvSpPr>
          <p:cNvPr id="20" name="Text 17"/>
          <p:cNvSpPr/>
          <p:nvPr/>
        </p:nvSpPr>
        <p:spPr>
          <a:xfrm>
            <a:off x="960120" y="5376672"/>
            <a:ext cx="10241280" cy="457200"/>
          </a:xfrm>
          <a:prstGeom prst="rect">
            <a:avLst/>
          </a:prstGeom>
          <a:noFill/>
          <a:ln/>
        </p:spPr>
        <p:txBody>
          <a:bodyPr wrap="square" lIns="0" tIns="0" rIns="0" bIns="0" rtlCol="0" anchor="t"/>
          <a:lstStyle/>
          <a:p>
            <a:pPr marL="0" indent="0">
              <a:lnSpc>
                <a:spcPct val="125000"/>
              </a:lnSpc>
              <a:buNone/>
            </a:pPr>
            <a:r>
              <a:rPr lang="en-US" sz="1150" dirty="0">
                <a:solidFill>
                  <a:srgbClr val="BAC6D8"/>
                </a:solidFill>
                <a:latin typeface="Pretendard" pitchFamily="34" charset="0"/>
                <a:ea typeface="Pretendard" pitchFamily="34" charset="-122"/>
                <a:cs typeface="Pretendard" pitchFamily="34" charset="-120"/>
              </a:rPr>
              <a:t>약 300M 규모로 기준을 고정해 두고, 제목·표·이미지 청킹 개선이 검색 성능에 어떤 영향을 주는지 확인하려는 목적이다</a:t>
            </a:r>
            <a:endParaRPr lang="en-US" sz="1150" dirty="0"/>
          </a:p>
          <a:p>
            <a:pPr marL="0" indent="0">
              <a:lnSpc>
                <a:spcPct val="125000"/>
              </a:lnSpc>
              <a:buNone/>
            </a:pPr>
            <a:r>
              <a:rPr lang="en-US" sz="1150" dirty="0">
                <a:solidFill>
                  <a:srgbClr val="BAC6D8"/>
                </a:solidFill>
                <a:latin typeface="Pretendard" pitchFamily="34" charset="0"/>
                <a:ea typeface="Pretendard" pitchFamily="34" charset="-122"/>
                <a:cs typeface="Pretendard" pitchFamily="34" charset="-120"/>
              </a:rPr>
              <a:t>모델 교체만으로 성능이 오른다고 가정하지 않는다</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bg_dk_div.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58368" y="1325880"/>
            <a:ext cx="5486400" cy="2103120"/>
          </a:xfrm>
          <a:prstGeom prst="rect">
            <a:avLst/>
          </a:prstGeom>
          <a:noFill/>
          <a:ln/>
        </p:spPr>
        <p:txBody>
          <a:bodyPr wrap="square" lIns="0" tIns="0" rIns="0" bIns="0" rtlCol="0" anchor="ctr"/>
          <a:lstStyle/>
          <a:p>
            <a:pPr marL="0" indent="0">
              <a:buNone/>
            </a:pPr>
            <a:r>
              <a:rPr lang="en-US" sz="13000" b="1" dirty="0">
                <a:solidFill>
                  <a:srgbClr val="133449"/>
                </a:solidFill>
                <a:latin typeface="Consolas" pitchFamily="34" charset="0"/>
                <a:ea typeface="Consolas" pitchFamily="34" charset="-122"/>
                <a:cs typeface="Consolas" pitchFamily="34" charset="-120"/>
              </a:rPr>
              <a:t>04</a:t>
            </a:r>
            <a:endParaRPr lang="en-US" sz="13000" dirty="0"/>
          </a:p>
        </p:txBody>
      </p:sp>
      <p:sp>
        <p:nvSpPr>
          <p:cNvPr id="4" name="Shape 1"/>
          <p:cNvSpPr/>
          <p:nvPr/>
        </p:nvSpPr>
        <p:spPr>
          <a:xfrm>
            <a:off x="777240" y="3611880"/>
            <a:ext cx="548640" cy="91440"/>
          </a:xfrm>
          <a:prstGeom prst="rect">
            <a:avLst/>
          </a:prstGeom>
          <a:solidFill>
            <a:srgbClr val="22D3EE"/>
          </a:solidFill>
          <a:ln/>
        </p:spPr>
        <p:txBody>
          <a:bodyPr/>
          <a:lstStyle/>
          <a:p>
            <a:endParaRPr lang="ko-KR" altLang="en-US"/>
          </a:p>
        </p:txBody>
      </p:sp>
      <p:sp>
        <p:nvSpPr>
          <p:cNvPr id="5" name="Text 2"/>
          <p:cNvSpPr/>
          <p:nvPr/>
        </p:nvSpPr>
        <p:spPr>
          <a:xfrm>
            <a:off x="749808" y="3840480"/>
            <a:ext cx="10515600" cy="777240"/>
          </a:xfrm>
          <a:prstGeom prst="rect">
            <a:avLst/>
          </a:prstGeom>
          <a:noFill/>
          <a:ln/>
        </p:spPr>
        <p:txBody>
          <a:bodyPr wrap="square" lIns="0" tIns="0" rIns="0" bIns="0" rtlCol="0" anchor="ctr"/>
          <a:lstStyle/>
          <a:p>
            <a:pPr marL="0" indent="0">
              <a:buNone/>
            </a:pPr>
            <a:r>
              <a:rPr lang="en-US" sz="3600" b="1" dirty="0">
                <a:solidFill>
                  <a:srgbClr val="F1F5F9"/>
                </a:solidFill>
                <a:latin typeface="Pretendard" pitchFamily="34" charset="0"/>
                <a:ea typeface="Pretendard" pitchFamily="34" charset="-122"/>
                <a:cs typeface="Pretendard" pitchFamily="34" charset="-120"/>
              </a:rPr>
              <a:t>업무량과 업무 추출</a:t>
            </a:r>
            <a:endParaRPr lang="en-US" sz="3600" dirty="0"/>
          </a:p>
        </p:txBody>
      </p:sp>
      <p:sp>
        <p:nvSpPr>
          <p:cNvPr id="6" name="Text 3"/>
          <p:cNvSpPr/>
          <p:nvPr/>
        </p:nvSpPr>
        <p:spPr>
          <a:xfrm>
            <a:off x="777240" y="4709160"/>
            <a:ext cx="10515600" cy="365760"/>
          </a:xfrm>
          <a:prstGeom prst="rect">
            <a:avLst/>
          </a:prstGeom>
          <a:noFill/>
          <a:ln/>
        </p:spPr>
        <p:txBody>
          <a:bodyPr wrap="square" lIns="0" tIns="0" rIns="0" bIns="0" rtlCol="0" anchor="ctr"/>
          <a:lstStyle/>
          <a:p>
            <a:pPr marL="0" indent="0">
              <a:buNone/>
            </a:pPr>
            <a:r>
              <a:rPr lang="en-US" sz="1400" dirty="0">
                <a:solidFill>
                  <a:srgbClr val="BAC6D8"/>
                </a:solidFill>
                <a:latin typeface="Pretendard Light" pitchFamily="34" charset="0"/>
                <a:ea typeface="Pretendard Light" pitchFamily="34" charset="-122"/>
                <a:cs typeface="Pretendard Light" pitchFamily="34" charset="-120"/>
              </a:rPr>
              <a:t>Jira 기반 업무량 파악 · 문서 기반 업무 추출</a:t>
            </a:r>
            <a:endParaRPr lang="en-US" sz="1400" dirty="0"/>
          </a:p>
        </p:txBody>
      </p:sp>
      <p:sp>
        <p:nvSpPr>
          <p:cNvPr id="7" name="Text 4"/>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WORKLOAD</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Jira에서 기존 프로젝트 정보를 수집해 업무량을 파악한다</a:t>
            </a:r>
            <a:endParaRPr lang="en-US" sz="2700" dirty="0"/>
          </a:p>
        </p:txBody>
      </p:sp>
      <p:sp>
        <p:nvSpPr>
          <p:cNvPr id="5" name="Text 2"/>
          <p:cNvSpPr/>
          <p:nvPr/>
        </p:nvSpPr>
        <p:spPr>
          <a:xfrm>
            <a:off x="566928" y="1243584"/>
            <a:ext cx="11064240" cy="320040"/>
          </a:xfrm>
          <a:prstGeom prst="rect">
            <a:avLst/>
          </a:prstGeom>
          <a:noFill/>
          <a:ln/>
        </p:spPr>
        <p:txBody>
          <a:bodyPr wrap="square" lIns="0" tIns="0" rIns="0" bIns="0" rtlCol="0" anchor="ctr"/>
          <a:lstStyle/>
          <a:p>
            <a:pPr marL="0" indent="0">
              <a:buNone/>
            </a:pPr>
            <a:r>
              <a:rPr lang="en-US" sz="1300" dirty="0">
                <a:solidFill>
                  <a:srgbClr val="BAC6D8"/>
                </a:solidFill>
                <a:latin typeface="Pretendard Light" pitchFamily="34" charset="0"/>
                <a:ea typeface="Pretendard Light" pitchFamily="34" charset="-122"/>
                <a:cs typeface="Pretendard Light" pitchFamily="34" charset="-120"/>
              </a:rPr>
              <a:t>새로 보고받지 않는다 — 이미 쌓여 있는 이슈만으로 계산한다</a:t>
            </a:r>
            <a:endParaRPr lang="en-US" sz="1300" dirty="0"/>
          </a:p>
        </p:txBody>
      </p:sp>
      <p:sp>
        <p:nvSpPr>
          <p:cNvPr id="6" name="Text 3"/>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24</a:t>
            </a:r>
            <a:endParaRPr lang="en-US" sz="1050" dirty="0"/>
          </a:p>
        </p:txBody>
      </p:sp>
      <p:sp>
        <p:nvSpPr>
          <p:cNvPr id="7" name="Shape 4"/>
          <p:cNvSpPr/>
          <p:nvPr/>
        </p:nvSpPr>
        <p:spPr>
          <a:xfrm>
            <a:off x="566928" y="1783080"/>
            <a:ext cx="2606040" cy="914400"/>
          </a:xfrm>
          <a:prstGeom prst="roundRect">
            <a:avLst>
              <a:gd name="adj" fmla="val 6000"/>
            </a:avLst>
          </a:prstGeom>
          <a:solidFill>
            <a:srgbClr val="161D2E"/>
          </a:solidFill>
          <a:ln w="12700">
            <a:solidFill>
              <a:srgbClr val="263049"/>
            </a:solidFill>
            <a:prstDash val="solid"/>
          </a:ln>
        </p:spPr>
        <p:txBody>
          <a:bodyPr/>
          <a:lstStyle/>
          <a:p>
            <a:endParaRPr lang="ko-KR" altLang="en-US"/>
          </a:p>
        </p:txBody>
      </p:sp>
      <p:sp>
        <p:nvSpPr>
          <p:cNvPr id="8" name="Text 5"/>
          <p:cNvSpPr/>
          <p:nvPr/>
        </p:nvSpPr>
        <p:spPr>
          <a:xfrm>
            <a:off x="630936" y="1901952"/>
            <a:ext cx="2478024" cy="402336"/>
          </a:xfrm>
          <a:prstGeom prst="rect">
            <a:avLst/>
          </a:prstGeom>
          <a:noFill/>
          <a:ln/>
        </p:spPr>
        <p:txBody>
          <a:bodyPr wrap="square" lIns="0" tIns="0" rIns="0" bIns="0" rtlCol="0" anchor="ctr"/>
          <a:lstStyle/>
          <a:p>
            <a:pPr marL="0" indent="0" algn="ctr">
              <a:buNone/>
            </a:pPr>
            <a:r>
              <a:rPr lang="en-US" sz="1200" b="1" dirty="0">
                <a:solidFill>
                  <a:srgbClr val="F1F5F9"/>
                </a:solidFill>
                <a:latin typeface="Pretendard" pitchFamily="34" charset="0"/>
                <a:ea typeface="Pretendard" pitchFamily="34" charset="-122"/>
                <a:cs typeface="Pretendard" pitchFamily="34" charset="-120"/>
              </a:rPr>
              <a:t>Jira 프로젝트 연결</a:t>
            </a:r>
            <a:endParaRPr lang="en-US" sz="1200" dirty="0"/>
          </a:p>
        </p:txBody>
      </p:sp>
      <p:sp>
        <p:nvSpPr>
          <p:cNvPr id="9" name="Text 6"/>
          <p:cNvSpPr/>
          <p:nvPr/>
        </p:nvSpPr>
        <p:spPr>
          <a:xfrm>
            <a:off x="630936" y="2276856"/>
            <a:ext cx="2478024" cy="329184"/>
          </a:xfrm>
          <a:prstGeom prst="rect">
            <a:avLst/>
          </a:prstGeom>
          <a:noFill/>
          <a:ln/>
        </p:spPr>
        <p:txBody>
          <a:bodyPr wrap="square" lIns="0" tIns="0" rIns="0" bIns="0" rtlCol="0" anchor="t"/>
          <a:lstStyle/>
          <a:p>
            <a:pPr marL="0" indent="0" algn="ctr">
              <a:buNone/>
            </a:pPr>
            <a:r>
              <a:rPr lang="en-US" sz="1050" dirty="0">
                <a:solidFill>
                  <a:srgbClr val="BAC6D8"/>
                </a:solidFill>
                <a:latin typeface="Pretendard" pitchFamily="34" charset="0"/>
                <a:ea typeface="Pretendard" pitchFamily="34" charset="-122"/>
                <a:cs typeface="Pretendard" pitchFamily="34" charset="-120"/>
              </a:rPr>
              <a:t>프로젝트 하나에 Jira 하나</a:t>
            </a:r>
            <a:endParaRPr lang="en-US" sz="1050" dirty="0"/>
          </a:p>
        </p:txBody>
      </p:sp>
      <p:sp>
        <p:nvSpPr>
          <p:cNvPr id="10" name="Shape 7"/>
          <p:cNvSpPr/>
          <p:nvPr/>
        </p:nvSpPr>
        <p:spPr>
          <a:xfrm>
            <a:off x="3191256" y="2240280"/>
            <a:ext cx="173736" cy="0"/>
          </a:xfrm>
          <a:prstGeom prst="line">
            <a:avLst/>
          </a:prstGeom>
          <a:noFill/>
          <a:ln w="19050">
            <a:solidFill>
              <a:srgbClr val="0E7490"/>
            </a:solidFill>
            <a:prstDash val="solid"/>
            <a:tailEnd type="triangle"/>
          </a:ln>
        </p:spPr>
        <p:txBody>
          <a:bodyPr/>
          <a:lstStyle/>
          <a:p>
            <a:endParaRPr lang="ko-KR" altLang="en-US"/>
          </a:p>
        </p:txBody>
      </p:sp>
      <p:sp>
        <p:nvSpPr>
          <p:cNvPr id="11" name="Shape 8"/>
          <p:cNvSpPr/>
          <p:nvPr/>
        </p:nvSpPr>
        <p:spPr>
          <a:xfrm>
            <a:off x="3383280" y="1783080"/>
            <a:ext cx="2606040" cy="914400"/>
          </a:xfrm>
          <a:prstGeom prst="roundRect">
            <a:avLst>
              <a:gd name="adj" fmla="val 6000"/>
            </a:avLst>
          </a:prstGeom>
          <a:solidFill>
            <a:srgbClr val="161D2E"/>
          </a:solidFill>
          <a:ln w="12700">
            <a:solidFill>
              <a:srgbClr val="263049"/>
            </a:solidFill>
            <a:prstDash val="solid"/>
          </a:ln>
        </p:spPr>
        <p:txBody>
          <a:bodyPr/>
          <a:lstStyle/>
          <a:p>
            <a:endParaRPr lang="ko-KR" altLang="en-US"/>
          </a:p>
        </p:txBody>
      </p:sp>
      <p:sp>
        <p:nvSpPr>
          <p:cNvPr id="12" name="Text 9"/>
          <p:cNvSpPr/>
          <p:nvPr/>
        </p:nvSpPr>
        <p:spPr>
          <a:xfrm>
            <a:off x="3447288" y="1901952"/>
            <a:ext cx="2478024" cy="402336"/>
          </a:xfrm>
          <a:prstGeom prst="rect">
            <a:avLst/>
          </a:prstGeom>
          <a:noFill/>
          <a:ln/>
        </p:spPr>
        <p:txBody>
          <a:bodyPr wrap="square" lIns="0" tIns="0" rIns="0" bIns="0" rtlCol="0" anchor="ctr"/>
          <a:lstStyle/>
          <a:p>
            <a:pPr marL="0" indent="0" algn="ctr">
              <a:buNone/>
            </a:pPr>
            <a:r>
              <a:rPr lang="en-US" sz="1200" b="1" dirty="0">
                <a:solidFill>
                  <a:srgbClr val="F1F5F9"/>
                </a:solidFill>
                <a:latin typeface="Pretendard" pitchFamily="34" charset="0"/>
                <a:ea typeface="Pretendard" pitchFamily="34" charset="-122"/>
                <a:cs typeface="Pretendard" pitchFamily="34" charset="-120"/>
              </a:rPr>
              <a:t>이슈 가져오기</a:t>
            </a:r>
            <a:endParaRPr lang="en-US" sz="1200" dirty="0"/>
          </a:p>
        </p:txBody>
      </p:sp>
      <p:sp>
        <p:nvSpPr>
          <p:cNvPr id="13" name="Text 10"/>
          <p:cNvSpPr/>
          <p:nvPr/>
        </p:nvSpPr>
        <p:spPr>
          <a:xfrm>
            <a:off x="3447288" y="2276856"/>
            <a:ext cx="2478024" cy="329184"/>
          </a:xfrm>
          <a:prstGeom prst="rect">
            <a:avLst/>
          </a:prstGeom>
          <a:noFill/>
          <a:ln/>
        </p:spPr>
        <p:txBody>
          <a:bodyPr wrap="square" lIns="0" tIns="0" rIns="0" bIns="0" rtlCol="0" anchor="t"/>
          <a:lstStyle/>
          <a:p>
            <a:pPr marL="0" indent="0" algn="ctr">
              <a:buNone/>
            </a:pPr>
            <a:r>
              <a:rPr lang="en-US" sz="1050" dirty="0">
                <a:solidFill>
                  <a:srgbClr val="BAC6D8"/>
                </a:solidFill>
                <a:latin typeface="Pretendard" pitchFamily="34" charset="0"/>
                <a:ea typeface="Pretendard" pitchFamily="34" charset="-122"/>
                <a:cs typeface="Pretendard" pitchFamily="34" charset="-120"/>
              </a:rPr>
              <a:t>담당자 · 상태 · 추정 · 남은 시간 · 마감</a:t>
            </a:r>
            <a:endParaRPr lang="en-US" sz="1050" dirty="0"/>
          </a:p>
        </p:txBody>
      </p:sp>
      <p:sp>
        <p:nvSpPr>
          <p:cNvPr id="14" name="Shape 11"/>
          <p:cNvSpPr/>
          <p:nvPr/>
        </p:nvSpPr>
        <p:spPr>
          <a:xfrm>
            <a:off x="6007608" y="2240280"/>
            <a:ext cx="173736" cy="0"/>
          </a:xfrm>
          <a:prstGeom prst="line">
            <a:avLst/>
          </a:prstGeom>
          <a:noFill/>
          <a:ln w="19050">
            <a:solidFill>
              <a:srgbClr val="0E7490"/>
            </a:solidFill>
            <a:prstDash val="solid"/>
            <a:tailEnd type="triangle"/>
          </a:ln>
        </p:spPr>
        <p:txBody>
          <a:bodyPr/>
          <a:lstStyle/>
          <a:p>
            <a:endParaRPr lang="ko-KR" altLang="en-US"/>
          </a:p>
        </p:txBody>
      </p:sp>
      <p:sp>
        <p:nvSpPr>
          <p:cNvPr id="15" name="Shape 12"/>
          <p:cNvSpPr/>
          <p:nvPr/>
        </p:nvSpPr>
        <p:spPr>
          <a:xfrm>
            <a:off x="6199632" y="1783080"/>
            <a:ext cx="2606040" cy="914400"/>
          </a:xfrm>
          <a:prstGeom prst="roundRect">
            <a:avLst>
              <a:gd name="adj" fmla="val 6000"/>
            </a:avLst>
          </a:prstGeom>
          <a:solidFill>
            <a:srgbClr val="0F2A3A"/>
          </a:solidFill>
          <a:ln w="12700">
            <a:solidFill>
              <a:srgbClr val="155E75"/>
            </a:solidFill>
            <a:prstDash val="solid"/>
          </a:ln>
        </p:spPr>
        <p:txBody>
          <a:bodyPr/>
          <a:lstStyle/>
          <a:p>
            <a:endParaRPr lang="ko-KR" altLang="en-US"/>
          </a:p>
        </p:txBody>
      </p:sp>
      <p:sp>
        <p:nvSpPr>
          <p:cNvPr id="16" name="Text 13"/>
          <p:cNvSpPr/>
          <p:nvPr/>
        </p:nvSpPr>
        <p:spPr>
          <a:xfrm>
            <a:off x="6263640" y="1901952"/>
            <a:ext cx="2478024" cy="402336"/>
          </a:xfrm>
          <a:prstGeom prst="rect">
            <a:avLst/>
          </a:prstGeom>
          <a:noFill/>
          <a:ln/>
        </p:spPr>
        <p:txBody>
          <a:bodyPr wrap="square" lIns="0" tIns="0" rIns="0" bIns="0" rtlCol="0" anchor="ctr"/>
          <a:lstStyle/>
          <a:p>
            <a:pPr marL="0" indent="0" algn="ctr">
              <a:buNone/>
            </a:pPr>
            <a:r>
              <a:rPr lang="en-US" sz="1200" b="1" dirty="0">
                <a:solidFill>
                  <a:srgbClr val="67E8F9"/>
                </a:solidFill>
                <a:latin typeface="Pretendard" pitchFamily="34" charset="0"/>
                <a:ea typeface="Pretendard" pitchFamily="34" charset="-122"/>
                <a:cs typeface="Pretendard" pitchFamily="34" charset="-120"/>
              </a:rPr>
              <a:t>사람별로 계산</a:t>
            </a:r>
            <a:endParaRPr lang="en-US" sz="1200" dirty="0"/>
          </a:p>
        </p:txBody>
      </p:sp>
      <p:sp>
        <p:nvSpPr>
          <p:cNvPr id="17" name="Text 14"/>
          <p:cNvSpPr/>
          <p:nvPr/>
        </p:nvSpPr>
        <p:spPr>
          <a:xfrm>
            <a:off x="6263640" y="2276856"/>
            <a:ext cx="2478024" cy="329184"/>
          </a:xfrm>
          <a:prstGeom prst="rect">
            <a:avLst/>
          </a:prstGeom>
          <a:noFill/>
          <a:ln/>
        </p:spPr>
        <p:txBody>
          <a:bodyPr wrap="square" lIns="0" tIns="0" rIns="0" bIns="0" rtlCol="0" anchor="t"/>
          <a:lstStyle/>
          <a:p>
            <a:pPr marL="0" indent="0" algn="ctr">
              <a:buNone/>
            </a:pPr>
            <a:r>
              <a:rPr lang="en-US" sz="1050" dirty="0">
                <a:solidFill>
                  <a:srgbClr val="BAC6D8"/>
                </a:solidFill>
                <a:latin typeface="Pretendard" pitchFamily="34" charset="0"/>
                <a:ea typeface="Pretendard" pitchFamily="34" charset="-122"/>
                <a:cs typeface="Pretendard" pitchFamily="34" charset="-120"/>
              </a:rPr>
              <a:t>코드가 계산 — LLM 없음</a:t>
            </a:r>
            <a:endParaRPr lang="en-US" sz="1050" dirty="0"/>
          </a:p>
        </p:txBody>
      </p:sp>
      <p:sp>
        <p:nvSpPr>
          <p:cNvPr id="18" name="Shape 15"/>
          <p:cNvSpPr/>
          <p:nvPr/>
        </p:nvSpPr>
        <p:spPr>
          <a:xfrm>
            <a:off x="8823960" y="2240280"/>
            <a:ext cx="173736" cy="0"/>
          </a:xfrm>
          <a:prstGeom prst="line">
            <a:avLst/>
          </a:prstGeom>
          <a:noFill/>
          <a:ln w="19050">
            <a:solidFill>
              <a:srgbClr val="0E7490"/>
            </a:solidFill>
            <a:prstDash val="solid"/>
            <a:tailEnd type="triangle"/>
          </a:ln>
        </p:spPr>
        <p:txBody>
          <a:bodyPr/>
          <a:lstStyle/>
          <a:p>
            <a:endParaRPr lang="ko-KR" altLang="en-US"/>
          </a:p>
        </p:txBody>
      </p:sp>
      <p:sp>
        <p:nvSpPr>
          <p:cNvPr id="19" name="Shape 16"/>
          <p:cNvSpPr/>
          <p:nvPr/>
        </p:nvSpPr>
        <p:spPr>
          <a:xfrm>
            <a:off x="9015984" y="1783080"/>
            <a:ext cx="2606040" cy="914400"/>
          </a:xfrm>
          <a:prstGeom prst="roundRect">
            <a:avLst>
              <a:gd name="adj" fmla="val 6000"/>
            </a:avLst>
          </a:prstGeom>
          <a:solidFill>
            <a:srgbClr val="161D2E"/>
          </a:solidFill>
          <a:ln w="12700">
            <a:solidFill>
              <a:srgbClr val="263049"/>
            </a:solidFill>
            <a:prstDash val="solid"/>
          </a:ln>
        </p:spPr>
        <p:txBody>
          <a:bodyPr/>
          <a:lstStyle/>
          <a:p>
            <a:endParaRPr lang="ko-KR" altLang="en-US"/>
          </a:p>
        </p:txBody>
      </p:sp>
      <p:sp>
        <p:nvSpPr>
          <p:cNvPr id="20" name="Text 17"/>
          <p:cNvSpPr/>
          <p:nvPr/>
        </p:nvSpPr>
        <p:spPr>
          <a:xfrm>
            <a:off x="9079992" y="1901952"/>
            <a:ext cx="2478024" cy="402336"/>
          </a:xfrm>
          <a:prstGeom prst="rect">
            <a:avLst/>
          </a:prstGeom>
          <a:noFill/>
          <a:ln/>
        </p:spPr>
        <p:txBody>
          <a:bodyPr wrap="square" lIns="0" tIns="0" rIns="0" bIns="0" rtlCol="0" anchor="ctr"/>
          <a:lstStyle/>
          <a:p>
            <a:pPr marL="0" indent="0" algn="ctr">
              <a:buNone/>
            </a:pPr>
            <a:r>
              <a:rPr lang="en-US" sz="1200" b="1" dirty="0">
                <a:solidFill>
                  <a:srgbClr val="F1F5F9"/>
                </a:solidFill>
                <a:latin typeface="Pretendard" pitchFamily="34" charset="0"/>
                <a:ea typeface="Pretendard" pitchFamily="34" charset="-122"/>
                <a:cs typeface="Pretendard" pitchFamily="34" charset="-120"/>
              </a:rPr>
              <a:t>화면에 보여주기</a:t>
            </a:r>
            <a:endParaRPr lang="en-US" sz="1200" dirty="0"/>
          </a:p>
        </p:txBody>
      </p:sp>
      <p:sp>
        <p:nvSpPr>
          <p:cNvPr id="21" name="Text 18"/>
          <p:cNvSpPr/>
          <p:nvPr/>
        </p:nvSpPr>
        <p:spPr>
          <a:xfrm>
            <a:off x="9079992" y="2276856"/>
            <a:ext cx="2478024" cy="329184"/>
          </a:xfrm>
          <a:prstGeom prst="rect">
            <a:avLst/>
          </a:prstGeom>
          <a:noFill/>
          <a:ln/>
        </p:spPr>
        <p:txBody>
          <a:bodyPr wrap="square" lIns="0" tIns="0" rIns="0" bIns="0" rtlCol="0" anchor="t"/>
          <a:lstStyle/>
          <a:p>
            <a:pPr marL="0" indent="0" algn="ctr">
              <a:buNone/>
            </a:pPr>
            <a:r>
              <a:rPr lang="en-US" sz="1050" dirty="0">
                <a:solidFill>
                  <a:srgbClr val="BAC6D8"/>
                </a:solidFill>
                <a:latin typeface="Pretendard" pitchFamily="34" charset="0"/>
                <a:ea typeface="Pretendard" pitchFamily="34" charset="-122"/>
                <a:cs typeface="Pretendard" pitchFamily="34" charset="-120"/>
              </a:rPr>
              <a:t>지금 부하 + 곧 닥칠 마감</a:t>
            </a:r>
            <a:endParaRPr lang="en-US" sz="1050" dirty="0"/>
          </a:p>
        </p:txBody>
      </p:sp>
      <p:sp>
        <p:nvSpPr>
          <p:cNvPr id="22" name="Shape 19"/>
          <p:cNvSpPr/>
          <p:nvPr/>
        </p:nvSpPr>
        <p:spPr>
          <a:xfrm>
            <a:off x="566928" y="3063240"/>
            <a:ext cx="6766560" cy="1920240"/>
          </a:xfrm>
          <a:prstGeom prst="roundRect">
            <a:avLst>
              <a:gd name="adj" fmla="val 3810"/>
            </a:avLst>
          </a:prstGeom>
          <a:solidFill>
            <a:srgbClr val="161D2E"/>
          </a:solidFill>
          <a:ln w="12700">
            <a:solidFill>
              <a:srgbClr val="263049"/>
            </a:solidFill>
            <a:prstDash val="solid"/>
          </a:ln>
        </p:spPr>
        <p:txBody>
          <a:bodyPr/>
          <a:lstStyle/>
          <a:p>
            <a:endParaRPr lang="ko-KR" altLang="en-US"/>
          </a:p>
        </p:txBody>
      </p:sp>
      <p:sp>
        <p:nvSpPr>
          <p:cNvPr id="23" name="Text 20"/>
          <p:cNvSpPr/>
          <p:nvPr/>
        </p:nvSpPr>
        <p:spPr>
          <a:xfrm>
            <a:off x="841248" y="3264408"/>
            <a:ext cx="3657600" cy="310896"/>
          </a:xfrm>
          <a:prstGeom prst="rect">
            <a:avLst/>
          </a:prstGeom>
          <a:noFill/>
          <a:ln/>
        </p:spPr>
        <p:txBody>
          <a:bodyPr wrap="square" lIns="0" tIns="0" rIns="0" bIns="0" rtlCol="0" anchor="ctr"/>
          <a:lstStyle/>
          <a:p>
            <a:pPr marL="0" indent="0">
              <a:buNone/>
            </a:pPr>
            <a:r>
              <a:rPr lang="en-US" sz="1350" b="1" dirty="0">
                <a:solidFill>
                  <a:srgbClr val="67E8F9"/>
                </a:solidFill>
                <a:latin typeface="Pretendard" pitchFamily="34" charset="0"/>
                <a:ea typeface="Pretendard" pitchFamily="34" charset="-122"/>
                <a:cs typeface="Pretendard" pitchFamily="34" charset="-120"/>
              </a:rPr>
              <a:t>어떻게 재는가</a:t>
            </a:r>
            <a:endParaRPr lang="en-US" sz="1350" dirty="0"/>
          </a:p>
        </p:txBody>
      </p:sp>
      <p:sp>
        <p:nvSpPr>
          <p:cNvPr id="24" name="Text 21"/>
          <p:cNvSpPr/>
          <p:nvPr/>
        </p:nvSpPr>
        <p:spPr>
          <a:xfrm>
            <a:off x="841248" y="3721608"/>
            <a:ext cx="822960" cy="365760"/>
          </a:xfrm>
          <a:prstGeom prst="rect">
            <a:avLst/>
          </a:prstGeom>
          <a:noFill/>
          <a:ln/>
        </p:spPr>
        <p:txBody>
          <a:bodyPr wrap="square" lIns="0" tIns="0" rIns="0" bIns="0" rtlCol="0" anchor="ctr"/>
          <a:lstStyle/>
          <a:p>
            <a:pPr marL="0" indent="0">
              <a:buNone/>
            </a:pPr>
            <a:r>
              <a:rPr lang="en-US" sz="1150" b="1" dirty="0">
                <a:solidFill>
                  <a:srgbClr val="22D3EE"/>
                </a:solidFill>
                <a:latin typeface="Consolas" pitchFamily="34" charset="0"/>
                <a:ea typeface="Consolas" pitchFamily="34" charset="-122"/>
                <a:cs typeface="Consolas" pitchFamily="34" charset="-120"/>
              </a:rPr>
              <a:t>용량</a:t>
            </a:r>
            <a:endParaRPr lang="en-US" sz="1150" dirty="0"/>
          </a:p>
        </p:txBody>
      </p:sp>
      <p:sp>
        <p:nvSpPr>
          <p:cNvPr id="25" name="Text 22"/>
          <p:cNvSpPr/>
          <p:nvPr/>
        </p:nvSpPr>
        <p:spPr>
          <a:xfrm>
            <a:off x="1691640" y="3721608"/>
            <a:ext cx="5367528" cy="365760"/>
          </a:xfrm>
          <a:prstGeom prst="rect">
            <a:avLst/>
          </a:prstGeom>
          <a:noFill/>
          <a:ln/>
        </p:spPr>
        <p:txBody>
          <a:bodyPr wrap="square" lIns="0" tIns="0" rIns="0" bIns="0" rtlCol="0" anchor="ctr"/>
          <a:lstStyle/>
          <a:p>
            <a:pPr marL="0" indent="0">
              <a:buNone/>
            </a:pPr>
            <a:r>
              <a:rPr lang="en-US" sz="1150" dirty="0">
                <a:solidFill>
                  <a:srgbClr val="F1F5F9"/>
                </a:solidFill>
                <a:latin typeface="Pretendard" pitchFamily="34" charset="0"/>
                <a:ea typeface="Pretendard" pitchFamily="34" charset="-122"/>
                <a:cs typeface="Pretendard" pitchFamily="34" charset="-120"/>
              </a:rPr>
              <a:t>(주 근무시간 ÷ 5) × 기간 안의 근무일 수 − 승인된 휴가</a:t>
            </a:r>
            <a:endParaRPr lang="en-US" sz="1150" dirty="0"/>
          </a:p>
        </p:txBody>
      </p:sp>
      <p:sp>
        <p:nvSpPr>
          <p:cNvPr id="26" name="Text 23"/>
          <p:cNvSpPr/>
          <p:nvPr/>
        </p:nvSpPr>
        <p:spPr>
          <a:xfrm>
            <a:off x="841248" y="4123944"/>
            <a:ext cx="822960" cy="365760"/>
          </a:xfrm>
          <a:prstGeom prst="rect">
            <a:avLst/>
          </a:prstGeom>
          <a:noFill/>
          <a:ln/>
        </p:spPr>
        <p:txBody>
          <a:bodyPr wrap="square" lIns="0" tIns="0" rIns="0" bIns="0" rtlCol="0" anchor="ctr"/>
          <a:lstStyle/>
          <a:p>
            <a:pPr marL="0" indent="0">
              <a:buNone/>
            </a:pPr>
            <a:r>
              <a:rPr lang="en-US" sz="1150" b="1" dirty="0">
                <a:solidFill>
                  <a:srgbClr val="22D3EE"/>
                </a:solidFill>
                <a:latin typeface="Consolas" pitchFamily="34" charset="0"/>
                <a:ea typeface="Consolas" pitchFamily="34" charset="-122"/>
                <a:cs typeface="Consolas" pitchFamily="34" charset="-120"/>
              </a:rPr>
              <a:t>할당</a:t>
            </a:r>
            <a:endParaRPr lang="en-US" sz="1150" dirty="0"/>
          </a:p>
        </p:txBody>
      </p:sp>
      <p:sp>
        <p:nvSpPr>
          <p:cNvPr id="27" name="Text 24"/>
          <p:cNvSpPr/>
          <p:nvPr/>
        </p:nvSpPr>
        <p:spPr>
          <a:xfrm>
            <a:off x="1691640" y="4123944"/>
            <a:ext cx="5367528" cy="365760"/>
          </a:xfrm>
          <a:prstGeom prst="rect">
            <a:avLst/>
          </a:prstGeom>
          <a:noFill/>
          <a:ln/>
        </p:spPr>
        <p:txBody>
          <a:bodyPr wrap="square" lIns="0" tIns="0" rIns="0" bIns="0" rtlCol="0" anchor="ctr"/>
          <a:lstStyle/>
          <a:p>
            <a:pPr marL="0" indent="0">
              <a:buNone/>
            </a:pPr>
            <a:r>
              <a:rPr lang="en-US" sz="1150" dirty="0">
                <a:solidFill>
                  <a:srgbClr val="F1F5F9"/>
                </a:solidFill>
                <a:latin typeface="Pretendard" pitchFamily="34" charset="0"/>
                <a:ea typeface="Pretendard" pitchFamily="34" charset="-122"/>
                <a:cs typeface="Pretendard" pitchFamily="34" charset="-120"/>
              </a:rPr>
              <a:t>기간 안에 마감이 있거나 진행 중인 일의 남은 추정 시간 합</a:t>
            </a:r>
            <a:endParaRPr lang="en-US" sz="1150" dirty="0"/>
          </a:p>
        </p:txBody>
      </p:sp>
      <p:sp>
        <p:nvSpPr>
          <p:cNvPr id="28" name="Text 25"/>
          <p:cNvSpPr/>
          <p:nvPr/>
        </p:nvSpPr>
        <p:spPr>
          <a:xfrm>
            <a:off x="841248" y="4526280"/>
            <a:ext cx="822960" cy="365760"/>
          </a:xfrm>
          <a:prstGeom prst="rect">
            <a:avLst/>
          </a:prstGeom>
          <a:noFill/>
          <a:ln/>
        </p:spPr>
        <p:txBody>
          <a:bodyPr wrap="square" lIns="0" tIns="0" rIns="0" bIns="0" rtlCol="0" anchor="ctr"/>
          <a:lstStyle/>
          <a:p>
            <a:pPr marL="0" indent="0">
              <a:buNone/>
            </a:pPr>
            <a:r>
              <a:rPr lang="en-US" sz="1150" b="1" dirty="0">
                <a:solidFill>
                  <a:srgbClr val="22D3EE"/>
                </a:solidFill>
                <a:latin typeface="Consolas" pitchFamily="34" charset="0"/>
                <a:ea typeface="Consolas" pitchFamily="34" charset="-122"/>
                <a:cs typeface="Consolas" pitchFamily="34" charset="-120"/>
              </a:rPr>
              <a:t>부하율</a:t>
            </a:r>
            <a:endParaRPr lang="en-US" sz="1150" dirty="0"/>
          </a:p>
        </p:txBody>
      </p:sp>
      <p:sp>
        <p:nvSpPr>
          <p:cNvPr id="29" name="Text 26"/>
          <p:cNvSpPr/>
          <p:nvPr/>
        </p:nvSpPr>
        <p:spPr>
          <a:xfrm>
            <a:off x="1691640" y="4526280"/>
            <a:ext cx="5367528" cy="365760"/>
          </a:xfrm>
          <a:prstGeom prst="rect">
            <a:avLst/>
          </a:prstGeom>
          <a:noFill/>
          <a:ln/>
        </p:spPr>
        <p:txBody>
          <a:bodyPr wrap="square" lIns="0" tIns="0" rIns="0" bIns="0" rtlCol="0" anchor="ctr"/>
          <a:lstStyle/>
          <a:p>
            <a:pPr marL="0" indent="0">
              <a:buNone/>
            </a:pPr>
            <a:r>
              <a:rPr lang="en-US" sz="1150" dirty="0">
                <a:solidFill>
                  <a:srgbClr val="F1F5F9"/>
                </a:solidFill>
                <a:latin typeface="Pretendard" pitchFamily="34" charset="0"/>
                <a:ea typeface="Pretendard" pitchFamily="34" charset="-122"/>
                <a:cs typeface="Pretendard" pitchFamily="34" charset="-120"/>
              </a:rPr>
              <a:t>할당 ÷ 용량</a:t>
            </a:r>
            <a:endParaRPr lang="en-US" sz="1150" dirty="0"/>
          </a:p>
        </p:txBody>
      </p:sp>
      <p:sp>
        <p:nvSpPr>
          <p:cNvPr id="30" name="Shape 27"/>
          <p:cNvSpPr/>
          <p:nvPr/>
        </p:nvSpPr>
        <p:spPr>
          <a:xfrm>
            <a:off x="7571232" y="3063240"/>
            <a:ext cx="4059936" cy="1920240"/>
          </a:xfrm>
          <a:prstGeom prst="roundRect">
            <a:avLst>
              <a:gd name="adj" fmla="val 3810"/>
            </a:avLst>
          </a:prstGeom>
          <a:solidFill>
            <a:srgbClr val="161D2E"/>
          </a:solidFill>
          <a:ln w="12700">
            <a:solidFill>
              <a:srgbClr val="263049"/>
            </a:solidFill>
            <a:prstDash val="solid"/>
          </a:ln>
        </p:spPr>
        <p:txBody>
          <a:bodyPr/>
          <a:lstStyle/>
          <a:p>
            <a:endParaRPr lang="ko-KR" altLang="en-US"/>
          </a:p>
        </p:txBody>
      </p:sp>
      <p:sp>
        <p:nvSpPr>
          <p:cNvPr id="31" name="Text 28"/>
          <p:cNvSpPr/>
          <p:nvPr/>
        </p:nvSpPr>
        <p:spPr>
          <a:xfrm>
            <a:off x="7845552" y="3264408"/>
            <a:ext cx="3657600" cy="310896"/>
          </a:xfrm>
          <a:prstGeom prst="rect">
            <a:avLst/>
          </a:prstGeom>
          <a:noFill/>
          <a:ln/>
        </p:spPr>
        <p:txBody>
          <a:bodyPr wrap="square" lIns="0" tIns="0" rIns="0" bIns="0" rtlCol="0" anchor="ctr"/>
          <a:lstStyle/>
          <a:p>
            <a:pPr marL="0" indent="0">
              <a:buNone/>
            </a:pPr>
            <a:r>
              <a:rPr lang="en-US" sz="1350" b="1" dirty="0">
                <a:solidFill>
                  <a:srgbClr val="67E8F9"/>
                </a:solidFill>
                <a:latin typeface="Pretendard" pitchFamily="34" charset="0"/>
                <a:ea typeface="Pretendard" pitchFamily="34" charset="-122"/>
                <a:cs typeface="Pretendard" pitchFamily="34" charset="-120"/>
              </a:rPr>
              <a:t>지키는 규칙</a:t>
            </a:r>
            <a:endParaRPr lang="en-US" sz="1350" dirty="0"/>
          </a:p>
        </p:txBody>
      </p:sp>
      <p:sp>
        <p:nvSpPr>
          <p:cNvPr id="32" name="Text 29"/>
          <p:cNvSpPr/>
          <p:nvPr/>
        </p:nvSpPr>
        <p:spPr>
          <a:xfrm>
            <a:off x="7845552" y="3721608"/>
            <a:ext cx="3511296" cy="365760"/>
          </a:xfrm>
          <a:prstGeom prst="rect">
            <a:avLst/>
          </a:prstGeom>
          <a:noFill/>
          <a:ln/>
        </p:spPr>
        <p:txBody>
          <a:bodyPr wrap="square" lIns="0" tIns="0" rIns="0" bIns="0" rtlCol="0" anchor="ctr"/>
          <a:lstStyle/>
          <a:p>
            <a:pPr marL="0" indent="0">
              <a:buNone/>
            </a:pPr>
            <a:r>
              <a:rPr lang="en-US" sz="1150" dirty="0">
                <a:solidFill>
                  <a:srgbClr val="F1F5F9"/>
                </a:solidFill>
                <a:latin typeface="Pretendard" pitchFamily="34" charset="0"/>
                <a:ea typeface="Pretendard" pitchFamily="34" charset="-122"/>
                <a:cs typeface="Pretendard" pitchFamily="34" charset="-120"/>
              </a:rPr>
              <a:t>임의의 계수를 넣지 않는다</a:t>
            </a:r>
            <a:endParaRPr lang="en-US" sz="1150" dirty="0"/>
          </a:p>
        </p:txBody>
      </p:sp>
      <p:sp>
        <p:nvSpPr>
          <p:cNvPr id="33" name="Text 30"/>
          <p:cNvSpPr/>
          <p:nvPr/>
        </p:nvSpPr>
        <p:spPr>
          <a:xfrm>
            <a:off x="7845552" y="4123944"/>
            <a:ext cx="3511296" cy="365760"/>
          </a:xfrm>
          <a:prstGeom prst="rect">
            <a:avLst/>
          </a:prstGeom>
          <a:noFill/>
          <a:ln/>
        </p:spPr>
        <p:txBody>
          <a:bodyPr wrap="square" lIns="0" tIns="0" rIns="0" bIns="0" rtlCol="0" anchor="ctr"/>
          <a:lstStyle/>
          <a:p>
            <a:pPr marL="0" indent="0">
              <a:buNone/>
            </a:pPr>
            <a:r>
              <a:rPr lang="en-US" sz="1150" dirty="0">
                <a:solidFill>
                  <a:srgbClr val="F1F5F9"/>
                </a:solidFill>
                <a:latin typeface="Pretendard" pitchFamily="34" charset="0"/>
                <a:ea typeface="Pretendard" pitchFamily="34" charset="-122"/>
                <a:cs typeface="Pretendard" pitchFamily="34" charset="-120"/>
              </a:rPr>
              <a:t>근무조건을 모르면 계산하지 않는다</a:t>
            </a:r>
            <a:endParaRPr lang="en-US" sz="1150" dirty="0"/>
          </a:p>
        </p:txBody>
      </p:sp>
      <p:sp>
        <p:nvSpPr>
          <p:cNvPr id="34" name="Text 31"/>
          <p:cNvSpPr/>
          <p:nvPr/>
        </p:nvSpPr>
        <p:spPr>
          <a:xfrm>
            <a:off x="7845552" y="4526280"/>
            <a:ext cx="3511296" cy="365760"/>
          </a:xfrm>
          <a:prstGeom prst="rect">
            <a:avLst/>
          </a:prstGeom>
          <a:noFill/>
          <a:ln/>
        </p:spPr>
        <p:txBody>
          <a:bodyPr wrap="square" lIns="0" tIns="0" rIns="0" bIns="0" rtlCol="0" anchor="ctr"/>
          <a:lstStyle/>
          <a:p>
            <a:pPr marL="0" indent="0">
              <a:buNone/>
            </a:pPr>
            <a:r>
              <a:rPr lang="en-US" sz="1150" dirty="0">
                <a:solidFill>
                  <a:srgbClr val="F1F5F9"/>
                </a:solidFill>
                <a:latin typeface="Pretendard" pitchFamily="34" charset="0"/>
                <a:ea typeface="Pretendard" pitchFamily="34" charset="-122"/>
                <a:cs typeface="Pretendard" pitchFamily="34" charset="-120"/>
              </a:rPr>
              <a:t>휴가는 조회 기간만큼만 뺀다</a:t>
            </a:r>
            <a:endParaRPr lang="en-US" sz="1150" dirty="0"/>
          </a:p>
        </p:txBody>
      </p:sp>
      <p:sp>
        <p:nvSpPr>
          <p:cNvPr id="35" name="Text 32"/>
          <p:cNvSpPr/>
          <p:nvPr/>
        </p:nvSpPr>
        <p:spPr>
          <a:xfrm>
            <a:off x="566928" y="5257800"/>
            <a:ext cx="11064240" cy="320040"/>
          </a:xfrm>
          <a:prstGeom prst="rect">
            <a:avLst/>
          </a:prstGeom>
          <a:noFill/>
          <a:ln/>
        </p:spPr>
        <p:txBody>
          <a:bodyPr wrap="square" lIns="0" tIns="0" rIns="0" bIns="0" rtlCol="0" anchor="ctr"/>
          <a:lstStyle/>
          <a:p>
            <a:pPr marL="0" indent="0">
              <a:buNone/>
            </a:pPr>
            <a:r>
              <a:rPr lang="en-US" sz="1100" dirty="0">
                <a:solidFill>
                  <a:srgbClr val="9FADC2"/>
                </a:solidFill>
                <a:latin typeface="Pretendard" pitchFamily="34" charset="0"/>
                <a:ea typeface="Pretendard" pitchFamily="34" charset="-122"/>
                <a:cs typeface="Pretendard" pitchFamily="34" charset="-120"/>
              </a:rPr>
              <a:t>난이도 · 스트레스처럼 데이터로 확인할 수 없는 것은 섞지 않는다  ·  공휴일 캘린더가 없어 월~금을 근무일로 본다</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EXTRACTION</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문서에서 업무를 추출한다 — 5단계 멀티 에이전트</a:t>
            </a:r>
            <a:endParaRPr lang="en-US" sz="2700" dirty="0"/>
          </a:p>
        </p:txBody>
      </p:sp>
      <p:sp>
        <p:nvSpPr>
          <p:cNvPr id="5" name="Text 2"/>
          <p:cNvSpPr/>
          <p:nvPr/>
        </p:nvSpPr>
        <p:spPr>
          <a:xfrm>
            <a:off x="566928" y="1243584"/>
            <a:ext cx="11064240" cy="320040"/>
          </a:xfrm>
          <a:prstGeom prst="rect">
            <a:avLst/>
          </a:prstGeom>
          <a:noFill/>
          <a:ln/>
        </p:spPr>
        <p:txBody>
          <a:bodyPr wrap="square" lIns="0" tIns="0" rIns="0" bIns="0" rtlCol="0" anchor="ctr"/>
          <a:lstStyle/>
          <a:p>
            <a:pPr marL="0" indent="0">
              <a:buNone/>
            </a:pPr>
            <a:r>
              <a:rPr lang="en-US" sz="1300" dirty="0">
                <a:solidFill>
                  <a:srgbClr val="BAC6D8"/>
                </a:solidFill>
                <a:latin typeface="Pretendard Light" pitchFamily="34" charset="0"/>
                <a:ea typeface="Pretendard Light" pitchFamily="34" charset="-122"/>
                <a:cs typeface="Pretendard Light" pitchFamily="34" charset="-120"/>
              </a:rPr>
              <a:t>단계마다 에이전트가 검색어를 직접 만들고, 찾아낸 근거로만 업무를 만든다</a:t>
            </a:r>
            <a:endParaRPr lang="en-US" sz="1300" dirty="0"/>
          </a:p>
        </p:txBody>
      </p:sp>
      <p:sp>
        <p:nvSpPr>
          <p:cNvPr id="6" name="Text 3"/>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25</a:t>
            </a:r>
            <a:endParaRPr lang="en-US" sz="1050" dirty="0"/>
          </a:p>
        </p:txBody>
      </p:sp>
      <p:sp>
        <p:nvSpPr>
          <p:cNvPr id="7" name="Text 4"/>
          <p:cNvSpPr/>
          <p:nvPr/>
        </p:nvSpPr>
        <p:spPr>
          <a:xfrm>
            <a:off x="841248" y="1911096"/>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1</a:t>
            </a:r>
            <a:endParaRPr lang="en-US" sz="1400" dirty="0"/>
          </a:p>
        </p:txBody>
      </p:sp>
      <p:sp>
        <p:nvSpPr>
          <p:cNvPr id="8" name="Text 5"/>
          <p:cNvSpPr/>
          <p:nvPr/>
        </p:nvSpPr>
        <p:spPr>
          <a:xfrm>
            <a:off x="1463040" y="1874520"/>
            <a:ext cx="3200400" cy="457200"/>
          </a:xfrm>
          <a:prstGeom prst="rect">
            <a:avLst/>
          </a:prstGeom>
          <a:noFill/>
          <a:ln/>
        </p:spPr>
        <p:txBody>
          <a:bodyPr wrap="square" lIns="0" tIns="0" rIns="0" bIns="0" rtlCol="0" anchor="ctr"/>
          <a:lstStyle/>
          <a:p>
            <a:pPr marL="0" indent="0">
              <a:buNone/>
            </a:pPr>
            <a:r>
              <a:rPr lang="en-US" sz="1300" b="1" dirty="0">
                <a:solidFill>
                  <a:srgbClr val="F1F5F9"/>
                </a:solidFill>
                <a:latin typeface="Pretendard" pitchFamily="34" charset="0"/>
                <a:ea typeface="Pretendard" pitchFamily="34" charset="-122"/>
                <a:cs typeface="Pretendard" pitchFamily="34" charset="-120"/>
              </a:rPr>
              <a:t>수행할 업무 찾기</a:t>
            </a:r>
            <a:endParaRPr lang="en-US" sz="1300" dirty="0"/>
          </a:p>
        </p:txBody>
      </p:sp>
      <p:sp>
        <p:nvSpPr>
          <p:cNvPr id="9" name="Text 6"/>
          <p:cNvSpPr/>
          <p:nvPr/>
        </p:nvSpPr>
        <p:spPr>
          <a:xfrm>
            <a:off x="4617720" y="1929384"/>
            <a:ext cx="2286000" cy="347472"/>
          </a:xfrm>
          <a:prstGeom prst="rect">
            <a:avLst/>
          </a:prstGeom>
          <a:solidFill>
            <a:srgbClr val="1B2436"/>
          </a:solidFill>
          <a:ln/>
        </p:spPr>
        <p:txBody>
          <a:bodyPr wrap="square" lIns="0" tIns="0" rIns="0" bIns="0" rtlCol="0" anchor="ctr"/>
          <a:lstStyle/>
          <a:p>
            <a:pPr marL="0" indent="0" algn="ctr">
              <a:buNone/>
            </a:pPr>
            <a:r>
              <a:rPr lang="en-US" sz="1050" dirty="0">
                <a:solidFill>
                  <a:srgbClr val="BAC6D8"/>
                </a:solidFill>
                <a:latin typeface="Pretendard" pitchFamily="34" charset="0"/>
                <a:ea typeface="Pretendard" pitchFamily="34" charset="-122"/>
                <a:cs typeface="Pretendard" pitchFamily="34" charset="-120"/>
              </a:rPr>
              <a:t>기준 문서 안에서만</a:t>
            </a:r>
            <a:endParaRPr lang="en-US" sz="1050" dirty="0"/>
          </a:p>
        </p:txBody>
      </p:sp>
      <p:sp>
        <p:nvSpPr>
          <p:cNvPr id="10" name="Shape 7"/>
          <p:cNvSpPr/>
          <p:nvPr/>
        </p:nvSpPr>
        <p:spPr>
          <a:xfrm>
            <a:off x="1033272" y="2331720"/>
            <a:ext cx="0" cy="310896"/>
          </a:xfrm>
          <a:prstGeom prst="line">
            <a:avLst/>
          </a:prstGeom>
          <a:noFill/>
          <a:ln w="19050">
            <a:solidFill>
              <a:srgbClr val="263049"/>
            </a:solidFill>
            <a:prstDash val="solid"/>
          </a:ln>
        </p:spPr>
        <p:txBody>
          <a:bodyPr/>
          <a:lstStyle/>
          <a:p>
            <a:endParaRPr lang="ko-KR" altLang="en-US"/>
          </a:p>
        </p:txBody>
      </p:sp>
      <p:sp>
        <p:nvSpPr>
          <p:cNvPr id="11" name="Text 8"/>
          <p:cNvSpPr/>
          <p:nvPr/>
        </p:nvSpPr>
        <p:spPr>
          <a:xfrm>
            <a:off x="841248" y="2679192"/>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2</a:t>
            </a:r>
            <a:endParaRPr lang="en-US" sz="1400" dirty="0"/>
          </a:p>
        </p:txBody>
      </p:sp>
      <p:sp>
        <p:nvSpPr>
          <p:cNvPr id="12" name="Text 9"/>
          <p:cNvSpPr/>
          <p:nvPr/>
        </p:nvSpPr>
        <p:spPr>
          <a:xfrm>
            <a:off x="1463040" y="2642616"/>
            <a:ext cx="3200400" cy="457200"/>
          </a:xfrm>
          <a:prstGeom prst="rect">
            <a:avLst/>
          </a:prstGeom>
          <a:noFill/>
          <a:ln/>
        </p:spPr>
        <p:txBody>
          <a:bodyPr wrap="square" lIns="0" tIns="0" rIns="0" bIns="0" rtlCol="0" anchor="ctr"/>
          <a:lstStyle/>
          <a:p>
            <a:pPr marL="0" indent="0">
              <a:buNone/>
            </a:pPr>
            <a:r>
              <a:rPr lang="en-US" sz="1300" b="1" dirty="0">
                <a:solidFill>
                  <a:srgbClr val="F1F5F9"/>
                </a:solidFill>
                <a:latin typeface="Pretendard" pitchFamily="34" charset="0"/>
                <a:ea typeface="Pretendard" pitchFamily="34" charset="-122"/>
                <a:cs typeface="Pretendard" pitchFamily="34" charset="-120"/>
              </a:rPr>
              <a:t>요구사항 · 산출물 · 완료 기준</a:t>
            </a:r>
            <a:endParaRPr lang="en-US" sz="1300" dirty="0"/>
          </a:p>
        </p:txBody>
      </p:sp>
      <p:sp>
        <p:nvSpPr>
          <p:cNvPr id="13" name="Text 10"/>
          <p:cNvSpPr/>
          <p:nvPr/>
        </p:nvSpPr>
        <p:spPr>
          <a:xfrm>
            <a:off x="4617720" y="2697480"/>
            <a:ext cx="2286000" cy="347472"/>
          </a:xfrm>
          <a:prstGeom prst="rect">
            <a:avLst/>
          </a:prstGeom>
          <a:solidFill>
            <a:srgbClr val="1B2436"/>
          </a:solidFill>
          <a:ln/>
        </p:spPr>
        <p:txBody>
          <a:bodyPr wrap="square" lIns="0" tIns="0" rIns="0" bIns="0" rtlCol="0" anchor="ctr"/>
          <a:lstStyle/>
          <a:p>
            <a:pPr marL="0" indent="0" algn="ctr">
              <a:buNone/>
            </a:pPr>
            <a:r>
              <a:rPr lang="en-US" sz="1050" dirty="0">
                <a:solidFill>
                  <a:srgbClr val="BAC6D8"/>
                </a:solidFill>
                <a:latin typeface="Pretendard" pitchFamily="34" charset="0"/>
                <a:ea typeface="Pretendard" pitchFamily="34" charset="-122"/>
                <a:cs typeface="Pretendard" pitchFamily="34" charset="-120"/>
              </a:rPr>
              <a:t>팀 문서 전체</a:t>
            </a:r>
            <a:endParaRPr lang="en-US" sz="1050" dirty="0"/>
          </a:p>
        </p:txBody>
      </p:sp>
      <p:sp>
        <p:nvSpPr>
          <p:cNvPr id="14" name="Shape 11"/>
          <p:cNvSpPr/>
          <p:nvPr/>
        </p:nvSpPr>
        <p:spPr>
          <a:xfrm>
            <a:off x="1033272" y="3099816"/>
            <a:ext cx="0" cy="310896"/>
          </a:xfrm>
          <a:prstGeom prst="line">
            <a:avLst/>
          </a:prstGeom>
          <a:noFill/>
          <a:ln w="19050">
            <a:solidFill>
              <a:srgbClr val="263049"/>
            </a:solidFill>
            <a:prstDash val="solid"/>
          </a:ln>
        </p:spPr>
        <p:txBody>
          <a:bodyPr/>
          <a:lstStyle/>
          <a:p>
            <a:endParaRPr lang="ko-KR" altLang="en-US"/>
          </a:p>
        </p:txBody>
      </p:sp>
      <p:sp>
        <p:nvSpPr>
          <p:cNvPr id="15" name="Text 12"/>
          <p:cNvSpPr/>
          <p:nvPr/>
        </p:nvSpPr>
        <p:spPr>
          <a:xfrm>
            <a:off x="841248" y="3447288"/>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3</a:t>
            </a:r>
            <a:endParaRPr lang="en-US" sz="1400" dirty="0"/>
          </a:p>
        </p:txBody>
      </p:sp>
      <p:sp>
        <p:nvSpPr>
          <p:cNvPr id="16" name="Text 13"/>
          <p:cNvSpPr/>
          <p:nvPr/>
        </p:nvSpPr>
        <p:spPr>
          <a:xfrm>
            <a:off x="1463040" y="3410712"/>
            <a:ext cx="3200400" cy="457200"/>
          </a:xfrm>
          <a:prstGeom prst="rect">
            <a:avLst/>
          </a:prstGeom>
          <a:noFill/>
          <a:ln/>
        </p:spPr>
        <p:txBody>
          <a:bodyPr wrap="square" lIns="0" tIns="0" rIns="0" bIns="0" rtlCol="0" anchor="ctr"/>
          <a:lstStyle/>
          <a:p>
            <a:pPr marL="0" indent="0">
              <a:buNone/>
            </a:pPr>
            <a:r>
              <a:rPr lang="en-US" sz="1300" b="1" dirty="0">
                <a:solidFill>
                  <a:srgbClr val="F1F5F9"/>
                </a:solidFill>
                <a:latin typeface="Pretendard" pitchFamily="34" charset="0"/>
                <a:ea typeface="Pretendard" pitchFamily="34" charset="-122"/>
                <a:cs typeface="Pretendard" pitchFamily="34" charset="-120"/>
              </a:rPr>
              <a:t>담당 역할 · 필수 기술</a:t>
            </a:r>
            <a:endParaRPr lang="en-US" sz="1300" dirty="0"/>
          </a:p>
        </p:txBody>
      </p:sp>
      <p:sp>
        <p:nvSpPr>
          <p:cNvPr id="17" name="Text 14"/>
          <p:cNvSpPr/>
          <p:nvPr/>
        </p:nvSpPr>
        <p:spPr>
          <a:xfrm>
            <a:off x="4617720" y="3465576"/>
            <a:ext cx="2286000" cy="347472"/>
          </a:xfrm>
          <a:prstGeom prst="rect">
            <a:avLst/>
          </a:prstGeom>
          <a:solidFill>
            <a:srgbClr val="1B2436"/>
          </a:solidFill>
          <a:ln/>
        </p:spPr>
        <p:txBody>
          <a:bodyPr wrap="square" lIns="0" tIns="0" rIns="0" bIns="0" rtlCol="0" anchor="ctr"/>
          <a:lstStyle/>
          <a:p>
            <a:pPr marL="0" indent="0" algn="ctr">
              <a:buNone/>
            </a:pPr>
            <a:r>
              <a:rPr lang="en-US" sz="1050" dirty="0">
                <a:solidFill>
                  <a:srgbClr val="BAC6D8"/>
                </a:solidFill>
                <a:latin typeface="Pretendard" pitchFamily="34" charset="0"/>
                <a:ea typeface="Pretendard" pitchFamily="34" charset="-122"/>
                <a:cs typeface="Pretendard" pitchFamily="34" charset="-120"/>
              </a:rPr>
              <a:t>팀 문서 전체</a:t>
            </a:r>
            <a:endParaRPr lang="en-US" sz="1050" dirty="0"/>
          </a:p>
        </p:txBody>
      </p:sp>
      <p:sp>
        <p:nvSpPr>
          <p:cNvPr id="18" name="Shape 15"/>
          <p:cNvSpPr/>
          <p:nvPr/>
        </p:nvSpPr>
        <p:spPr>
          <a:xfrm>
            <a:off x="1033272" y="3867912"/>
            <a:ext cx="0" cy="310896"/>
          </a:xfrm>
          <a:prstGeom prst="line">
            <a:avLst/>
          </a:prstGeom>
          <a:noFill/>
          <a:ln w="19050">
            <a:solidFill>
              <a:srgbClr val="263049"/>
            </a:solidFill>
            <a:prstDash val="solid"/>
          </a:ln>
        </p:spPr>
        <p:txBody>
          <a:bodyPr/>
          <a:lstStyle/>
          <a:p>
            <a:endParaRPr lang="ko-KR" altLang="en-US"/>
          </a:p>
        </p:txBody>
      </p:sp>
      <p:sp>
        <p:nvSpPr>
          <p:cNvPr id="19" name="Text 16"/>
          <p:cNvSpPr/>
          <p:nvPr/>
        </p:nvSpPr>
        <p:spPr>
          <a:xfrm>
            <a:off x="841248" y="4215384"/>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4</a:t>
            </a:r>
            <a:endParaRPr lang="en-US" sz="1400" dirty="0"/>
          </a:p>
        </p:txBody>
      </p:sp>
      <p:sp>
        <p:nvSpPr>
          <p:cNvPr id="20" name="Text 17"/>
          <p:cNvSpPr/>
          <p:nvPr/>
        </p:nvSpPr>
        <p:spPr>
          <a:xfrm>
            <a:off x="1463040" y="4178808"/>
            <a:ext cx="3200400" cy="457200"/>
          </a:xfrm>
          <a:prstGeom prst="rect">
            <a:avLst/>
          </a:prstGeom>
          <a:noFill/>
          <a:ln/>
        </p:spPr>
        <p:txBody>
          <a:bodyPr wrap="square" lIns="0" tIns="0" rIns="0" bIns="0" rtlCol="0" anchor="ctr"/>
          <a:lstStyle/>
          <a:p>
            <a:pPr marL="0" indent="0">
              <a:buNone/>
            </a:pPr>
            <a:r>
              <a:rPr lang="en-US" sz="1300" b="1" dirty="0">
                <a:solidFill>
                  <a:srgbClr val="F1F5F9"/>
                </a:solidFill>
                <a:latin typeface="Pretendard" pitchFamily="34" charset="0"/>
                <a:ea typeface="Pretendard" pitchFamily="34" charset="-122"/>
                <a:cs typeface="Pretendard" pitchFamily="34" charset="-120"/>
              </a:rPr>
              <a:t>공수 · 일정 · 제약 · 위험</a:t>
            </a:r>
            <a:endParaRPr lang="en-US" sz="1300" dirty="0"/>
          </a:p>
        </p:txBody>
      </p:sp>
      <p:sp>
        <p:nvSpPr>
          <p:cNvPr id="21" name="Text 18"/>
          <p:cNvSpPr/>
          <p:nvPr/>
        </p:nvSpPr>
        <p:spPr>
          <a:xfrm>
            <a:off x="4617720" y="4233672"/>
            <a:ext cx="2286000" cy="347472"/>
          </a:xfrm>
          <a:prstGeom prst="rect">
            <a:avLst/>
          </a:prstGeom>
          <a:solidFill>
            <a:srgbClr val="1B2436"/>
          </a:solidFill>
          <a:ln/>
        </p:spPr>
        <p:txBody>
          <a:bodyPr wrap="square" lIns="0" tIns="0" rIns="0" bIns="0" rtlCol="0" anchor="ctr"/>
          <a:lstStyle/>
          <a:p>
            <a:pPr marL="0" indent="0" algn="ctr">
              <a:buNone/>
            </a:pPr>
            <a:r>
              <a:rPr lang="en-US" sz="1050" dirty="0">
                <a:solidFill>
                  <a:srgbClr val="BAC6D8"/>
                </a:solidFill>
                <a:latin typeface="Pretendard" pitchFamily="34" charset="0"/>
                <a:ea typeface="Pretendard" pitchFamily="34" charset="-122"/>
                <a:cs typeface="Pretendard" pitchFamily="34" charset="-120"/>
              </a:rPr>
              <a:t>팀 문서 전체</a:t>
            </a:r>
            <a:endParaRPr lang="en-US" sz="1050" dirty="0"/>
          </a:p>
        </p:txBody>
      </p:sp>
      <p:sp>
        <p:nvSpPr>
          <p:cNvPr id="22" name="Shape 19"/>
          <p:cNvSpPr/>
          <p:nvPr/>
        </p:nvSpPr>
        <p:spPr>
          <a:xfrm>
            <a:off x="1033272" y="4636008"/>
            <a:ext cx="0" cy="310896"/>
          </a:xfrm>
          <a:prstGeom prst="line">
            <a:avLst/>
          </a:prstGeom>
          <a:noFill/>
          <a:ln w="19050">
            <a:solidFill>
              <a:srgbClr val="263049"/>
            </a:solidFill>
            <a:prstDash val="solid"/>
          </a:ln>
        </p:spPr>
        <p:txBody>
          <a:bodyPr/>
          <a:lstStyle/>
          <a:p>
            <a:endParaRPr lang="ko-KR" altLang="en-US"/>
          </a:p>
        </p:txBody>
      </p:sp>
      <p:sp>
        <p:nvSpPr>
          <p:cNvPr id="23" name="Text 20"/>
          <p:cNvSpPr/>
          <p:nvPr/>
        </p:nvSpPr>
        <p:spPr>
          <a:xfrm>
            <a:off x="841248" y="4983480"/>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5</a:t>
            </a:r>
            <a:endParaRPr lang="en-US" sz="1400" dirty="0"/>
          </a:p>
        </p:txBody>
      </p:sp>
      <p:sp>
        <p:nvSpPr>
          <p:cNvPr id="24" name="Text 21"/>
          <p:cNvSpPr/>
          <p:nvPr/>
        </p:nvSpPr>
        <p:spPr>
          <a:xfrm>
            <a:off x="1463040" y="4946904"/>
            <a:ext cx="3200400" cy="457200"/>
          </a:xfrm>
          <a:prstGeom prst="rect">
            <a:avLst/>
          </a:prstGeom>
          <a:noFill/>
          <a:ln/>
        </p:spPr>
        <p:txBody>
          <a:bodyPr wrap="square" lIns="0" tIns="0" rIns="0" bIns="0" rtlCol="0" anchor="ctr"/>
          <a:lstStyle/>
          <a:p>
            <a:pPr marL="0" indent="0">
              <a:buNone/>
            </a:pPr>
            <a:r>
              <a:rPr lang="en-US" sz="1300" b="1" dirty="0">
                <a:solidFill>
                  <a:srgbClr val="67E8F9"/>
                </a:solidFill>
                <a:latin typeface="Pretendard" pitchFamily="34" charset="0"/>
                <a:ea typeface="Pretendard" pitchFamily="34" charset="-122"/>
                <a:cs typeface="Pretendard" pitchFamily="34" charset="-120"/>
              </a:rPr>
              <a:t>근거에서 업무 정리</a:t>
            </a:r>
            <a:endParaRPr lang="en-US" sz="1300" dirty="0"/>
          </a:p>
        </p:txBody>
      </p:sp>
      <p:sp>
        <p:nvSpPr>
          <p:cNvPr id="25" name="Text 22"/>
          <p:cNvSpPr/>
          <p:nvPr/>
        </p:nvSpPr>
        <p:spPr>
          <a:xfrm>
            <a:off x="4617720" y="5001768"/>
            <a:ext cx="2286000" cy="347472"/>
          </a:xfrm>
          <a:prstGeom prst="rect">
            <a:avLst/>
          </a:prstGeom>
          <a:solidFill>
            <a:srgbClr val="0F2A3A"/>
          </a:solidFill>
          <a:ln/>
        </p:spPr>
        <p:txBody>
          <a:bodyPr wrap="square" lIns="0" tIns="0" rIns="0" bIns="0" rtlCol="0" anchor="ctr"/>
          <a:lstStyle/>
          <a:p>
            <a:pPr marL="0" indent="0" algn="ctr">
              <a:buNone/>
            </a:pPr>
            <a:r>
              <a:rPr lang="en-US" sz="1050" dirty="0">
                <a:solidFill>
                  <a:srgbClr val="67E8F9"/>
                </a:solidFill>
                <a:latin typeface="Pretendard" pitchFamily="34" charset="0"/>
                <a:ea typeface="Pretendard" pitchFamily="34" charset="-122"/>
                <a:cs typeface="Pretendard" pitchFamily="34" charset="-120"/>
              </a:rPr>
              <a:t>중복 제거 후 상위 20건</a:t>
            </a:r>
            <a:endParaRPr lang="en-US" sz="1050" dirty="0"/>
          </a:p>
        </p:txBody>
      </p:sp>
      <p:sp>
        <p:nvSpPr>
          <p:cNvPr id="26" name="Text 23"/>
          <p:cNvSpPr/>
          <p:nvPr/>
        </p:nvSpPr>
        <p:spPr>
          <a:xfrm>
            <a:off x="841248" y="5440680"/>
            <a:ext cx="5852160" cy="914400"/>
          </a:xfrm>
          <a:prstGeom prst="rect">
            <a:avLst/>
          </a:prstGeom>
          <a:noFill/>
          <a:ln/>
        </p:spPr>
        <p:txBody>
          <a:bodyPr wrap="square" lIns="0" tIns="0" rIns="0" bIns="0" rtlCol="0" anchor="t"/>
          <a:lstStyle/>
          <a:p>
            <a:pPr marL="0" indent="0">
              <a:lnSpc>
                <a:spcPct val="125000"/>
              </a:lnSpc>
              <a:buNone/>
            </a:pPr>
            <a:r>
              <a:rPr lang="en-US" sz="1100" dirty="0">
                <a:solidFill>
                  <a:srgbClr val="9FADC2"/>
                </a:solidFill>
                <a:latin typeface="Pretendard" pitchFamily="34" charset="0"/>
                <a:ea typeface="Pretendard" pitchFamily="34" charset="-122"/>
                <a:cs typeface="Pretendard" pitchFamily="34" charset="-120"/>
              </a:rPr>
              <a:t>1단계만 기준 문서로 좁힌다 — 무엇을 하는 프로젝트인지는 기준 문서가 정하고,</a:t>
            </a:r>
            <a:endParaRPr lang="en-US" sz="1100" dirty="0"/>
          </a:p>
          <a:p>
            <a:pPr marL="0" indent="0">
              <a:lnSpc>
                <a:spcPct val="125000"/>
              </a:lnSpc>
              <a:buNone/>
            </a:pPr>
            <a:r>
              <a:rPr lang="en-US" sz="1100" dirty="0">
                <a:solidFill>
                  <a:srgbClr val="9FADC2"/>
                </a:solidFill>
                <a:latin typeface="Pretendard" pitchFamily="34" charset="0"/>
                <a:ea typeface="Pretendard" pitchFamily="34" charset="-122"/>
                <a:cs typeface="Pretendard" pitchFamily="34" charset="-120"/>
              </a:rPr>
              <a:t>공수 · 담당 역할은 회의록이나 산정 자료에 흩어져 있어 어느 문서인지 미리 알 수 없다</a:t>
            </a:r>
            <a:endParaRPr lang="en-US" sz="1100" dirty="0"/>
          </a:p>
          <a:p>
            <a:pPr marL="0" indent="0">
              <a:lnSpc>
                <a:spcPct val="125000"/>
              </a:lnSpc>
              <a:buNone/>
            </a:pPr>
            <a:r>
              <a:rPr lang="en-US" sz="1100" dirty="0">
                <a:solidFill>
                  <a:srgbClr val="9FADC2"/>
                </a:solidFill>
                <a:latin typeface="Pretendard" pitchFamily="34" charset="0"/>
                <a:ea typeface="Pretendard" pitchFamily="34" charset="-122"/>
                <a:cs typeface="Pretendard" pitchFamily="34" charset="-120"/>
              </a:rPr>
              <a:t>문서 하나가 수백 청크라 전부 넣을 수 없어, 중복을 지우고 상위 20건만 마지막 단계에 넘긴다</a:t>
            </a:r>
            <a:endParaRPr lang="en-US" sz="1100" dirty="0"/>
          </a:p>
        </p:txBody>
      </p:sp>
      <p:sp>
        <p:nvSpPr>
          <p:cNvPr id="27" name="Shape 24"/>
          <p:cNvSpPr/>
          <p:nvPr/>
        </p:nvSpPr>
        <p:spPr>
          <a:xfrm>
            <a:off x="7040880" y="1828800"/>
            <a:ext cx="4590288" cy="4023360"/>
          </a:xfrm>
          <a:prstGeom prst="roundRect">
            <a:avLst>
              <a:gd name="adj" fmla="val 1818"/>
            </a:avLst>
          </a:prstGeom>
          <a:solidFill>
            <a:srgbClr val="161D2E"/>
          </a:solidFill>
          <a:ln w="12700">
            <a:solidFill>
              <a:srgbClr val="263049"/>
            </a:solidFill>
            <a:prstDash val="solid"/>
          </a:ln>
        </p:spPr>
        <p:txBody>
          <a:bodyPr/>
          <a:lstStyle/>
          <a:p>
            <a:endParaRPr lang="ko-KR" altLang="en-US"/>
          </a:p>
        </p:txBody>
      </p:sp>
      <p:sp>
        <p:nvSpPr>
          <p:cNvPr id="28" name="Text 25"/>
          <p:cNvSpPr/>
          <p:nvPr/>
        </p:nvSpPr>
        <p:spPr>
          <a:xfrm>
            <a:off x="7333488" y="1993392"/>
            <a:ext cx="4005072" cy="329184"/>
          </a:xfrm>
          <a:prstGeom prst="rect">
            <a:avLst/>
          </a:prstGeom>
          <a:noFill/>
          <a:ln/>
        </p:spPr>
        <p:txBody>
          <a:bodyPr wrap="square" lIns="0" tIns="0" rIns="0" bIns="0" rtlCol="0" anchor="ctr"/>
          <a:lstStyle/>
          <a:p>
            <a:pPr marL="0" indent="0">
              <a:buNone/>
            </a:pPr>
            <a:r>
              <a:rPr lang="en-US" sz="1350" b="1" dirty="0">
                <a:solidFill>
                  <a:srgbClr val="67E8F9"/>
                </a:solidFill>
                <a:latin typeface="Pretendard" pitchFamily="34" charset="0"/>
                <a:ea typeface="Pretendard" pitchFamily="34" charset="-122"/>
                <a:cs typeface="Pretendard" pitchFamily="34" charset="-120"/>
              </a:rPr>
              <a:t>한 단계 안에서 하는 일</a:t>
            </a:r>
            <a:endParaRPr lang="en-US" sz="1350" dirty="0"/>
          </a:p>
        </p:txBody>
      </p:sp>
      <p:sp>
        <p:nvSpPr>
          <p:cNvPr id="29" name="Text 26"/>
          <p:cNvSpPr/>
          <p:nvPr/>
        </p:nvSpPr>
        <p:spPr>
          <a:xfrm>
            <a:off x="7333488" y="2304288"/>
            <a:ext cx="4005072" cy="457200"/>
          </a:xfrm>
          <a:prstGeom prst="rect">
            <a:avLst/>
          </a:prstGeom>
          <a:noFill/>
          <a:ln/>
        </p:spPr>
        <p:txBody>
          <a:bodyPr wrap="square" lIns="0" tIns="0" rIns="0" bIns="0" rtlCol="0" anchor="t"/>
          <a:lstStyle/>
          <a:p>
            <a:pPr marL="0" indent="0">
              <a:lnSpc>
                <a:spcPct val="120000"/>
              </a:lnSpc>
              <a:buNone/>
            </a:pPr>
            <a:r>
              <a:rPr lang="en-US" sz="1000" dirty="0">
                <a:solidFill>
                  <a:srgbClr val="9FADC2"/>
                </a:solidFill>
                <a:latin typeface="Pretendard" pitchFamily="34" charset="0"/>
                <a:ea typeface="Pretendard" pitchFamily="34" charset="-122"/>
                <a:cs typeface="Pretendard" pitchFamily="34" charset="-120"/>
              </a:rPr>
              <a:t>E 번호 — 모아 둔 근거 조각에 붙인 짧은 이름표, 업무마다 어느 조각에서 나왔는지 이 번호로 가리킨다</a:t>
            </a:r>
            <a:endParaRPr lang="en-US" sz="1000" dirty="0"/>
          </a:p>
        </p:txBody>
      </p:sp>
      <p:sp>
        <p:nvSpPr>
          <p:cNvPr id="30" name="Text 27"/>
          <p:cNvSpPr/>
          <p:nvPr/>
        </p:nvSpPr>
        <p:spPr>
          <a:xfrm>
            <a:off x="7333488" y="2816352"/>
            <a:ext cx="256032" cy="274320"/>
          </a:xfrm>
          <a:prstGeom prst="rect">
            <a:avLst/>
          </a:prstGeom>
          <a:noFill/>
          <a:ln/>
        </p:spPr>
        <p:txBody>
          <a:bodyPr wrap="square" lIns="0" tIns="0" rIns="0" bIns="0" rtlCol="0" anchor="ctr"/>
          <a:lstStyle/>
          <a:p>
            <a:pPr marL="0" indent="0">
              <a:buNone/>
            </a:pPr>
            <a:r>
              <a:rPr lang="en-US" sz="1150" b="1" dirty="0">
                <a:solidFill>
                  <a:srgbClr val="22D3EE"/>
                </a:solidFill>
                <a:latin typeface="Consolas" pitchFamily="34" charset="0"/>
                <a:ea typeface="Consolas" pitchFamily="34" charset="-122"/>
                <a:cs typeface="Consolas" pitchFamily="34" charset="-120"/>
              </a:rPr>
              <a:t>1</a:t>
            </a:r>
            <a:endParaRPr lang="en-US" sz="1150" dirty="0"/>
          </a:p>
        </p:txBody>
      </p:sp>
      <p:sp>
        <p:nvSpPr>
          <p:cNvPr id="31" name="Text 28"/>
          <p:cNvSpPr/>
          <p:nvPr/>
        </p:nvSpPr>
        <p:spPr>
          <a:xfrm>
            <a:off x="7662672" y="2816352"/>
            <a:ext cx="3675888" cy="274320"/>
          </a:xfrm>
          <a:prstGeom prst="rect">
            <a:avLst/>
          </a:prstGeom>
          <a:noFill/>
          <a:ln/>
        </p:spPr>
        <p:txBody>
          <a:bodyPr wrap="square" lIns="0" tIns="0" rIns="0" bIns="0" rtlCol="0" anchor="ctr"/>
          <a:lstStyle/>
          <a:p>
            <a:pPr marL="0" indent="0">
              <a:buNone/>
            </a:pPr>
            <a:r>
              <a:rPr lang="en-US" sz="1250" b="1" dirty="0">
                <a:solidFill>
                  <a:srgbClr val="F1F5F9"/>
                </a:solidFill>
                <a:latin typeface="Pretendard" pitchFamily="34" charset="0"/>
                <a:ea typeface="Pretendard" pitchFamily="34" charset="-122"/>
                <a:cs typeface="Pretendard" pitchFamily="34" charset="-120"/>
              </a:rPr>
              <a:t>검색어를 만든다</a:t>
            </a:r>
            <a:endParaRPr lang="en-US" sz="1250" dirty="0"/>
          </a:p>
        </p:txBody>
      </p:sp>
      <p:sp>
        <p:nvSpPr>
          <p:cNvPr id="32" name="Text 29"/>
          <p:cNvSpPr/>
          <p:nvPr/>
        </p:nvSpPr>
        <p:spPr>
          <a:xfrm>
            <a:off x="7662672" y="3108960"/>
            <a:ext cx="3675888" cy="685800"/>
          </a:xfrm>
          <a:prstGeom prst="rect">
            <a:avLst/>
          </a:prstGeom>
          <a:noFill/>
          <a:ln/>
        </p:spPr>
        <p:txBody>
          <a:bodyPr wrap="square" lIns="0" tIns="0" rIns="0" bIns="0" rtlCol="0" anchor="t"/>
          <a:lstStyle/>
          <a:p>
            <a:pPr marL="0" indent="0">
              <a:lnSpc>
                <a:spcPct val="125000"/>
              </a:lnSpc>
              <a:buNone/>
            </a:pPr>
            <a:r>
              <a:rPr lang="en-US" sz="1050" dirty="0">
                <a:solidFill>
                  <a:srgbClr val="BAC6D8"/>
                </a:solidFill>
                <a:latin typeface="Pretendard" pitchFamily="34" charset="0"/>
                <a:ea typeface="Pretendard" pitchFamily="34" charset="-122"/>
                <a:cs typeface="Pretendard" pitchFamily="34" charset="-120"/>
              </a:rPr>
              <a:t>이 단계에서 무엇을 찾을지 에이전트가 한국어 검색어를</a:t>
            </a:r>
            <a:endParaRPr lang="en-US" sz="1050" dirty="0"/>
          </a:p>
          <a:p>
            <a:pPr marL="0" indent="0">
              <a:lnSpc>
                <a:spcPct val="125000"/>
              </a:lnSpc>
              <a:buNone/>
            </a:pPr>
            <a:r>
              <a:rPr lang="en-US" sz="1050" dirty="0">
                <a:solidFill>
                  <a:srgbClr val="BAC6D8"/>
                </a:solidFill>
                <a:latin typeface="Pretendard" pitchFamily="34" charset="0"/>
                <a:ea typeface="Pretendard" pitchFamily="34" charset="-122"/>
                <a:cs typeface="Pretendard" pitchFamily="34" charset="-120"/>
              </a:rPr>
              <a:t>최대 3개 만든다 — 앞 단계에서 쓴 검색어는 다시 쓰지 않는다</a:t>
            </a:r>
            <a:endParaRPr lang="en-US" sz="1050" dirty="0"/>
          </a:p>
        </p:txBody>
      </p:sp>
      <p:sp>
        <p:nvSpPr>
          <p:cNvPr id="33" name="Shape 30"/>
          <p:cNvSpPr/>
          <p:nvPr/>
        </p:nvSpPr>
        <p:spPr>
          <a:xfrm>
            <a:off x="7333488" y="3785616"/>
            <a:ext cx="4005072" cy="0"/>
          </a:xfrm>
          <a:prstGeom prst="line">
            <a:avLst/>
          </a:prstGeom>
          <a:noFill/>
          <a:ln w="12700">
            <a:solidFill>
              <a:srgbClr val="263049"/>
            </a:solidFill>
            <a:prstDash val="solid"/>
          </a:ln>
        </p:spPr>
        <p:txBody>
          <a:bodyPr/>
          <a:lstStyle/>
          <a:p>
            <a:endParaRPr lang="ko-KR" altLang="en-US"/>
          </a:p>
        </p:txBody>
      </p:sp>
      <p:sp>
        <p:nvSpPr>
          <p:cNvPr id="34" name="Text 31"/>
          <p:cNvSpPr/>
          <p:nvPr/>
        </p:nvSpPr>
        <p:spPr>
          <a:xfrm>
            <a:off x="7333488" y="3877056"/>
            <a:ext cx="256032" cy="274320"/>
          </a:xfrm>
          <a:prstGeom prst="rect">
            <a:avLst/>
          </a:prstGeom>
          <a:noFill/>
          <a:ln/>
        </p:spPr>
        <p:txBody>
          <a:bodyPr wrap="square" lIns="0" tIns="0" rIns="0" bIns="0" rtlCol="0" anchor="ctr"/>
          <a:lstStyle/>
          <a:p>
            <a:pPr marL="0" indent="0">
              <a:buNone/>
            </a:pPr>
            <a:r>
              <a:rPr lang="en-US" sz="1150" b="1" dirty="0">
                <a:solidFill>
                  <a:srgbClr val="22D3EE"/>
                </a:solidFill>
                <a:latin typeface="Consolas" pitchFamily="34" charset="0"/>
                <a:ea typeface="Consolas" pitchFamily="34" charset="-122"/>
                <a:cs typeface="Consolas" pitchFamily="34" charset="-120"/>
              </a:rPr>
              <a:t>2</a:t>
            </a:r>
            <a:endParaRPr lang="en-US" sz="1150" dirty="0"/>
          </a:p>
        </p:txBody>
      </p:sp>
      <p:sp>
        <p:nvSpPr>
          <p:cNvPr id="35" name="Text 32"/>
          <p:cNvSpPr/>
          <p:nvPr/>
        </p:nvSpPr>
        <p:spPr>
          <a:xfrm>
            <a:off x="7662672" y="3877056"/>
            <a:ext cx="3675888" cy="274320"/>
          </a:xfrm>
          <a:prstGeom prst="rect">
            <a:avLst/>
          </a:prstGeom>
          <a:noFill/>
          <a:ln/>
        </p:spPr>
        <p:txBody>
          <a:bodyPr wrap="square" lIns="0" tIns="0" rIns="0" bIns="0" rtlCol="0" anchor="ctr"/>
          <a:lstStyle/>
          <a:p>
            <a:pPr marL="0" indent="0">
              <a:buNone/>
            </a:pPr>
            <a:r>
              <a:rPr lang="en-US" sz="1250" b="1" dirty="0">
                <a:solidFill>
                  <a:srgbClr val="F1F5F9"/>
                </a:solidFill>
                <a:latin typeface="Pretendard" pitchFamily="34" charset="0"/>
                <a:ea typeface="Pretendard" pitchFamily="34" charset="-122"/>
                <a:cs typeface="Pretendard" pitchFamily="34" charset="-120"/>
              </a:rPr>
              <a:t>근거를 모은다</a:t>
            </a:r>
            <a:endParaRPr lang="en-US" sz="1250" dirty="0"/>
          </a:p>
        </p:txBody>
      </p:sp>
      <p:sp>
        <p:nvSpPr>
          <p:cNvPr id="36" name="Text 33"/>
          <p:cNvSpPr/>
          <p:nvPr/>
        </p:nvSpPr>
        <p:spPr>
          <a:xfrm>
            <a:off x="7662672" y="4169664"/>
            <a:ext cx="3675888" cy="685800"/>
          </a:xfrm>
          <a:prstGeom prst="rect">
            <a:avLst/>
          </a:prstGeom>
          <a:noFill/>
          <a:ln/>
        </p:spPr>
        <p:txBody>
          <a:bodyPr wrap="square" lIns="0" tIns="0" rIns="0" bIns="0" rtlCol="0" anchor="t"/>
          <a:lstStyle/>
          <a:p>
            <a:pPr marL="0" indent="0">
              <a:lnSpc>
                <a:spcPct val="125000"/>
              </a:lnSpc>
              <a:buNone/>
            </a:pPr>
            <a:r>
              <a:rPr lang="en-US" sz="1050" dirty="0">
                <a:solidFill>
                  <a:srgbClr val="BAC6D8"/>
                </a:solidFill>
                <a:latin typeface="Pretendard" pitchFamily="34" charset="0"/>
                <a:ea typeface="Pretendard" pitchFamily="34" charset="-122"/>
                <a:cs typeface="Pretendard" pitchFamily="34" charset="-120"/>
              </a:rPr>
              <a:t>만든 검색어로 벡터 검색을 돌려 문서 조각을 가져온다</a:t>
            </a:r>
            <a:endParaRPr lang="en-US" sz="1050" dirty="0"/>
          </a:p>
          <a:p>
            <a:pPr marL="0" indent="0">
              <a:lnSpc>
                <a:spcPct val="125000"/>
              </a:lnSpc>
              <a:buNone/>
            </a:pPr>
            <a:r>
              <a:rPr lang="en-US" sz="1050" dirty="0">
                <a:solidFill>
                  <a:srgbClr val="BAC6D8"/>
                </a:solidFill>
                <a:latin typeface="Pretendard" pitchFamily="34" charset="0"/>
                <a:ea typeface="Pretendard" pitchFamily="34" charset="-122"/>
                <a:cs typeface="Pretendard" pitchFamily="34" charset="-120"/>
              </a:rPr>
              <a:t>같은 조각은 한 번만 남긴다</a:t>
            </a:r>
            <a:endParaRPr lang="en-US" sz="1050" dirty="0"/>
          </a:p>
        </p:txBody>
      </p:sp>
      <p:sp>
        <p:nvSpPr>
          <p:cNvPr id="37" name="Shape 34"/>
          <p:cNvSpPr/>
          <p:nvPr/>
        </p:nvSpPr>
        <p:spPr>
          <a:xfrm>
            <a:off x="7333488" y="4846320"/>
            <a:ext cx="4005072" cy="0"/>
          </a:xfrm>
          <a:prstGeom prst="line">
            <a:avLst/>
          </a:prstGeom>
          <a:noFill/>
          <a:ln w="12700">
            <a:solidFill>
              <a:srgbClr val="263049"/>
            </a:solidFill>
            <a:prstDash val="solid"/>
          </a:ln>
        </p:spPr>
        <p:txBody>
          <a:bodyPr/>
          <a:lstStyle/>
          <a:p>
            <a:endParaRPr lang="ko-KR" altLang="en-US"/>
          </a:p>
        </p:txBody>
      </p:sp>
      <p:sp>
        <p:nvSpPr>
          <p:cNvPr id="38" name="Text 35"/>
          <p:cNvSpPr/>
          <p:nvPr/>
        </p:nvSpPr>
        <p:spPr>
          <a:xfrm>
            <a:off x="7333488" y="4937760"/>
            <a:ext cx="256032" cy="274320"/>
          </a:xfrm>
          <a:prstGeom prst="rect">
            <a:avLst/>
          </a:prstGeom>
          <a:noFill/>
          <a:ln/>
        </p:spPr>
        <p:txBody>
          <a:bodyPr wrap="square" lIns="0" tIns="0" rIns="0" bIns="0" rtlCol="0" anchor="ctr"/>
          <a:lstStyle/>
          <a:p>
            <a:pPr marL="0" indent="0">
              <a:buNone/>
            </a:pPr>
            <a:r>
              <a:rPr lang="en-US" sz="1150" b="1" dirty="0">
                <a:solidFill>
                  <a:srgbClr val="22D3EE"/>
                </a:solidFill>
                <a:latin typeface="Consolas" pitchFamily="34" charset="0"/>
                <a:ea typeface="Consolas" pitchFamily="34" charset="-122"/>
                <a:cs typeface="Consolas" pitchFamily="34" charset="-120"/>
              </a:rPr>
              <a:t>3</a:t>
            </a:r>
            <a:endParaRPr lang="en-US" sz="1150" dirty="0"/>
          </a:p>
        </p:txBody>
      </p:sp>
      <p:sp>
        <p:nvSpPr>
          <p:cNvPr id="39" name="Text 36"/>
          <p:cNvSpPr/>
          <p:nvPr/>
        </p:nvSpPr>
        <p:spPr>
          <a:xfrm>
            <a:off x="7662672" y="4937760"/>
            <a:ext cx="3675888" cy="274320"/>
          </a:xfrm>
          <a:prstGeom prst="rect">
            <a:avLst/>
          </a:prstGeom>
          <a:noFill/>
          <a:ln/>
        </p:spPr>
        <p:txBody>
          <a:bodyPr wrap="square" lIns="0" tIns="0" rIns="0" bIns="0" rtlCol="0" anchor="ctr"/>
          <a:lstStyle/>
          <a:p>
            <a:pPr marL="0" indent="0">
              <a:buNone/>
            </a:pPr>
            <a:r>
              <a:rPr lang="en-US" sz="1250" b="1" dirty="0">
                <a:solidFill>
                  <a:srgbClr val="F1F5F9"/>
                </a:solidFill>
                <a:latin typeface="Pretendard" pitchFamily="34" charset="0"/>
                <a:ea typeface="Pretendard" pitchFamily="34" charset="-122"/>
                <a:cs typeface="Pretendard" pitchFamily="34" charset="-120"/>
              </a:rPr>
              <a:t>업무를 만든다</a:t>
            </a:r>
            <a:endParaRPr lang="en-US" sz="1250" dirty="0"/>
          </a:p>
        </p:txBody>
      </p:sp>
      <p:sp>
        <p:nvSpPr>
          <p:cNvPr id="40" name="Text 37"/>
          <p:cNvSpPr/>
          <p:nvPr/>
        </p:nvSpPr>
        <p:spPr>
          <a:xfrm>
            <a:off x="7662672" y="5230368"/>
            <a:ext cx="3675888" cy="685800"/>
          </a:xfrm>
          <a:prstGeom prst="rect">
            <a:avLst/>
          </a:prstGeom>
          <a:noFill/>
          <a:ln/>
        </p:spPr>
        <p:txBody>
          <a:bodyPr wrap="square" lIns="0" tIns="0" rIns="0" bIns="0" rtlCol="0" anchor="t"/>
          <a:lstStyle/>
          <a:p>
            <a:pPr marL="0" indent="0">
              <a:lnSpc>
                <a:spcPct val="125000"/>
              </a:lnSpc>
              <a:buNone/>
            </a:pPr>
            <a:r>
              <a:rPr lang="en-US" sz="1050" dirty="0">
                <a:solidFill>
                  <a:srgbClr val="BAC6D8"/>
                </a:solidFill>
                <a:latin typeface="Pretendard" pitchFamily="34" charset="0"/>
                <a:ea typeface="Pretendard" pitchFamily="34" charset="-122"/>
                <a:cs typeface="Pretendard" pitchFamily="34" charset="-120"/>
              </a:rPr>
              <a:t>모은 근거에 E1 · E2 처럼 번호를 붙이고, 업무마다</a:t>
            </a:r>
            <a:endParaRPr lang="en-US" sz="1050" dirty="0"/>
          </a:p>
          <a:p>
            <a:pPr marL="0" indent="0">
              <a:lnSpc>
                <a:spcPct val="125000"/>
              </a:lnSpc>
              <a:buNone/>
            </a:pPr>
            <a:r>
              <a:rPr lang="en-US" sz="1050" dirty="0">
                <a:solidFill>
                  <a:srgbClr val="BAC6D8"/>
                </a:solidFill>
                <a:latin typeface="Pretendard" pitchFamily="34" charset="0"/>
                <a:ea typeface="Pretendard" pitchFamily="34" charset="-122"/>
                <a:cs typeface="Pretendard" pitchFamily="34" charset="-120"/>
              </a:rPr>
              <a:t>그 번호를 인용한다 — 문서에 없는 값은 비워 두고 표시</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bg_dk_div.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58368" y="1325880"/>
            <a:ext cx="5486400" cy="2103120"/>
          </a:xfrm>
          <a:prstGeom prst="rect">
            <a:avLst/>
          </a:prstGeom>
          <a:noFill/>
          <a:ln/>
        </p:spPr>
        <p:txBody>
          <a:bodyPr wrap="square" lIns="0" tIns="0" rIns="0" bIns="0" rtlCol="0" anchor="ctr"/>
          <a:lstStyle/>
          <a:p>
            <a:pPr marL="0" indent="0">
              <a:buNone/>
            </a:pPr>
            <a:r>
              <a:rPr lang="en-US" sz="13000" b="1" dirty="0">
                <a:solidFill>
                  <a:srgbClr val="133449"/>
                </a:solidFill>
                <a:latin typeface="Consolas" pitchFamily="34" charset="0"/>
                <a:ea typeface="Consolas" pitchFamily="34" charset="-122"/>
                <a:cs typeface="Consolas" pitchFamily="34" charset="-120"/>
              </a:rPr>
              <a:t>05</a:t>
            </a:r>
            <a:endParaRPr lang="en-US" sz="13000" dirty="0"/>
          </a:p>
        </p:txBody>
      </p:sp>
      <p:sp>
        <p:nvSpPr>
          <p:cNvPr id="4" name="Shape 1"/>
          <p:cNvSpPr/>
          <p:nvPr/>
        </p:nvSpPr>
        <p:spPr>
          <a:xfrm>
            <a:off x="777240" y="3611880"/>
            <a:ext cx="548640" cy="91440"/>
          </a:xfrm>
          <a:prstGeom prst="rect">
            <a:avLst/>
          </a:prstGeom>
          <a:solidFill>
            <a:srgbClr val="22D3EE"/>
          </a:solidFill>
          <a:ln/>
        </p:spPr>
        <p:txBody>
          <a:bodyPr/>
          <a:lstStyle/>
          <a:p>
            <a:endParaRPr lang="ko-KR" altLang="en-US"/>
          </a:p>
        </p:txBody>
      </p:sp>
      <p:sp>
        <p:nvSpPr>
          <p:cNvPr id="5" name="Text 2"/>
          <p:cNvSpPr/>
          <p:nvPr/>
        </p:nvSpPr>
        <p:spPr>
          <a:xfrm>
            <a:off x="749808" y="3840480"/>
            <a:ext cx="10515600" cy="777240"/>
          </a:xfrm>
          <a:prstGeom prst="rect">
            <a:avLst/>
          </a:prstGeom>
          <a:noFill/>
          <a:ln/>
        </p:spPr>
        <p:txBody>
          <a:bodyPr wrap="square" lIns="0" tIns="0" rIns="0" bIns="0" rtlCol="0" anchor="ctr"/>
          <a:lstStyle/>
          <a:p>
            <a:pPr marL="0" indent="0">
              <a:buNone/>
            </a:pPr>
            <a:r>
              <a:rPr lang="en-US" sz="3600" b="1" dirty="0">
                <a:solidFill>
                  <a:srgbClr val="F1F5F9"/>
                </a:solidFill>
                <a:latin typeface="Pretendard" pitchFamily="34" charset="0"/>
                <a:ea typeface="Pretendard" pitchFamily="34" charset="-122"/>
                <a:cs typeface="Pretendard" pitchFamily="34" charset="-120"/>
              </a:rPr>
              <a:t>현황과 계획</a:t>
            </a:r>
            <a:endParaRPr lang="en-US" sz="3600" dirty="0"/>
          </a:p>
        </p:txBody>
      </p:sp>
      <p:sp>
        <p:nvSpPr>
          <p:cNvPr id="6" name="Text 3"/>
          <p:cNvSpPr/>
          <p:nvPr/>
        </p:nvSpPr>
        <p:spPr>
          <a:xfrm>
            <a:off x="777240" y="4709160"/>
            <a:ext cx="10515600" cy="365760"/>
          </a:xfrm>
          <a:prstGeom prst="rect">
            <a:avLst/>
          </a:prstGeom>
          <a:noFill/>
          <a:ln/>
        </p:spPr>
        <p:txBody>
          <a:bodyPr wrap="square" lIns="0" tIns="0" rIns="0" bIns="0" rtlCol="0" anchor="ctr"/>
          <a:lstStyle/>
          <a:p>
            <a:pPr marL="0" indent="0">
              <a:buNone/>
            </a:pPr>
            <a:r>
              <a:rPr lang="en-US" sz="1400" dirty="0">
                <a:solidFill>
                  <a:srgbClr val="BAC6D8"/>
                </a:solidFill>
                <a:latin typeface="Pretendard Light" pitchFamily="34" charset="0"/>
                <a:ea typeface="Pretendard Light" pitchFamily="34" charset="-122"/>
                <a:cs typeface="Pretendard Light" pitchFamily="34" charset="-120"/>
              </a:rPr>
              <a:t>구현 현황 · 향후 계획</a:t>
            </a:r>
            <a:endParaRPr lang="en-US" sz="1400" dirty="0"/>
          </a:p>
        </p:txBody>
      </p:sp>
      <p:sp>
        <p:nvSpPr>
          <p:cNvPr id="7" name="Text 4"/>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STATUS</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구현 현황</a:t>
            </a:r>
            <a:endParaRPr lang="en-US" sz="2700" dirty="0"/>
          </a:p>
        </p:txBody>
      </p:sp>
      <p:sp>
        <p:nvSpPr>
          <p:cNvPr id="5" name="Text 2"/>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27</a:t>
            </a:r>
            <a:endParaRPr lang="en-US" sz="1050" dirty="0"/>
          </a:p>
        </p:txBody>
      </p:sp>
      <p:sp>
        <p:nvSpPr>
          <p:cNvPr id="6" name="Shape 3"/>
          <p:cNvSpPr/>
          <p:nvPr/>
        </p:nvSpPr>
        <p:spPr>
          <a:xfrm>
            <a:off x="566928" y="1417320"/>
            <a:ext cx="1408176" cy="603504"/>
          </a:xfrm>
          <a:prstGeom prst="roundRect">
            <a:avLst>
              <a:gd name="adj" fmla="val 9091"/>
            </a:avLst>
          </a:prstGeom>
          <a:solidFill>
            <a:srgbClr val="161D2E"/>
          </a:solidFill>
          <a:ln w="12700">
            <a:solidFill>
              <a:srgbClr val="155E75"/>
            </a:solidFill>
            <a:prstDash val="solid"/>
          </a:ln>
        </p:spPr>
        <p:txBody>
          <a:bodyPr/>
          <a:lstStyle/>
          <a:p>
            <a:endParaRPr lang="ko-KR" altLang="en-US"/>
          </a:p>
        </p:txBody>
      </p:sp>
      <p:sp>
        <p:nvSpPr>
          <p:cNvPr id="7" name="Text 4"/>
          <p:cNvSpPr/>
          <p:nvPr/>
        </p:nvSpPr>
        <p:spPr>
          <a:xfrm>
            <a:off x="603504" y="1417320"/>
            <a:ext cx="1335024" cy="603504"/>
          </a:xfrm>
          <a:prstGeom prst="rect">
            <a:avLst/>
          </a:prstGeom>
          <a:noFill/>
          <a:ln/>
        </p:spPr>
        <p:txBody>
          <a:bodyPr wrap="square" lIns="0" tIns="0" rIns="0" bIns="0" rtlCol="0" anchor="ctr"/>
          <a:lstStyle/>
          <a:p>
            <a:pPr marL="0" indent="0" algn="ctr">
              <a:buNone/>
            </a:pPr>
            <a:r>
              <a:rPr lang="en-US" sz="1000" b="1" dirty="0">
                <a:solidFill>
                  <a:srgbClr val="F1F5F9"/>
                </a:solidFill>
                <a:latin typeface="Pretendard" pitchFamily="34" charset="0"/>
                <a:ea typeface="Pretendard" pitchFamily="34" charset="-122"/>
                <a:cs typeface="Pretendard" pitchFamily="34" charset="-120"/>
              </a:rPr>
              <a:t>커넥터 연동</a:t>
            </a:r>
            <a:endParaRPr lang="en-US" sz="1000" dirty="0"/>
          </a:p>
        </p:txBody>
      </p:sp>
      <p:sp>
        <p:nvSpPr>
          <p:cNvPr id="8" name="Text 5"/>
          <p:cNvSpPr/>
          <p:nvPr/>
        </p:nvSpPr>
        <p:spPr>
          <a:xfrm>
            <a:off x="1975104" y="1417320"/>
            <a:ext cx="201168" cy="603504"/>
          </a:xfrm>
          <a:prstGeom prst="rect">
            <a:avLst/>
          </a:prstGeom>
          <a:noFill/>
          <a:ln/>
        </p:spPr>
        <p:txBody>
          <a:bodyPr wrap="square" lIns="0" tIns="0" rIns="0" bIns="0" rtlCol="0" anchor="ctr"/>
          <a:lstStyle/>
          <a:p>
            <a:pPr marL="0" indent="0" algn="ctr">
              <a:buNone/>
            </a:pPr>
            <a:r>
              <a:rPr lang="en-US" sz="1500" b="1" dirty="0">
                <a:solidFill>
                  <a:srgbClr val="0E7490"/>
                </a:solidFill>
                <a:latin typeface="Pretendard" pitchFamily="34" charset="0"/>
                <a:ea typeface="Pretendard" pitchFamily="34" charset="-122"/>
                <a:cs typeface="Pretendard" pitchFamily="34" charset="-120"/>
              </a:rPr>
              <a:t>›</a:t>
            </a:r>
            <a:endParaRPr lang="en-US" sz="1500" dirty="0"/>
          </a:p>
        </p:txBody>
      </p:sp>
      <p:sp>
        <p:nvSpPr>
          <p:cNvPr id="9" name="Shape 6"/>
          <p:cNvSpPr/>
          <p:nvPr/>
        </p:nvSpPr>
        <p:spPr>
          <a:xfrm>
            <a:off x="2176272" y="1417320"/>
            <a:ext cx="1408176" cy="603504"/>
          </a:xfrm>
          <a:prstGeom prst="roundRect">
            <a:avLst>
              <a:gd name="adj" fmla="val 9091"/>
            </a:avLst>
          </a:prstGeom>
          <a:solidFill>
            <a:srgbClr val="161D2E"/>
          </a:solidFill>
          <a:ln w="12700">
            <a:solidFill>
              <a:srgbClr val="155E75"/>
            </a:solidFill>
            <a:prstDash val="solid"/>
          </a:ln>
        </p:spPr>
        <p:txBody>
          <a:bodyPr/>
          <a:lstStyle/>
          <a:p>
            <a:endParaRPr lang="ko-KR" altLang="en-US"/>
          </a:p>
        </p:txBody>
      </p:sp>
      <p:sp>
        <p:nvSpPr>
          <p:cNvPr id="10" name="Text 7"/>
          <p:cNvSpPr/>
          <p:nvPr/>
        </p:nvSpPr>
        <p:spPr>
          <a:xfrm>
            <a:off x="2212848" y="1417320"/>
            <a:ext cx="1335024" cy="603504"/>
          </a:xfrm>
          <a:prstGeom prst="rect">
            <a:avLst/>
          </a:prstGeom>
          <a:noFill/>
          <a:ln/>
        </p:spPr>
        <p:txBody>
          <a:bodyPr wrap="square" lIns="0" tIns="0" rIns="0" bIns="0" rtlCol="0" anchor="ctr"/>
          <a:lstStyle/>
          <a:p>
            <a:pPr marL="0" indent="0" algn="ctr">
              <a:buNone/>
            </a:pPr>
            <a:r>
              <a:rPr lang="en-US" sz="1000" b="1" dirty="0">
                <a:solidFill>
                  <a:srgbClr val="F1F5F9"/>
                </a:solidFill>
                <a:latin typeface="Pretendard" pitchFamily="34" charset="0"/>
                <a:ea typeface="Pretendard" pitchFamily="34" charset="-122"/>
                <a:cs typeface="Pretendard" pitchFamily="34" charset="-120"/>
              </a:rPr>
              <a:t>문서 입력</a:t>
            </a:r>
            <a:endParaRPr lang="en-US" sz="1000" dirty="0"/>
          </a:p>
        </p:txBody>
      </p:sp>
      <p:sp>
        <p:nvSpPr>
          <p:cNvPr id="11" name="Text 8"/>
          <p:cNvSpPr/>
          <p:nvPr/>
        </p:nvSpPr>
        <p:spPr>
          <a:xfrm>
            <a:off x="3584448" y="1417320"/>
            <a:ext cx="201168" cy="603504"/>
          </a:xfrm>
          <a:prstGeom prst="rect">
            <a:avLst/>
          </a:prstGeom>
          <a:noFill/>
          <a:ln/>
        </p:spPr>
        <p:txBody>
          <a:bodyPr wrap="square" lIns="0" tIns="0" rIns="0" bIns="0" rtlCol="0" anchor="ctr"/>
          <a:lstStyle/>
          <a:p>
            <a:pPr marL="0" indent="0" algn="ctr">
              <a:buNone/>
            </a:pPr>
            <a:r>
              <a:rPr lang="en-US" sz="1500" b="1" dirty="0">
                <a:solidFill>
                  <a:srgbClr val="0E7490"/>
                </a:solidFill>
                <a:latin typeface="Pretendard" pitchFamily="34" charset="0"/>
                <a:ea typeface="Pretendard" pitchFamily="34" charset="-122"/>
                <a:cs typeface="Pretendard" pitchFamily="34" charset="-120"/>
              </a:rPr>
              <a:t>›</a:t>
            </a:r>
            <a:endParaRPr lang="en-US" sz="1500" dirty="0"/>
          </a:p>
        </p:txBody>
      </p:sp>
      <p:sp>
        <p:nvSpPr>
          <p:cNvPr id="12" name="Shape 9"/>
          <p:cNvSpPr/>
          <p:nvPr/>
        </p:nvSpPr>
        <p:spPr>
          <a:xfrm>
            <a:off x="3785616" y="1417320"/>
            <a:ext cx="1408176" cy="603504"/>
          </a:xfrm>
          <a:prstGeom prst="roundRect">
            <a:avLst>
              <a:gd name="adj" fmla="val 9091"/>
            </a:avLst>
          </a:prstGeom>
          <a:solidFill>
            <a:srgbClr val="161D2E"/>
          </a:solidFill>
          <a:ln w="12700">
            <a:solidFill>
              <a:srgbClr val="155E75"/>
            </a:solidFill>
            <a:prstDash val="solid"/>
          </a:ln>
        </p:spPr>
        <p:txBody>
          <a:bodyPr/>
          <a:lstStyle/>
          <a:p>
            <a:endParaRPr lang="ko-KR" altLang="en-US"/>
          </a:p>
        </p:txBody>
      </p:sp>
      <p:sp>
        <p:nvSpPr>
          <p:cNvPr id="13" name="Text 10"/>
          <p:cNvSpPr/>
          <p:nvPr/>
        </p:nvSpPr>
        <p:spPr>
          <a:xfrm>
            <a:off x="3822192" y="1417320"/>
            <a:ext cx="1335024" cy="603504"/>
          </a:xfrm>
          <a:prstGeom prst="rect">
            <a:avLst/>
          </a:prstGeom>
          <a:noFill/>
          <a:ln/>
        </p:spPr>
        <p:txBody>
          <a:bodyPr wrap="square" lIns="0" tIns="0" rIns="0" bIns="0" rtlCol="0" anchor="ctr"/>
          <a:lstStyle/>
          <a:p>
            <a:pPr marL="0" indent="0" algn="ctr">
              <a:buNone/>
            </a:pPr>
            <a:r>
              <a:rPr lang="en-US" sz="1000" b="1" dirty="0">
                <a:solidFill>
                  <a:srgbClr val="F1F5F9"/>
                </a:solidFill>
                <a:latin typeface="Pretendard" pitchFamily="34" charset="0"/>
                <a:ea typeface="Pretendard" pitchFamily="34" charset="-122"/>
                <a:cs typeface="Pretendard" pitchFamily="34" charset="-120"/>
              </a:rPr>
              <a:t>파싱</a:t>
            </a:r>
            <a:endParaRPr lang="en-US" sz="1000" dirty="0"/>
          </a:p>
        </p:txBody>
      </p:sp>
      <p:sp>
        <p:nvSpPr>
          <p:cNvPr id="14" name="Text 11"/>
          <p:cNvSpPr/>
          <p:nvPr/>
        </p:nvSpPr>
        <p:spPr>
          <a:xfrm>
            <a:off x="5193792" y="1417320"/>
            <a:ext cx="201168" cy="603504"/>
          </a:xfrm>
          <a:prstGeom prst="rect">
            <a:avLst/>
          </a:prstGeom>
          <a:noFill/>
          <a:ln/>
        </p:spPr>
        <p:txBody>
          <a:bodyPr wrap="square" lIns="0" tIns="0" rIns="0" bIns="0" rtlCol="0" anchor="ctr"/>
          <a:lstStyle/>
          <a:p>
            <a:pPr marL="0" indent="0" algn="ctr">
              <a:buNone/>
            </a:pPr>
            <a:r>
              <a:rPr lang="en-US" sz="1500" b="1" dirty="0">
                <a:solidFill>
                  <a:srgbClr val="0E7490"/>
                </a:solidFill>
                <a:latin typeface="Pretendard" pitchFamily="34" charset="0"/>
                <a:ea typeface="Pretendard" pitchFamily="34" charset="-122"/>
                <a:cs typeface="Pretendard" pitchFamily="34" charset="-120"/>
              </a:rPr>
              <a:t>›</a:t>
            </a:r>
            <a:endParaRPr lang="en-US" sz="1500" dirty="0"/>
          </a:p>
        </p:txBody>
      </p:sp>
      <p:sp>
        <p:nvSpPr>
          <p:cNvPr id="15" name="Shape 12"/>
          <p:cNvSpPr/>
          <p:nvPr/>
        </p:nvSpPr>
        <p:spPr>
          <a:xfrm>
            <a:off x="5394960" y="1417320"/>
            <a:ext cx="1408176" cy="603504"/>
          </a:xfrm>
          <a:prstGeom prst="roundRect">
            <a:avLst>
              <a:gd name="adj" fmla="val 9091"/>
            </a:avLst>
          </a:prstGeom>
          <a:solidFill>
            <a:srgbClr val="161D2E"/>
          </a:solidFill>
          <a:ln w="12700">
            <a:solidFill>
              <a:srgbClr val="155E75"/>
            </a:solidFill>
            <a:prstDash val="solid"/>
          </a:ln>
        </p:spPr>
        <p:txBody>
          <a:bodyPr/>
          <a:lstStyle/>
          <a:p>
            <a:endParaRPr lang="ko-KR" altLang="en-US"/>
          </a:p>
        </p:txBody>
      </p:sp>
      <p:sp>
        <p:nvSpPr>
          <p:cNvPr id="16" name="Text 13"/>
          <p:cNvSpPr/>
          <p:nvPr/>
        </p:nvSpPr>
        <p:spPr>
          <a:xfrm>
            <a:off x="5431536" y="1417320"/>
            <a:ext cx="1335024" cy="603504"/>
          </a:xfrm>
          <a:prstGeom prst="rect">
            <a:avLst/>
          </a:prstGeom>
          <a:noFill/>
          <a:ln/>
        </p:spPr>
        <p:txBody>
          <a:bodyPr wrap="square" lIns="0" tIns="0" rIns="0" bIns="0" rtlCol="0" anchor="ctr"/>
          <a:lstStyle/>
          <a:p>
            <a:pPr marL="0" indent="0" algn="ctr">
              <a:buNone/>
            </a:pPr>
            <a:r>
              <a:rPr lang="en-US" sz="1000" b="1" dirty="0">
                <a:solidFill>
                  <a:srgbClr val="F1F5F9"/>
                </a:solidFill>
                <a:latin typeface="Pretendard" pitchFamily="34" charset="0"/>
                <a:ea typeface="Pretendard" pitchFamily="34" charset="-122"/>
                <a:cs typeface="Pretendard" pitchFamily="34" charset="-120"/>
              </a:rPr>
              <a:t>구조 보존</a:t>
            </a:r>
            <a:endParaRPr lang="en-US" sz="1000" dirty="0"/>
          </a:p>
        </p:txBody>
      </p:sp>
      <p:sp>
        <p:nvSpPr>
          <p:cNvPr id="17" name="Text 14"/>
          <p:cNvSpPr/>
          <p:nvPr/>
        </p:nvSpPr>
        <p:spPr>
          <a:xfrm>
            <a:off x="6803136" y="1417320"/>
            <a:ext cx="201168" cy="603504"/>
          </a:xfrm>
          <a:prstGeom prst="rect">
            <a:avLst/>
          </a:prstGeom>
          <a:noFill/>
          <a:ln/>
        </p:spPr>
        <p:txBody>
          <a:bodyPr wrap="square" lIns="0" tIns="0" rIns="0" bIns="0" rtlCol="0" anchor="ctr"/>
          <a:lstStyle/>
          <a:p>
            <a:pPr marL="0" indent="0" algn="ctr">
              <a:buNone/>
            </a:pPr>
            <a:r>
              <a:rPr lang="en-US" sz="1500" b="1" dirty="0">
                <a:solidFill>
                  <a:srgbClr val="0E7490"/>
                </a:solidFill>
                <a:latin typeface="Pretendard" pitchFamily="34" charset="0"/>
                <a:ea typeface="Pretendard" pitchFamily="34" charset="-122"/>
                <a:cs typeface="Pretendard" pitchFamily="34" charset="-120"/>
              </a:rPr>
              <a:t>›</a:t>
            </a:r>
            <a:endParaRPr lang="en-US" sz="1500" dirty="0"/>
          </a:p>
        </p:txBody>
      </p:sp>
      <p:sp>
        <p:nvSpPr>
          <p:cNvPr id="18" name="Shape 15"/>
          <p:cNvSpPr/>
          <p:nvPr/>
        </p:nvSpPr>
        <p:spPr>
          <a:xfrm>
            <a:off x="7004304" y="1417320"/>
            <a:ext cx="1408176" cy="603504"/>
          </a:xfrm>
          <a:prstGeom prst="roundRect">
            <a:avLst>
              <a:gd name="adj" fmla="val 9091"/>
            </a:avLst>
          </a:prstGeom>
          <a:solidFill>
            <a:srgbClr val="161D2E"/>
          </a:solidFill>
          <a:ln w="12700">
            <a:solidFill>
              <a:srgbClr val="155E75"/>
            </a:solidFill>
            <a:prstDash val="solid"/>
          </a:ln>
        </p:spPr>
        <p:txBody>
          <a:bodyPr/>
          <a:lstStyle/>
          <a:p>
            <a:endParaRPr lang="ko-KR" altLang="en-US"/>
          </a:p>
        </p:txBody>
      </p:sp>
      <p:sp>
        <p:nvSpPr>
          <p:cNvPr id="19" name="Text 16"/>
          <p:cNvSpPr/>
          <p:nvPr/>
        </p:nvSpPr>
        <p:spPr>
          <a:xfrm>
            <a:off x="7040880" y="1417320"/>
            <a:ext cx="1335024" cy="603504"/>
          </a:xfrm>
          <a:prstGeom prst="rect">
            <a:avLst/>
          </a:prstGeom>
          <a:noFill/>
          <a:ln/>
        </p:spPr>
        <p:txBody>
          <a:bodyPr wrap="square" lIns="0" tIns="0" rIns="0" bIns="0" rtlCol="0" anchor="ctr"/>
          <a:lstStyle/>
          <a:p>
            <a:pPr marL="0" indent="0" algn="ctr">
              <a:buNone/>
            </a:pPr>
            <a:r>
              <a:rPr lang="en-US" sz="1000" b="1" dirty="0">
                <a:solidFill>
                  <a:srgbClr val="F1F5F9"/>
                </a:solidFill>
                <a:latin typeface="Pretendard" pitchFamily="34" charset="0"/>
                <a:ea typeface="Pretendard" pitchFamily="34" charset="-122"/>
                <a:cs typeface="Pretendard" pitchFamily="34" charset="-120"/>
              </a:rPr>
              <a:t>청킹</a:t>
            </a:r>
            <a:endParaRPr lang="en-US" sz="1000" dirty="0"/>
          </a:p>
        </p:txBody>
      </p:sp>
      <p:sp>
        <p:nvSpPr>
          <p:cNvPr id="20" name="Text 17"/>
          <p:cNvSpPr/>
          <p:nvPr/>
        </p:nvSpPr>
        <p:spPr>
          <a:xfrm>
            <a:off x="8412480" y="1417320"/>
            <a:ext cx="201168" cy="603504"/>
          </a:xfrm>
          <a:prstGeom prst="rect">
            <a:avLst/>
          </a:prstGeom>
          <a:noFill/>
          <a:ln/>
        </p:spPr>
        <p:txBody>
          <a:bodyPr wrap="square" lIns="0" tIns="0" rIns="0" bIns="0" rtlCol="0" anchor="ctr"/>
          <a:lstStyle/>
          <a:p>
            <a:pPr marL="0" indent="0" algn="ctr">
              <a:buNone/>
            </a:pPr>
            <a:r>
              <a:rPr lang="en-US" sz="1500" b="1" dirty="0">
                <a:solidFill>
                  <a:srgbClr val="0E7490"/>
                </a:solidFill>
                <a:latin typeface="Pretendard" pitchFamily="34" charset="0"/>
                <a:ea typeface="Pretendard" pitchFamily="34" charset="-122"/>
                <a:cs typeface="Pretendard" pitchFamily="34" charset="-120"/>
              </a:rPr>
              <a:t>›</a:t>
            </a:r>
            <a:endParaRPr lang="en-US" sz="1500" dirty="0"/>
          </a:p>
        </p:txBody>
      </p:sp>
      <p:sp>
        <p:nvSpPr>
          <p:cNvPr id="21" name="Shape 18"/>
          <p:cNvSpPr/>
          <p:nvPr/>
        </p:nvSpPr>
        <p:spPr>
          <a:xfrm>
            <a:off x="8613648" y="1417320"/>
            <a:ext cx="1408176" cy="603504"/>
          </a:xfrm>
          <a:prstGeom prst="roundRect">
            <a:avLst>
              <a:gd name="adj" fmla="val 9091"/>
            </a:avLst>
          </a:prstGeom>
          <a:solidFill>
            <a:srgbClr val="161D2E"/>
          </a:solidFill>
          <a:ln w="12700">
            <a:solidFill>
              <a:srgbClr val="155E75"/>
            </a:solidFill>
            <a:prstDash val="solid"/>
          </a:ln>
        </p:spPr>
        <p:txBody>
          <a:bodyPr/>
          <a:lstStyle/>
          <a:p>
            <a:endParaRPr lang="ko-KR" altLang="en-US"/>
          </a:p>
        </p:txBody>
      </p:sp>
      <p:sp>
        <p:nvSpPr>
          <p:cNvPr id="22" name="Text 19"/>
          <p:cNvSpPr/>
          <p:nvPr/>
        </p:nvSpPr>
        <p:spPr>
          <a:xfrm>
            <a:off x="8650224" y="1417320"/>
            <a:ext cx="1335024" cy="603504"/>
          </a:xfrm>
          <a:prstGeom prst="rect">
            <a:avLst/>
          </a:prstGeom>
          <a:noFill/>
          <a:ln/>
        </p:spPr>
        <p:txBody>
          <a:bodyPr wrap="square" lIns="0" tIns="0" rIns="0" bIns="0" rtlCol="0" anchor="ctr"/>
          <a:lstStyle/>
          <a:p>
            <a:pPr marL="0" indent="0" algn="ctr">
              <a:buNone/>
            </a:pPr>
            <a:r>
              <a:rPr lang="en-US" sz="1000" b="1" dirty="0">
                <a:solidFill>
                  <a:srgbClr val="F1F5F9"/>
                </a:solidFill>
                <a:latin typeface="Pretendard" pitchFamily="34" charset="0"/>
                <a:ea typeface="Pretendard" pitchFamily="34" charset="-122"/>
                <a:cs typeface="Pretendard" pitchFamily="34" charset="-120"/>
              </a:rPr>
              <a:t>임베딩 · 벡터 검색</a:t>
            </a:r>
            <a:endParaRPr lang="en-US" sz="1000" dirty="0"/>
          </a:p>
        </p:txBody>
      </p:sp>
      <p:sp>
        <p:nvSpPr>
          <p:cNvPr id="23" name="Text 20"/>
          <p:cNvSpPr/>
          <p:nvPr/>
        </p:nvSpPr>
        <p:spPr>
          <a:xfrm>
            <a:off x="10021824" y="1417320"/>
            <a:ext cx="201168" cy="603504"/>
          </a:xfrm>
          <a:prstGeom prst="rect">
            <a:avLst/>
          </a:prstGeom>
          <a:noFill/>
          <a:ln/>
        </p:spPr>
        <p:txBody>
          <a:bodyPr wrap="square" lIns="0" tIns="0" rIns="0" bIns="0" rtlCol="0" anchor="ctr"/>
          <a:lstStyle/>
          <a:p>
            <a:pPr marL="0" indent="0" algn="ctr">
              <a:buNone/>
            </a:pPr>
            <a:r>
              <a:rPr lang="en-US" sz="1500" b="1" dirty="0">
                <a:solidFill>
                  <a:srgbClr val="0E7490"/>
                </a:solidFill>
                <a:latin typeface="Pretendard" pitchFamily="34" charset="0"/>
                <a:ea typeface="Pretendard" pitchFamily="34" charset="-122"/>
                <a:cs typeface="Pretendard" pitchFamily="34" charset="-120"/>
              </a:rPr>
              <a:t>›</a:t>
            </a:r>
            <a:endParaRPr lang="en-US" sz="1500" dirty="0"/>
          </a:p>
        </p:txBody>
      </p:sp>
      <p:sp>
        <p:nvSpPr>
          <p:cNvPr id="24" name="Shape 21"/>
          <p:cNvSpPr/>
          <p:nvPr/>
        </p:nvSpPr>
        <p:spPr>
          <a:xfrm>
            <a:off x="10222992" y="1417320"/>
            <a:ext cx="1408176" cy="603504"/>
          </a:xfrm>
          <a:prstGeom prst="roundRect">
            <a:avLst>
              <a:gd name="adj" fmla="val 9091"/>
            </a:avLst>
          </a:prstGeom>
          <a:solidFill>
            <a:srgbClr val="161D2E"/>
          </a:solidFill>
          <a:ln w="12700">
            <a:solidFill>
              <a:srgbClr val="155E75"/>
            </a:solidFill>
            <a:prstDash val="solid"/>
          </a:ln>
        </p:spPr>
        <p:txBody>
          <a:bodyPr/>
          <a:lstStyle/>
          <a:p>
            <a:endParaRPr lang="ko-KR" altLang="en-US"/>
          </a:p>
        </p:txBody>
      </p:sp>
      <p:sp>
        <p:nvSpPr>
          <p:cNvPr id="25" name="Text 22"/>
          <p:cNvSpPr/>
          <p:nvPr/>
        </p:nvSpPr>
        <p:spPr>
          <a:xfrm>
            <a:off x="10259568" y="1417320"/>
            <a:ext cx="1335024" cy="603504"/>
          </a:xfrm>
          <a:prstGeom prst="rect">
            <a:avLst/>
          </a:prstGeom>
          <a:noFill/>
          <a:ln/>
        </p:spPr>
        <p:txBody>
          <a:bodyPr wrap="square" lIns="0" tIns="0" rIns="0" bIns="0" rtlCol="0" anchor="ctr"/>
          <a:lstStyle/>
          <a:p>
            <a:pPr marL="0" indent="0" algn="ctr">
              <a:buNone/>
            </a:pPr>
            <a:r>
              <a:rPr lang="en-US" sz="1000" b="1" dirty="0">
                <a:solidFill>
                  <a:srgbClr val="F1F5F9"/>
                </a:solidFill>
                <a:latin typeface="Pretendard" pitchFamily="34" charset="0"/>
                <a:ea typeface="Pretendard" pitchFamily="34" charset="-122"/>
                <a:cs typeface="Pretendard" pitchFamily="34" charset="-120"/>
              </a:rPr>
              <a:t>업무 추출 Agent</a:t>
            </a:r>
            <a:endParaRPr lang="en-US" sz="1000" dirty="0"/>
          </a:p>
        </p:txBody>
      </p:sp>
      <p:sp>
        <p:nvSpPr>
          <p:cNvPr id="26" name="Text 23"/>
          <p:cNvSpPr/>
          <p:nvPr/>
        </p:nvSpPr>
        <p:spPr>
          <a:xfrm>
            <a:off x="566928" y="2075688"/>
            <a:ext cx="11064240" cy="256032"/>
          </a:xfrm>
          <a:prstGeom prst="rect">
            <a:avLst/>
          </a:prstGeom>
          <a:noFill/>
          <a:ln/>
        </p:spPr>
        <p:txBody>
          <a:bodyPr wrap="square" lIns="0" tIns="0" rIns="0" bIns="0" rtlCol="0" anchor="ctr"/>
          <a:lstStyle/>
          <a:p>
            <a:pPr marL="0" indent="0" algn="ctr">
              <a:buNone/>
            </a:pPr>
            <a:r>
              <a:rPr lang="en-US" sz="1050" dirty="0">
                <a:solidFill>
                  <a:srgbClr val="9FADC2"/>
                </a:solidFill>
                <a:latin typeface="Pretendard" pitchFamily="34" charset="0"/>
                <a:ea typeface="Pretendard" pitchFamily="34" charset="-122"/>
                <a:cs typeface="Pretendard" pitchFamily="34" charset="-120"/>
              </a:rPr>
              <a:t>이 흐름은 실제 문서로 끊기지 않고 돈다</a:t>
            </a:r>
            <a:endParaRPr lang="en-US" sz="1050" dirty="0"/>
          </a:p>
        </p:txBody>
      </p:sp>
      <p:sp>
        <p:nvSpPr>
          <p:cNvPr id="27" name="Shape 24"/>
          <p:cNvSpPr/>
          <p:nvPr/>
        </p:nvSpPr>
        <p:spPr>
          <a:xfrm>
            <a:off x="566928" y="2395728"/>
            <a:ext cx="3538728" cy="3337560"/>
          </a:xfrm>
          <a:prstGeom prst="roundRect">
            <a:avLst>
              <a:gd name="adj" fmla="val 2192"/>
            </a:avLst>
          </a:prstGeom>
          <a:solidFill>
            <a:srgbClr val="161D2E"/>
          </a:solidFill>
          <a:ln w="12700">
            <a:solidFill>
              <a:srgbClr val="263049"/>
            </a:solidFill>
            <a:prstDash val="solid"/>
          </a:ln>
        </p:spPr>
        <p:txBody>
          <a:bodyPr/>
          <a:lstStyle/>
          <a:p>
            <a:endParaRPr lang="ko-KR" altLang="en-US"/>
          </a:p>
        </p:txBody>
      </p:sp>
      <p:sp>
        <p:nvSpPr>
          <p:cNvPr id="28" name="Text 25"/>
          <p:cNvSpPr/>
          <p:nvPr/>
        </p:nvSpPr>
        <p:spPr>
          <a:xfrm>
            <a:off x="841248" y="2633472"/>
            <a:ext cx="1005840" cy="292608"/>
          </a:xfrm>
          <a:prstGeom prst="rect">
            <a:avLst/>
          </a:prstGeom>
          <a:solidFill>
            <a:srgbClr val="13301E"/>
          </a:solidFill>
          <a:ln/>
        </p:spPr>
        <p:txBody>
          <a:bodyPr wrap="square" lIns="0" tIns="0" rIns="0" bIns="0" rtlCol="0" anchor="ctr"/>
          <a:lstStyle/>
          <a:p>
            <a:pPr marL="0" indent="0" algn="ctr">
              <a:buNone/>
            </a:pPr>
            <a:r>
              <a:rPr lang="en-US" sz="1000" b="1" dirty="0">
                <a:solidFill>
                  <a:srgbClr val="4ADE80"/>
                </a:solidFill>
                <a:latin typeface="Pretendard" pitchFamily="34" charset="0"/>
                <a:ea typeface="Pretendard" pitchFamily="34" charset="-122"/>
                <a:cs typeface="Pretendard" pitchFamily="34" charset="-120"/>
              </a:rPr>
              <a:t>1차 구현</a:t>
            </a:r>
            <a:endParaRPr lang="en-US" sz="1000" dirty="0"/>
          </a:p>
        </p:txBody>
      </p:sp>
      <p:sp>
        <p:nvSpPr>
          <p:cNvPr id="29" name="Text 26"/>
          <p:cNvSpPr/>
          <p:nvPr/>
        </p:nvSpPr>
        <p:spPr>
          <a:xfrm>
            <a:off x="841248" y="3108960"/>
            <a:ext cx="2990088" cy="2743200"/>
          </a:xfrm>
          <a:prstGeom prst="rect">
            <a:avLst/>
          </a:prstGeom>
          <a:noFill/>
          <a:ln/>
        </p:spPr>
        <p:txBody>
          <a:bodyPr wrap="square" lIns="0" tIns="0" rIns="0" bIns="0" rtlCol="0" anchor="t"/>
          <a:lstStyle/>
          <a:p>
            <a:pPr marL="177800" indent="-177800">
              <a:lnSpc>
                <a:spcPct val="115000"/>
              </a:lnSpc>
              <a:spcAft>
                <a:spcPts val="900"/>
              </a:spcAft>
              <a:buSzPct val="100000"/>
              <a:buChar char="–"/>
            </a:pPr>
            <a:r>
              <a:rPr lang="en-US" sz="1150" dirty="0">
                <a:solidFill>
                  <a:srgbClr val="BAC6D8"/>
                </a:solidFill>
                <a:latin typeface="Pretendard" pitchFamily="34" charset="0"/>
                <a:ea typeface="Pretendard" pitchFamily="34" charset="-122"/>
                <a:cs typeface="Pretendard" pitchFamily="34" charset="-120"/>
              </a:rPr>
              <a:t>실행 환경 · 데이터 모델 (48테이블)</a:t>
            </a:r>
            <a:endParaRPr lang="en-US" sz="1150" dirty="0"/>
          </a:p>
          <a:p>
            <a:pPr marL="177800" indent="-177800">
              <a:lnSpc>
                <a:spcPct val="115000"/>
              </a:lnSpc>
              <a:spcAft>
                <a:spcPts val="900"/>
              </a:spcAft>
              <a:buSzPct val="100000"/>
              <a:buChar char="–"/>
            </a:pPr>
            <a:r>
              <a:rPr lang="en-US" sz="1150" dirty="0">
                <a:solidFill>
                  <a:srgbClr val="BAC6D8"/>
                </a:solidFill>
                <a:latin typeface="Pretendard" pitchFamily="34" charset="0"/>
                <a:ea typeface="Pretendard" pitchFamily="34" charset="-122"/>
                <a:cs typeface="Pretendard" pitchFamily="34" charset="-120"/>
              </a:rPr>
              <a:t>커넥터 연동 — Drive · Jira 수집</a:t>
            </a:r>
            <a:endParaRPr lang="en-US" sz="1150" dirty="0"/>
          </a:p>
          <a:p>
            <a:pPr marL="177800" indent="-177800">
              <a:lnSpc>
                <a:spcPct val="115000"/>
              </a:lnSpc>
              <a:spcAft>
                <a:spcPts val="900"/>
              </a:spcAft>
              <a:buSzPct val="100000"/>
              <a:buChar char="–"/>
            </a:pPr>
            <a:r>
              <a:rPr lang="en-US" sz="1150" dirty="0">
                <a:solidFill>
                  <a:srgbClr val="BAC6D8"/>
                </a:solidFill>
                <a:latin typeface="Pretendard" pitchFamily="34" charset="0"/>
                <a:ea typeface="Pretendard" pitchFamily="34" charset="-122"/>
                <a:cs typeface="Pretendard" pitchFamily="34" charset="-120"/>
              </a:rPr>
              <a:t>파싱 · 청킹 · 임베딩 · 벡터 검색 — 등록한 문서가 검색되는 수준까지</a:t>
            </a:r>
            <a:endParaRPr lang="en-US" sz="1150" dirty="0"/>
          </a:p>
          <a:p>
            <a:pPr marL="177800" indent="-177800">
              <a:lnSpc>
                <a:spcPct val="115000"/>
              </a:lnSpc>
              <a:spcAft>
                <a:spcPts val="900"/>
              </a:spcAft>
              <a:buSzPct val="100000"/>
              <a:buChar char="–"/>
            </a:pPr>
            <a:r>
              <a:rPr lang="en-US" sz="1150" dirty="0">
                <a:solidFill>
                  <a:srgbClr val="BAC6D8"/>
                </a:solidFill>
                <a:latin typeface="Pretendard" pitchFamily="34" charset="0"/>
                <a:ea typeface="Pretendard" pitchFamily="34" charset="-122"/>
                <a:cs typeface="Pretendard" pitchFamily="34" charset="-120"/>
              </a:rPr>
              <a:t>업무 추출 Agent — 실제 문서로 동작</a:t>
            </a:r>
            <a:endParaRPr lang="en-US" sz="1150" dirty="0"/>
          </a:p>
          <a:p>
            <a:pPr marL="177800" indent="-177800">
              <a:lnSpc>
                <a:spcPct val="115000"/>
              </a:lnSpc>
              <a:spcAft>
                <a:spcPts val="900"/>
              </a:spcAft>
              <a:buSzPct val="100000"/>
              <a:buChar char="–"/>
            </a:pPr>
            <a:r>
              <a:rPr lang="en-US" sz="1150" dirty="0">
                <a:solidFill>
                  <a:srgbClr val="BAC6D8"/>
                </a:solidFill>
                <a:latin typeface="Pretendard" pitchFamily="34" charset="0"/>
                <a:ea typeface="Pretendard" pitchFamily="34" charset="-122"/>
                <a:cs typeface="Pretendard" pitchFamily="34" charset="-120"/>
              </a:rPr>
              <a:t>업무량 계산 → 대시보드</a:t>
            </a:r>
            <a:endParaRPr lang="en-US" sz="1150" dirty="0"/>
          </a:p>
          <a:p>
            <a:pPr marL="177800" indent="-177800">
              <a:lnSpc>
                <a:spcPct val="115000"/>
              </a:lnSpc>
              <a:spcAft>
                <a:spcPts val="900"/>
              </a:spcAft>
              <a:buSzPct val="100000"/>
              <a:buChar char="–"/>
            </a:pPr>
            <a:r>
              <a:rPr lang="en-US" sz="1150" dirty="0">
                <a:solidFill>
                  <a:srgbClr val="BAC6D8"/>
                </a:solidFill>
                <a:latin typeface="Pretendard" pitchFamily="34" charset="0"/>
                <a:ea typeface="Pretendard" pitchFamily="34" charset="-122"/>
                <a:cs typeface="Pretendard" pitchFamily="34" charset="-120"/>
              </a:rPr>
              <a:t>온보딩 · 문서 관리 · 프로젝트 · 추출 확인 화면</a:t>
            </a:r>
            <a:endParaRPr lang="en-US" sz="1150" dirty="0"/>
          </a:p>
        </p:txBody>
      </p:sp>
      <p:sp>
        <p:nvSpPr>
          <p:cNvPr id="30" name="Shape 27"/>
          <p:cNvSpPr/>
          <p:nvPr/>
        </p:nvSpPr>
        <p:spPr>
          <a:xfrm>
            <a:off x="4325112" y="2395728"/>
            <a:ext cx="3538728" cy="3337560"/>
          </a:xfrm>
          <a:prstGeom prst="roundRect">
            <a:avLst>
              <a:gd name="adj" fmla="val 2192"/>
            </a:avLst>
          </a:prstGeom>
          <a:solidFill>
            <a:srgbClr val="161D2E"/>
          </a:solidFill>
          <a:ln w="12700">
            <a:solidFill>
              <a:srgbClr val="263049"/>
            </a:solidFill>
            <a:prstDash val="solid"/>
          </a:ln>
        </p:spPr>
        <p:txBody>
          <a:bodyPr/>
          <a:lstStyle/>
          <a:p>
            <a:endParaRPr lang="ko-KR" altLang="en-US"/>
          </a:p>
        </p:txBody>
      </p:sp>
      <p:sp>
        <p:nvSpPr>
          <p:cNvPr id="31" name="Text 28"/>
          <p:cNvSpPr/>
          <p:nvPr/>
        </p:nvSpPr>
        <p:spPr>
          <a:xfrm>
            <a:off x="4599432" y="2633472"/>
            <a:ext cx="1280160" cy="292608"/>
          </a:xfrm>
          <a:prstGeom prst="rect">
            <a:avLst/>
          </a:prstGeom>
          <a:solidFill>
            <a:srgbClr val="2E2510"/>
          </a:solidFill>
          <a:ln/>
        </p:spPr>
        <p:txBody>
          <a:bodyPr wrap="square" lIns="0" tIns="0" rIns="0" bIns="0" rtlCol="0" anchor="ctr"/>
          <a:lstStyle/>
          <a:p>
            <a:pPr marL="0" indent="0" algn="ctr">
              <a:buNone/>
            </a:pPr>
            <a:r>
              <a:rPr lang="en-US" sz="1000" b="1" dirty="0">
                <a:solidFill>
                  <a:srgbClr val="FBBF24"/>
                </a:solidFill>
                <a:latin typeface="Pretendard" pitchFamily="34" charset="0"/>
                <a:ea typeface="Pretendard" pitchFamily="34" charset="-122"/>
                <a:cs typeface="Pretendard" pitchFamily="34" charset="-120"/>
              </a:rPr>
              <a:t>고도화 대상</a:t>
            </a:r>
            <a:endParaRPr lang="en-US" sz="1000" dirty="0"/>
          </a:p>
        </p:txBody>
      </p:sp>
      <p:sp>
        <p:nvSpPr>
          <p:cNvPr id="32" name="Text 29"/>
          <p:cNvSpPr/>
          <p:nvPr/>
        </p:nvSpPr>
        <p:spPr>
          <a:xfrm>
            <a:off x="4599432" y="3108960"/>
            <a:ext cx="2990088" cy="2743200"/>
          </a:xfrm>
          <a:prstGeom prst="rect">
            <a:avLst/>
          </a:prstGeom>
          <a:noFill/>
          <a:ln/>
        </p:spPr>
        <p:txBody>
          <a:bodyPr wrap="square" lIns="0" tIns="0" rIns="0" bIns="0" rtlCol="0" anchor="t"/>
          <a:lstStyle/>
          <a:p>
            <a:pPr marL="177800" indent="-177800">
              <a:lnSpc>
                <a:spcPct val="115000"/>
              </a:lnSpc>
              <a:spcAft>
                <a:spcPts val="900"/>
              </a:spcAft>
              <a:buSzPct val="100000"/>
              <a:buChar char="–"/>
            </a:pPr>
            <a:r>
              <a:rPr lang="en-US" sz="1150" dirty="0">
                <a:solidFill>
                  <a:srgbClr val="BAC6D8"/>
                </a:solidFill>
                <a:latin typeface="Pretendard" pitchFamily="34" charset="0"/>
                <a:ea typeface="Pretendard" pitchFamily="34" charset="-122"/>
                <a:cs typeface="Pretendard" pitchFamily="34" charset="-120"/>
              </a:rPr>
              <a:t>제목 계층 복원</a:t>
            </a:r>
            <a:endParaRPr lang="en-US" sz="1150" dirty="0"/>
          </a:p>
          <a:p>
            <a:pPr marL="177800" indent="-177800">
              <a:lnSpc>
                <a:spcPct val="115000"/>
              </a:lnSpc>
              <a:spcAft>
                <a:spcPts val="900"/>
              </a:spcAft>
              <a:buSzPct val="100000"/>
              <a:buChar char="–"/>
            </a:pPr>
            <a:r>
              <a:rPr lang="en-US" sz="1150" dirty="0">
                <a:solidFill>
                  <a:srgbClr val="BAC6D8"/>
                </a:solidFill>
                <a:latin typeface="Pretendard" pitchFamily="34" charset="0"/>
                <a:ea typeface="Pretendard" pitchFamily="34" charset="-122"/>
                <a:cs typeface="Pretendard" pitchFamily="34" charset="-120"/>
              </a:rPr>
              <a:t>이미지 유형별 처리</a:t>
            </a:r>
            <a:endParaRPr lang="en-US" sz="1150" dirty="0"/>
          </a:p>
          <a:p>
            <a:pPr marL="177800" indent="-177800">
              <a:lnSpc>
                <a:spcPct val="115000"/>
              </a:lnSpc>
              <a:spcAft>
                <a:spcPts val="900"/>
              </a:spcAft>
              <a:buSzPct val="100000"/>
              <a:buChar char="–"/>
            </a:pPr>
            <a:r>
              <a:rPr lang="en-US" sz="1150" dirty="0">
                <a:solidFill>
                  <a:srgbClr val="BAC6D8"/>
                </a:solidFill>
                <a:latin typeface="Pretendard" pitchFamily="34" charset="0"/>
                <a:ea typeface="Pretendard" pitchFamily="34" charset="-122"/>
                <a:cs typeface="Pretendard" pitchFamily="34" charset="-120"/>
              </a:rPr>
              <a:t>표 유형 일반화 — 행 방향 · 다단 헤더 · 다중 페이지</a:t>
            </a:r>
            <a:endParaRPr lang="en-US" sz="1150" dirty="0"/>
          </a:p>
          <a:p>
            <a:pPr marL="177800" indent="-177800">
              <a:lnSpc>
                <a:spcPct val="115000"/>
              </a:lnSpc>
              <a:spcAft>
                <a:spcPts val="900"/>
              </a:spcAft>
              <a:buSzPct val="100000"/>
              <a:buChar char="–"/>
            </a:pPr>
            <a:r>
              <a:rPr lang="en-US" sz="1150" dirty="0">
                <a:solidFill>
                  <a:srgbClr val="BAC6D8"/>
                </a:solidFill>
                <a:latin typeface="Pretendard" pitchFamily="34" charset="0"/>
                <a:ea typeface="Pretendard" pitchFamily="34" charset="-122"/>
                <a:cs typeface="Pretendard" pitchFamily="34" charset="-120"/>
              </a:rPr>
              <a:t>업무량 추이 적재</a:t>
            </a:r>
            <a:endParaRPr lang="en-US" sz="1150" dirty="0"/>
          </a:p>
        </p:txBody>
      </p:sp>
      <p:sp>
        <p:nvSpPr>
          <p:cNvPr id="33" name="Shape 30"/>
          <p:cNvSpPr/>
          <p:nvPr/>
        </p:nvSpPr>
        <p:spPr>
          <a:xfrm>
            <a:off x="8083296" y="2395728"/>
            <a:ext cx="3538728" cy="3337560"/>
          </a:xfrm>
          <a:prstGeom prst="roundRect">
            <a:avLst>
              <a:gd name="adj" fmla="val 2192"/>
            </a:avLst>
          </a:prstGeom>
          <a:solidFill>
            <a:srgbClr val="161D2E"/>
          </a:solidFill>
          <a:ln w="12700">
            <a:solidFill>
              <a:srgbClr val="263049"/>
            </a:solidFill>
            <a:prstDash val="solid"/>
          </a:ln>
        </p:spPr>
        <p:txBody>
          <a:bodyPr/>
          <a:lstStyle/>
          <a:p>
            <a:endParaRPr lang="ko-KR" altLang="en-US"/>
          </a:p>
        </p:txBody>
      </p:sp>
      <p:sp>
        <p:nvSpPr>
          <p:cNvPr id="34" name="Text 31"/>
          <p:cNvSpPr/>
          <p:nvPr/>
        </p:nvSpPr>
        <p:spPr>
          <a:xfrm>
            <a:off x="8357616" y="2633472"/>
            <a:ext cx="914400" cy="292608"/>
          </a:xfrm>
          <a:prstGeom prst="rect">
            <a:avLst/>
          </a:prstGeom>
          <a:solidFill>
            <a:srgbClr val="2A3346"/>
          </a:solidFill>
          <a:ln/>
        </p:spPr>
        <p:txBody>
          <a:bodyPr wrap="square" lIns="0" tIns="0" rIns="0" bIns="0" rtlCol="0" anchor="ctr"/>
          <a:lstStyle/>
          <a:p>
            <a:pPr marL="0" indent="0" algn="ctr">
              <a:buNone/>
            </a:pPr>
            <a:r>
              <a:rPr lang="en-US" sz="1000" b="1" dirty="0">
                <a:solidFill>
                  <a:srgbClr val="AAB6C8"/>
                </a:solidFill>
                <a:latin typeface="Pretendard" pitchFamily="34" charset="0"/>
                <a:ea typeface="Pretendard" pitchFamily="34" charset="-122"/>
                <a:cs typeface="Pretendard" pitchFamily="34" charset="-120"/>
              </a:rPr>
              <a:t>미착수</a:t>
            </a:r>
            <a:endParaRPr lang="en-US" sz="1000" dirty="0"/>
          </a:p>
        </p:txBody>
      </p:sp>
      <p:sp>
        <p:nvSpPr>
          <p:cNvPr id="35" name="Text 32"/>
          <p:cNvSpPr/>
          <p:nvPr/>
        </p:nvSpPr>
        <p:spPr>
          <a:xfrm>
            <a:off x="8357616" y="3108960"/>
            <a:ext cx="2990088" cy="2743200"/>
          </a:xfrm>
          <a:prstGeom prst="rect">
            <a:avLst/>
          </a:prstGeom>
          <a:noFill/>
          <a:ln/>
        </p:spPr>
        <p:txBody>
          <a:bodyPr wrap="square" lIns="0" tIns="0" rIns="0" bIns="0" rtlCol="0" anchor="t"/>
          <a:lstStyle/>
          <a:p>
            <a:pPr marL="177800" indent="-177800">
              <a:lnSpc>
                <a:spcPct val="115000"/>
              </a:lnSpc>
              <a:spcAft>
                <a:spcPts val="900"/>
              </a:spcAft>
              <a:buSzPct val="100000"/>
              <a:buChar char="–"/>
            </a:pPr>
            <a:r>
              <a:rPr lang="en-US" sz="1150" dirty="0">
                <a:solidFill>
                  <a:srgbClr val="BAC6D8"/>
                </a:solidFill>
                <a:latin typeface="Pretendard" pitchFamily="34" charset="0"/>
                <a:ea typeface="Pretendard" pitchFamily="34" charset="-122"/>
                <a:cs typeface="Pretendard" pitchFamily="34" charset="-120"/>
              </a:rPr>
              <a:t>업무 분배 후보 추천 (Agent2)</a:t>
            </a:r>
            <a:endParaRPr lang="en-US" sz="1150" dirty="0"/>
          </a:p>
          <a:p>
            <a:pPr marL="177800" indent="-177800">
              <a:lnSpc>
                <a:spcPct val="115000"/>
              </a:lnSpc>
              <a:spcAft>
                <a:spcPts val="900"/>
              </a:spcAft>
              <a:buSzPct val="100000"/>
              <a:buChar char="–"/>
            </a:pPr>
            <a:r>
              <a:rPr lang="en-US" sz="1150" dirty="0">
                <a:solidFill>
                  <a:srgbClr val="BAC6D8"/>
                </a:solidFill>
                <a:latin typeface="Pretendard" pitchFamily="34" charset="0"/>
                <a:ea typeface="Pretendard" pitchFamily="34" charset="-122"/>
                <a:cs typeface="Pretendard" pitchFamily="34" charset="-120"/>
              </a:rPr>
              <a:t>분배안 검증 (Agent3)</a:t>
            </a:r>
            <a:endParaRPr lang="en-US" sz="1150" dirty="0"/>
          </a:p>
          <a:p>
            <a:pPr marL="177800" indent="-177800">
              <a:lnSpc>
                <a:spcPct val="115000"/>
              </a:lnSpc>
              <a:spcAft>
                <a:spcPts val="900"/>
              </a:spcAft>
              <a:buSzPct val="100000"/>
              <a:buChar char="–"/>
            </a:pPr>
            <a:r>
              <a:rPr lang="en-US" sz="1150" dirty="0">
                <a:solidFill>
                  <a:srgbClr val="BAC6D8"/>
                </a:solidFill>
                <a:latin typeface="Pretendard" pitchFamily="34" charset="0"/>
                <a:ea typeface="Pretendard" pitchFamily="34" charset="-122"/>
                <a:cs typeface="Pretendard" pitchFamily="34" charset="-120"/>
              </a:rPr>
              <a:t>PM 검토 · 결정 기록 화면</a:t>
            </a:r>
            <a:endParaRPr lang="en-US" sz="1150" dirty="0"/>
          </a:p>
          <a:p>
            <a:pPr marL="177800" indent="-177800">
              <a:lnSpc>
                <a:spcPct val="115000"/>
              </a:lnSpc>
              <a:spcAft>
                <a:spcPts val="900"/>
              </a:spcAft>
              <a:buSzPct val="100000"/>
              <a:buChar char="–"/>
            </a:pPr>
            <a:r>
              <a:rPr lang="en-US" sz="1150" dirty="0">
                <a:solidFill>
                  <a:srgbClr val="BAC6D8"/>
                </a:solidFill>
                <a:latin typeface="Pretendard" pitchFamily="34" charset="0"/>
                <a:ea typeface="Pretendard" pitchFamily="34" charset="-122"/>
                <a:cs typeface="Pretendard" pitchFamily="34" charset="-120"/>
              </a:rPr>
              <a:t>업무 분배 이후 화면 4종은 정적 상태</a:t>
            </a:r>
            <a:endParaRPr lang="en-US" sz="1150" dirty="0"/>
          </a:p>
          <a:p>
            <a:pPr marL="177800" indent="-177800">
              <a:lnSpc>
                <a:spcPct val="115000"/>
              </a:lnSpc>
              <a:spcAft>
                <a:spcPts val="900"/>
              </a:spcAft>
              <a:buSzPct val="100000"/>
              <a:buChar char="–"/>
            </a:pPr>
            <a:r>
              <a:rPr lang="en-US" sz="1150" dirty="0">
                <a:solidFill>
                  <a:srgbClr val="BAC6D8"/>
                </a:solidFill>
                <a:latin typeface="Pretendard" pitchFamily="34" charset="0"/>
                <a:ea typeface="Pretendard" pitchFamily="34" charset="-122"/>
                <a:cs typeface="Pretendard" pitchFamily="34" charset="-120"/>
              </a:rPr>
              <a:t>HWP 미지원 — PDF · DOCX만 처리</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ROADMAP</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향후 계획</a:t>
            </a:r>
            <a:endParaRPr lang="en-US" sz="2700" dirty="0"/>
          </a:p>
        </p:txBody>
      </p:sp>
      <p:sp>
        <p:nvSpPr>
          <p:cNvPr id="5" name="Text 2"/>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28</a:t>
            </a:r>
            <a:endParaRPr lang="en-US" sz="1050" dirty="0"/>
          </a:p>
        </p:txBody>
      </p:sp>
      <p:sp>
        <p:nvSpPr>
          <p:cNvPr id="6" name="Shape 3"/>
          <p:cNvSpPr/>
          <p:nvPr/>
        </p:nvSpPr>
        <p:spPr>
          <a:xfrm>
            <a:off x="566928" y="1783080"/>
            <a:ext cx="11064240" cy="0"/>
          </a:xfrm>
          <a:prstGeom prst="line">
            <a:avLst/>
          </a:prstGeom>
          <a:noFill/>
          <a:ln w="12700">
            <a:solidFill>
              <a:srgbClr val="263049"/>
            </a:solidFill>
            <a:prstDash val="solid"/>
          </a:ln>
        </p:spPr>
        <p:txBody>
          <a:bodyPr/>
          <a:lstStyle/>
          <a:p>
            <a:endParaRPr lang="ko-KR" altLang="en-US"/>
          </a:p>
        </p:txBody>
      </p:sp>
      <p:sp>
        <p:nvSpPr>
          <p:cNvPr id="7" name="Text 4"/>
          <p:cNvSpPr/>
          <p:nvPr/>
        </p:nvSpPr>
        <p:spPr>
          <a:xfrm>
            <a:off x="566928" y="2103120"/>
            <a:ext cx="420624" cy="420624"/>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1</a:t>
            </a:r>
            <a:endParaRPr lang="en-US" sz="1400" dirty="0"/>
          </a:p>
        </p:txBody>
      </p:sp>
      <p:sp>
        <p:nvSpPr>
          <p:cNvPr id="8" name="Text 5"/>
          <p:cNvSpPr/>
          <p:nvPr/>
        </p:nvSpPr>
        <p:spPr>
          <a:xfrm>
            <a:off x="1188720" y="1929384"/>
            <a:ext cx="2743200" cy="768096"/>
          </a:xfrm>
          <a:prstGeom prst="rect">
            <a:avLst/>
          </a:prstGeom>
          <a:noFill/>
          <a:ln/>
        </p:spPr>
        <p:txBody>
          <a:bodyPr wrap="square" lIns="0" tIns="0" rIns="0" bIns="0" rtlCol="0" anchor="ctr"/>
          <a:lstStyle/>
          <a:p>
            <a:pPr marL="0" indent="0">
              <a:buNone/>
            </a:pPr>
            <a:r>
              <a:rPr lang="en-US" sz="1400" b="1" dirty="0">
                <a:solidFill>
                  <a:srgbClr val="67E8F9"/>
                </a:solidFill>
                <a:latin typeface="Pretendard" pitchFamily="34" charset="0"/>
                <a:ea typeface="Pretendard" pitchFamily="34" charset="-122"/>
                <a:cs typeface="Pretendard" pitchFamily="34" charset="-120"/>
              </a:rPr>
              <a:t>파싱 · 청킹 고도화</a:t>
            </a:r>
            <a:endParaRPr lang="en-US" sz="1400" dirty="0"/>
          </a:p>
        </p:txBody>
      </p:sp>
      <p:sp>
        <p:nvSpPr>
          <p:cNvPr id="9" name="Text 6"/>
          <p:cNvSpPr/>
          <p:nvPr/>
        </p:nvSpPr>
        <p:spPr>
          <a:xfrm>
            <a:off x="4114800" y="1929384"/>
            <a:ext cx="4572000" cy="768096"/>
          </a:xfrm>
          <a:prstGeom prst="rect">
            <a:avLst/>
          </a:prstGeom>
          <a:noFill/>
          <a:ln/>
        </p:spPr>
        <p:txBody>
          <a:bodyPr wrap="square" lIns="0" tIns="0" rIns="0" bIns="0" rtlCol="0" anchor="ctr"/>
          <a:lstStyle/>
          <a:p>
            <a:pPr marL="0" indent="0">
              <a:lnSpc>
                <a:spcPct val="125000"/>
              </a:lnSpc>
              <a:buNone/>
            </a:pPr>
            <a:r>
              <a:rPr lang="en-US" sz="1150" dirty="0">
                <a:solidFill>
                  <a:srgbClr val="F1F5F9"/>
                </a:solidFill>
                <a:latin typeface="Pretendard" pitchFamily="34" charset="0"/>
                <a:ea typeface="Pretendard" pitchFamily="34" charset="-122"/>
                <a:cs typeface="Pretendard" pitchFamily="34" charset="-120"/>
              </a:rPr>
              <a:t>검증 · 보완 레이어 추가, 표의 셀 위치·좌표 구조화, 유형별 청킹 분리</a:t>
            </a:r>
            <a:endParaRPr lang="en-US" sz="1150" dirty="0"/>
          </a:p>
        </p:txBody>
      </p:sp>
      <p:sp>
        <p:nvSpPr>
          <p:cNvPr id="10" name="Text 7"/>
          <p:cNvSpPr/>
          <p:nvPr/>
        </p:nvSpPr>
        <p:spPr>
          <a:xfrm>
            <a:off x="8869680" y="1929384"/>
            <a:ext cx="2761488" cy="768096"/>
          </a:xfrm>
          <a:prstGeom prst="rect">
            <a:avLst/>
          </a:prstGeom>
          <a:noFill/>
          <a:ln/>
        </p:spPr>
        <p:txBody>
          <a:bodyPr wrap="square" lIns="0" tIns="0" rIns="0" bIns="0" rtlCol="0" anchor="ctr"/>
          <a:lstStyle/>
          <a:p>
            <a:pPr marL="0" indent="0">
              <a:lnSpc>
                <a:spcPct val="120000"/>
              </a:lnSpc>
              <a:buNone/>
            </a:pPr>
            <a:r>
              <a:rPr lang="en-US" sz="1050" i="1" dirty="0">
                <a:solidFill>
                  <a:srgbClr val="9FADC2"/>
                </a:solidFill>
                <a:latin typeface="Pretendard" pitchFamily="34" charset="0"/>
                <a:ea typeface="Pretendard" pitchFamily="34" charset="-122"/>
                <a:cs typeface="Pretendard" pitchFamily="34" charset="-120"/>
              </a:rPr>
              <a:t>이번 발표에서 확인한 문제를 그대로 다음 작업 목록으로 옮긴다</a:t>
            </a:r>
            <a:endParaRPr lang="en-US" sz="1050" dirty="0"/>
          </a:p>
        </p:txBody>
      </p:sp>
      <p:sp>
        <p:nvSpPr>
          <p:cNvPr id="11" name="Shape 8"/>
          <p:cNvSpPr/>
          <p:nvPr/>
        </p:nvSpPr>
        <p:spPr>
          <a:xfrm>
            <a:off x="566928" y="2843784"/>
            <a:ext cx="11064240" cy="0"/>
          </a:xfrm>
          <a:prstGeom prst="line">
            <a:avLst/>
          </a:prstGeom>
          <a:noFill/>
          <a:ln w="12700">
            <a:solidFill>
              <a:srgbClr val="263049"/>
            </a:solidFill>
            <a:prstDash val="solid"/>
          </a:ln>
        </p:spPr>
        <p:txBody>
          <a:bodyPr/>
          <a:lstStyle/>
          <a:p>
            <a:endParaRPr lang="ko-KR" altLang="en-US"/>
          </a:p>
        </p:txBody>
      </p:sp>
      <p:sp>
        <p:nvSpPr>
          <p:cNvPr id="12" name="Text 9"/>
          <p:cNvSpPr/>
          <p:nvPr/>
        </p:nvSpPr>
        <p:spPr>
          <a:xfrm>
            <a:off x="566928" y="3163824"/>
            <a:ext cx="420624" cy="420624"/>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2</a:t>
            </a:r>
            <a:endParaRPr lang="en-US" sz="1400" dirty="0"/>
          </a:p>
        </p:txBody>
      </p:sp>
      <p:sp>
        <p:nvSpPr>
          <p:cNvPr id="13" name="Text 10"/>
          <p:cNvSpPr/>
          <p:nvPr/>
        </p:nvSpPr>
        <p:spPr>
          <a:xfrm>
            <a:off x="1188720" y="2990088"/>
            <a:ext cx="2743200" cy="768096"/>
          </a:xfrm>
          <a:prstGeom prst="rect">
            <a:avLst/>
          </a:prstGeom>
          <a:noFill/>
          <a:ln/>
        </p:spPr>
        <p:txBody>
          <a:bodyPr wrap="square" lIns="0" tIns="0" rIns="0" bIns="0" rtlCol="0" anchor="ctr"/>
          <a:lstStyle/>
          <a:p>
            <a:pPr marL="0" indent="0">
              <a:buNone/>
            </a:pPr>
            <a:r>
              <a:rPr lang="en-US" sz="1400" b="1" dirty="0">
                <a:solidFill>
                  <a:srgbClr val="67E8F9"/>
                </a:solidFill>
                <a:latin typeface="Pretendard" pitchFamily="34" charset="0"/>
                <a:ea typeface="Pretendard" pitchFamily="34" charset="-122"/>
                <a:cs typeface="Pretendard" pitchFamily="34" charset="-120"/>
              </a:rPr>
              <a:t>Agent 고도화</a:t>
            </a:r>
            <a:endParaRPr lang="en-US" sz="1400" dirty="0"/>
          </a:p>
        </p:txBody>
      </p:sp>
      <p:sp>
        <p:nvSpPr>
          <p:cNvPr id="14" name="Text 11"/>
          <p:cNvSpPr/>
          <p:nvPr/>
        </p:nvSpPr>
        <p:spPr>
          <a:xfrm>
            <a:off x="4114800" y="2990088"/>
            <a:ext cx="4572000" cy="768096"/>
          </a:xfrm>
          <a:prstGeom prst="rect">
            <a:avLst/>
          </a:prstGeom>
          <a:noFill/>
          <a:ln/>
        </p:spPr>
        <p:txBody>
          <a:bodyPr wrap="square" lIns="0" tIns="0" rIns="0" bIns="0" rtlCol="0" anchor="ctr"/>
          <a:lstStyle/>
          <a:p>
            <a:pPr marL="0" indent="0">
              <a:lnSpc>
                <a:spcPct val="125000"/>
              </a:lnSpc>
              <a:buNone/>
            </a:pPr>
            <a:r>
              <a:rPr lang="en-US" sz="1150" dirty="0">
                <a:solidFill>
                  <a:srgbClr val="F1F5F9"/>
                </a:solidFill>
                <a:latin typeface="Pretendard" pitchFamily="34" charset="0"/>
                <a:ea typeface="Pretendard" pitchFamily="34" charset="-122"/>
                <a:cs typeface="Pretendard" pitchFamily="34" charset="-120"/>
              </a:rPr>
              <a:t>업무 분배 후보 추천(Agent2)과 분배안 검증(Agent3), 추출 결과 영속화</a:t>
            </a:r>
            <a:endParaRPr lang="en-US" sz="1150" dirty="0"/>
          </a:p>
        </p:txBody>
      </p:sp>
      <p:sp>
        <p:nvSpPr>
          <p:cNvPr id="15" name="Text 12"/>
          <p:cNvSpPr/>
          <p:nvPr/>
        </p:nvSpPr>
        <p:spPr>
          <a:xfrm>
            <a:off x="8869680" y="2990088"/>
            <a:ext cx="2761488" cy="768096"/>
          </a:xfrm>
          <a:prstGeom prst="rect">
            <a:avLst/>
          </a:prstGeom>
          <a:noFill/>
          <a:ln/>
        </p:spPr>
        <p:txBody>
          <a:bodyPr wrap="square" lIns="0" tIns="0" rIns="0" bIns="0" rtlCol="0" anchor="ctr"/>
          <a:lstStyle/>
          <a:p>
            <a:pPr marL="0" indent="0">
              <a:lnSpc>
                <a:spcPct val="120000"/>
              </a:lnSpc>
              <a:buNone/>
            </a:pPr>
            <a:r>
              <a:rPr lang="en-US" sz="1050" i="1" dirty="0">
                <a:solidFill>
                  <a:srgbClr val="9FADC2"/>
                </a:solidFill>
                <a:latin typeface="Pretendard" pitchFamily="34" charset="0"/>
                <a:ea typeface="Pretendard" pitchFamily="34" charset="-122"/>
                <a:cs typeface="Pretendard" pitchFamily="34" charset="-120"/>
              </a:rPr>
              <a:t>지금은 화면만 있는 구간에 로직을 채운다</a:t>
            </a:r>
            <a:endParaRPr lang="en-US" sz="1050" dirty="0"/>
          </a:p>
        </p:txBody>
      </p:sp>
      <p:sp>
        <p:nvSpPr>
          <p:cNvPr id="16" name="Shape 13"/>
          <p:cNvSpPr/>
          <p:nvPr/>
        </p:nvSpPr>
        <p:spPr>
          <a:xfrm>
            <a:off x="566928" y="3904488"/>
            <a:ext cx="11064240" cy="0"/>
          </a:xfrm>
          <a:prstGeom prst="line">
            <a:avLst/>
          </a:prstGeom>
          <a:noFill/>
          <a:ln w="12700">
            <a:solidFill>
              <a:srgbClr val="263049"/>
            </a:solidFill>
            <a:prstDash val="solid"/>
          </a:ln>
        </p:spPr>
        <p:txBody>
          <a:bodyPr/>
          <a:lstStyle/>
          <a:p>
            <a:endParaRPr lang="ko-KR" altLang="en-US"/>
          </a:p>
        </p:txBody>
      </p:sp>
      <p:sp>
        <p:nvSpPr>
          <p:cNvPr id="17" name="Text 14"/>
          <p:cNvSpPr/>
          <p:nvPr/>
        </p:nvSpPr>
        <p:spPr>
          <a:xfrm>
            <a:off x="566928" y="4224528"/>
            <a:ext cx="420624" cy="420624"/>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3</a:t>
            </a:r>
            <a:endParaRPr lang="en-US" sz="1400" dirty="0"/>
          </a:p>
        </p:txBody>
      </p:sp>
      <p:sp>
        <p:nvSpPr>
          <p:cNvPr id="18" name="Text 15"/>
          <p:cNvSpPr/>
          <p:nvPr/>
        </p:nvSpPr>
        <p:spPr>
          <a:xfrm>
            <a:off x="1188720" y="4050792"/>
            <a:ext cx="2743200" cy="768096"/>
          </a:xfrm>
          <a:prstGeom prst="rect">
            <a:avLst/>
          </a:prstGeom>
          <a:noFill/>
          <a:ln/>
        </p:spPr>
        <p:txBody>
          <a:bodyPr wrap="square" lIns="0" tIns="0" rIns="0" bIns="0" rtlCol="0" anchor="ctr"/>
          <a:lstStyle/>
          <a:p>
            <a:pPr marL="0" indent="0">
              <a:buNone/>
            </a:pPr>
            <a:r>
              <a:rPr lang="en-US" sz="1400" b="1" dirty="0">
                <a:solidFill>
                  <a:srgbClr val="67E8F9"/>
                </a:solidFill>
                <a:latin typeface="Pretendard" pitchFamily="34" charset="0"/>
                <a:ea typeface="Pretendard" pitchFamily="34" charset="-122"/>
                <a:cs typeface="Pretendard" pitchFamily="34" charset="-120"/>
              </a:rPr>
              <a:t>AI 어시스턴트 추가</a:t>
            </a:r>
            <a:endParaRPr lang="en-US" sz="1400" dirty="0"/>
          </a:p>
        </p:txBody>
      </p:sp>
      <p:sp>
        <p:nvSpPr>
          <p:cNvPr id="19" name="Text 16"/>
          <p:cNvSpPr/>
          <p:nvPr/>
        </p:nvSpPr>
        <p:spPr>
          <a:xfrm>
            <a:off x="4114800" y="4050792"/>
            <a:ext cx="4572000" cy="768096"/>
          </a:xfrm>
          <a:prstGeom prst="rect">
            <a:avLst/>
          </a:prstGeom>
          <a:noFill/>
          <a:ln/>
        </p:spPr>
        <p:txBody>
          <a:bodyPr wrap="square" lIns="0" tIns="0" rIns="0" bIns="0" rtlCol="0" anchor="ctr"/>
          <a:lstStyle/>
          <a:p>
            <a:pPr marL="0" indent="0">
              <a:lnSpc>
                <a:spcPct val="125000"/>
              </a:lnSpc>
              <a:buNone/>
            </a:pPr>
            <a:r>
              <a:rPr lang="en-US" sz="1150" dirty="0">
                <a:solidFill>
                  <a:srgbClr val="F1F5F9"/>
                </a:solidFill>
                <a:latin typeface="Pretendard" pitchFamily="34" charset="0"/>
                <a:ea typeface="Pretendard" pitchFamily="34" charset="-122"/>
                <a:cs typeface="Pretendard" pitchFamily="34" charset="-120"/>
              </a:rPr>
              <a:t>쌓아 둔 문서에서 필요한 내용을 물어보면 근거와 함께 찾아 준다</a:t>
            </a:r>
            <a:endParaRPr lang="en-US" sz="1150" dirty="0"/>
          </a:p>
        </p:txBody>
      </p:sp>
      <p:sp>
        <p:nvSpPr>
          <p:cNvPr id="20" name="Text 17"/>
          <p:cNvSpPr/>
          <p:nvPr/>
        </p:nvSpPr>
        <p:spPr>
          <a:xfrm>
            <a:off x="8869680" y="4050792"/>
            <a:ext cx="2761488" cy="768096"/>
          </a:xfrm>
          <a:prstGeom prst="rect">
            <a:avLst/>
          </a:prstGeom>
          <a:noFill/>
          <a:ln/>
        </p:spPr>
        <p:txBody>
          <a:bodyPr wrap="square" lIns="0" tIns="0" rIns="0" bIns="0" rtlCol="0" anchor="ctr"/>
          <a:lstStyle/>
          <a:p>
            <a:pPr marL="0" indent="0">
              <a:lnSpc>
                <a:spcPct val="120000"/>
              </a:lnSpc>
              <a:buNone/>
            </a:pPr>
            <a:r>
              <a:rPr lang="en-US" sz="1050" i="1" dirty="0">
                <a:solidFill>
                  <a:srgbClr val="9FADC2"/>
                </a:solidFill>
                <a:latin typeface="Pretendard" pitchFamily="34" charset="0"/>
                <a:ea typeface="Pretendard" pitchFamily="34" charset="-122"/>
                <a:cs typeface="Pretendard" pitchFamily="34" charset="-120"/>
              </a:rPr>
              <a:t>검색 결과를 뒤지는 대신 물어서 찾는다</a:t>
            </a:r>
            <a:endParaRPr lang="en-US" sz="1050" dirty="0"/>
          </a:p>
        </p:txBody>
      </p:sp>
      <p:sp>
        <p:nvSpPr>
          <p:cNvPr id="21" name="Shape 18"/>
          <p:cNvSpPr/>
          <p:nvPr/>
        </p:nvSpPr>
        <p:spPr>
          <a:xfrm>
            <a:off x="566928" y="4965192"/>
            <a:ext cx="11064240" cy="0"/>
          </a:xfrm>
          <a:prstGeom prst="line">
            <a:avLst/>
          </a:prstGeom>
          <a:noFill/>
          <a:ln w="12700">
            <a:solidFill>
              <a:srgbClr val="263049"/>
            </a:solidFill>
            <a:prstDash val="solid"/>
          </a:ln>
        </p:spPr>
        <p:txBody>
          <a:bodyPr/>
          <a:lstStyle/>
          <a:p>
            <a:endParaRPr lang="ko-KR" altLang="en-US"/>
          </a:p>
        </p:txBody>
      </p:sp>
      <p:sp>
        <p:nvSpPr>
          <p:cNvPr id="22" name="Text 19"/>
          <p:cNvSpPr/>
          <p:nvPr/>
        </p:nvSpPr>
        <p:spPr>
          <a:xfrm>
            <a:off x="566928" y="5285232"/>
            <a:ext cx="420624" cy="420624"/>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4</a:t>
            </a:r>
            <a:endParaRPr lang="en-US" sz="1400" dirty="0"/>
          </a:p>
        </p:txBody>
      </p:sp>
      <p:sp>
        <p:nvSpPr>
          <p:cNvPr id="23" name="Text 20"/>
          <p:cNvSpPr/>
          <p:nvPr/>
        </p:nvSpPr>
        <p:spPr>
          <a:xfrm>
            <a:off x="1188720" y="5111496"/>
            <a:ext cx="2743200" cy="768096"/>
          </a:xfrm>
          <a:prstGeom prst="rect">
            <a:avLst/>
          </a:prstGeom>
          <a:noFill/>
          <a:ln/>
        </p:spPr>
        <p:txBody>
          <a:bodyPr wrap="square" lIns="0" tIns="0" rIns="0" bIns="0" rtlCol="0" anchor="ctr"/>
          <a:lstStyle/>
          <a:p>
            <a:pPr marL="0" indent="0">
              <a:buNone/>
            </a:pPr>
            <a:r>
              <a:rPr lang="en-US" sz="1400" b="1" dirty="0">
                <a:solidFill>
                  <a:srgbClr val="67E8F9"/>
                </a:solidFill>
                <a:latin typeface="Pretendard" pitchFamily="34" charset="0"/>
                <a:ea typeface="Pretendard" pitchFamily="34" charset="-122"/>
                <a:cs typeface="Pretendard" pitchFamily="34" charset="-120"/>
              </a:rPr>
              <a:t>커넥터 기능 확장</a:t>
            </a:r>
            <a:endParaRPr lang="en-US" sz="1400" dirty="0"/>
          </a:p>
        </p:txBody>
      </p:sp>
      <p:sp>
        <p:nvSpPr>
          <p:cNvPr id="24" name="Text 21"/>
          <p:cNvSpPr/>
          <p:nvPr/>
        </p:nvSpPr>
        <p:spPr>
          <a:xfrm>
            <a:off x="4114800" y="5111496"/>
            <a:ext cx="4572000" cy="768096"/>
          </a:xfrm>
          <a:prstGeom prst="rect">
            <a:avLst/>
          </a:prstGeom>
          <a:noFill/>
          <a:ln/>
        </p:spPr>
        <p:txBody>
          <a:bodyPr wrap="square" lIns="0" tIns="0" rIns="0" bIns="0" rtlCol="0" anchor="ctr"/>
          <a:lstStyle/>
          <a:p>
            <a:pPr marL="0" indent="0">
              <a:lnSpc>
                <a:spcPct val="125000"/>
              </a:lnSpc>
              <a:buNone/>
            </a:pPr>
            <a:r>
              <a:rPr lang="en-US" sz="1150" dirty="0">
                <a:solidFill>
                  <a:srgbClr val="F1F5F9"/>
                </a:solidFill>
                <a:latin typeface="Pretendard" pitchFamily="34" charset="0"/>
                <a:ea typeface="Pretendard" pitchFamily="34" charset="-122"/>
                <a:cs typeface="Pretendard" pitchFamily="34" charset="-120"/>
              </a:rPr>
              <a:t>지금은 읽기만 한다 — Drive · Jira에서 할 수 있는 동작을 늘린다</a:t>
            </a:r>
            <a:endParaRPr lang="en-US" sz="1150" dirty="0"/>
          </a:p>
        </p:txBody>
      </p:sp>
      <p:sp>
        <p:nvSpPr>
          <p:cNvPr id="25" name="Text 22"/>
          <p:cNvSpPr/>
          <p:nvPr/>
        </p:nvSpPr>
        <p:spPr>
          <a:xfrm>
            <a:off x="8869680" y="5111496"/>
            <a:ext cx="2761488" cy="768096"/>
          </a:xfrm>
          <a:prstGeom prst="rect">
            <a:avLst/>
          </a:prstGeom>
          <a:noFill/>
          <a:ln/>
        </p:spPr>
        <p:txBody>
          <a:bodyPr wrap="square" lIns="0" tIns="0" rIns="0" bIns="0" rtlCol="0" anchor="ctr"/>
          <a:lstStyle/>
          <a:p>
            <a:pPr marL="0" indent="0">
              <a:lnSpc>
                <a:spcPct val="120000"/>
              </a:lnSpc>
              <a:buNone/>
            </a:pPr>
            <a:r>
              <a:rPr lang="en-US" sz="1050" i="1" dirty="0">
                <a:solidFill>
                  <a:srgbClr val="9FADC2"/>
                </a:solidFill>
                <a:latin typeface="Pretendard" pitchFamily="34" charset="0"/>
                <a:ea typeface="Pretendard" pitchFamily="34" charset="-122"/>
                <a:cs typeface="Pretendard" pitchFamily="34" charset="-120"/>
              </a:rPr>
              <a:t>새 소스를 붙이는 것이 아니라 지금 커넥터를 깊게</a:t>
            </a:r>
            <a:endParaRPr lang="en-US" sz="1050" dirty="0"/>
          </a:p>
        </p:txBody>
      </p:sp>
      <p:sp>
        <p:nvSpPr>
          <p:cNvPr id="26" name="Shape 23"/>
          <p:cNvSpPr/>
          <p:nvPr/>
        </p:nvSpPr>
        <p:spPr>
          <a:xfrm>
            <a:off x="566928" y="6025896"/>
            <a:ext cx="11064240" cy="0"/>
          </a:xfrm>
          <a:prstGeom prst="line">
            <a:avLst/>
          </a:prstGeom>
          <a:noFill/>
          <a:ln w="12700">
            <a:solidFill>
              <a:srgbClr val="263049"/>
            </a:solidFill>
            <a:prstDash val="solid"/>
          </a:ln>
        </p:spPr>
        <p:txBody>
          <a:bodyPr/>
          <a:lstStyle/>
          <a:p>
            <a:endParaRPr lang="ko-KR"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bg_dk_div.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58368" y="1325880"/>
            <a:ext cx="5486400" cy="2103120"/>
          </a:xfrm>
          <a:prstGeom prst="rect">
            <a:avLst/>
          </a:prstGeom>
          <a:noFill/>
          <a:ln/>
        </p:spPr>
        <p:txBody>
          <a:bodyPr wrap="square" lIns="0" tIns="0" rIns="0" bIns="0" rtlCol="0" anchor="ctr"/>
          <a:lstStyle/>
          <a:p>
            <a:pPr marL="0" indent="0">
              <a:buNone/>
            </a:pPr>
            <a:r>
              <a:rPr lang="en-US" sz="13000" b="1" dirty="0">
                <a:solidFill>
                  <a:srgbClr val="133449"/>
                </a:solidFill>
                <a:latin typeface="Consolas" pitchFamily="34" charset="0"/>
                <a:ea typeface="Consolas" pitchFamily="34" charset="-122"/>
                <a:cs typeface="Consolas" pitchFamily="34" charset="-120"/>
              </a:rPr>
              <a:t>06</a:t>
            </a:r>
            <a:endParaRPr lang="en-US" sz="13000" dirty="0"/>
          </a:p>
        </p:txBody>
      </p:sp>
      <p:sp>
        <p:nvSpPr>
          <p:cNvPr id="4" name="Shape 1"/>
          <p:cNvSpPr/>
          <p:nvPr/>
        </p:nvSpPr>
        <p:spPr>
          <a:xfrm>
            <a:off x="777240" y="3611880"/>
            <a:ext cx="548640" cy="91440"/>
          </a:xfrm>
          <a:prstGeom prst="rect">
            <a:avLst/>
          </a:prstGeom>
          <a:solidFill>
            <a:srgbClr val="22D3EE"/>
          </a:solidFill>
          <a:ln/>
        </p:spPr>
        <p:txBody>
          <a:bodyPr/>
          <a:lstStyle/>
          <a:p>
            <a:endParaRPr lang="ko-KR" altLang="en-US"/>
          </a:p>
        </p:txBody>
      </p:sp>
      <p:sp>
        <p:nvSpPr>
          <p:cNvPr id="5" name="Text 2"/>
          <p:cNvSpPr/>
          <p:nvPr/>
        </p:nvSpPr>
        <p:spPr>
          <a:xfrm>
            <a:off x="749808" y="3840480"/>
            <a:ext cx="10515600" cy="777240"/>
          </a:xfrm>
          <a:prstGeom prst="rect">
            <a:avLst/>
          </a:prstGeom>
          <a:noFill/>
          <a:ln/>
        </p:spPr>
        <p:txBody>
          <a:bodyPr wrap="square" lIns="0" tIns="0" rIns="0" bIns="0" rtlCol="0" anchor="ctr"/>
          <a:lstStyle/>
          <a:p>
            <a:pPr marL="0" indent="0">
              <a:buNone/>
            </a:pPr>
            <a:r>
              <a:rPr lang="en-US" sz="3600" b="1" dirty="0">
                <a:solidFill>
                  <a:srgbClr val="F1F5F9"/>
                </a:solidFill>
                <a:latin typeface="Pretendard" pitchFamily="34" charset="0"/>
                <a:ea typeface="Pretendard" pitchFamily="34" charset="-122"/>
                <a:cs typeface="Pretendard" pitchFamily="34" charset="-120"/>
              </a:rPr>
              <a:t>중간 결과</a:t>
            </a:r>
            <a:endParaRPr lang="en-US" sz="3600" dirty="0"/>
          </a:p>
        </p:txBody>
      </p:sp>
      <p:sp>
        <p:nvSpPr>
          <p:cNvPr id="6" name="Text 3"/>
          <p:cNvSpPr/>
          <p:nvPr/>
        </p:nvSpPr>
        <p:spPr>
          <a:xfrm>
            <a:off x="777240" y="4709160"/>
            <a:ext cx="10515600" cy="365760"/>
          </a:xfrm>
          <a:prstGeom prst="rect">
            <a:avLst/>
          </a:prstGeom>
          <a:noFill/>
          <a:ln/>
        </p:spPr>
        <p:txBody>
          <a:bodyPr wrap="square" lIns="0" tIns="0" rIns="0" bIns="0" rtlCol="0" anchor="ctr"/>
          <a:lstStyle/>
          <a:p>
            <a:pPr marL="0" indent="0">
              <a:buNone/>
            </a:pPr>
            <a:r>
              <a:rPr lang="en-US" sz="1400" dirty="0">
                <a:solidFill>
                  <a:srgbClr val="BAC6D8"/>
                </a:solidFill>
                <a:latin typeface="Pretendard Light" pitchFamily="34" charset="0"/>
                <a:ea typeface="Pretendard Light" pitchFamily="34" charset="-122"/>
                <a:cs typeface="Pretendard Light" pitchFamily="34" charset="-120"/>
              </a:rPr>
              <a:t>선도기업 사업영역과의 연계성 · 자체 평가</a:t>
            </a:r>
            <a:endParaRPr lang="en-US" sz="1400" dirty="0"/>
          </a:p>
        </p:txBody>
      </p:sp>
      <p:sp>
        <p:nvSpPr>
          <p:cNvPr id="7" name="Text 4"/>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BEYOND</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선도기업 사업영역과의 연계성</a:t>
            </a:r>
            <a:endParaRPr lang="en-US" sz="2700" dirty="0"/>
          </a:p>
        </p:txBody>
      </p:sp>
      <p:sp>
        <p:nvSpPr>
          <p:cNvPr id="5" name="Text 2"/>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30</a:t>
            </a:r>
            <a:endParaRPr lang="en-US" sz="1050" dirty="0"/>
          </a:p>
        </p:txBody>
      </p:sp>
      <p:sp>
        <p:nvSpPr>
          <p:cNvPr id="6" name="Text 3"/>
          <p:cNvSpPr/>
          <p:nvPr/>
        </p:nvSpPr>
        <p:spPr>
          <a:xfrm>
            <a:off x="566928" y="1508760"/>
            <a:ext cx="11064240" cy="685800"/>
          </a:xfrm>
          <a:prstGeom prst="rect">
            <a:avLst/>
          </a:prstGeom>
          <a:solidFill>
            <a:srgbClr val="22D3EE"/>
          </a:solidFill>
          <a:ln/>
        </p:spPr>
        <p:txBody>
          <a:bodyPr wrap="square" lIns="0" tIns="0" rIns="0" bIns="0" rtlCol="0" anchor="ctr"/>
          <a:lstStyle/>
          <a:p>
            <a:pPr marL="0" indent="0" algn="ctr">
              <a:buNone/>
            </a:pPr>
            <a:r>
              <a:rPr lang="en-US" sz="1700" b="1" dirty="0">
                <a:solidFill>
                  <a:srgbClr val="0D1321"/>
                </a:solidFill>
                <a:latin typeface="Pretendard" pitchFamily="34" charset="0"/>
                <a:ea typeface="Pretendard" pitchFamily="34" charset="-122"/>
                <a:cs typeface="Pretendard" pitchFamily="34" charset="-120"/>
              </a:rPr>
              <a:t>프로젝트 문서가 있는 곳이면 사업이 달라도 같은 구조로 적용된다</a:t>
            </a:r>
            <a:endParaRPr lang="en-US" sz="1700" dirty="0"/>
          </a:p>
        </p:txBody>
      </p:sp>
      <p:sp>
        <p:nvSpPr>
          <p:cNvPr id="7" name="Shape 4"/>
          <p:cNvSpPr/>
          <p:nvPr/>
        </p:nvSpPr>
        <p:spPr>
          <a:xfrm>
            <a:off x="566928" y="2606040"/>
            <a:ext cx="2615184" cy="841248"/>
          </a:xfrm>
          <a:prstGeom prst="roundRect">
            <a:avLst>
              <a:gd name="adj" fmla="val 6522"/>
            </a:avLst>
          </a:prstGeom>
          <a:solidFill>
            <a:srgbClr val="161D2E"/>
          </a:solidFill>
          <a:ln w="12700">
            <a:solidFill>
              <a:srgbClr val="263049"/>
            </a:solidFill>
            <a:prstDash val="solid"/>
          </a:ln>
        </p:spPr>
        <p:txBody>
          <a:bodyPr/>
          <a:lstStyle/>
          <a:p>
            <a:endParaRPr lang="ko-KR" altLang="en-US"/>
          </a:p>
        </p:txBody>
      </p:sp>
      <p:sp>
        <p:nvSpPr>
          <p:cNvPr id="8" name="Text 5"/>
          <p:cNvSpPr/>
          <p:nvPr/>
        </p:nvSpPr>
        <p:spPr>
          <a:xfrm>
            <a:off x="630936" y="2606040"/>
            <a:ext cx="2487168" cy="841248"/>
          </a:xfrm>
          <a:prstGeom prst="rect">
            <a:avLst/>
          </a:prstGeom>
          <a:noFill/>
          <a:ln/>
        </p:spPr>
        <p:txBody>
          <a:bodyPr wrap="square" lIns="0" tIns="0" rIns="0" bIns="0" rtlCol="0" anchor="ctr"/>
          <a:lstStyle/>
          <a:p>
            <a:pPr marL="0" indent="0" algn="ctr">
              <a:buNone/>
            </a:pPr>
            <a:r>
              <a:rPr lang="en-US" sz="1200" b="1" dirty="0">
                <a:solidFill>
                  <a:srgbClr val="F1F5F9"/>
                </a:solidFill>
                <a:latin typeface="Pretendard" pitchFamily="34" charset="0"/>
                <a:ea typeface="Pretendard" pitchFamily="34" charset="-122"/>
                <a:cs typeface="Pretendard" pitchFamily="34" charset="-120"/>
              </a:rPr>
              <a:t>프로젝트 문서</a:t>
            </a:r>
            <a:endParaRPr lang="en-US" sz="1200" dirty="0"/>
          </a:p>
        </p:txBody>
      </p:sp>
      <p:sp>
        <p:nvSpPr>
          <p:cNvPr id="9" name="Shape 6"/>
          <p:cNvSpPr/>
          <p:nvPr/>
        </p:nvSpPr>
        <p:spPr>
          <a:xfrm>
            <a:off x="3200400" y="3026664"/>
            <a:ext cx="164592" cy="0"/>
          </a:xfrm>
          <a:prstGeom prst="line">
            <a:avLst/>
          </a:prstGeom>
          <a:noFill/>
          <a:ln w="19050">
            <a:solidFill>
              <a:srgbClr val="0E7490"/>
            </a:solidFill>
            <a:prstDash val="solid"/>
            <a:tailEnd type="triangle"/>
          </a:ln>
        </p:spPr>
        <p:txBody>
          <a:bodyPr/>
          <a:lstStyle/>
          <a:p>
            <a:endParaRPr lang="ko-KR" altLang="en-US"/>
          </a:p>
        </p:txBody>
      </p:sp>
      <p:sp>
        <p:nvSpPr>
          <p:cNvPr id="10" name="Shape 7"/>
          <p:cNvSpPr/>
          <p:nvPr/>
        </p:nvSpPr>
        <p:spPr>
          <a:xfrm>
            <a:off x="3383280" y="2606040"/>
            <a:ext cx="2615184" cy="841248"/>
          </a:xfrm>
          <a:prstGeom prst="roundRect">
            <a:avLst>
              <a:gd name="adj" fmla="val 6522"/>
            </a:avLst>
          </a:prstGeom>
          <a:solidFill>
            <a:srgbClr val="161D2E"/>
          </a:solidFill>
          <a:ln w="12700">
            <a:solidFill>
              <a:srgbClr val="263049"/>
            </a:solidFill>
            <a:prstDash val="solid"/>
          </a:ln>
        </p:spPr>
        <p:txBody>
          <a:bodyPr/>
          <a:lstStyle/>
          <a:p>
            <a:endParaRPr lang="ko-KR" altLang="en-US"/>
          </a:p>
        </p:txBody>
      </p:sp>
      <p:sp>
        <p:nvSpPr>
          <p:cNvPr id="11" name="Text 8"/>
          <p:cNvSpPr/>
          <p:nvPr/>
        </p:nvSpPr>
        <p:spPr>
          <a:xfrm>
            <a:off x="3447288" y="2606040"/>
            <a:ext cx="2487168" cy="841248"/>
          </a:xfrm>
          <a:prstGeom prst="rect">
            <a:avLst/>
          </a:prstGeom>
          <a:noFill/>
          <a:ln/>
        </p:spPr>
        <p:txBody>
          <a:bodyPr wrap="square" lIns="0" tIns="0" rIns="0" bIns="0" rtlCol="0" anchor="ctr"/>
          <a:lstStyle/>
          <a:p>
            <a:pPr marL="0" indent="0" algn="ctr">
              <a:buNone/>
            </a:pPr>
            <a:r>
              <a:rPr lang="en-US" sz="1200" b="1" dirty="0">
                <a:solidFill>
                  <a:srgbClr val="F1F5F9"/>
                </a:solidFill>
                <a:latin typeface="Pretendard" pitchFamily="34" charset="0"/>
                <a:ea typeface="Pretendard" pitchFamily="34" charset="-122"/>
                <a:cs typeface="Pretendard" pitchFamily="34" charset="-120"/>
              </a:rPr>
              <a:t>업무 · 역할 · 필요 역량 추출</a:t>
            </a:r>
            <a:endParaRPr lang="en-US" sz="1200" dirty="0"/>
          </a:p>
        </p:txBody>
      </p:sp>
      <p:sp>
        <p:nvSpPr>
          <p:cNvPr id="12" name="Shape 9"/>
          <p:cNvSpPr/>
          <p:nvPr/>
        </p:nvSpPr>
        <p:spPr>
          <a:xfrm>
            <a:off x="6016752" y="3026664"/>
            <a:ext cx="164592" cy="0"/>
          </a:xfrm>
          <a:prstGeom prst="line">
            <a:avLst/>
          </a:prstGeom>
          <a:noFill/>
          <a:ln w="19050">
            <a:solidFill>
              <a:srgbClr val="0E7490"/>
            </a:solidFill>
            <a:prstDash val="solid"/>
            <a:tailEnd type="triangle"/>
          </a:ln>
        </p:spPr>
        <p:txBody>
          <a:bodyPr/>
          <a:lstStyle/>
          <a:p>
            <a:endParaRPr lang="ko-KR" altLang="en-US"/>
          </a:p>
        </p:txBody>
      </p:sp>
      <p:sp>
        <p:nvSpPr>
          <p:cNvPr id="13" name="Shape 10"/>
          <p:cNvSpPr/>
          <p:nvPr/>
        </p:nvSpPr>
        <p:spPr>
          <a:xfrm>
            <a:off x="6199632" y="2606040"/>
            <a:ext cx="2615184" cy="841248"/>
          </a:xfrm>
          <a:prstGeom prst="roundRect">
            <a:avLst>
              <a:gd name="adj" fmla="val 6522"/>
            </a:avLst>
          </a:prstGeom>
          <a:solidFill>
            <a:srgbClr val="161D2E"/>
          </a:solidFill>
          <a:ln w="12700">
            <a:solidFill>
              <a:srgbClr val="263049"/>
            </a:solidFill>
            <a:prstDash val="solid"/>
          </a:ln>
        </p:spPr>
        <p:txBody>
          <a:bodyPr/>
          <a:lstStyle/>
          <a:p>
            <a:endParaRPr lang="ko-KR" altLang="en-US"/>
          </a:p>
        </p:txBody>
      </p:sp>
      <p:sp>
        <p:nvSpPr>
          <p:cNvPr id="14" name="Text 11"/>
          <p:cNvSpPr/>
          <p:nvPr/>
        </p:nvSpPr>
        <p:spPr>
          <a:xfrm>
            <a:off x="6263640" y="2606040"/>
            <a:ext cx="2487168" cy="841248"/>
          </a:xfrm>
          <a:prstGeom prst="rect">
            <a:avLst/>
          </a:prstGeom>
          <a:noFill/>
          <a:ln/>
        </p:spPr>
        <p:txBody>
          <a:bodyPr wrap="square" lIns="0" tIns="0" rIns="0" bIns="0" rtlCol="0" anchor="ctr"/>
          <a:lstStyle/>
          <a:p>
            <a:pPr marL="0" indent="0" algn="ctr">
              <a:buNone/>
            </a:pPr>
            <a:r>
              <a:rPr lang="en-US" sz="1200" b="1" dirty="0">
                <a:solidFill>
                  <a:srgbClr val="F1F5F9"/>
                </a:solidFill>
                <a:latin typeface="Pretendard" pitchFamily="34" charset="0"/>
                <a:ea typeface="Pretendard" pitchFamily="34" charset="-122"/>
                <a:cs typeface="Pretendard" pitchFamily="34" charset="-120"/>
              </a:rPr>
              <a:t>구성원 역량 · 업무량과 비교</a:t>
            </a:r>
            <a:endParaRPr lang="en-US" sz="1200" dirty="0"/>
          </a:p>
        </p:txBody>
      </p:sp>
      <p:sp>
        <p:nvSpPr>
          <p:cNvPr id="15" name="Shape 12"/>
          <p:cNvSpPr/>
          <p:nvPr/>
        </p:nvSpPr>
        <p:spPr>
          <a:xfrm>
            <a:off x="8833104" y="3026664"/>
            <a:ext cx="164592" cy="0"/>
          </a:xfrm>
          <a:prstGeom prst="line">
            <a:avLst/>
          </a:prstGeom>
          <a:noFill/>
          <a:ln w="19050">
            <a:solidFill>
              <a:srgbClr val="0E7490"/>
            </a:solidFill>
            <a:prstDash val="solid"/>
            <a:tailEnd type="triangle"/>
          </a:ln>
        </p:spPr>
        <p:txBody>
          <a:bodyPr/>
          <a:lstStyle/>
          <a:p>
            <a:endParaRPr lang="ko-KR" altLang="en-US"/>
          </a:p>
        </p:txBody>
      </p:sp>
      <p:sp>
        <p:nvSpPr>
          <p:cNvPr id="16" name="Shape 13"/>
          <p:cNvSpPr/>
          <p:nvPr/>
        </p:nvSpPr>
        <p:spPr>
          <a:xfrm>
            <a:off x="9015984" y="2606040"/>
            <a:ext cx="2615184" cy="841248"/>
          </a:xfrm>
          <a:prstGeom prst="roundRect">
            <a:avLst>
              <a:gd name="adj" fmla="val 6522"/>
            </a:avLst>
          </a:prstGeom>
          <a:solidFill>
            <a:srgbClr val="0F2A3A"/>
          </a:solidFill>
          <a:ln w="12700">
            <a:solidFill>
              <a:srgbClr val="155E75"/>
            </a:solidFill>
            <a:prstDash val="solid"/>
          </a:ln>
        </p:spPr>
        <p:txBody>
          <a:bodyPr/>
          <a:lstStyle/>
          <a:p>
            <a:endParaRPr lang="ko-KR" altLang="en-US"/>
          </a:p>
        </p:txBody>
      </p:sp>
      <p:sp>
        <p:nvSpPr>
          <p:cNvPr id="17" name="Text 14"/>
          <p:cNvSpPr/>
          <p:nvPr/>
        </p:nvSpPr>
        <p:spPr>
          <a:xfrm>
            <a:off x="9079992" y="2606040"/>
            <a:ext cx="2487168" cy="841248"/>
          </a:xfrm>
          <a:prstGeom prst="rect">
            <a:avLst/>
          </a:prstGeom>
          <a:noFill/>
          <a:ln/>
        </p:spPr>
        <p:txBody>
          <a:bodyPr wrap="square" lIns="0" tIns="0" rIns="0" bIns="0" rtlCol="0" anchor="ctr"/>
          <a:lstStyle/>
          <a:p>
            <a:pPr marL="0" indent="0" algn="ctr">
              <a:buNone/>
            </a:pPr>
            <a:r>
              <a:rPr lang="en-US" sz="1200" b="1" dirty="0">
                <a:solidFill>
                  <a:srgbClr val="67E8F9"/>
                </a:solidFill>
                <a:latin typeface="Pretendard" pitchFamily="34" charset="0"/>
                <a:ea typeface="Pretendard" pitchFamily="34" charset="-122"/>
                <a:cs typeface="Pretendard" pitchFamily="34" charset="-120"/>
              </a:rPr>
              <a:t>근거와 함께 후보 추천</a:t>
            </a:r>
            <a:endParaRPr lang="en-US" sz="1200" dirty="0"/>
          </a:p>
        </p:txBody>
      </p:sp>
      <p:sp>
        <p:nvSpPr>
          <p:cNvPr id="18" name="Shape 15"/>
          <p:cNvSpPr/>
          <p:nvPr/>
        </p:nvSpPr>
        <p:spPr>
          <a:xfrm>
            <a:off x="566928" y="3794760"/>
            <a:ext cx="5468112" cy="1600200"/>
          </a:xfrm>
          <a:prstGeom prst="roundRect">
            <a:avLst>
              <a:gd name="adj" fmla="val 4571"/>
            </a:avLst>
          </a:prstGeom>
          <a:solidFill>
            <a:srgbClr val="161D2E"/>
          </a:solidFill>
          <a:ln w="12700">
            <a:solidFill>
              <a:srgbClr val="263049"/>
            </a:solidFill>
            <a:prstDash val="solid"/>
          </a:ln>
        </p:spPr>
        <p:txBody>
          <a:bodyPr/>
          <a:lstStyle/>
          <a:p>
            <a:endParaRPr lang="ko-KR" altLang="en-US"/>
          </a:p>
        </p:txBody>
      </p:sp>
      <p:sp>
        <p:nvSpPr>
          <p:cNvPr id="19" name="Text 16"/>
          <p:cNvSpPr/>
          <p:nvPr/>
        </p:nvSpPr>
        <p:spPr>
          <a:xfrm>
            <a:off x="841248" y="3977640"/>
            <a:ext cx="4846320" cy="292608"/>
          </a:xfrm>
          <a:prstGeom prst="rect">
            <a:avLst/>
          </a:prstGeom>
          <a:noFill/>
          <a:ln/>
        </p:spPr>
        <p:txBody>
          <a:bodyPr wrap="square" lIns="0" tIns="0" rIns="0" bIns="0" rtlCol="0" anchor="ctr"/>
          <a:lstStyle/>
          <a:p>
            <a:pPr marL="0" indent="0">
              <a:buNone/>
            </a:pPr>
            <a:r>
              <a:rPr lang="en-US" sz="1250" b="1" dirty="0">
                <a:solidFill>
                  <a:srgbClr val="9FADC2"/>
                </a:solidFill>
                <a:latin typeface="Pretendard" pitchFamily="34" charset="0"/>
                <a:ea typeface="Pretendard" pitchFamily="34" charset="-122"/>
                <a:cs typeface="Pretendard" pitchFamily="34" charset="-120"/>
              </a:rPr>
              <a:t>사업마다 달라지는 것</a:t>
            </a:r>
            <a:endParaRPr lang="en-US" sz="1250" dirty="0"/>
          </a:p>
        </p:txBody>
      </p:sp>
      <p:sp>
        <p:nvSpPr>
          <p:cNvPr id="20" name="Text 17"/>
          <p:cNvSpPr/>
          <p:nvPr/>
        </p:nvSpPr>
        <p:spPr>
          <a:xfrm>
            <a:off x="841248" y="4361688"/>
            <a:ext cx="4937760" cy="868680"/>
          </a:xfrm>
          <a:prstGeom prst="rect">
            <a:avLst/>
          </a:prstGeom>
          <a:noFill/>
          <a:ln/>
        </p:spPr>
        <p:txBody>
          <a:bodyPr wrap="square" lIns="0" tIns="0" rIns="0" bIns="0" rtlCol="0" anchor="t"/>
          <a:lstStyle/>
          <a:p>
            <a:pPr marL="0" indent="0">
              <a:lnSpc>
                <a:spcPct val="135000"/>
              </a:lnSpc>
              <a:buNone/>
            </a:pPr>
            <a:r>
              <a:rPr lang="en-US" sz="1150" dirty="0">
                <a:solidFill>
                  <a:srgbClr val="BAC6D8"/>
                </a:solidFill>
                <a:latin typeface="Pretendard" pitchFamily="34" charset="0"/>
                <a:ea typeface="Pretendard" pitchFamily="34" charset="-122"/>
                <a:cs typeface="Pretendard" pitchFamily="34" charset="-120"/>
              </a:rPr>
              <a:t>들어오는 문서 — 투자검토 자료 · B2B 제안서 · 행사 기획서 · 캠페인 브리프</a:t>
            </a:r>
            <a:endParaRPr lang="en-US" sz="1150" dirty="0"/>
          </a:p>
          <a:p>
            <a:pPr marL="0" indent="0">
              <a:lnSpc>
                <a:spcPct val="135000"/>
              </a:lnSpc>
              <a:buNone/>
            </a:pPr>
            <a:r>
              <a:rPr lang="en-US" sz="1150" dirty="0">
                <a:solidFill>
                  <a:srgbClr val="BAC6D8"/>
                </a:solidFill>
                <a:latin typeface="Pretendard" pitchFamily="34" charset="0"/>
                <a:ea typeface="Pretendard" pitchFamily="34" charset="-122"/>
                <a:cs typeface="Pretendard" pitchFamily="34" charset="-120"/>
              </a:rPr>
              <a:t>필요한 역할 — 재무 · SCM · F&amp;B · R&amp;D · 미디어</a:t>
            </a:r>
            <a:endParaRPr lang="en-US" sz="1150" dirty="0"/>
          </a:p>
        </p:txBody>
      </p:sp>
      <p:sp>
        <p:nvSpPr>
          <p:cNvPr id="21" name="Shape 18"/>
          <p:cNvSpPr/>
          <p:nvPr/>
        </p:nvSpPr>
        <p:spPr>
          <a:xfrm>
            <a:off x="6163056" y="3794760"/>
            <a:ext cx="5468112" cy="1600200"/>
          </a:xfrm>
          <a:prstGeom prst="roundRect">
            <a:avLst>
              <a:gd name="adj" fmla="val 4571"/>
            </a:avLst>
          </a:prstGeom>
          <a:solidFill>
            <a:srgbClr val="161D2E"/>
          </a:solidFill>
          <a:ln w="12700">
            <a:solidFill>
              <a:srgbClr val="155E75"/>
            </a:solidFill>
            <a:prstDash val="solid"/>
          </a:ln>
        </p:spPr>
        <p:txBody>
          <a:bodyPr/>
          <a:lstStyle/>
          <a:p>
            <a:endParaRPr lang="ko-KR" altLang="en-US"/>
          </a:p>
        </p:txBody>
      </p:sp>
      <p:sp>
        <p:nvSpPr>
          <p:cNvPr id="22" name="Text 19"/>
          <p:cNvSpPr/>
          <p:nvPr/>
        </p:nvSpPr>
        <p:spPr>
          <a:xfrm>
            <a:off x="6437376" y="3977640"/>
            <a:ext cx="4846320" cy="292608"/>
          </a:xfrm>
          <a:prstGeom prst="rect">
            <a:avLst/>
          </a:prstGeom>
          <a:noFill/>
          <a:ln/>
        </p:spPr>
        <p:txBody>
          <a:bodyPr wrap="square" lIns="0" tIns="0" rIns="0" bIns="0" rtlCol="0" anchor="ctr"/>
          <a:lstStyle/>
          <a:p>
            <a:pPr marL="0" indent="0">
              <a:buNone/>
            </a:pPr>
            <a:r>
              <a:rPr lang="en-US" sz="1250" b="1" dirty="0">
                <a:solidFill>
                  <a:srgbClr val="67E8F9"/>
                </a:solidFill>
                <a:latin typeface="Pretendard" pitchFamily="34" charset="0"/>
                <a:ea typeface="Pretendard" pitchFamily="34" charset="-122"/>
                <a:cs typeface="Pretendard" pitchFamily="34" charset="-120"/>
              </a:rPr>
              <a:t>달라지지 않는 것</a:t>
            </a:r>
            <a:endParaRPr lang="en-US" sz="1250" dirty="0"/>
          </a:p>
        </p:txBody>
      </p:sp>
      <p:sp>
        <p:nvSpPr>
          <p:cNvPr id="23" name="Text 20"/>
          <p:cNvSpPr/>
          <p:nvPr/>
        </p:nvSpPr>
        <p:spPr>
          <a:xfrm>
            <a:off x="6437376" y="4361688"/>
            <a:ext cx="4937760" cy="868680"/>
          </a:xfrm>
          <a:prstGeom prst="rect">
            <a:avLst/>
          </a:prstGeom>
          <a:noFill/>
          <a:ln/>
        </p:spPr>
        <p:txBody>
          <a:bodyPr wrap="square" lIns="0" tIns="0" rIns="0" bIns="0" rtlCol="0" anchor="t"/>
          <a:lstStyle/>
          <a:p>
            <a:pPr marL="0" indent="0">
              <a:lnSpc>
                <a:spcPct val="135000"/>
              </a:lnSpc>
              <a:buNone/>
            </a:pPr>
            <a:r>
              <a:rPr lang="en-US" sz="1150" dirty="0">
                <a:solidFill>
                  <a:srgbClr val="F1F5F9"/>
                </a:solidFill>
                <a:latin typeface="Pretendard" pitchFamily="34" charset="0"/>
                <a:ea typeface="Pretendard" pitchFamily="34" charset="-122"/>
                <a:cs typeface="Pretendard" pitchFamily="34" charset="-120"/>
              </a:rPr>
              <a:t>문서에서 업무와 역할을 뽑는 방식, 원문 근거를 남기는 방식,</a:t>
            </a:r>
            <a:endParaRPr lang="en-US" sz="1150" dirty="0"/>
          </a:p>
          <a:p>
            <a:pPr marL="0" indent="0">
              <a:lnSpc>
                <a:spcPct val="135000"/>
              </a:lnSpc>
              <a:buNone/>
            </a:pPr>
            <a:r>
              <a:rPr lang="en-US" sz="1150" dirty="0">
                <a:solidFill>
                  <a:srgbClr val="F1F5F9"/>
                </a:solidFill>
                <a:latin typeface="Pretendard" pitchFamily="34" charset="0"/>
                <a:ea typeface="Pretendard" pitchFamily="34" charset="-122"/>
                <a:cs typeface="Pretendard" pitchFamily="34" charset="-120"/>
              </a:rPr>
              <a:t>사람의 역량 · 업무량과 대조해 후보를 내는 기준</a:t>
            </a:r>
            <a:endParaRPr lang="en-US" sz="1150" dirty="0"/>
          </a:p>
        </p:txBody>
      </p:sp>
      <p:sp>
        <p:nvSpPr>
          <p:cNvPr id="24" name="Text 21"/>
          <p:cNvSpPr/>
          <p:nvPr/>
        </p:nvSpPr>
        <p:spPr>
          <a:xfrm>
            <a:off x="566928" y="5623560"/>
            <a:ext cx="11064240" cy="320040"/>
          </a:xfrm>
          <a:prstGeom prst="rect">
            <a:avLst/>
          </a:prstGeom>
          <a:noFill/>
          <a:ln/>
        </p:spPr>
        <p:txBody>
          <a:bodyPr wrap="square" lIns="0" tIns="0" rIns="0" bIns="0" rtlCol="0" anchor="ctr"/>
          <a:lstStyle/>
          <a:p>
            <a:pPr marL="0" indent="0" algn="ctr">
              <a:buNone/>
            </a:pPr>
            <a:r>
              <a:rPr lang="en-US" sz="1200" dirty="0">
                <a:solidFill>
                  <a:srgbClr val="9FADC2"/>
                </a:solidFill>
                <a:latin typeface="Pretendard" pitchFamily="34" charset="0"/>
                <a:ea typeface="Pretendard" pitchFamily="34" charset="-122"/>
                <a:cs typeface="Pretendard" pitchFamily="34" charset="-120"/>
              </a:rPr>
              <a:t>적용에 필요한 것은 두 가지뿐 — 프로젝트 문서, 그리고 구성원의 업무량을 볼 수 있는 소스</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REVIEW</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자체 평가</a:t>
            </a:r>
            <a:endParaRPr lang="en-US" sz="2700" dirty="0"/>
          </a:p>
        </p:txBody>
      </p:sp>
      <p:sp>
        <p:nvSpPr>
          <p:cNvPr id="5" name="Text 2"/>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31</a:t>
            </a:r>
            <a:endParaRPr lang="en-US" sz="1050" dirty="0"/>
          </a:p>
        </p:txBody>
      </p:sp>
      <p:sp>
        <p:nvSpPr>
          <p:cNvPr id="6" name="Text 3"/>
          <p:cNvSpPr/>
          <p:nvPr/>
        </p:nvSpPr>
        <p:spPr>
          <a:xfrm>
            <a:off x="566928" y="1371600"/>
            <a:ext cx="11064240" cy="411480"/>
          </a:xfrm>
          <a:prstGeom prst="rect">
            <a:avLst/>
          </a:prstGeom>
          <a:noFill/>
          <a:ln/>
        </p:spPr>
        <p:txBody>
          <a:bodyPr wrap="square" lIns="0" tIns="0" rIns="0" bIns="0" rtlCol="0" anchor="ctr"/>
          <a:lstStyle/>
          <a:p>
            <a:pPr marL="0" indent="0">
              <a:buNone/>
            </a:pPr>
            <a:r>
              <a:rPr lang="en-US" sz="1350" dirty="0">
                <a:solidFill>
                  <a:srgbClr val="BAC6D8"/>
                </a:solidFill>
                <a:latin typeface="Pretendard Light" pitchFamily="34" charset="0"/>
                <a:ea typeface="Pretendard Light" pitchFamily="34" charset="-122"/>
                <a:cs typeface="Pretendard Light" pitchFamily="34" charset="-120"/>
              </a:rPr>
              <a:t>기획 단계 목표 대비  </a:t>
            </a:r>
            <a:r>
              <a:rPr lang="en-US" sz="1800" b="1" dirty="0">
                <a:solidFill>
                  <a:srgbClr val="22D3EE"/>
                </a:solidFill>
                <a:latin typeface="Consolas" pitchFamily="34" charset="0"/>
                <a:ea typeface="Consolas" pitchFamily="34" charset="-122"/>
                <a:cs typeface="Consolas" pitchFamily="34" charset="-120"/>
              </a:rPr>
              <a:t>7 / 10</a:t>
            </a:r>
            <a:r>
              <a:rPr lang="en-US" sz="1150" dirty="0">
                <a:solidFill>
                  <a:srgbClr val="9FADC2"/>
                </a:solidFill>
                <a:latin typeface="Pretendard" pitchFamily="34" charset="0"/>
                <a:ea typeface="Pretendard" pitchFamily="34" charset="-122"/>
                <a:cs typeface="Pretendard" pitchFamily="34" charset="-120"/>
              </a:rPr>
              <a:t>     만든 범위는 계획대로 왔지만, 만든 것이 실제로 더 나은지는 아직 숫자로 말하지 못한다</a:t>
            </a:r>
            <a:endParaRPr lang="en-US" sz="1350" dirty="0"/>
          </a:p>
        </p:txBody>
      </p:sp>
      <p:sp>
        <p:nvSpPr>
          <p:cNvPr id="7" name="Shape 4"/>
          <p:cNvSpPr/>
          <p:nvPr/>
        </p:nvSpPr>
        <p:spPr>
          <a:xfrm>
            <a:off x="566928" y="2011680"/>
            <a:ext cx="3538728" cy="3566160"/>
          </a:xfrm>
          <a:prstGeom prst="roundRect">
            <a:avLst>
              <a:gd name="adj" fmla="val 2067"/>
            </a:avLst>
          </a:prstGeom>
          <a:solidFill>
            <a:srgbClr val="161D2E"/>
          </a:solidFill>
          <a:ln w="12700">
            <a:solidFill>
              <a:srgbClr val="263049"/>
            </a:solidFill>
            <a:prstDash val="solid"/>
          </a:ln>
        </p:spPr>
        <p:txBody>
          <a:bodyPr/>
          <a:lstStyle/>
          <a:p>
            <a:endParaRPr lang="ko-KR" altLang="en-US"/>
          </a:p>
        </p:txBody>
      </p:sp>
      <p:sp>
        <p:nvSpPr>
          <p:cNvPr id="8" name="Text 5"/>
          <p:cNvSpPr/>
          <p:nvPr/>
        </p:nvSpPr>
        <p:spPr>
          <a:xfrm>
            <a:off x="841248" y="2267712"/>
            <a:ext cx="2990088" cy="365760"/>
          </a:xfrm>
          <a:prstGeom prst="rect">
            <a:avLst/>
          </a:prstGeom>
          <a:noFill/>
          <a:ln/>
        </p:spPr>
        <p:txBody>
          <a:bodyPr wrap="square" lIns="0" tIns="0" rIns="0" bIns="0" rtlCol="0" anchor="ctr"/>
          <a:lstStyle/>
          <a:p>
            <a:pPr marL="0" indent="0">
              <a:buNone/>
            </a:pPr>
            <a:r>
              <a:rPr lang="en-US" sz="1450" b="1" dirty="0">
                <a:solidFill>
                  <a:srgbClr val="67E8F9"/>
                </a:solidFill>
                <a:latin typeface="Pretendard" pitchFamily="34" charset="0"/>
                <a:ea typeface="Pretendard" pitchFamily="34" charset="-122"/>
                <a:cs typeface="Pretendard" pitchFamily="34" charset="-120"/>
              </a:rPr>
              <a:t>잘한 것</a:t>
            </a:r>
            <a:endParaRPr lang="en-US" sz="1450" dirty="0"/>
          </a:p>
        </p:txBody>
      </p:sp>
      <p:sp>
        <p:nvSpPr>
          <p:cNvPr id="9" name="Shape 6"/>
          <p:cNvSpPr/>
          <p:nvPr/>
        </p:nvSpPr>
        <p:spPr>
          <a:xfrm>
            <a:off x="841248" y="2724912"/>
            <a:ext cx="2990088" cy="0"/>
          </a:xfrm>
          <a:prstGeom prst="line">
            <a:avLst/>
          </a:prstGeom>
          <a:noFill/>
          <a:ln w="12700">
            <a:solidFill>
              <a:srgbClr val="263049"/>
            </a:solidFill>
            <a:prstDash val="solid"/>
          </a:ln>
        </p:spPr>
        <p:txBody>
          <a:bodyPr/>
          <a:lstStyle/>
          <a:p>
            <a:endParaRPr lang="ko-KR" altLang="en-US"/>
          </a:p>
        </p:txBody>
      </p:sp>
      <p:sp>
        <p:nvSpPr>
          <p:cNvPr id="10" name="Text 7"/>
          <p:cNvSpPr/>
          <p:nvPr/>
        </p:nvSpPr>
        <p:spPr>
          <a:xfrm>
            <a:off x="841248" y="2880360"/>
            <a:ext cx="2990088" cy="2560320"/>
          </a:xfrm>
          <a:prstGeom prst="rect">
            <a:avLst/>
          </a:prstGeom>
          <a:noFill/>
          <a:ln/>
        </p:spPr>
        <p:txBody>
          <a:bodyPr wrap="square" lIns="0" tIns="0" rIns="0" bIns="0" rtlCol="0" anchor="t"/>
          <a:lstStyle/>
          <a:p>
            <a:pPr marL="177800" indent="-177800">
              <a:lnSpc>
                <a:spcPct val="115000"/>
              </a:lnSpc>
              <a:spcAft>
                <a:spcPts val="1200"/>
              </a:spcAft>
              <a:buSzPct val="100000"/>
              <a:buChar char="–"/>
            </a:pPr>
            <a:r>
              <a:rPr lang="en-US" sz="1150" dirty="0">
                <a:solidFill>
                  <a:srgbClr val="BAC6D8"/>
                </a:solidFill>
                <a:latin typeface="Pretendard" pitchFamily="34" charset="0"/>
                <a:ea typeface="Pretendard" pitchFamily="34" charset="-122"/>
                <a:cs typeface="Pretendard" pitchFamily="34" charset="-120"/>
              </a:rPr>
              <a:t>문제 정의를 「업무 분배 근거 부족」으로 좁혔다</a:t>
            </a:r>
            <a:endParaRPr lang="en-US" sz="1150" dirty="0"/>
          </a:p>
          <a:p>
            <a:pPr marL="177800" indent="-177800">
              <a:lnSpc>
                <a:spcPct val="115000"/>
              </a:lnSpc>
              <a:spcAft>
                <a:spcPts val="1200"/>
              </a:spcAft>
              <a:buSzPct val="100000"/>
              <a:buChar char="–"/>
            </a:pPr>
            <a:r>
              <a:rPr lang="en-US" sz="1150" dirty="0">
                <a:solidFill>
                  <a:srgbClr val="BAC6D8"/>
                </a:solidFill>
                <a:latin typeface="Pretendard" pitchFamily="34" charset="0"/>
                <a:ea typeface="Pretendard" pitchFamily="34" charset="-122"/>
                <a:cs typeface="Pretendard" pitchFamily="34" charset="-120"/>
              </a:rPr>
              <a:t>문서 등록부터 업무 추출까지 실제 문서로 끊기지 않고 도는 흐름을 만들었다</a:t>
            </a:r>
            <a:endParaRPr lang="en-US" sz="1150" dirty="0"/>
          </a:p>
          <a:p>
            <a:pPr marL="177800" indent="-177800">
              <a:lnSpc>
                <a:spcPct val="115000"/>
              </a:lnSpc>
              <a:spcAft>
                <a:spcPts val="1200"/>
              </a:spcAft>
              <a:buSzPct val="100000"/>
              <a:buChar char="–"/>
            </a:pPr>
            <a:r>
              <a:rPr lang="en-US" sz="1150" dirty="0">
                <a:solidFill>
                  <a:srgbClr val="BAC6D8"/>
                </a:solidFill>
                <a:latin typeface="Pretendard" pitchFamily="34" charset="0"/>
                <a:ea typeface="Pretendard" pitchFamily="34" charset="-122"/>
                <a:cs typeface="Pretendard" pitchFamily="34" charset="-120"/>
              </a:rPr>
              <a:t>판정은 코드 · 해석은 LLM으로 경계를 나누고, 모르는 값은 가정하지 않았다</a:t>
            </a:r>
            <a:endParaRPr lang="en-US" sz="1150" dirty="0"/>
          </a:p>
          <a:p>
            <a:pPr marL="177800" indent="-177800">
              <a:lnSpc>
                <a:spcPct val="115000"/>
              </a:lnSpc>
              <a:spcAft>
                <a:spcPts val="1200"/>
              </a:spcAft>
              <a:buSzPct val="100000"/>
              <a:buChar char="–"/>
            </a:pPr>
            <a:r>
              <a:rPr lang="en-US" sz="1150" dirty="0">
                <a:solidFill>
                  <a:srgbClr val="BAC6D8"/>
                </a:solidFill>
                <a:latin typeface="Pretendard" pitchFamily="34" charset="0"/>
                <a:ea typeface="Pretendard" pitchFamily="34" charset="-122"/>
                <a:cs typeface="Pretendard" pitchFamily="34" charset="-120"/>
              </a:rPr>
              <a:t>실패한 시도를 날짜와 함께 남겨 되짚을 수 있게 했다</a:t>
            </a:r>
            <a:endParaRPr lang="en-US" sz="1150" dirty="0"/>
          </a:p>
        </p:txBody>
      </p:sp>
      <p:sp>
        <p:nvSpPr>
          <p:cNvPr id="11" name="Shape 8"/>
          <p:cNvSpPr/>
          <p:nvPr/>
        </p:nvSpPr>
        <p:spPr>
          <a:xfrm>
            <a:off x="4325112" y="2011680"/>
            <a:ext cx="3538728" cy="3566160"/>
          </a:xfrm>
          <a:prstGeom prst="roundRect">
            <a:avLst>
              <a:gd name="adj" fmla="val 2067"/>
            </a:avLst>
          </a:prstGeom>
          <a:solidFill>
            <a:srgbClr val="161D2E"/>
          </a:solidFill>
          <a:ln w="12700">
            <a:solidFill>
              <a:srgbClr val="263049"/>
            </a:solidFill>
            <a:prstDash val="solid"/>
          </a:ln>
        </p:spPr>
        <p:txBody>
          <a:bodyPr/>
          <a:lstStyle/>
          <a:p>
            <a:endParaRPr lang="ko-KR" altLang="en-US"/>
          </a:p>
        </p:txBody>
      </p:sp>
      <p:sp>
        <p:nvSpPr>
          <p:cNvPr id="12" name="Text 9"/>
          <p:cNvSpPr/>
          <p:nvPr/>
        </p:nvSpPr>
        <p:spPr>
          <a:xfrm>
            <a:off x="4599432" y="2267712"/>
            <a:ext cx="2990088" cy="365760"/>
          </a:xfrm>
          <a:prstGeom prst="rect">
            <a:avLst/>
          </a:prstGeom>
          <a:noFill/>
          <a:ln/>
        </p:spPr>
        <p:txBody>
          <a:bodyPr wrap="square" lIns="0" tIns="0" rIns="0" bIns="0" rtlCol="0" anchor="ctr"/>
          <a:lstStyle/>
          <a:p>
            <a:pPr marL="0" indent="0">
              <a:buNone/>
            </a:pPr>
            <a:r>
              <a:rPr lang="en-US" sz="1450" b="1" dirty="0">
                <a:solidFill>
                  <a:srgbClr val="FBBF24"/>
                </a:solidFill>
                <a:latin typeface="Pretendard" pitchFamily="34" charset="0"/>
                <a:ea typeface="Pretendard" pitchFamily="34" charset="-122"/>
                <a:cs typeface="Pretendard" pitchFamily="34" charset="-120"/>
              </a:rPr>
              <a:t>부족한 것</a:t>
            </a:r>
            <a:endParaRPr lang="en-US" sz="1450" dirty="0"/>
          </a:p>
        </p:txBody>
      </p:sp>
      <p:sp>
        <p:nvSpPr>
          <p:cNvPr id="13" name="Shape 10"/>
          <p:cNvSpPr/>
          <p:nvPr/>
        </p:nvSpPr>
        <p:spPr>
          <a:xfrm>
            <a:off x="4599432" y="2724912"/>
            <a:ext cx="2990088" cy="0"/>
          </a:xfrm>
          <a:prstGeom prst="line">
            <a:avLst/>
          </a:prstGeom>
          <a:noFill/>
          <a:ln w="12700">
            <a:solidFill>
              <a:srgbClr val="263049"/>
            </a:solidFill>
            <a:prstDash val="solid"/>
          </a:ln>
        </p:spPr>
        <p:txBody>
          <a:bodyPr/>
          <a:lstStyle/>
          <a:p>
            <a:endParaRPr lang="ko-KR" altLang="en-US"/>
          </a:p>
        </p:txBody>
      </p:sp>
      <p:sp>
        <p:nvSpPr>
          <p:cNvPr id="14" name="Text 11"/>
          <p:cNvSpPr/>
          <p:nvPr/>
        </p:nvSpPr>
        <p:spPr>
          <a:xfrm>
            <a:off x="4599432" y="2880360"/>
            <a:ext cx="2990088" cy="2560320"/>
          </a:xfrm>
          <a:prstGeom prst="rect">
            <a:avLst/>
          </a:prstGeom>
          <a:noFill/>
          <a:ln/>
        </p:spPr>
        <p:txBody>
          <a:bodyPr wrap="square" lIns="0" tIns="0" rIns="0" bIns="0" rtlCol="0" anchor="t"/>
          <a:lstStyle/>
          <a:p>
            <a:pPr marL="177800" indent="-177800">
              <a:lnSpc>
                <a:spcPct val="115000"/>
              </a:lnSpc>
              <a:spcAft>
                <a:spcPts val="1200"/>
              </a:spcAft>
              <a:buSzPct val="100000"/>
              <a:buChar char="–"/>
            </a:pPr>
            <a:r>
              <a:rPr lang="en-US" sz="1150" dirty="0">
                <a:solidFill>
                  <a:srgbClr val="BAC6D8"/>
                </a:solidFill>
                <a:latin typeface="Pretendard" pitchFamily="34" charset="0"/>
                <a:ea typeface="Pretendard" pitchFamily="34" charset="-122"/>
                <a:cs typeface="Pretendard" pitchFamily="34" charset="-120"/>
              </a:rPr>
              <a:t>청킹 개선이 검색 품질을 얼마나 올렸는지 아직 재지 못했다</a:t>
            </a:r>
            <a:endParaRPr lang="en-US" sz="1150" dirty="0"/>
          </a:p>
          <a:p>
            <a:pPr marL="177800" indent="-177800">
              <a:lnSpc>
                <a:spcPct val="115000"/>
              </a:lnSpc>
              <a:spcAft>
                <a:spcPts val="1200"/>
              </a:spcAft>
              <a:buSzPct val="100000"/>
              <a:buChar char="–"/>
            </a:pPr>
            <a:r>
              <a:rPr lang="en-US" sz="1150" dirty="0">
                <a:solidFill>
                  <a:srgbClr val="BAC6D8"/>
                </a:solidFill>
                <a:latin typeface="Pretendard" pitchFamily="34" charset="0"/>
                <a:ea typeface="Pretendard" pitchFamily="34" charset="-122"/>
                <a:cs typeface="Pretendard" pitchFamily="34" charset="-120"/>
              </a:rPr>
              <a:t>파싱 · 청킹 · 추출 구간에 자동 테스트가 없다</a:t>
            </a:r>
            <a:endParaRPr lang="en-US" sz="1150" dirty="0"/>
          </a:p>
          <a:p>
            <a:pPr marL="177800" indent="-177800">
              <a:lnSpc>
                <a:spcPct val="115000"/>
              </a:lnSpc>
              <a:spcAft>
                <a:spcPts val="1200"/>
              </a:spcAft>
              <a:buSzPct val="100000"/>
              <a:buChar char="–"/>
            </a:pPr>
            <a:r>
              <a:rPr lang="en-US" sz="1150" dirty="0">
                <a:solidFill>
                  <a:srgbClr val="BAC6D8"/>
                </a:solidFill>
                <a:latin typeface="Pretendard" pitchFamily="34" charset="0"/>
                <a:ea typeface="Pretendard" pitchFamily="34" charset="-122"/>
                <a:cs typeface="Pretendard" pitchFamily="34" charset="-120"/>
              </a:rPr>
              <a:t>검증을 대상 문서가 아니라 외부 기업 문서로 했다</a:t>
            </a:r>
            <a:endParaRPr lang="en-US" sz="1150" dirty="0"/>
          </a:p>
          <a:p>
            <a:pPr marL="177800" indent="-177800">
              <a:lnSpc>
                <a:spcPct val="115000"/>
              </a:lnSpc>
              <a:spcAft>
                <a:spcPts val="1200"/>
              </a:spcAft>
              <a:buSzPct val="100000"/>
              <a:buChar char="–"/>
            </a:pPr>
            <a:r>
              <a:rPr lang="en-US" sz="1150" dirty="0">
                <a:solidFill>
                  <a:srgbClr val="BAC6D8"/>
                </a:solidFill>
                <a:latin typeface="Pretendard" pitchFamily="34" charset="0"/>
                <a:ea typeface="Pretendard" pitchFamily="34" charset="-122"/>
                <a:cs typeface="Pretendard" pitchFamily="34" charset="-120"/>
              </a:rPr>
              <a:t>업무 분배 Agent와 PM 검토 화면은 아직 구현 전이다</a:t>
            </a:r>
            <a:endParaRPr lang="en-US" sz="1150" dirty="0"/>
          </a:p>
        </p:txBody>
      </p:sp>
      <p:sp>
        <p:nvSpPr>
          <p:cNvPr id="15" name="Shape 12"/>
          <p:cNvSpPr/>
          <p:nvPr/>
        </p:nvSpPr>
        <p:spPr>
          <a:xfrm>
            <a:off x="8083296" y="2011680"/>
            <a:ext cx="3538728" cy="3566160"/>
          </a:xfrm>
          <a:prstGeom prst="roundRect">
            <a:avLst>
              <a:gd name="adj" fmla="val 2067"/>
            </a:avLst>
          </a:prstGeom>
          <a:solidFill>
            <a:srgbClr val="161D2E"/>
          </a:solidFill>
          <a:ln w="12700">
            <a:solidFill>
              <a:srgbClr val="263049"/>
            </a:solidFill>
            <a:prstDash val="solid"/>
          </a:ln>
        </p:spPr>
        <p:txBody>
          <a:bodyPr/>
          <a:lstStyle/>
          <a:p>
            <a:endParaRPr lang="ko-KR" altLang="en-US"/>
          </a:p>
        </p:txBody>
      </p:sp>
      <p:sp>
        <p:nvSpPr>
          <p:cNvPr id="16" name="Text 13"/>
          <p:cNvSpPr/>
          <p:nvPr/>
        </p:nvSpPr>
        <p:spPr>
          <a:xfrm>
            <a:off x="8357616" y="2267712"/>
            <a:ext cx="2990088" cy="365760"/>
          </a:xfrm>
          <a:prstGeom prst="rect">
            <a:avLst/>
          </a:prstGeom>
          <a:noFill/>
          <a:ln/>
        </p:spPr>
        <p:txBody>
          <a:bodyPr wrap="square" lIns="0" tIns="0" rIns="0" bIns="0" rtlCol="0" anchor="ctr"/>
          <a:lstStyle/>
          <a:p>
            <a:pPr marL="0" indent="0">
              <a:buNone/>
            </a:pPr>
            <a:r>
              <a:rPr lang="en-US" sz="1450" b="1" dirty="0">
                <a:solidFill>
                  <a:srgbClr val="F1F5F9"/>
                </a:solidFill>
                <a:latin typeface="Pretendard" pitchFamily="34" charset="0"/>
                <a:ea typeface="Pretendard" pitchFamily="34" charset="-122"/>
                <a:cs typeface="Pretendard" pitchFamily="34" charset="-120"/>
              </a:rPr>
              <a:t>다음에 할 것</a:t>
            </a:r>
            <a:endParaRPr lang="en-US" sz="1450" dirty="0"/>
          </a:p>
        </p:txBody>
      </p:sp>
      <p:sp>
        <p:nvSpPr>
          <p:cNvPr id="17" name="Shape 14"/>
          <p:cNvSpPr/>
          <p:nvPr/>
        </p:nvSpPr>
        <p:spPr>
          <a:xfrm>
            <a:off x="8357616" y="2724912"/>
            <a:ext cx="2990088" cy="0"/>
          </a:xfrm>
          <a:prstGeom prst="line">
            <a:avLst/>
          </a:prstGeom>
          <a:noFill/>
          <a:ln w="12700">
            <a:solidFill>
              <a:srgbClr val="263049"/>
            </a:solidFill>
            <a:prstDash val="solid"/>
          </a:ln>
        </p:spPr>
        <p:txBody>
          <a:bodyPr/>
          <a:lstStyle/>
          <a:p>
            <a:endParaRPr lang="ko-KR" altLang="en-US"/>
          </a:p>
        </p:txBody>
      </p:sp>
      <p:sp>
        <p:nvSpPr>
          <p:cNvPr id="18" name="Text 15"/>
          <p:cNvSpPr/>
          <p:nvPr/>
        </p:nvSpPr>
        <p:spPr>
          <a:xfrm>
            <a:off x="8357616" y="2880360"/>
            <a:ext cx="2990088" cy="2560320"/>
          </a:xfrm>
          <a:prstGeom prst="rect">
            <a:avLst/>
          </a:prstGeom>
          <a:noFill/>
          <a:ln/>
        </p:spPr>
        <p:txBody>
          <a:bodyPr wrap="square" lIns="0" tIns="0" rIns="0" bIns="0" rtlCol="0" anchor="t"/>
          <a:lstStyle/>
          <a:p>
            <a:pPr marL="177800" indent="-177800">
              <a:lnSpc>
                <a:spcPct val="115000"/>
              </a:lnSpc>
              <a:spcAft>
                <a:spcPts val="1200"/>
              </a:spcAft>
              <a:buSzPct val="100000"/>
              <a:buChar char="–"/>
            </a:pPr>
            <a:r>
              <a:rPr lang="en-US" sz="1150" dirty="0">
                <a:solidFill>
                  <a:srgbClr val="BAC6D8"/>
                </a:solidFill>
                <a:latin typeface="Pretendard" pitchFamily="34" charset="0"/>
                <a:ea typeface="Pretendard" pitchFamily="34" charset="-122"/>
                <a:cs typeface="Pretendard" pitchFamily="34" charset="-120"/>
              </a:rPr>
              <a:t>대상 문서(제안요청서 · SRS) 샘플로 같은 절차를 돌려 기준선을 만든다</a:t>
            </a:r>
            <a:endParaRPr lang="en-US" sz="1150" dirty="0"/>
          </a:p>
          <a:p>
            <a:pPr marL="177800" indent="-177800">
              <a:lnSpc>
                <a:spcPct val="115000"/>
              </a:lnSpc>
              <a:spcAft>
                <a:spcPts val="1200"/>
              </a:spcAft>
              <a:buSzPct val="100000"/>
              <a:buChar char="–"/>
            </a:pPr>
            <a:r>
              <a:rPr lang="en-US" sz="1150" dirty="0">
                <a:solidFill>
                  <a:srgbClr val="BAC6D8"/>
                </a:solidFill>
                <a:latin typeface="Pretendard" pitchFamily="34" charset="0"/>
                <a:ea typeface="Pretendard" pitchFamily="34" charset="-122"/>
                <a:cs typeface="Pretendard" pitchFamily="34" charset="-120"/>
              </a:rPr>
              <a:t>정답 청크가 상위에 오는지 세는 검색 품질 지표를 도입한다</a:t>
            </a:r>
            <a:endParaRPr lang="en-US" sz="1150" dirty="0"/>
          </a:p>
          <a:p>
            <a:pPr marL="177800" indent="-177800">
              <a:lnSpc>
                <a:spcPct val="115000"/>
              </a:lnSpc>
              <a:spcAft>
                <a:spcPts val="1200"/>
              </a:spcAft>
              <a:buSzPct val="100000"/>
              <a:buChar char="–"/>
            </a:pPr>
            <a:r>
              <a:rPr lang="en-US" sz="1150" dirty="0">
                <a:solidFill>
                  <a:srgbClr val="BAC6D8"/>
                </a:solidFill>
                <a:latin typeface="Pretendard" pitchFamily="34" charset="0"/>
                <a:ea typeface="Pretendard" pitchFamily="34" charset="-122"/>
                <a:cs typeface="Pretendard" pitchFamily="34" charset="-120"/>
              </a:rPr>
              <a:t>파싱 · 청킹 회귀 테스트를 붙인다</a:t>
            </a:r>
            <a:endParaRPr lang="en-US" sz="1150" dirty="0"/>
          </a:p>
          <a:p>
            <a:pPr marL="177800" indent="-177800">
              <a:lnSpc>
                <a:spcPct val="115000"/>
              </a:lnSpc>
              <a:spcAft>
                <a:spcPts val="1200"/>
              </a:spcAft>
              <a:buSzPct val="100000"/>
              <a:buChar char="–"/>
            </a:pPr>
            <a:r>
              <a:rPr lang="en-US" sz="1150" dirty="0">
                <a:solidFill>
                  <a:srgbClr val="BAC6D8"/>
                </a:solidFill>
                <a:latin typeface="Pretendard" pitchFamily="34" charset="0"/>
                <a:ea typeface="Pretendard" pitchFamily="34" charset="-122"/>
                <a:cs typeface="Pretendard" pitchFamily="34" charset="-120"/>
              </a:rPr>
              <a:t>업무 분배 Agent와 PM 검토 화면을 구현한다</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bg_dk_cover.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04672" y="2148840"/>
            <a:ext cx="8229600" cy="310896"/>
          </a:xfrm>
          <a:prstGeom prst="rect">
            <a:avLst/>
          </a:prstGeom>
          <a:noFill/>
          <a:ln/>
        </p:spPr>
        <p:txBody>
          <a:bodyPr wrap="square" lIns="0" tIns="0" rIns="0" bIns="0" rtlCol="0" anchor="ctr"/>
          <a:lstStyle/>
          <a:p>
            <a:pPr marL="0" indent="0">
              <a:buNone/>
            </a:pPr>
            <a:r>
              <a:rPr lang="en-US" sz="1300" b="1" kern="0" spc="300" dirty="0">
                <a:solidFill>
                  <a:srgbClr val="22D3EE"/>
                </a:solidFill>
                <a:latin typeface="Consolas" pitchFamily="34" charset="0"/>
                <a:ea typeface="Consolas" pitchFamily="34" charset="-122"/>
                <a:cs typeface="Consolas" pitchFamily="34" charset="-120"/>
              </a:rPr>
              <a:t>Q &amp; A</a:t>
            </a:r>
            <a:endParaRPr lang="en-US" sz="1300" dirty="0"/>
          </a:p>
        </p:txBody>
      </p:sp>
      <p:sp>
        <p:nvSpPr>
          <p:cNvPr id="4" name="Text 1"/>
          <p:cNvSpPr/>
          <p:nvPr/>
        </p:nvSpPr>
        <p:spPr>
          <a:xfrm>
            <a:off x="749808" y="2606040"/>
            <a:ext cx="10515600" cy="1188720"/>
          </a:xfrm>
          <a:prstGeom prst="rect">
            <a:avLst/>
          </a:prstGeom>
          <a:noFill/>
          <a:ln/>
        </p:spPr>
        <p:txBody>
          <a:bodyPr wrap="square" lIns="0" tIns="0" rIns="0" bIns="0" rtlCol="0" anchor="ctr"/>
          <a:lstStyle/>
          <a:p>
            <a:pPr marL="0" indent="0">
              <a:buNone/>
            </a:pPr>
            <a:r>
              <a:rPr lang="en-US" sz="5200" b="1" dirty="0">
                <a:solidFill>
                  <a:srgbClr val="F1F5F9"/>
                </a:solidFill>
                <a:latin typeface="Pretendard" pitchFamily="34" charset="0"/>
                <a:ea typeface="Pretendard" pitchFamily="34" charset="-122"/>
                <a:cs typeface="Pretendard" pitchFamily="34" charset="-120"/>
              </a:rPr>
              <a:t>감사합니다</a:t>
            </a:r>
            <a:endParaRPr lang="en-US" sz="5200" dirty="0"/>
          </a:p>
        </p:txBody>
      </p:sp>
      <p:sp>
        <p:nvSpPr>
          <p:cNvPr id="5" name="Shape 2"/>
          <p:cNvSpPr/>
          <p:nvPr/>
        </p:nvSpPr>
        <p:spPr>
          <a:xfrm>
            <a:off x="804672" y="4069080"/>
            <a:ext cx="548640" cy="91440"/>
          </a:xfrm>
          <a:prstGeom prst="rect">
            <a:avLst/>
          </a:prstGeom>
          <a:solidFill>
            <a:srgbClr val="22D3EE"/>
          </a:solidFill>
          <a:ln/>
        </p:spPr>
        <p:txBody>
          <a:bodyPr/>
          <a:lstStyle/>
          <a:p>
            <a:endParaRPr lang="ko-KR" altLang="en-US"/>
          </a:p>
        </p:txBody>
      </p:sp>
      <p:sp>
        <p:nvSpPr>
          <p:cNvPr id="6" name="Text 3"/>
          <p:cNvSpPr/>
          <p:nvPr/>
        </p:nvSpPr>
        <p:spPr>
          <a:xfrm>
            <a:off x="804672" y="4343400"/>
            <a:ext cx="9144000" cy="310896"/>
          </a:xfrm>
          <a:prstGeom prst="rect">
            <a:avLst/>
          </a:prstGeom>
          <a:noFill/>
          <a:ln/>
        </p:spPr>
        <p:txBody>
          <a:bodyPr wrap="square" lIns="0" tIns="0" rIns="0" bIns="0" rtlCol="0" anchor="ctr"/>
          <a:lstStyle/>
          <a:p>
            <a:pPr marL="0" indent="0">
              <a:buNone/>
            </a:pPr>
            <a:r>
              <a:rPr lang="en-US" sz="1300" dirty="0">
                <a:solidFill>
                  <a:srgbClr val="BAC6D8"/>
                </a:solidFill>
                <a:latin typeface="Pretendard Light" pitchFamily="34" charset="0"/>
                <a:ea typeface="Pretendard Light" pitchFamily="34" charset="-122"/>
                <a:cs typeface="Pretendard Light" pitchFamily="34" charset="-120"/>
              </a:rPr>
              <a:t>HALIL — TEAM 2     ·     AI 프로젝트 운영 코파일럿</a:t>
            </a:r>
            <a:endParaRPr lang="en-US" sz="1300" dirty="0"/>
          </a:p>
        </p:txBody>
      </p:sp>
      <p:sp>
        <p:nvSpPr>
          <p:cNvPr id="7" name="Text 4"/>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bg_dk_div.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58368" y="1325880"/>
            <a:ext cx="5486400" cy="2103120"/>
          </a:xfrm>
          <a:prstGeom prst="rect">
            <a:avLst/>
          </a:prstGeom>
          <a:noFill/>
          <a:ln/>
        </p:spPr>
        <p:txBody>
          <a:bodyPr wrap="square" lIns="0" tIns="0" rIns="0" bIns="0" rtlCol="0" anchor="ctr"/>
          <a:lstStyle/>
          <a:p>
            <a:pPr marL="0" indent="0">
              <a:buNone/>
            </a:pPr>
            <a:r>
              <a:rPr lang="en-US" sz="13000" b="1" dirty="0">
                <a:solidFill>
                  <a:srgbClr val="133449"/>
                </a:solidFill>
                <a:latin typeface="Consolas" pitchFamily="34" charset="0"/>
                <a:ea typeface="Consolas" pitchFamily="34" charset="-122"/>
                <a:cs typeface="Consolas" pitchFamily="34" charset="-120"/>
              </a:rPr>
              <a:t>부록</a:t>
            </a:r>
            <a:endParaRPr lang="en-US" sz="13000" dirty="0"/>
          </a:p>
        </p:txBody>
      </p:sp>
      <p:sp>
        <p:nvSpPr>
          <p:cNvPr id="4" name="Shape 1"/>
          <p:cNvSpPr/>
          <p:nvPr/>
        </p:nvSpPr>
        <p:spPr>
          <a:xfrm>
            <a:off x="777240" y="3611880"/>
            <a:ext cx="548640" cy="91440"/>
          </a:xfrm>
          <a:prstGeom prst="rect">
            <a:avLst/>
          </a:prstGeom>
          <a:solidFill>
            <a:srgbClr val="22D3EE"/>
          </a:solidFill>
          <a:ln/>
        </p:spPr>
        <p:txBody>
          <a:bodyPr/>
          <a:lstStyle/>
          <a:p>
            <a:endParaRPr lang="ko-KR" altLang="en-US"/>
          </a:p>
        </p:txBody>
      </p:sp>
      <p:sp>
        <p:nvSpPr>
          <p:cNvPr id="5" name="Text 2"/>
          <p:cNvSpPr/>
          <p:nvPr/>
        </p:nvSpPr>
        <p:spPr>
          <a:xfrm>
            <a:off x="749808" y="3840480"/>
            <a:ext cx="10515600" cy="777240"/>
          </a:xfrm>
          <a:prstGeom prst="rect">
            <a:avLst/>
          </a:prstGeom>
          <a:noFill/>
          <a:ln/>
        </p:spPr>
        <p:txBody>
          <a:bodyPr wrap="square" lIns="0" tIns="0" rIns="0" bIns="0" rtlCol="0" anchor="ctr"/>
          <a:lstStyle/>
          <a:p>
            <a:pPr marL="0" indent="0">
              <a:buNone/>
            </a:pPr>
            <a:r>
              <a:rPr lang="en-US" sz="3600" b="1" dirty="0">
                <a:solidFill>
                  <a:srgbClr val="F1F5F9"/>
                </a:solidFill>
                <a:latin typeface="Pretendard" pitchFamily="34" charset="0"/>
                <a:ea typeface="Pretendard" pitchFamily="34" charset="-122"/>
                <a:cs typeface="Pretendard" pitchFamily="34" charset="-120"/>
              </a:rPr>
              <a:t>APPENDIX</a:t>
            </a:r>
            <a:endParaRPr lang="en-US" sz="3600" dirty="0"/>
          </a:p>
        </p:txBody>
      </p:sp>
      <p:sp>
        <p:nvSpPr>
          <p:cNvPr id="6" name="Text 3"/>
          <p:cNvSpPr/>
          <p:nvPr/>
        </p:nvSpPr>
        <p:spPr>
          <a:xfrm>
            <a:off x="777240" y="4709160"/>
            <a:ext cx="10515600" cy="365760"/>
          </a:xfrm>
          <a:prstGeom prst="rect">
            <a:avLst/>
          </a:prstGeom>
          <a:noFill/>
          <a:ln/>
        </p:spPr>
        <p:txBody>
          <a:bodyPr wrap="square" lIns="0" tIns="0" rIns="0" bIns="0" rtlCol="0" anchor="ctr"/>
          <a:lstStyle/>
          <a:p>
            <a:pPr marL="0" indent="0">
              <a:buNone/>
            </a:pPr>
            <a:r>
              <a:rPr lang="en-US" sz="1400" dirty="0">
                <a:solidFill>
                  <a:srgbClr val="BAC6D8"/>
                </a:solidFill>
                <a:latin typeface="Pretendard Light" pitchFamily="34" charset="0"/>
                <a:ea typeface="Pretendard Light" pitchFamily="34" charset="-122"/>
                <a:cs typeface="Pretendard Light" pitchFamily="34" charset="-120"/>
              </a:rPr>
              <a:t>①~⑤ 파싱 · 청킹 근거     ·     ⑥~⑩ 소유 구조 · 업무량 규칙 · 추출 판단 · 측정 계획 · 통계 원본</a:t>
            </a:r>
            <a:endParaRPr lang="en-US" sz="1400" dirty="0"/>
          </a:p>
        </p:txBody>
      </p:sp>
      <p:sp>
        <p:nvSpPr>
          <p:cNvPr id="7" name="Text 4"/>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APPENDIX ①</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왜 도클링을 사용하였는가</a:t>
            </a:r>
            <a:endParaRPr lang="en-US" sz="2700" dirty="0"/>
          </a:p>
        </p:txBody>
      </p:sp>
      <p:sp>
        <p:nvSpPr>
          <p:cNvPr id="5" name="Text 2"/>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34</a:t>
            </a:r>
            <a:endParaRPr lang="en-US" sz="10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64240" cy="3401568"/>
        </p:xfrm>
        <a:graphic>
          <a:graphicData uri="http://schemas.openxmlformats.org/drawingml/2006/table">
            <a:tbl>
              <a:tblPr/>
              <a:tblGrid>
                <a:gridCol w="33832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658368">
                <a:tc>
                  <a:txBody>
                    <a:bodyPr/>
                    <a:lstStyle/>
                    <a:p>
                      <a:pPr marL="0" indent="0">
                        <a:buNone/>
                      </a:pPr>
                      <a:r>
                        <a:rPr lang="en-US" sz="1100" b="1" dirty="0">
                          <a:solidFill>
                            <a:srgbClr val="67E8F9"/>
                          </a:solidFill>
                          <a:latin typeface="Pretendard" pitchFamily="34" charset="0"/>
                          <a:ea typeface="Pretendard" pitchFamily="34" charset="-122"/>
                          <a:cs typeface="Pretendard" pitchFamily="34" charset="-120"/>
                        </a:rPr>
                        <a:t>비교 기준</a:t>
                      </a:r>
                      <a:endParaRPr lang="en-US" sz="11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tc>
                  <a:txBody>
                    <a:bodyPr/>
                    <a:lstStyle/>
                    <a:p>
                      <a:pPr marL="0" indent="0" algn="ctr">
                        <a:buNone/>
                      </a:pPr>
                      <a:r>
                        <a:rPr lang="en-US" sz="1100" b="1" dirty="0">
                          <a:solidFill>
                            <a:srgbClr val="67E8F9"/>
                          </a:solidFill>
                          <a:latin typeface="Pretendard" pitchFamily="34" charset="0"/>
                          <a:ea typeface="Pretendard" pitchFamily="34" charset="-122"/>
                          <a:cs typeface="Pretendard" pitchFamily="34" charset="-120"/>
                        </a:rPr>
                        <a:t>입력 형식 범위</a:t>
                      </a:r>
                      <a:endParaRPr lang="en-US" sz="11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tc>
                  <a:txBody>
                    <a:bodyPr/>
                    <a:lstStyle/>
                    <a:p>
                      <a:pPr marL="0" indent="0" algn="ctr">
                        <a:buNone/>
                      </a:pPr>
                      <a:r>
                        <a:rPr lang="en-US" sz="1100" b="1" dirty="0">
                          <a:solidFill>
                            <a:srgbClr val="67E8F9"/>
                          </a:solidFill>
                          <a:latin typeface="Pretendard" pitchFamily="34" charset="0"/>
                          <a:ea typeface="Pretendard" pitchFamily="34" charset="-122"/>
                          <a:cs typeface="Pretendard" pitchFamily="34" charset="-120"/>
                        </a:rPr>
                        <a:t>문서 계층 · 요소</a:t>
                      </a:r>
                      <a:endParaRPr lang="en-US" sz="1100" dirty="0">
                        <a:latin typeface="Pretendard" charset="0"/>
                        <a:ea typeface="Pretendard" charset="0"/>
                        <a:cs typeface="Pretendard" charset="0"/>
                      </a:endParaRPr>
                    </a:p>
                    <a:p>
                      <a:pPr marL="0" indent="0" algn="ctr">
                        <a:buNone/>
                      </a:pPr>
                      <a:r>
                        <a:rPr lang="en-US" sz="1100" b="1" dirty="0">
                          <a:solidFill>
                            <a:srgbClr val="67E8F9"/>
                          </a:solidFill>
                          <a:latin typeface="Pretendard" pitchFamily="34" charset="0"/>
                          <a:ea typeface="Pretendard" pitchFamily="34" charset="-122"/>
                          <a:cs typeface="Pretendard" pitchFamily="34" charset="-120"/>
                        </a:rPr>
                        <a:t>관계 보존</a:t>
                      </a:r>
                      <a:endParaRPr lang="en-US" sz="11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tc>
                  <a:txBody>
                    <a:bodyPr/>
                    <a:lstStyle/>
                    <a:p>
                      <a:pPr marL="0" indent="0" algn="ctr">
                        <a:buNone/>
                      </a:pPr>
                      <a:r>
                        <a:rPr lang="en-US" sz="1100" b="1" dirty="0">
                          <a:solidFill>
                            <a:srgbClr val="67E8F9"/>
                          </a:solidFill>
                          <a:latin typeface="Pretendard" pitchFamily="34" charset="0"/>
                          <a:ea typeface="Pretendard" pitchFamily="34" charset="-122"/>
                          <a:cs typeface="Pretendard" pitchFamily="34" charset="-120"/>
                        </a:rPr>
                        <a:t>OCR · 레이아웃 · 표</a:t>
                      </a:r>
                      <a:endParaRPr lang="en-US" sz="1100" dirty="0">
                        <a:latin typeface="Pretendard" charset="0"/>
                        <a:ea typeface="Pretendard" charset="0"/>
                        <a:cs typeface="Pretendard" charset="0"/>
                      </a:endParaRPr>
                    </a:p>
                    <a:p>
                      <a:pPr marL="0" indent="0" algn="ctr">
                        <a:buNone/>
                      </a:pPr>
                      <a:r>
                        <a:rPr lang="en-US" sz="1100" b="1" dirty="0">
                          <a:solidFill>
                            <a:srgbClr val="67E8F9"/>
                          </a:solidFill>
                          <a:latin typeface="Pretendard" pitchFamily="34" charset="0"/>
                          <a:ea typeface="Pretendard" pitchFamily="34" charset="-122"/>
                          <a:cs typeface="Pretendard" pitchFamily="34" charset="-120"/>
                        </a:rPr>
                        <a:t>처리 단계 조정</a:t>
                      </a:r>
                      <a:endParaRPr lang="en-US" sz="11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tc>
                  <a:txBody>
                    <a:bodyPr/>
                    <a:lstStyle/>
                    <a:p>
                      <a:pPr marL="0" indent="0" algn="ctr">
                        <a:buNone/>
                      </a:pPr>
                      <a:r>
                        <a:rPr lang="en-US" sz="1100" b="1" dirty="0">
                          <a:solidFill>
                            <a:srgbClr val="67E8F9"/>
                          </a:solidFill>
                          <a:latin typeface="Pretendard" pitchFamily="34" charset="0"/>
                          <a:ea typeface="Pretendard" pitchFamily="34" charset="-122"/>
                          <a:cs typeface="Pretendard" pitchFamily="34" charset="-120"/>
                        </a:rPr>
                        <a:t>로컬 구동 여부</a:t>
                      </a:r>
                      <a:endParaRPr lang="en-US" sz="11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extLst>
                  <a:ext uri="{0D108BD9-81ED-4DB2-BD59-A6C34878D82A}">
                    <a16:rowId xmlns:a16="http://schemas.microsoft.com/office/drawing/2014/main" val="10000"/>
                  </a:ext>
                </a:extLst>
              </a:tr>
              <a:tr h="548640">
                <a:tc>
                  <a:txBody>
                    <a:bodyPr/>
                    <a:lstStyle/>
                    <a:p>
                      <a:pPr marL="0" indent="0">
                        <a:buNone/>
                      </a:pPr>
                      <a:r>
                        <a:rPr lang="en-US" sz="1150" b="1" dirty="0">
                          <a:solidFill>
                            <a:srgbClr val="F1F5F9"/>
                          </a:solidFill>
                          <a:latin typeface="Pretendard" pitchFamily="34" charset="0"/>
                          <a:ea typeface="Pretendard" pitchFamily="34" charset="-122"/>
                          <a:cs typeface="Pretendard" pitchFamily="34" charset="-120"/>
                        </a:rPr>
                        <a:t>Unstructured OSS</a:t>
                      </a:r>
                      <a:endParaRPr lang="en-US" sz="11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300" b="1" dirty="0">
                          <a:solidFill>
                            <a:srgbClr val="22D3EE"/>
                          </a:solidFill>
                          <a:latin typeface="Pretendard" pitchFamily="34" charset="0"/>
                          <a:ea typeface="Pretendard" pitchFamily="34" charset="-122"/>
                          <a:cs typeface="Pretendard" pitchFamily="34" charset="-120"/>
                        </a:rPr>
                        <a:t>◎</a:t>
                      </a:r>
                      <a:endParaRPr lang="en-US" sz="13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300" dirty="0">
                          <a:solidFill>
                            <a:srgbClr val="FBBF24"/>
                          </a:solidFill>
                          <a:latin typeface="Pretendard" pitchFamily="34" charset="0"/>
                          <a:ea typeface="Pretendard" pitchFamily="34" charset="-122"/>
                          <a:cs typeface="Pretendard" pitchFamily="34" charset="-120"/>
                        </a:rPr>
                        <a:t>△</a:t>
                      </a:r>
                      <a:endParaRPr lang="en-US" sz="13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300" b="1" dirty="0">
                          <a:solidFill>
                            <a:srgbClr val="22D3EE"/>
                          </a:solidFill>
                          <a:latin typeface="Pretendard" pitchFamily="34" charset="0"/>
                          <a:ea typeface="Pretendard" pitchFamily="34" charset="-122"/>
                          <a:cs typeface="Pretendard" pitchFamily="34" charset="-120"/>
                        </a:rPr>
                        <a:t>◎</a:t>
                      </a:r>
                      <a:endParaRPr lang="en-US" sz="13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300" b="1" dirty="0">
                          <a:solidFill>
                            <a:srgbClr val="22D3EE"/>
                          </a:solidFill>
                          <a:latin typeface="Pretendard" pitchFamily="34" charset="0"/>
                          <a:ea typeface="Pretendard" pitchFamily="34" charset="-122"/>
                          <a:cs typeface="Pretendard" pitchFamily="34" charset="-120"/>
                        </a:rPr>
                        <a:t>◎</a:t>
                      </a:r>
                      <a:endParaRPr lang="en-US" sz="13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1"/>
                  </a:ext>
                </a:extLst>
              </a:tr>
              <a:tr h="548640">
                <a:tc>
                  <a:txBody>
                    <a:bodyPr/>
                    <a:lstStyle/>
                    <a:p>
                      <a:pPr marL="0" indent="0">
                        <a:buNone/>
                      </a:pPr>
                      <a:r>
                        <a:rPr lang="en-US" sz="1150" b="1" dirty="0">
                          <a:solidFill>
                            <a:srgbClr val="F1F5F9"/>
                          </a:solidFill>
                          <a:latin typeface="Pretendard" pitchFamily="34" charset="0"/>
                          <a:ea typeface="Pretendard" pitchFamily="34" charset="-122"/>
                          <a:cs typeface="Pretendard" pitchFamily="34" charset="-120"/>
                        </a:rPr>
                        <a:t>Marker</a:t>
                      </a:r>
                      <a:endParaRPr lang="en-US" sz="11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300" b="1" dirty="0">
                          <a:solidFill>
                            <a:srgbClr val="22D3EE"/>
                          </a:solidFill>
                          <a:latin typeface="Pretendard" pitchFamily="34" charset="0"/>
                          <a:ea typeface="Pretendard" pitchFamily="34" charset="-122"/>
                          <a:cs typeface="Pretendard" pitchFamily="34" charset="-120"/>
                        </a:rPr>
                        <a:t>◎</a:t>
                      </a:r>
                      <a:endParaRPr lang="en-US" sz="13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300" b="1" dirty="0">
                          <a:solidFill>
                            <a:srgbClr val="22D3EE"/>
                          </a:solidFill>
                          <a:latin typeface="Pretendard" pitchFamily="34" charset="0"/>
                          <a:ea typeface="Pretendard" pitchFamily="34" charset="-122"/>
                          <a:cs typeface="Pretendard" pitchFamily="34" charset="-120"/>
                        </a:rPr>
                        <a:t>◎</a:t>
                      </a:r>
                      <a:endParaRPr lang="en-US" sz="13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300" b="1" dirty="0">
                          <a:solidFill>
                            <a:srgbClr val="22D3EE"/>
                          </a:solidFill>
                          <a:latin typeface="Pretendard" pitchFamily="34" charset="0"/>
                          <a:ea typeface="Pretendard" pitchFamily="34" charset="-122"/>
                          <a:cs typeface="Pretendard" pitchFamily="34" charset="-120"/>
                        </a:rPr>
                        <a:t>◎</a:t>
                      </a:r>
                      <a:endParaRPr lang="en-US" sz="13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300" b="1" dirty="0">
                          <a:solidFill>
                            <a:srgbClr val="22D3EE"/>
                          </a:solidFill>
                          <a:latin typeface="Pretendard" pitchFamily="34" charset="0"/>
                          <a:ea typeface="Pretendard" pitchFamily="34" charset="-122"/>
                          <a:cs typeface="Pretendard" pitchFamily="34" charset="-120"/>
                        </a:rPr>
                        <a:t>◎</a:t>
                      </a:r>
                      <a:endParaRPr lang="en-US" sz="13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2"/>
                  </a:ext>
                </a:extLst>
              </a:tr>
              <a:tr h="548640">
                <a:tc>
                  <a:txBody>
                    <a:bodyPr/>
                    <a:lstStyle/>
                    <a:p>
                      <a:pPr marL="0" indent="0">
                        <a:buNone/>
                      </a:pPr>
                      <a:r>
                        <a:rPr lang="en-US" sz="1150" b="1" dirty="0">
                          <a:solidFill>
                            <a:srgbClr val="F1F5F9"/>
                          </a:solidFill>
                          <a:latin typeface="Pretendard" pitchFamily="34" charset="0"/>
                          <a:ea typeface="Pretendard" pitchFamily="34" charset="-122"/>
                          <a:cs typeface="Pretendard" pitchFamily="34" charset="-120"/>
                        </a:rPr>
                        <a:t>MinerU</a:t>
                      </a:r>
                      <a:endParaRPr lang="en-US" sz="11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300" b="1" dirty="0">
                          <a:solidFill>
                            <a:srgbClr val="22D3EE"/>
                          </a:solidFill>
                          <a:latin typeface="Pretendard" pitchFamily="34" charset="0"/>
                          <a:ea typeface="Pretendard" pitchFamily="34" charset="-122"/>
                          <a:cs typeface="Pretendard" pitchFamily="34" charset="-120"/>
                        </a:rPr>
                        <a:t>◎</a:t>
                      </a:r>
                      <a:endParaRPr lang="en-US" sz="13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300" b="1" dirty="0">
                          <a:solidFill>
                            <a:srgbClr val="22D3EE"/>
                          </a:solidFill>
                          <a:latin typeface="Pretendard" pitchFamily="34" charset="0"/>
                          <a:ea typeface="Pretendard" pitchFamily="34" charset="-122"/>
                          <a:cs typeface="Pretendard" pitchFamily="34" charset="-120"/>
                        </a:rPr>
                        <a:t>◎</a:t>
                      </a:r>
                      <a:endParaRPr lang="en-US" sz="13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300" dirty="0">
                          <a:solidFill>
                            <a:srgbClr val="FBBF24"/>
                          </a:solidFill>
                          <a:latin typeface="Pretendard" pitchFamily="34" charset="0"/>
                          <a:ea typeface="Pretendard" pitchFamily="34" charset="-122"/>
                          <a:cs typeface="Pretendard" pitchFamily="34" charset="-120"/>
                        </a:rPr>
                        <a:t>△</a:t>
                      </a:r>
                      <a:endParaRPr lang="en-US" sz="13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300" b="1" dirty="0">
                          <a:solidFill>
                            <a:srgbClr val="22D3EE"/>
                          </a:solidFill>
                          <a:latin typeface="Pretendard" pitchFamily="34" charset="0"/>
                          <a:ea typeface="Pretendard" pitchFamily="34" charset="-122"/>
                          <a:cs typeface="Pretendard" pitchFamily="34" charset="-120"/>
                        </a:rPr>
                        <a:t>◎</a:t>
                      </a:r>
                      <a:endParaRPr lang="en-US" sz="13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3"/>
                  </a:ext>
                </a:extLst>
              </a:tr>
              <a:tr h="548640">
                <a:tc>
                  <a:txBody>
                    <a:bodyPr/>
                    <a:lstStyle/>
                    <a:p>
                      <a:pPr marL="0" indent="0">
                        <a:buNone/>
                      </a:pPr>
                      <a:r>
                        <a:rPr lang="en-US" sz="1150" b="1" dirty="0">
                          <a:solidFill>
                            <a:srgbClr val="F1F5F9"/>
                          </a:solidFill>
                          <a:latin typeface="Pretendard" pitchFamily="34" charset="0"/>
                          <a:ea typeface="Pretendard" pitchFamily="34" charset="-122"/>
                          <a:cs typeface="Pretendard" pitchFamily="34" charset="-120"/>
                        </a:rPr>
                        <a:t>Azure Document Intelligence</a:t>
                      </a:r>
                      <a:endParaRPr lang="en-US" sz="11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300" b="1" dirty="0">
                          <a:solidFill>
                            <a:srgbClr val="22D3EE"/>
                          </a:solidFill>
                          <a:latin typeface="Pretendard" pitchFamily="34" charset="0"/>
                          <a:ea typeface="Pretendard" pitchFamily="34" charset="-122"/>
                          <a:cs typeface="Pretendard" pitchFamily="34" charset="-120"/>
                        </a:rPr>
                        <a:t>◎</a:t>
                      </a:r>
                      <a:endParaRPr lang="en-US" sz="13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300" dirty="0">
                          <a:solidFill>
                            <a:srgbClr val="9FADC2"/>
                          </a:solidFill>
                          <a:latin typeface="Pretendard Light" pitchFamily="34" charset="0"/>
                          <a:ea typeface="Pretendard Light" pitchFamily="34" charset="-122"/>
                          <a:cs typeface="Pretendard Light" pitchFamily="34" charset="-120"/>
                        </a:rPr>
                        <a:t>—</a:t>
                      </a:r>
                      <a:endParaRPr lang="en-US" sz="13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300" b="1" dirty="0">
                          <a:solidFill>
                            <a:srgbClr val="22D3EE"/>
                          </a:solidFill>
                          <a:latin typeface="Pretendard" pitchFamily="34" charset="0"/>
                          <a:ea typeface="Pretendard" pitchFamily="34" charset="-122"/>
                          <a:cs typeface="Pretendard" pitchFamily="34" charset="-120"/>
                        </a:rPr>
                        <a:t>◎</a:t>
                      </a:r>
                      <a:endParaRPr lang="en-US" sz="13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300" dirty="0">
                          <a:solidFill>
                            <a:srgbClr val="FBBF24"/>
                          </a:solidFill>
                          <a:latin typeface="Pretendard" pitchFamily="34" charset="0"/>
                          <a:ea typeface="Pretendard" pitchFamily="34" charset="-122"/>
                          <a:cs typeface="Pretendard" pitchFamily="34" charset="-120"/>
                        </a:rPr>
                        <a:t>△</a:t>
                      </a:r>
                      <a:endParaRPr lang="en-US" sz="13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4"/>
                  </a:ext>
                </a:extLst>
              </a:tr>
              <a:tr h="548640">
                <a:tc>
                  <a:txBody>
                    <a:bodyPr/>
                    <a:lstStyle/>
                    <a:p>
                      <a:pPr marL="0" indent="0">
                        <a:buNone/>
                      </a:pPr>
                      <a:r>
                        <a:rPr lang="en-US" sz="1150" b="1" dirty="0">
                          <a:solidFill>
                            <a:srgbClr val="22D3EE"/>
                          </a:solidFill>
                          <a:latin typeface="Pretendard" pitchFamily="34" charset="0"/>
                          <a:ea typeface="Pretendard" pitchFamily="34" charset="-122"/>
                          <a:cs typeface="Pretendard" pitchFamily="34" charset="-120"/>
                        </a:rPr>
                        <a:t>Docling</a:t>
                      </a:r>
                      <a:endParaRPr lang="en-US" sz="11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0F2A3A"/>
                    </a:solidFill>
                  </a:tcPr>
                </a:tc>
                <a:tc>
                  <a:txBody>
                    <a:bodyPr/>
                    <a:lstStyle/>
                    <a:p>
                      <a:pPr marL="0" indent="0" algn="ctr">
                        <a:buNone/>
                      </a:pPr>
                      <a:r>
                        <a:rPr lang="en-US" sz="1300" b="1" dirty="0">
                          <a:solidFill>
                            <a:srgbClr val="22D3EE"/>
                          </a:solidFill>
                          <a:latin typeface="Pretendard" pitchFamily="34" charset="0"/>
                          <a:ea typeface="Pretendard" pitchFamily="34" charset="-122"/>
                          <a:cs typeface="Pretendard" pitchFamily="34" charset="-120"/>
                        </a:rPr>
                        <a:t>◎</a:t>
                      </a:r>
                      <a:endParaRPr lang="en-US" sz="13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0F2A3A"/>
                    </a:solidFill>
                  </a:tcPr>
                </a:tc>
                <a:tc>
                  <a:txBody>
                    <a:bodyPr/>
                    <a:lstStyle/>
                    <a:p>
                      <a:pPr marL="0" indent="0" algn="ctr">
                        <a:buNone/>
                      </a:pPr>
                      <a:r>
                        <a:rPr lang="en-US" sz="1300" b="1" dirty="0">
                          <a:solidFill>
                            <a:srgbClr val="22D3EE"/>
                          </a:solidFill>
                          <a:latin typeface="Pretendard" pitchFamily="34" charset="0"/>
                          <a:ea typeface="Pretendard" pitchFamily="34" charset="-122"/>
                          <a:cs typeface="Pretendard" pitchFamily="34" charset="-120"/>
                        </a:rPr>
                        <a:t>◎</a:t>
                      </a:r>
                      <a:endParaRPr lang="en-US" sz="13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0F2A3A"/>
                    </a:solidFill>
                  </a:tcPr>
                </a:tc>
                <a:tc>
                  <a:txBody>
                    <a:bodyPr/>
                    <a:lstStyle/>
                    <a:p>
                      <a:pPr marL="0" indent="0" algn="ctr">
                        <a:buNone/>
                      </a:pPr>
                      <a:r>
                        <a:rPr lang="en-US" sz="1300" b="1" dirty="0">
                          <a:solidFill>
                            <a:srgbClr val="22D3EE"/>
                          </a:solidFill>
                          <a:latin typeface="Pretendard" pitchFamily="34" charset="0"/>
                          <a:ea typeface="Pretendard" pitchFamily="34" charset="-122"/>
                          <a:cs typeface="Pretendard" pitchFamily="34" charset="-120"/>
                        </a:rPr>
                        <a:t>◎</a:t>
                      </a:r>
                      <a:endParaRPr lang="en-US" sz="13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0F2A3A"/>
                    </a:solidFill>
                  </a:tcPr>
                </a:tc>
                <a:tc>
                  <a:txBody>
                    <a:bodyPr/>
                    <a:lstStyle/>
                    <a:p>
                      <a:pPr marL="0" indent="0" algn="ctr">
                        <a:buNone/>
                      </a:pPr>
                      <a:r>
                        <a:rPr lang="en-US" sz="1300" b="1" dirty="0">
                          <a:solidFill>
                            <a:srgbClr val="22D3EE"/>
                          </a:solidFill>
                          <a:latin typeface="Pretendard" pitchFamily="34" charset="0"/>
                          <a:ea typeface="Pretendard" pitchFamily="34" charset="-122"/>
                          <a:cs typeface="Pretendard" pitchFamily="34" charset="-120"/>
                        </a:rPr>
                        <a:t>◎</a:t>
                      </a:r>
                      <a:endParaRPr lang="en-US" sz="13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0F2A3A"/>
                    </a:solidFill>
                  </a:tcPr>
                </a:tc>
                <a:extLst>
                  <a:ext uri="{0D108BD9-81ED-4DB2-BD59-A6C34878D82A}">
                    <a16:rowId xmlns:a16="http://schemas.microsoft.com/office/drawing/2014/main" val="10005"/>
                  </a:ext>
                </a:extLst>
              </a:tr>
            </a:tbl>
          </a:graphicData>
        </a:graphic>
      </p:graphicFrame>
      <p:sp>
        <p:nvSpPr>
          <p:cNvPr id="7" name="Text 3"/>
          <p:cNvSpPr/>
          <p:nvPr/>
        </p:nvSpPr>
        <p:spPr>
          <a:xfrm>
            <a:off x="566928" y="5102352"/>
            <a:ext cx="11064240" cy="292608"/>
          </a:xfrm>
          <a:prstGeom prst="rect">
            <a:avLst/>
          </a:prstGeom>
          <a:noFill/>
          <a:ln/>
        </p:spPr>
        <p:txBody>
          <a:bodyPr wrap="square" lIns="0" tIns="0" rIns="0" bIns="0" rtlCol="0" anchor="ctr"/>
          <a:lstStyle/>
          <a:p>
            <a:pPr marL="0" indent="0">
              <a:buNone/>
            </a:pPr>
            <a:r>
              <a:rPr lang="en-US" sz="1150" b="1" dirty="0">
                <a:solidFill>
                  <a:srgbClr val="22D3EE"/>
                </a:solidFill>
                <a:latin typeface="Pretendard" pitchFamily="34" charset="0"/>
                <a:ea typeface="Pretendard" pitchFamily="34" charset="-122"/>
                <a:cs typeface="Pretendard" pitchFamily="34" charset="-120"/>
              </a:rPr>
              <a:t>◎ </a:t>
            </a:r>
            <a:r>
              <a:rPr lang="en-US" sz="1150" dirty="0">
                <a:solidFill>
                  <a:srgbClr val="BAC6D8"/>
                </a:solidFill>
                <a:latin typeface="Pretendard" pitchFamily="34" charset="0"/>
                <a:ea typeface="Pretendard" pitchFamily="34" charset="-122"/>
                <a:cs typeface="Pretendard" pitchFamily="34" charset="-120"/>
              </a:rPr>
              <a:t>충족      </a:t>
            </a:r>
            <a:r>
              <a:rPr lang="en-US" sz="1150" b="1" dirty="0">
                <a:solidFill>
                  <a:srgbClr val="FBBF24"/>
                </a:solidFill>
                <a:latin typeface="Pretendard" pitchFamily="34" charset="0"/>
                <a:ea typeface="Pretendard" pitchFamily="34" charset="-122"/>
                <a:cs typeface="Pretendard" pitchFamily="34" charset="-120"/>
              </a:rPr>
              <a:t>△ </a:t>
            </a:r>
            <a:r>
              <a:rPr lang="en-US" sz="1150" dirty="0">
                <a:solidFill>
                  <a:srgbClr val="BAC6D8"/>
                </a:solidFill>
                <a:latin typeface="Pretendard" pitchFamily="34" charset="0"/>
                <a:ea typeface="Pretendard" pitchFamily="34" charset="-122"/>
                <a:cs typeface="Pretendard" pitchFamily="34" charset="-120"/>
              </a:rPr>
              <a:t>제한적      </a:t>
            </a:r>
            <a:r>
              <a:rPr lang="en-US" sz="1150" b="1" dirty="0">
                <a:solidFill>
                  <a:srgbClr val="9FADC2"/>
                </a:solidFill>
                <a:latin typeface="Pretendard" pitchFamily="34" charset="0"/>
                <a:ea typeface="Pretendard" pitchFamily="34" charset="-122"/>
                <a:cs typeface="Pretendard" pitchFamily="34" charset="-120"/>
              </a:rPr>
              <a:t>— </a:t>
            </a:r>
            <a:r>
              <a:rPr lang="en-US" sz="1150" dirty="0">
                <a:solidFill>
                  <a:srgbClr val="BAC6D8"/>
                </a:solidFill>
                <a:latin typeface="Pretendard" pitchFamily="34" charset="0"/>
                <a:ea typeface="Pretendard" pitchFamily="34" charset="-122"/>
                <a:cs typeface="Pretendard" pitchFamily="34" charset="-120"/>
              </a:rPr>
              <a:t>해당 없음</a:t>
            </a:r>
            <a:endParaRPr lang="en-US" sz="1150" dirty="0"/>
          </a:p>
        </p:txBody>
      </p:sp>
      <p:sp>
        <p:nvSpPr>
          <p:cNvPr id="8" name="Text 4"/>
          <p:cNvSpPr/>
          <p:nvPr/>
        </p:nvSpPr>
        <p:spPr>
          <a:xfrm>
            <a:off x="566928" y="5532120"/>
            <a:ext cx="11064240" cy="658368"/>
          </a:xfrm>
          <a:prstGeom prst="rect">
            <a:avLst/>
          </a:prstGeom>
          <a:solidFill>
            <a:srgbClr val="22D3EE"/>
          </a:solidFill>
          <a:ln/>
        </p:spPr>
        <p:txBody>
          <a:bodyPr wrap="square" lIns="0" tIns="0" rIns="0" bIns="0" rtlCol="0" anchor="ctr"/>
          <a:lstStyle/>
          <a:p>
            <a:pPr marL="0" indent="0" algn="ctr">
              <a:buNone/>
            </a:pPr>
            <a:r>
              <a:rPr lang="en-US" sz="1350" b="1" dirty="0">
                <a:solidFill>
                  <a:srgbClr val="0D1321"/>
                </a:solidFill>
                <a:latin typeface="Pretendard" pitchFamily="34" charset="0"/>
                <a:ea typeface="Pretendard" pitchFamily="34" charset="-122"/>
                <a:cs typeface="Pretendard" pitchFamily="34" charset="-120"/>
              </a:rPr>
              <a:t>네 기준을 모두 충족하는 후보 중, 단계별 산출물을 이미지로 꺼내 검증할 수 있어 도클링을 골랐다</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APPENDIX ②</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도클링 파싱 파이프라인 전체 구조</a:t>
            </a:r>
            <a:endParaRPr lang="en-US" sz="2700" dirty="0"/>
          </a:p>
        </p:txBody>
      </p:sp>
      <p:sp>
        <p:nvSpPr>
          <p:cNvPr id="5" name="Text 2"/>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35</a:t>
            </a:r>
            <a:endParaRPr lang="en-US" sz="1050" dirty="0"/>
          </a:p>
        </p:txBody>
      </p:sp>
      <p:sp>
        <p:nvSpPr>
          <p:cNvPr id="6" name="Shape 3"/>
          <p:cNvSpPr/>
          <p:nvPr/>
        </p:nvSpPr>
        <p:spPr>
          <a:xfrm>
            <a:off x="566928" y="1691640"/>
            <a:ext cx="2103120" cy="640080"/>
          </a:xfrm>
          <a:prstGeom prst="roundRect">
            <a:avLst>
              <a:gd name="adj" fmla="val 8571"/>
            </a:avLst>
          </a:prstGeom>
          <a:solidFill>
            <a:srgbClr val="0F2A3A"/>
          </a:solidFill>
          <a:ln w="12700">
            <a:solidFill>
              <a:srgbClr val="155E75"/>
            </a:solidFill>
            <a:prstDash val="solid"/>
          </a:ln>
        </p:spPr>
        <p:txBody>
          <a:bodyPr/>
          <a:lstStyle/>
          <a:p>
            <a:endParaRPr lang="ko-KR" altLang="en-US"/>
          </a:p>
        </p:txBody>
      </p:sp>
      <p:sp>
        <p:nvSpPr>
          <p:cNvPr id="7" name="Text 4"/>
          <p:cNvSpPr/>
          <p:nvPr/>
        </p:nvSpPr>
        <p:spPr>
          <a:xfrm>
            <a:off x="630936" y="1691640"/>
            <a:ext cx="1975104" cy="640080"/>
          </a:xfrm>
          <a:prstGeom prst="rect">
            <a:avLst/>
          </a:prstGeom>
          <a:noFill/>
          <a:ln/>
        </p:spPr>
        <p:txBody>
          <a:bodyPr wrap="square" lIns="0" tIns="0" rIns="0" bIns="0" rtlCol="0" anchor="ctr"/>
          <a:lstStyle/>
          <a:p>
            <a:pPr marL="0" indent="0" algn="ctr">
              <a:buNone/>
            </a:pPr>
            <a:r>
              <a:rPr lang="en-US" sz="1150" b="1" dirty="0">
                <a:solidFill>
                  <a:srgbClr val="67E8F9"/>
                </a:solidFill>
                <a:latin typeface="Pretendard" pitchFamily="34" charset="0"/>
                <a:ea typeface="Pretendard" pitchFamily="34" charset="-122"/>
                <a:cs typeface="Pretendard" pitchFamily="34" charset="-120"/>
              </a:rPr>
              <a:t>BACKEND</a:t>
            </a:r>
            <a:endParaRPr lang="en-US" sz="1150" dirty="0"/>
          </a:p>
        </p:txBody>
      </p:sp>
      <p:sp>
        <p:nvSpPr>
          <p:cNvPr id="8" name="Shape 5"/>
          <p:cNvSpPr/>
          <p:nvPr/>
        </p:nvSpPr>
        <p:spPr>
          <a:xfrm>
            <a:off x="2683764" y="2011680"/>
            <a:ext cx="146304" cy="0"/>
          </a:xfrm>
          <a:prstGeom prst="line">
            <a:avLst/>
          </a:prstGeom>
          <a:noFill/>
          <a:ln w="19050">
            <a:solidFill>
              <a:srgbClr val="0E7490"/>
            </a:solidFill>
            <a:prstDash val="solid"/>
            <a:tailEnd type="triangle"/>
          </a:ln>
        </p:spPr>
        <p:txBody>
          <a:bodyPr/>
          <a:lstStyle/>
          <a:p>
            <a:endParaRPr lang="ko-KR" altLang="en-US"/>
          </a:p>
        </p:txBody>
      </p:sp>
      <p:sp>
        <p:nvSpPr>
          <p:cNvPr id="9" name="Shape 6"/>
          <p:cNvSpPr/>
          <p:nvPr/>
        </p:nvSpPr>
        <p:spPr>
          <a:xfrm>
            <a:off x="2843784" y="1691640"/>
            <a:ext cx="2103120" cy="640080"/>
          </a:xfrm>
          <a:prstGeom prst="roundRect">
            <a:avLst>
              <a:gd name="adj" fmla="val 8571"/>
            </a:avLst>
          </a:prstGeom>
          <a:solidFill>
            <a:srgbClr val="0F2A3A"/>
          </a:solidFill>
          <a:ln w="12700">
            <a:solidFill>
              <a:srgbClr val="155E75"/>
            </a:solidFill>
            <a:prstDash val="solid"/>
          </a:ln>
        </p:spPr>
        <p:txBody>
          <a:bodyPr/>
          <a:lstStyle/>
          <a:p>
            <a:endParaRPr lang="ko-KR" altLang="en-US"/>
          </a:p>
        </p:txBody>
      </p:sp>
      <p:sp>
        <p:nvSpPr>
          <p:cNvPr id="10" name="Text 7"/>
          <p:cNvSpPr/>
          <p:nvPr/>
        </p:nvSpPr>
        <p:spPr>
          <a:xfrm>
            <a:off x="2907792" y="1691640"/>
            <a:ext cx="1975104" cy="640080"/>
          </a:xfrm>
          <a:prstGeom prst="rect">
            <a:avLst/>
          </a:prstGeom>
          <a:noFill/>
          <a:ln/>
        </p:spPr>
        <p:txBody>
          <a:bodyPr wrap="square" lIns="0" tIns="0" rIns="0" bIns="0" rtlCol="0" anchor="ctr"/>
          <a:lstStyle/>
          <a:p>
            <a:pPr marL="0" indent="0" algn="ctr">
              <a:buNone/>
            </a:pPr>
            <a:r>
              <a:rPr lang="en-US" sz="1150" b="1" dirty="0">
                <a:solidFill>
                  <a:srgbClr val="67E8F9"/>
                </a:solidFill>
                <a:latin typeface="Pretendard" pitchFamily="34" charset="0"/>
                <a:ea typeface="Pretendard" pitchFamily="34" charset="-122"/>
                <a:cs typeface="Pretendard" pitchFamily="34" charset="-120"/>
              </a:rPr>
              <a:t>LAYOUT</a:t>
            </a:r>
            <a:endParaRPr lang="en-US" sz="1150" dirty="0"/>
          </a:p>
        </p:txBody>
      </p:sp>
      <p:sp>
        <p:nvSpPr>
          <p:cNvPr id="11" name="Shape 8"/>
          <p:cNvSpPr/>
          <p:nvPr/>
        </p:nvSpPr>
        <p:spPr>
          <a:xfrm>
            <a:off x="4960620" y="2011680"/>
            <a:ext cx="146304" cy="0"/>
          </a:xfrm>
          <a:prstGeom prst="line">
            <a:avLst/>
          </a:prstGeom>
          <a:noFill/>
          <a:ln w="19050">
            <a:solidFill>
              <a:srgbClr val="0E7490"/>
            </a:solidFill>
            <a:prstDash val="solid"/>
            <a:tailEnd type="triangle"/>
          </a:ln>
        </p:spPr>
        <p:txBody>
          <a:bodyPr/>
          <a:lstStyle/>
          <a:p>
            <a:endParaRPr lang="ko-KR" altLang="en-US"/>
          </a:p>
        </p:txBody>
      </p:sp>
      <p:sp>
        <p:nvSpPr>
          <p:cNvPr id="12" name="Shape 9"/>
          <p:cNvSpPr/>
          <p:nvPr/>
        </p:nvSpPr>
        <p:spPr>
          <a:xfrm>
            <a:off x="5120640" y="1691640"/>
            <a:ext cx="2103120" cy="640080"/>
          </a:xfrm>
          <a:prstGeom prst="roundRect">
            <a:avLst>
              <a:gd name="adj" fmla="val 8571"/>
            </a:avLst>
          </a:prstGeom>
          <a:solidFill>
            <a:srgbClr val="0F2A3A"/>
          </a:solidFill>
          <a:ln w="12700">
            <a:solidFill>
              <a:srgbClr val="155E75"/>
            </a:solidFill>
            <a:prstDash val="solid"/>
          </a:ln>
        </p:spPr>
        <p:txBody>
          <a:bodyPr/>
          <a:lstStyle/>
          <a:p>
            <a:endParaRPr lang="ko-KR" altLang="en-US"/>
          </a:p>
        </p:txBody>
      </p:sp>
      <p:sp>
        <p:nvSpPr>
          <p:cNvPr id="13" name="Text 10"/>
          <p:cNvSpPr/>
          <p:nvPr/>
        </p:nvSpPr>
        <p:spPr>
          <a:xfrm>
            <a:off x="5184648" y="1691640"/>
            <a:ext cx="1975104" cy="640080"/>
          </a:xfrm>
          <a:prstGeom prst="rect">
            <a:avLst/>
          </a:prstGeom>
          <a:noFill/>
          <a:ln/>
        </p:spPr>
        <p:txBody>
          <a:bodyPr wrap="square" lIns="0" tIns="0" rIns="0" bIns="0" rtlCol="0" anchor="ctr"/>
          <a:lstStyle/>
          <a:p>
            <a:pPr marL="0" indent="0" algn="ctr">
              <a:buNone/>
            </a:pPr>
            <a:r>
              <a:rPr lang="en-US" sz="1150" b="1" dirty="0">
                <a:solidFill>
                  <a:srgbClr val="67E8F9"/>
                </a:solidFill>
                <a:latin typeface="Pretendard" pitchFamily="34" charset="0"/>
                <a:ea typeface="Pretendard" pitchFamily="34" charset="-122"/>
                <a:cs typeface="Pretendard" pitchFamily="34" charset="-120"/>
              </a:rPr>
              <a:t>OCR</a:t>
            </a:r>
            <a:endParaRPr lang="en-US" sz="1150" dirty="0"/>
          </a:p>
        </p:txBody>
      </p:sp>
      <p:sp>
        <p:nvSpPr>
          <p:cNvPr id="14" name="Shape 11"/>
          <p:cNvSpPr/>
          <p:nvPr/>
        </p:nvSpPr>
        <p:spPr>
          <a:xfrm>
            <a:off x="7237476" y="2011680"/>
            <a:ext cx="146304" cy="0"/>
          </a:xfrm>
          <a:prstGeom prst="line">
            <a:avLst/>
          </a:prstGeom>
          <a:noFill/>
          <a:ln w="19050">
            <a:solidFill>
              <a:srgbClr val="0E7490"/>
            </a:solidFill>
            <a:prstDash val="solid"/>
            <a:tailEnd type="triangle"/>
          </a:ln>
        </p:spPr>
        <p:txBody>
          <a:bodyPr/>
          <a:lstStyle/>
          <a:p>
            <a:endParaRPr lang="ko-KR" altLang="en-US"/>
          </a:p>
        </p:txBody>
      </p:sp>
      <p:sp>
        <p:nvSpPr>
          <p:cNvPr id="15" name="Shape 12"/>
          <p:cNvSpPr/>
          <p:nvPr/>
        </p:nvSpPr>
        <p:spPr>
          <a:xfrm>
            <a:off x="7397496" y="1691640"/>
            <a:ext cx="2103120" cy="640080"/>
          </a:xfrm>
          <a:prstGeom prst="roundRect">
            <a:avLst>
              <a:gd name="adj" fmla="val 8571"/>
            </a:avLst>
          </a:prstGeom>
          <a:solidFill>
            <a:srgbClr val="0F2A3A"/>
          </a:solidFill>
          <a:ln w="12700">
            <a:solidFill>
              <a:srgbClr val="155E75"/>
            </a:solidFill>
            <a:prstDash val="solid"/>
          </a:ln>
        </p:spPr>
        <p:txBody>
          <a:bodyPr/>
          <a:lstStyle/>
          <a:p>
            <a:endParaRPr lang="ko-KR" altLang="en-US"/>
          </a:p>
        </p:txBody>
      </p:sp>
      <p:sp>
        <p:nvSpPr>
          <p:cNvPr id="16" name="Text 13"/>
          <p:cNvSpPr/>
          <p:nvPr/>
        </p:nvSpPr>
        <p:spPr>
          <a:xfrm>
            <a:off x="7461504" y="1691640"/>
            <a:ext cx="1975104" cy="640080"/>
          </a:xfrm>
          <a:prstGeom prst="rect">
            <a:avLst/>
          </a:prstGeom>
          <a:noFill/>
          <a:ln/>
        </p:spPr>
        <p:txBody>
          <a:bodyPr wrap="square" lIns="0" tIns="0" rIns="0" bIns="0" rtlCol="0" anchor="ctr"/>
          <a:lstStyle/>
          <a:p>
            <a:pPr marL="0" indent="0" algn="ctr">
              <a:buNone/>
            </a:pPr>
            <a:r>
              <a:rPr lang="en-US" sz="1150" b="1" dirty="0">
                <a:solidFill>
                  <a:srgbClr val="67E8F9"/>
                </a:solidFill>
                <a:latin typeface="Pretendard" pitchFamily="34" charset="0"/>
                <a:ea typeface="Pretendard" pitchFamily="34" charset="-122"/>
                <a:cs typeface="Pretendard" pitchFamily="34" charset="-120"/>
              </a:rPr>
              <a:t>TABLE</a:t>
            </a:r>
            <a:endParaRPr lang="en-US" sz="1150" dirty="0"/>
          </a:p>
        </p:txBody>
      </p:sp>
      <p:sp>
        <p:nvSpPr>
          <p:cNvPr id="17" name="Shape 14"/>
          <p:cNvSpPr/>
          <p:nvPr/>
        </p:nvSpPr>
        <p:spPr>
          <a:xfrm>
            <a:off x="9514332" y="2011680"/>
            <a:ext cx="146304" cy="0"/>
          </a:xfrm>
          <a:prstGeom prst="line">
            <a:avLst/>
          </a:prstGeom>
          <a:noFill/>
          <a:ln w="19050">
            <a:solidFill>
              <a:srgbClr val="0E7490"/>
            </a:solidFill>
            <a:prstDash val="solid"/>
            <a:tailEnd type="triangle"/>
          </a:ln>
        </p:spPr>
        <p:txBody>
          <a:bodyPr/>
          <a:lstStyle/>
          <a:p>
            <a:endParaRPr lang="ko-KR" altLang="en-US"/>
          </a:p>
        </p:txBody>
      </p:sp>
      <p:sp>
        <p:nvSpPr>
          <p:cNvPr id="18" name="Shape 15"/>
          <p:cNvSpPr/>
          <p:nvPr/>
        </p:nvSpPr>
        <p:spPr>
          <a:xfrm>
            <a:off x="9674352" y="1691640"/>
            <a:ext cx="2103120" cy="640080"/>
          </a:xfrm>
          <a:prstGeom prst="roundRect">
            <a:avLst>
              <a:gd name="adj" fmla="val 8571"/>
            </a:avLst>
          </a:prstGeom>
          <a:solidFill>
            <a:srgbClr val="0F2A3A"/>
          </a:solidFill>
          <a:ln w="12700">
            <a:solidFill>
              <a:srgbClr val="155E75"/>
            </a:solidFill>
            <a:prstDash val="solid"/>
          </a:ln>
        </p:spPr>
        <p:txBody>
          <a:bodyPr/>
          <a:lstStyle/>
          <a:p>
            <a:endParaRPr lang="ko-KR" altLang="en-US"/>
          </a:p>
        </p:txBody>
      </p:sp>
      <p:sp>
        <p:nvSpPr>
          <p:cNvPr id="19" name="Text 16"/>
          <p:cNvSpPr/>
          <p:nvPr/>
        </p:nvSpPr>
        <p:spPr>
          <a:xfrm>
            <a:off x="9738360" y="1691640"/>
            <a:ext cx="1975104" cy="640080"/>
          </a:xfrm>
          <a:prstGeom prst="rect">
            <a:avLst/>
          </a:prstGeom>
          <a:noFill/>
          <a:ln/>
        </p:spPr>
        <p:txBody>
          <a:bodyPr wrap="square" lIns="0" tIns="0" rIns="0" bIns="0" rtlCol="0" anchor="ctr"/>
          <a:lstStyle/>
          <a:p>
            <a:pPr marL="0" indent="0" algn="ctr">
              <a:buNone/>
            </a:pPr>
            <a:r>
              <a:rPr lang="en-US" sz="1150" b="1" dirty="0">
                <a:solidFill>
                  <a:srgbClr val="67E8F9"/>
                </a:solidFill>
                <a:latin typeface="Pretendard" pitchFamily="34" charset="0"/>
                <a:ea typeface="Pretendard" pitchFamily="34" charset="-122"/>
                <a:cs typeface="Pretendard" pitchFamily="34" charset="-120"/>
              </a:rPr>
              <a:t>PICTURE</a:t>
            </a:r>
            <a:endParaRPr lang="en-US" sz="1150" dirty="0"/>
          </a:p>
        </p:txBody>
      </p:sp>
      <p:sp>
        <p:nvSpPr>
          <p:cNvPr id="20" name="Shape 17"/>
          <p:cNvSpPr/>
          <p:nvPr/>
        </p:nvSpPr>
        <p:spPr>
          <a:xfrm>
            <a:off x="566928" y="2697480"/>
            <a:ext cx="11064240" cy="0"/>
          </a:xfrm>
          <a:prstGeom prst="line">
            <a:avLst/>
          </a:prstGeom>
          <a:noFill/>
          <a:ln w="12700">
            <a:solidFill>
              <a:srgbClr val="263049"/>
            </a:solidFill>
            <a:prstDash val="solid"/>
          </a:ln>
        </p:spPr>
        <p:txBody>
          <a:bodyPr/>
          <a:lstStyle/>
          <a:p>
            <a:endParaRPr lang="ko-KR" altLang="en-US"/>
          </a:p>
        </p:txBody>
      </p:sp>
      <p:sp>
        <p:nvSpPr>
          <p:cNvPr id="21" name="Text 18"/>
          <p:cNvSpPr/>
          <p:nvPr/>
        </p:nvSpPr>
        <p:spPr>
          <a:xfrm>
            <a:off x="566928" y="2880360"/>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1</a:t>
            </a:r>
            <a:endParaRPr lang="en-US" sz="1400" dirty="0"/>
          </a:p>
        </p:txBody>
      </p:sp>
      <p:sp>
        <p:nvSpPr>
          <p:cNvPr id="22" name="Text 19"/>
          <p:cNvSpPr/>
          <p:nvPr/>
        </p:nvSpPr>
        <p:spPr>
          <a:xfrm>
            <a:off x="1143000" y="2862072"/>
            <a:ext cx="2468880" cy="411480"/>
          </a:xfrm>
          <a:prstGeom prst="rect">
            <a:avLst/>
          </a:prstGeom>
          <a:noFill/>
          <a:ln/>
        </p:spPr>
        <p:txBody>
          <a:bodyPr wrap="square" lIns="0" tIns="0" rIns="0" bIns="0" rtlCol="0" anchor="ctr"/>
          <a:lstStyle/>
          <a:p>
            <a:pPr marL="0" indent="0">
              <a:buNone/>
            </a:pPr>
            <a:r>
              <a:rPr lang="en-US" sz="1250" b="1" dirty="0">
                <a:solidFill>
                  <a:srgbClr val="67E8F9"/>
                </a:solidFill>
                <a:latin typeface="Pretendard" pitchFamily="34" charset="0"/>
                <a:ea typeface="Pretendard" pitchFamily="34" charset="-122"/>
                <a:cs typeface="Pretendard" pitchFamily="34" charset="-120"/>
              </a:rPr>
              <a:t>BACKEND</a:t>
            </a:r>
            <a:endParaRPr lang="en-US" sz="1250" dirty="0"/>
          </a:p>
        </p:txBody>
      </p:sp>
      <p:sp>
        <p:nvSpPr>
          <p:cNvPr id="23" name="Text 20"/>
          <p:cNvSpPr/>
          <p:nvPr/>
        </p:nvSpPr>
        <p:spPr>
          <a:xfrm>
            <a:off x="3840480" y="2843784"/>
            <a:ext cx="7790688" cy="502920"/>
          </a:xfrm>
          <a:prstGeom prst="rect">
            <a:avLst/>
          </a:prstGeom>
          <a:noFill/>
          <a:ln/>
        </p:spPr>
        <p:txBody>
          <a:bodyPr wrap="square" lIns="0" tIns="0" rIns="0" bIns="0" rtlCol="0" anchor="t"/>
          <a:lstStyle/>
          <a:p>
            <a:pPr marL="0" indent="0">
              <a:lnSpc>
                <a:spcPct val="120000"/>
              </a:lnSpc>
              <a:buNone/>
            </a:pPr>
            <a:r>
              <a:rPr lang="en-US" sz="1150" dirty="0">
                <a:solidFill>
                  <a:srgbClr val="BAC6D8"/>
                </a:solidFill>
                <a:latin typeface="Pretendard" pitchFamily="34" charset="0"/>
                <a:ea typeface="Pretendard" pitchFamily="34" charset="-122"/>
                <a:cs typeface="Pretendard" pitchFamily="34" charset="-120"/>
              </a:rPr>
              <a:t>PDF 내부 텍스트 · 이미지 정보 추출  ·  페이지 렌더링 후 LAYOUT에 전달</a:t>
            </a:r>
            <a:endParaRPr lang="en-US" sz="1150" dirty="0"/>
          </a:p>
        </p:txBody>
      </p:sp>
      <p:sp>
        <p:nvSpPr>
          <p:cNvPr id="24" name="Shape 21"/>
          <p:cNvSpPr/>
          <p:nvPr/>
        </p:nvSpPr>
        <p:spPr>
          <a:xfrm>
            <a:off x="566928" y="3429000"/>
            <a:ext cx="11064240" cy="0"/>
          </a:xfrm>
          <a:prstGeom prst="line">
            <a:avLst/>
          </a:prstGeom>
          <a:noFill/>
          <a:ln w="12700">
            <a:solidFill>
              <a:srgbClr val="263049"/>
            </a:solidFill>
            <a:prstDash val="solid"/>
          </a:ln>
        </p:spPr>
        <p:txBody>
          <a:bodyPr/>
          <a:lstStyle/>
          <a:p>
            <a:endParaRPr lang="ko-KR" altLang="en-US"/>
          </a:p>
        </p:txBody>
      </p:sp>
      <p:sp>
        <p:nvSpPr>
          <p:cNvPr id="25" name="Text 22"/>
          <p:cNvSpPr/>
          <p:nvPr/>
        </p:nvSpPr>
        <p:spPr>
          <a:xfrm>
            <a:off x="566928" y="3611880"/>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2</a:t>
            </a:r>
            <a:endParaRPr lang="en-US" sz="1400" dirty="0"/>
          </a:p>
        </p:txBody>
      </p:sp>
      <p:sp>
        <p:nvSpPr>
          <p:cNvPr id="26" name="Text 23"/>
          <p:cNvSpPr/>
          <p:nvPr/>
        </p:nvSpPr>
        <p:spPr>
          <a:xfrm>
            <a:off x="1143000" y="3593592"/>
            <a:ext cx="2468880" cy="411480"/>
          </a:xfrm>
          <a:prstGeom prst="rect">
            <a:avLst/>
          </a:prstGeom>
          <a:noFill/>
          <a:ln/>
        </p:spPr>
        <p:txBody>
          <a:bodyPr wrap="square" lIns="0" tIns="0" rIns="0" bIns="0" rtlCol="0" anchor="ctr"/>
          <a:lstStyle/>
          <a:p>
            <a:pPr marL="0" indent="0">
              <a:buNone/>
            </a:pPr>
            <a:r>
              <a:rPr lang="en-US" sz="1250" b="1" dirty="0">
                <a:solidFill>
                  <a:srgbClr val="67E8F9"/>
                </a:solidFill>
                <a:latin typeface="Pretendard" pitchFamily="34" charset="0"/>
                <a:ea typeface="Pretendard" pitchFamily="34" charset="-122"/>
                <a:cs typeface="Pretendard" pitchFamily="34" charset="-120"/>
              </a:rPr>
              <a:t>LAYOUT</a:t>
            </a:r>
            <a:endParaRPr lang="en-US" sz="1250" dirty="0"/>
          </a:p>
        </p:txBody>
      </p:sp>
      <p:sp>
        <p:nvSpPr>
          <p:cNvPr id="27" name="Text 24"/>
          <p:cNvSpPr/>
          <p:nvPr/>
        </p:nvSpPr>
        <p:spPr>
          <a:xfrm>
            <a:off x="3840480" y="3575304"/>
            <a:ext cx="7790688" cy="502920"/>
          </a:xfrm>
          <a:prstGeom prst="rect">
            <a:avLst/>
          </a:prstGeom>
          <a:noFill/>
          <a:ln/>
        </p:spPr>
        <p:txBody>
          <a:bodyPr wrap="square" lIns="0" tIns="0" rIns="0" bIns="0" rtlCol="0" anchor="t"/>
          <a:lstStyle/>
          <a:p>
            <a:pPr marL="0" indent="0">
              <a:lnSpc>
                <a:spcPct val="120000"/>
              </a:lnSpc>
              <a:buNone/>
            </a:pPr>
            <a:r>
              <a:rPr lang="en-US" sz="1150" dirty="0">
                <a:solidFill>
                  <a:srgbClr val="BAC6D8"/>
                </a:solidFill>
                <a:latin typeface="Pretendard" pitchFamily="34" charset="0"/>
                <a:ea typeface="Pretendard" pitchFamily="34" charset="-122"/>
                <a:cs typeface="Pretendard" pitchFamily="34" charset="-120"/>
              </a:rPr>
              <a:t>렌더링 이미지에서 TEXT · SECTION_HEADER  ·  TABLE · PICTURE 영역의 역할과 bbox 판정</a:t>
            </a:r>
            <a:endParaRPr lang="en-US" sz="1150" dirty="0"/>
          </a:p>
        </p:txBody>
      </p:sp>
      <p:sp>
        <p:nvSpPr>
          <p:cNvPr id="28" name="Shape 25"/>
          <p:cNvSpPr/>
          <p:nvPr/>
        </p:nvSpPr>
        <p:spPr>
          <a:xfrm>
            <a:off x="566928" y="4160520"/>
            <a:ext cx="11064240" cy="0"/>
          </a:xfrm>
          <a:prstGeom prst="line">
            <a:avLst/>
          </a:prstGeom>
          <a:noFill/>
          <a:ln w="12700">
            <a:solidFill>
              <a:srgbClr val="263049"/>
            </a:solidFill>
            <a:prstDash val="solid"/>
          </a:ln>
        </p:spPr>
        <p:txBody>
          <a:bodyPr/>
          <a:lstStyle/>
          <a:p>
            <a:endParaRPr lang="ko-KR" altLang="en-US"/>
          </a:p>
        </p:txBody>
      </p:sp>
      <p:sp>
        <p:nvSpPr>
          <p:cNvPr id="29" name="Text 26"/>
          <p:cNvSpPr/>
          <p:nvPr/>
        </p:nvSpPr>
        <p:spPr>
          <a:xfrm>
            <a:off x="566928" y="4343400"/>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3</a:t>
            </a:r>
            <a:endParaRPr lang="en-US" sz="1400" dirty="0"/>
          </a:p>
        </p:txBody>
      </p:sp>
      <p:sp>
        <p:nvSpPr>
          <p:cNvPr id="30" name="Text 27"/>
          <p:cNvSpPr/>
          <p:nvPr/>
        </p:nvSpPr>
        <p:spPr>
          <a:xfrm>
            <a:off x="1143000" y="4325112"/>
            <a:ext cx="2468880" cy="411480"/>
          </a:xfrm>
          <a:prstGeom prst="rect">
            <a:avLst/>
          </a:prstGeom>
          <a:noFill/>
          <a:ln/>
        </p:spPr>
        <p:txBody>
          <a:bodyPr wrap="square" lIns="0" tIns="0" rIns="0" bIns="0" rtlCol="0" anchor="ctr"/>
          <a:lstStyle/>
          <a:p>
            <a:pPr marL="0" indent="0">
              <a:buNone/>
            </a:pPr>
            <a:r>
              <a:rPr lang="en-US" sz="1250" b="1" dirty="0">
                <a:solidFill>
                  <a:srgbClr val="67E8F9"/>
                </a:solidFill>
                <a:latin typeface="Pretendard" pitchFamily="34" charset="0"/>
                <a:ea typeface="Pretendard" pitchFamily="34" charset="-122"/>
                <a:cs typeface="Pretendard" pitchFamily="34" charset="-120"/>
              </a:rPr>
              <a:t>OCR</a:t>
            </a:r>
            <a:endParaRPr lang="en-US" sz="1250" dirty="0"/>
          </a:p>
        </p:txBody>
      </p:sp>
      <p:sp>
        <p:nvSpPr>
          <p:cNvPr id="31" name="Text 28"/>
          <p:cNvSpPr/>
          <p:nvPr/>
        </p:nvSpPr>
        <p:spPr>
          <a:xfrm>
            <a:off x="3840480" y="4306824"/>
            <a:ext cx="7790688" cy="502920"/>
          </a:xfrm>
          <a:prstGeom prst="rect">
            <a:avLst/>
          </a:prstGeom>
          <a:noFill/>
          <a:ln/>
        </p:spPr>
        <p:txBody>
          <a:bodyPr wrap="square" lIns="0" tIns="0" rIns="0" bIns="0" rtlCol="0" anchor="t"/>
          <a:lstStyle/>
          <a:p>
            <a:pPr marL="0" indent="0">
              <a:lnSpc>
                <a:spcPct val="120000"/>
              </a:lnSpc>
              <a:buNone/>
            </a:pPr>
            <a:r>
              <a:rPr lang="en-US" sz="1150" dirty="0">
                <a:solidFill>
                  <a:srgbClr val="BAC6D8"/>
                </a:solidFill>
                <a:latin typeface="Pretendard" pitchFamily="34" charset="0"/>
                <a:ea typeface="Pretendard" pitchFamily="34" charset="-122"/>
                <a:cs typeface="Pretendard" pitchFamily="34" charset="-120"/>
              </a:rPr>
              <a:t>LAYOUT이 선택한 영역에서 텍스트 추출  ·  BACKEND가 못 읽은 부분을 보완</a:t>
            </a:r>
            <a:endParaRPr lang="en-US" sz="1150" dirty="0"/>
          </a:p>
        </p:txBody>
      </p:sp>
      <p:sp>
        <p:nvSpPr>
          <p:cNvPr id="32" name="Shape 29"/>
          <p:cNvSpPr/>
          <p:nvPr/>
        </p:nvSpPr>
        <p:spPr>
          <a:xfrm>
            <a:off x="566928" y="4892040"/>
            <a:ext cx="11064240" cy="0"/>
          </a:xfrm>
          <a:prstGeom prst="line">
            <a:avLst/>
          </a:prstGeom>
          <a:noFill/>
          <a:ln w="12700">
            <a:solidFill>
              <a:srgbClr val="263049"/>
            </a:solidFill>
            <a:prstDash val="solid"/>
          </a:ln>
        </p:spPr>
        <p:txBody>
          <a:bodyPr/>
          <a:lstStyle/>
          <a:p>
            <a:endParaRPr lang="ko-KR" altLang="en-US"/>
          </a:p>
        </p:txBody>
      </p:sp>
      <p:sp>
        <p:nvSpPr>
          <p:cNvPr id="33" name="Text 30"/>
          <p:cNvSpPr/>
          <p:nvPr/>
        </p:nvSpPr>
        <p:spPr>
          <a:xfrm>
            <a:off x="566928" y="5074920"/>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4</a:t>
            </a:r>
            <a:endParaRPr lang="en-US" sz="1400" dirty="0"/>
          </a:p>
        </p:txBody>
      </p:sp>
      <p:sp>
        <p:nvSpPr>
          <p:cNvPr id="34" name="Text 31"/>
          <p:cNvSpPr/>
          <p:nvPr/>
        </p:nvSpPr>
        <p:spPr>
          <a:xfrm>
            <a:off x="1143000" y="5056632"/>
            <a:ext cx="2468880" cy="411480"/>
          </a:xfrm>
          <a:prstGeom prst="rect">
            <a:avLst/>
          </a:prstGeom>
          <a:noFill/>
          <a:ln/>
        </p:spPr>
        <p:txBody>
          <a:bodyPr wrap="square" lIns="0" tIns="0" rIns="0" bIns="0" rtlCol="0" anchor="ctr"/>
          <a:lstStyle/>
          <a:p>
            <a:pPr marL="0" indent="0">
              <a:buNone/>
            </a:pPr>
            <a:r>
              <a:rPr lang="en-US" sz="1250" b="1" dirty="0">
                <a:solidFill>
                  <a:srgbClr val="67E8F9"/>
                </a:solidFill>
                <a:latin typeface="Pretendard" pitchFamily="34" charset="0"/>
                <a:ea typeface="Pretendard" pitchFamily="34" charset="-122"/>
                <a:cs typeface="Pretendard" pitchFamily="34" charset="-120"/>
              </a:rPr>
              <a:t>TABLE</a:t>
            </a:r>
            <a:endParaRPr lang="en-US" sz="1250" dirty="0"/>
          </a:p>
        </p:txBody>
      </p:sp>
      <p:sp>
        <p:nvSpPr>
          <p:cNvPr id="35" name="Text 32"/>
          <p:cNvSpPr/>
          <p:nvPr/>
        </p:nvSpPr>
        <p:spPr>
          <a:xfrm>
            <a:off x="3840480" y="5038344"/>
            <a:ext cx="7790688" cy="502920"/>
          </a:xfrm>
          <a:prstGeom prst="rect">
            <a:avLst/>
          </a:prstGeom>
          <a:noFill/>
          <a:ln/>
        </p:spPr>
        <p:txBody>
          <a:bodyPr wrap="square" lIns="0" tIns="0" rIns="0" bIns="0" rtlCol="0" anchor="t"/>
          <a:lstStyle/>
          <a:p>
            <a:pPr marL="0" indent="0">
              <a:lnSpc>
                <a:spcPct val="120000"/>
              </a:lnSpc>
              <a:buNone/>
            </a:pPr>
            <a:r>
              <a:rPr lang="en-US" sz="1150" dirty="0">
                <a:solidFill>
                  <a:srgbClr val="BAC6D8"/>
                </a:solidFill>
                <a:latin typeface="Pretendard" pitchFamily="34" charset="0"/>
                <a:ea typeface="Pretendard" pitchFamily="34" charset="-122"/>
                <a:cs typeface="Pretendard" pitchFamily="34" charset="-120"/>
              </a:rPr>
              <a:t>TableFormer — TABLE 좌표 + crop 이미지  ·  + text cell로 행·열 구조 복원</a:t>
            </a:r>
            <a:endParaRPr lang="en-US" sz="1150" dirty="0"/>
          </a:p>
        </p:txBody>
      </p:sp>
      <p:sp>
        <p:nvSpPr>
          <p:cNvPr id="36" name="Shape 33"/>
          <p:cNvSpPr/>
          <p:nvPr/>
        </p:nvSpPr>
        <p:spPr>
          <a:xfrm>
            <a:off x="566928" y="5623560"/>
            <a:ext cx="11064240" cy="0"/>
          </a:xfrm>
          <a:prstGeom prst="line">
            <a:avLst/>
          </a:prstGeom>
          <a:noFill/>
          <a:ln w="12700">
            <a:solidFill>
              <a:srgbClr val="263049"/>
            </a:solidFill>
            <a:prstDash val="solid"/>
          </a:ln>
        </p:spPr>
        <p:txBody>
          <a:bodyPr/>
          <a:lstStyle/>
          <a:p>
            <a:endParaRPr lang="ko-KR" altLang="en-US"/>
          </a:p>
        </p:txBody>
      </p:sp>
      <p:sp>
        <p:nvSpPr>
          <p:cNvPr id="37" name="Text 34"/>
          <p:cNvSpPr/>
          <p:nvPr/>
        </p:nvSpPr>
        <p:spPr>
          <a:xfrm>
            <a:off x="566928" y="5806440"/>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5</a:t>
            </a:r>
            <a:endParaRPr lang="en-US" sz="1400" dirty="0"/>
          </a:p>
        </p:txBody>
      </p:sp>
      <p:sp>
        <p:nvSpPr>
          <p:cNvPr id="38" name="Text 35"/>
          <p:cNvSpPr/>
          <p:nvPr/>
        </p:nvSpPr>
        <p:spPr>
          <a:xfrm>
            <a:off x="1143000" y="5788152"/>
            <a:ext cx="2468880" cy="411480"/>
          </a:xfrm>
          <a:prstGeom prst="rect">
            <a:avLst/>
          </a:prstGeom>
          <a:noFill/>
          <a:ln/>
        </p:spPr>
        <p:txBody>
          <a:bodyPr wrap="square" lIns="0" tIns="0" rIns="0" bIns="0" rtlCol="0" anchor="ctr"/>
          <a:lstStyle/>
          <a:p>
            <a:pPr marL="0" indent="0">
              <a:buNone/>
            </a:pPr>
            <a:r>
              <a:rPr lang="en-US" sz="1250" b="1" dirty="0">
                <a:solidFill>
                  <a:srgbClr val="67E8F9"/>
                </a:solidFill>
                <a:latin typeface="Pretendard" pitchFamily="34" charset="0"/>
                <a:ea typeface="Pretendard" pitchFamily="34" charset="-122"/>
                <a:cs typeface="Pretendard" pitchFamily="34" charset="-120"/>
              </a:rPr>
              <a:t>PICTURE</a:t>
            </a:r>
            <a:endParaRPr lang="en-US" sz="1250" dirty="0"/>
          </a:p>
        </p:txBody>
      </p:sp>
      <p:sp>
        <p:nvSpPr>
          <p:cNvPr id="39" name="Text 36"/>
          <p:cNvSpPr/>
          <p:nvPr/>
        </p:nvSpPr>
        <p:spPr>
          <a:xfrm>
            <a:off x="3840480" y="5769864"/>
            <a:ext cx="7790688" cy="502920"/>
          </a:xfrm>
          <a:prstGeom prst="rect">
            <a:avLst/>
          </a:prstGeom>
          <a:noFill/>
          <a:ln/>
        </p:spPr>
        <p:txBody>
          <a:bodyPr wrap="square" lIns="0" tIns="0" rIns="0" bIns="0" rtlCol="0" anchor="t"/>
          <a:lstStyle/>
          <a:p>
            <a:pPr marL="0" indent="0">
              <a:lnSpc>
                <a:spcPct val="120000"/>
              </a:lnSpc>
              <a:buNone/>
            </a:pPr>
            <a:r>
              <a:rPr lang="en-US" sz="1150" dirty="0">
                <a:solidFill>
                  <a:srgbClr val="BAC6D8"/>
                </a:solidFill>
                <a:latin typeface="Pretendard" pitchFamily="34" charset="0"/>
                <a:ea typeface="Pretendard" pitchFamily="34" charset="-122"/>
                <a:cs typeface="Pretendard" pitchFamily="34" charset="-120"/>
              </a:rPr>
              <a:t>PICTURE에 유형과 설명을 붙인다</a:t>
            </a:r>
            <a:endParaRPr lang="en-US" sz="1150" dirty="0"/>
          </a:p>
        </p:txBody>
      </p:sp>
      <p:sp>
        <p:nvSpPr>
          <p:cNvPr id="40" name="Shape 37"/>
          <p:cNvSpPr/>
          <p:nvPr/>
        </p:nvSpPr>
        <p:spPr>
          <a:xfrm>
            <a:off x="566928" y="6355080"/>
            <a:ext cx="11064240" cy="0"/>
          </a:xfrm>
          <a:prstGeom prst="line">
            <a:avLst/>
          </a:prstGeom>
          <a:noFill/>
          <a:ln w="12700">
            <a:solidFill>
              <a:srgbClr val="263049"/>
            </a:solidFill>
            <a:prstDash val="solid"/>
          </a:ln>
        </p:spPr>
        <p:txBody>
          <a:bodyPr/>
          <a:lstStyle/>
          <a:p>
            <a:endParaRPr lang="ko-KR"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APPENDIX ③</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HybridChunker 선정 이유와 동작 과정</a:t>
            </a:r>
            <a:endParaRPr lang="en-US" sz="2700" dirty="0"/>
          </a:p>
        </p:txBody>
      </p:sp>
      <p:sp>
        <p:nvSpPr>
          <p:cNvPr id="5" name="Text 2"/>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36</a:t>
            </a:r>
            <a:endParaRPr lang="en-US" sz="1050" dirty="0"/>
          </a:p>
        </p:txBody>
      </p:sp>
      <p:sp>
        <p:nvSpPr>
          <p:cNvPr id="6" name="Text 3"/>
          <p:cNvSpPr/>
          <p:nvPr/>
        </p:nvSpPr>
        <p:spPr>
          <a:xfrm>
            <a:off x="566928" y="1600200"/>
            <a:ext cx="5486400" cy="320040"/>
          </a:xfrm>
          <a:prstGeom prst="rect">
            <a:avLst/>
          </a:prstGeom>
          <a:noFill/>
          <a:ln/>
        </p:spPr>
        <p:txBody>
          <a:bodyPr wrap="square" lIns="0" tIns="0" rIns="0" bIns="0" rtlCol="0" anchor="ctr"/>
          <a:lstStyle/>
          <a:p>
            <a:pPr marL="0" indent="0">
              <a:buNone/>
            </a:pPr>
            <a:r>
              <a:rPr lang="en-US" sz="1350" b="1" dirty="0">
                <a:solidFill>
                  <a:srgbClr val="67E8F9"/>
                </a:solidFill>
                <a:latin typeface="Pretendard" pitchFamily="34" charset="0"/>
                <a:ea typeface="Pretendard" pitchFamily="34" charset="-122"/>
                <a:cs typeface="Pretendard" pitchFamily="34" charset="-120"/>
              </a:rPr>
              <a:t>Docling의 HybridChunker 선정 이유</a:t>
            </a:r>
            <a:endParaRPr lang="en-US" sz="1350" dirty="0"/>
          </a:p>
        </p:txBody>
      </p:sp>
      <p:sp>
        <p:nvSpPr>
          <p:cNvPr id="7" name="Shape 4"/>
          <p:cNvSpPr/>
          <p:nvPr/>
        </p:nvSpPr>
        <p:spPr>
          <a:xfrm>
            <a:off x="566928" y="2057400"/>
            <a:ext cx="5486400" cy="1051560"/>
          </a:xfrm>
          <a:prstGeom prst="roundRect">
            <a:avLst>
              <a:gd name="adj" fmla="val 6957"/>
            </a:avLst>
          </a:prstGeom>
          <a:solidFill>
            <a:srgbClr val="1B2436"/>
          </a:solidFill>
          <a:ln w="12700">
            <a:solidFill>
              <a:srgbClr val="263049"/>
            </a:solidFill>
            <a:prstDash val="solid"/>
          </a:ln>
        </p:spPr>
        <p:txBody>
          <a:bodyPr/>
          <a:lstStyle/>
          <a:p>
            <a:endParaRPr lang="ko-KR" altLang="en-US"/>
          </a:p>
        </p:txBody>
      </p:sp>
      <p:sp>
        <p:nvSpPr>
          <p:cNvPr id="8" name="Text 5"/>
          <p:cNvSpPr/>
          <p:nvPr/>
        </p:nvSpPr>
        <p:spPr>
          <a:xfrm>
            <a:off x="841248" y="2258568"/>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1</a:t>
            </a:r>
            <a:endParaRPr lang="en-US" sz="1400" dirty="0"/>
          </a:p>
        </p:txBody>
      </p:sp>
      <p:sp>
        <p:nvSpPr>
          <p:cNvPr id="9" name="Text 6"/>
          <p:cNvSpPr/>
          <p:nvPr/>
        </p:nvSpPr>
        <p:spPr>
          <a:xfrm>
            <a:off x="1417320" y="2240280"/>
            <a:ext cx="3840480" cy="411480"/>
          </a:xfrm>
          <a:prstGeom prst="rect">
            <a:avLst/>
          </a:prstGeom>
          <a:noFill/>
          <a:ln/>
        </p:spPr>
        <p:txBody>
          <a:bodyPr wrap="square" lIns="0" tIns="0" rIns="0" bIns="0" rtlCol="0" anchor="ctr"/>
          <a:lstStyle/>
          <a:p>
            <a:pPr marL="0" indent="0">
              <a:buNone/>
            </a:pPr>
            <a:r>
              <a:rPr lang="en-US" sz="1300" b="1" dirty="0">
                <a:solidFill>
                  <a:srgbClr val="67E8F9"/>
                </a:solidFill>
                <a:latin typeface="Pretendard" pitchFamily="34" charset="0"/>
                <a:ea typeface="Pretendard" pitchFamily="34" charset="-122"/>
                <a:cs typeface="Pretendard" pitchFamily="34" charset="-120"/>
              </a:rPr>
              <a:t>파싱 결과를 그대로 쓴다</a:t>
            </a:r>
            <a:endParaRPr lang="en-US" sz="1300" dirty="0"/>
          </a:p>
        </p:txBody>
      </p:sp>
      <p:sp>
        <p:nvSpPr>
          <p:cNvPr id="10" name="Text 7"/>
          <p:cNvSpPr/>
          <p:nvPr/>
        </p:nvSpPr>
        <p:spPr>
          <a:xfrm>
            <a:off x="841248" y="2697480"/>
            <a:ext cx="4937760" cy="274320"/>
          </a:xfrm>
          <a:prstGeom prst="rect">
            <a:avLst/>
          </a:prstGeom>
          <a:noFill/>
          <a:ln/>
        </p:spPr>
        <p:txBody>
          <a:bodyPr wrap="square" lIns="0" tIns="0" rIns="0" bIns="0" rtlCol="0" anchor="t"/>
          <a:lstStyle/>
          <a:p>
            <a:pPr marL="0" indent="0">
              <a:lnSpc>
                <a:spcPct val="130000"/>
              </a:lnSpc>
              <a:buNone/>
            </a:pPr>
            <a:r>
              <a:rPr lang="en-US" sz="1100" dirty="0">
                <a:solidFill>
                  <a:srgbClr val="BAC6D8"/>
                </a:solidFill>
                <a:latin typeface="Pretendard" pitchFamily="34" charset="0"/>
                <a:ea typeface="Pretendard" pitchFamily="34" charset="-122"/>
                <a:cs typeface="Pretendard" pitchFamily="34" charset="-120"/>
              </a:rPr>
              <a:t>DoclingDocument의 요소 · 계층 정보를 다시 만들지 않고 청킹 입력으로 쓴다</a:t>
            </a:r>
            <a:endParaRPr lang="en-US" sz="1100" dirty="0"/>
          </a:p>
        </p:txBody>
      </p:sp>
      <p:sp>
        <p:nvSpPr>
          <p:cNvPr id="11" name="Shape 8"/>
          <p:cNvSpPr/>
          <p:nvPr/>
        </p:nvSpPr>
        <p:spPr>
          <a:xfrm>
            <a:off x="566928" y="3291840"/>
            <a:ext cx="5486400" cy="1051560"/>
          </a:xfrm>
          <a:prstGeom prst="roundRect">
            <a:avLst>
              <a:gd name="adj" fmla="val 6957"/>
            </a:avLst>
          </a:prstGeom>
          <a:solidFill>
            <a:srgbClr val="1B2436"/>
          </a:solidFill>
          <a:ln w="12700">
            <a:solidFill>
              <a:srgbClr val="263049"/>
            </a:solidFill>
            <a:prstDash val="solid"/>
          </a:ln>
        </p:spPr>
        <p:txBody>
          <a:bodyPr/>
          <a:lstStyle/>
          <a:p>
            <a:endParaRPr lang="ko-KR" altLang="en-US"/>
          </a:p>
        </p:txBody>
      </p:sp>
      <p:sp>
        <p:nvSpPr>
          <p:cNvPr id="12" name="Text 9"/>
          <p:cNvSpPr/>
          <p:nvPr/>
        </p:nvSpPr>
        <p:spPr>
          <a:xfrm>
            <a:off x="841248" y="3493008"/>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2</a:t>
            </a:r>
            <a:endParaRPr lang="en-US" sz="1400" dirty="0"/>
          </a:p>
        </p:txBody>
      </p:sp>
      <p:sp>
        <p:nvSpPr>
          <p:cNvPr id="13" name="Text 10"/>
          <p:cNvSpPr/>
          <p:nvPr/>
        </p:nvSpPr>
        <p:spPr>
          <a:xfrm>
            <a:off x="1417320" y="3474720"/>
            <a:ext cx="3840480" cy="411480"/>
          </a:xfrm>
          <a:prstGeom prst="rect">
            <a:avLst/>
          </a:prstGeom>
          <a:noFill/>
          <a:ln/>
        </p:spPr>
        <p:txBody>
          <a:bodyPr wrap="square" lIns="0" tIns="0" rIns="0" bIns="0" rtlCol="0" anchor="ctr"/>
          <a:lstStyle/>
          <a:p>
            <a:pPr marL="0" indent="0">
              <a:buNone/>
            </a:pPr>
            <a:r>
              <a:rPr lang="en-US" sz="1300" b="1" dirty="0">
                <a:solidFill>
                  <a:srgbClr val="67E8F9"/>
                </a:solidFill>
                <a:latin typeface="Pretendard" pitchFamily="34" charset="0"/>
                <a:ea typeface="Pretendard" pitchFamily="34" charset="-122"/>
                <a:cs typeface="Pretendard" pitchFamily="34" charset="-120"/>
              </a:rPr>
              <a:t>자르는 기준이 글자 수가 아니다</a:t>
            </a:r>
            <a:endParaRPr lang="en-US" sz="1300" dirty="0"/>
          </a:p>
        </p:txBody>
      </p:sp>
      <p:sp>
        <p:nvSpPr>
          <p:cNvPr id="14" name="Text 11"/>
          <p:cNvSpPr/>
          <p:nvPr/>
        </p:nvSpPr>
        <p:spPr>
          <a:xfrm>
            <a:off x="841248" y="3931920"/>
            <a:ext cx="4937760" cy="274320"/>
          </a:xfrm>
          <a:prstGeom prst="rect">
            <a:avLst/>
          </a:prstGeom>
          <a:noFill/>
          <a:ln/>
        </p:spPr>
        <p:txBody>
          <a:bodyPr wrap="square" lIns="0" tIns="0" rIns="0" bIns="0" rtlCol="0" anchor="t"/>
          <a:lstStyle/>
          <a:p>
            <a:pPr marL="0" indent="0">
              <a:lnSpc>
                <a:spcPct val="130000"/>
              </a:lnSpc>
              <a:buNone/>
            </a:pPr>
            <a:r>
              <a:rPr lang="en-US" sz="1100" dirty="0">
                <a:solidFill>
                  <a:srgbClr val="BAC6D8"/>
                </a:solidFill>
                <a:latin typeface="Pretendard" pitchFamily="34" charset="0"/>
                <a:ea typeface="Pretendard" pitchFamily="34" charset="-122"/>
                <a:cs typeface="Pretendard" pitchFamily="34" charset="-120"/>
              </a:rPr>
              <a:t>임베딩 모델과 같은 tokenizer로 토큰을 세기 때문에 입력 한도와 어긋나지 않는다</a:t>
            </a:r>
            <a:endParaRPr lang="en-US" sz="1100" dirty="0"/>
          </a:p>
        </p:txBody>
      </p:sp>
      <p:sp>
        <p:nvSpPr>
          <p:cNvPr id="15" name="Shape 12"/>
          <p:cNvSpPr/>
          <p:nvPr/>
        </p:nvSpPr>
        <p:spPr>
          <a:xfrm>
            <a:off x="566928" y="4526280"/>
            <a:ext cx="5486400" cy="1417320"/>
          </a:xfrm>
          <a:prstGeom prst="roundRect">
            <a:avLst>
              <a:gd name="adj" fmla="val 5161"/>
            </a:avLst>
          </a:prstGeom>
          <a:solidFill>
            <a:srgbClr val="1B2436"/>
          </a:solidFill>
          <a:ln w="12700">
            <a:solidFill>
              <a:srgbClr val="263049"/>
            </a:solidFill>
            <a:prstDash val="solid"/>
          </a:ln>
        </p:spPr>
        <p:txBody>
          <a:bodyPr/>
          <a:lstStyle/>
          <a:p>
            <a:endParaRPr lang="ko-KR" altLang="en-US"/>
          </a:p>
        </p:txBody>
      </p:sp>
      <p:sp>
        <p:nvSpPr>
          <p:cNvPr id="16" name="Text 13"/>
          <p:cNvSpPr/>
          <p:nvPr/>
        </p:nvSpPr>
        <p:spPr>
          <a:xfrm>
            <a:off x="841248" y="4727448"/>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3</a:t>
            </a:r>
            <a:endParaRPr lang="en-US" sz="1400" dirty="0"/>
          </a:p>
        </p:txBody>
      </p:sp>
      <p:sp>
        <p:nvSpPr>
          <p:cNvPr id="17" name="Text 14"/>
          <p:cNvSpPr/>
          <p:nvPr/>
        </p:nvSpPr>
        <p:spPr>
          <a:xfrm>
            <a:off x="1417320" y="4709160"/>
            <a:ext cx="3840480" cy="411480"/>
          </a:xfrm>
          <a:prstGeom prst="rect">
            <a:avLst/>
          </a:prstGeom>
          <a:noFill/>
          <a:ln/>
        </p:spPr>
        <p:txBody>
          <a:bodyPr wrap="square" lIns="0" tIns="0" rIns="0" bIns="0" rtlCol="0" anchor="ctr"/>
          <a:lstStyle/>
          <a:p>
            <a:pPr marL="0" indent="0">
              <a:buNone/>
            </a:pPr>
            <a:r>
              <a:rPr lang="en-US" sz="1300" b="1" dirty="0">
                <a:solidFill>
                  <a:srgbClr val="67E8F9"/>
                </a:solidFill>
                <a:latin typeface="Pretendard" pitchFamily="34" charset="0"/>
                <a:ea typeface="Pretendard" pitchFamily="34" charset="-122"/>
                <a:cs typeface="Pretendard" pitchFamily="34" charset="-120"/>
              </a:rPr>
              <a:t>구조와 토큰을 함께 본다</a:t>
            </a:r>
            <a:endParaRPr lang="en-US" sz="1300" dirty="0"/>
          </a:p>
        </p:txBody>
      </p:sp>
      <p:sp>
        <p:nvSpPr>
          <p:cNvPr id="18" name="Text 15"/>
          <p:cNvSpPr/>
          <p:nvPr/>
        </p:nvSpPr>
        <p:spPr>
          <a:xfrm>
            <a:off x="841248" y="5166360"/>
            <a:ext cx="4937760" cy="640080"/>
          </a:xfrm>
          <a:prstGeom prst="rect">
            <a:avLst/>
          </a:prstGeom>
          <a:noFill/>
          <a:ln/>
        </p:spPr>
        <p:txBody>
          <a:bodyPr wrap="square" lIns="0" tIns="0" rIns="0" bIns="0" rtlCol="0" anchor="t"/>
          <a:lstStyle/>
          <a:p>
            <a:pPr marL="0" indent="0">
              <a:lnSpc>
                <a:spcPct val="130000"/>
              </a:lnSpc>
              <a:buNone/>
            </a:pPr>
            <a:r>
              <a:rPr lang="en-US" sz="1100" dirty="0">
                <a:solidFill>
                  <a:srgbClr val="BAC6D8"/>
                </a:solidFill>
                <a:latin typeface="Pretendard" pitchFamily="34" charset="0"/>
                <a:ea typeface="Pretendard" pitchFamily="34" charset="-122"/>
                <a:cs typeface="Pretendard" pitchFamily="34" charset="-120"/>
              </a:rPr>
              <a:t>① 문서 구조 · 계층 기준으로 1차 청크 생성</a:t>
            </a:r>
            <a:endParaRPr lang="en-US" sz="1100" dirty="0"/>
          </a:p>
          <a:p>
            <a:pPr marL="0" indent="0">
              <a:lnSpc>
                <a:spcPct val="130000"/>
              </a:lnSpc>
              <a:buNone/>
            </a:pPr>
            <a:r>
              <a:rPr lang="en-US" sz="1100" dirty="0">
                <a:solidFill>
                  <a:srgbClr val="BAC6D8"/>
                </a:solidFill>
                <a:latin typeface="Pretendard" pitchFamily="34" charset="0"/>
                <a:ea typeface="Pretendard" pitchFamily="34" charset="-122"/>
                <a:cs typeface="Pretendard" pitchFamily="34" charset="-120"/>
              </a:rPr>
              <a:t>② EmbeddingGemma 토크나이저 기준으로 큰 청크 분할</a:t>
            </a:r>
            <a:endParaRPr lang="en-US" sz="1100" dirty="0"/>
          </a:p>
          <a:p>
            <a:pPr marL="0" indent="0">
              <a:lnSpc>
                <a:spcPct val="130000"/>
              </a:lnSpc>
              <a:buNone/>
            </a:pPr>
            <a:r>
              <a:rPr lang="en-US" sz="1100" dirty="0">
                <a:solidFill>
                  <a:srgbClr val="BAC6D8"/>
                </a:solidFill>
                <a:latin typeface="Pretendard" pitchFamily="34" charset="0"/>
                <a:ea typeface="Pretendard" pitchFamily="34" charset="-122"/>
                <a:cs typeface="Pretendard" pitchFamily="34" charset="-120"/>
              </a:rPr>
              <a:t>③ 동일한 메타데이터를 가진 인접 청크를 토큰 제한 안에서 병합</a:t>
            </a:r>
            <a:endParaRPr lang="en-US" sz="1100" dirty="0"/>
          </a:p>
        </p:txBody>
      </p:sp>
      <p:sp>
        <p:nvSpPr>
          <p:cNvPr id="19" name="Text 16"/>
          <p:cNvSpPr/>
          <p:nvPr/>
        </p:nvSpPr>
        <p:spPr>
          <a:xfrm>
            <a:off x="6583680" y="1600200"/>
            <a:ext cx="5029200" cy="320040"/>
          </a:xfrm>
          <a:prstGeom prst="rect">
            <a:avLst/>
          </a:prstGeom>
          <a:noFill/>
          <a:ln/>
        </p:spPr>
        <p:txBody>
          <a:bodyPr wrap="square" lIns="0" tIns="0" rIns="0" bIns="0" rtlCol="0" anchor="ctr"/>
          <a:lstStyle/>
          <a:p>
            <a:pPr marL="0" indent="0">
              <a:buNone/>
            </a:pPr>
            <a:r>
              <a:rPr lang="en-US" sz="1350" b="1" dirty="0">
                <a:solidFill>
                  <a:srgbClr val="67E8F9"/>
                </a:solidFill>
                <a:latin typeface="Pretendard" pitchFamily="34" charset="0"/>
                <a:ea typeface="Pretendard" pitchFamily="34" charset="-122"/>
                <a:cs typeface="Pretendard" pitchFamily="34" charset="-120"/>
              </a:rPr>
              <a:t>동작 과정</a:t>
            </a:r>
            <a:endParaRPr lang="en-US" sz="1350" dirty="0"/>
          </a:p>
        </p:txBody>
      </p:sp>
      <p:sp>
        <p:nvSpPr>
          <p:cNvPr id="20" name="Shape 17"/>
          <p:cNvSpPr/>
          <p:nvPr/>
        </p:nvSpPr>
        <p:spPr>
          <a:xfrm>
            <a:off x="7818120" y="2057400"/>
            <a:ext cx="2468880" cy="530352"/>
          </a:xfrm>
          <a:prstGeom prst="roundRect">
            <a:avLst>
              <a:gd name="adj" fmla="val 10345"/>
            </a:avLst>
          </a:prstGeom>
          <a:solidFill>
            <a:srgbClr val="161D2E"/>
          </a:solidFill>
          <a:ln w="12700">
            <a:solidFill>
              <a:srgbClr val="263049"/>
            </a:solidFill>
            <a:prstDash val="solid"/>
          </a:ln>
        </p:spPr>
        <p:txBody>
          <a:bodyPr/>
          <a:lstStyle/>
          <a:p>
            <a:endParaRPr lang="ko-KR" altLang="en-US"/>
          </a:p>
        </p:txBody>
      </p:sp>
      <p:sp>
        <p:nvSpPr>
          <p:cNvPr id="21" name="Text 18"/>
          <p:cNvSpPr/>
          <p:nvPr/>
        </p:nvSpPr>
        <p:spPr>
          <a:xfrm>
            <a:off x="7882128" y="2057400"/>
            <a:ext cx="2340864" cy="530352"/>
          </a:xfrm>
          <a:prstGeom prst="rect">
            <a:avLst/>
          </a:prstGeom>
          <a:noFill/>
          <a:ln/>
        </p:spPr>
        <p:txBody>
          <a:bodyPr wrap="square" lIns="0" tIns="0" rIns="0" bIns="0" rtlCol="0" anchor="ctr"/>
          <a:lstStyle/>
          <a:p>
            <a:pPr marL="0" indent="0" algn="ctr">
              <a:buNone/>
            </a:pPr>
            <a:r>
              <a:rPr lang="en-US" sz="1150" b="1" dirty="0">
                <a:solidFill>
                  <a:srgbClr val="F1F5F9"/>
                </a:solidFill>
                <a:latin typeface="Pretendard" pitchFamily="34" charset="0"/>
                <a:ea typeface="Pretendard" pitchFamily="34" charset="-122"/>
                <a:cs typeface="Pretendard" pitchFamily="34" charset="-120"/>
              </a:rPr>
              <a:t>구조 · 계층 기준 청크</a:t>
            </a:r>
            <a:endParaRPr lang="en-US" sz="1150" dirty="0"/>
          </a:p>
        </p:txBody>
      </p:sp>
      <p:sp>
        <p:nvSpPr>
          <p:cNvPr id="22" name="Shape 19"/>
          <p:cNvSpPr/>
          <p:nvPr/>
        </p:nvSpPr>
        <p:spPr>
          <a:xfrm>
            <a:off x="7818120" y="2880360"/>
            <a:ext cx="2468880" cy="530352"/>
          </a:xfrm>
          <a:prstGeom prst="roundRect">
            <a:avLst>
              <a:gd name="adj" fmla="val 10345"/>
            </a:avLst>
          </a:prstGeom>
          <a:solidFill>
            <a:srgbClr val="161D2E"/>
          </a:solidFill>
          <a:ln w="12700">
            <a:solidFill>
              <a:srgbClr val="263049"/>
            </a:solidFill>
            <a:prstDash val="solid"/>
          </a:ln>
        </p:spPr>
        <p:txBody>
          <a:bodyPr/>
          <a:lstStyle/>
          <a:p>
            <a:endParaRPr lang="ko-KR" altLang="en-US"/>
          </a:p>
        </p:txBody>
      </p:sp>
      <p:sp>
        <p:nvSpPr>
          <p:cNvPr id="23" name="Text 20"/>
          <p:cNvSpPr/>
          <p:nvPr/>
        </p:nvSpPr>
        <p:spPr>
          <a:xfrm>
            <a:off x="7882128" y="2880360"/>
            <a:ext cx="2340864" cy="530352"/>
          </a:xfrm>
          <a:prstGeom prst="rect">
            <a:avLst/>
          </a:prstGeom>
          <a:noFill/>
          <a:ln/>
        </p:spPr>
        <p:txBody>
          <a:bodyPr wrap="square" lIns="0" tIns="0" rIns="0" bIns="0" rtlCol="0" anchor="ctr"/>
          <a:lstStyle/>
          <a:p>
            <a:pPr marL="0" indent="0" algn="ctr">
              <a:buNone/>
            </a:pPr>
            <a:r>
              <a:rPr lang="en-US" sz="1150" b="1" dirty="0">
                <a:solidFill>
                  <a:srgbClr val="F1F5F9"/>
                </a:solidFill>
                <a:latin typeface="Pretendard" pitchFamily="34" charset="0"/>
                <a:ea typeface="Pretendard" pitchFamily="34" charset="-122"/>
                <a:cs typeface="Pretendard" pitchFamily="34" charset="-120"/>
              </a:rPr>
              <a:t>토큰 수 기준 분할</a:t>
            </a:r>
            <a:endParaRPr lang="en-US" sz="1150" dirty="0"/>
          </a:p>
        </p:txBody>
      </p:sp>
      <p:sp>
        <p:nvSpPr>
          <p:cNvPr id="24" name="Shape 21"/>
          <p:cNvSpPr/>
          <p:nvPr/>
        </p:nvSpPr>
        <p:spPr>
          <a:xfrm>
            <a:off x="9052560" y="2587752"/>
            <a:ext cx="0" cy="274320"/>
          </a:xfrm>
          <a:prstGeom prst="line">
            <a:avLst/>
          </a:prstGeom>
          <a:noFill/>
          <a:ln w="19050">
            <a:solidFill>
              <a:srgbClr val="0E7490"/>
            </a:solidFill>
            <a:prstDash val="solid"/>
            <a:tailEnd type="triangle"/>
          </a:ln>
        </p:spPr>
        <p:txBody>
          <a:bodyPr/>
          <a:lstStyle/>
          <a:p>
            <a:endParaRPr lang="ko-KR" altLang="en-US"/>
          </a:p>
        </p:txBody>
      </p:sp>
      <p:sp>
        <p:nvSpPr>
          <p:cNvPr id="25" name="Shape 22"/>
          <p:cNvSpPr/>
          <p:nvPr/>
        </p:nvSpPr>
        <p:spPr>
          <a:xfrm>
            <a:off x="9052560" y="3410712"/>
            <a:ext cx="0" cy="274320"/>
          </a:xfrm>
          <a:prstGeom prst="line">
            <a:avLst/>
          </a:prstGeom>
          <a:noFill/>
          <a:ln w="19050">
            <a:solidFill>
              <a:srgbClr val="0E7490"/>
            </a:solidFill>
            <a:prstDash val="solid"/>
            <a:tailEnd type="triangle"/>
          </a:ln>
        </p:spPr>
        <p:txBody>
          <a:bodyPr/>
          <a:lstStyle/>
          <a:p>
            <a:endParaRPr lang="ko-KR" altLang="en-US"/>
          </a:p>
        </p:txBody>
      </p:sp>
      <p:sp>
        <p:nvSpPr>
          <p:cNvPr id="26" name="Shape 23"/>
          <p:cNvSpPr/>
          <p:nvPr/>
        </p:nvSpPr>
        <p:spPr>
          <a:xfrm>
            <a:off x="8046720" y="3703320"/>
            <a:ext cx="2011680" cy="914400"/>
          </a:xfrm>
          <a:prstGeom prst="diamond">
            <a:avLst/>
          </a:prstGeom>
          <a:solidFill>
            <a:srgbClr val="0F2A3A"/>
          </a:solidFill>
          <a:ln w="12700">
            <a:solidFill>
              <a:srgbClr val="155E75"/>
            </a:solidFill>
            <a:prstDash val="solid"/>
          </a:ln>
        </p:spPr>
        <p:txBody>
          <a:bodyPr/>
          <a:lstStyle/>
          <a:p>
            <a:endParaRPr lang="ko-KR" altLang="en-US"/>
          </a:p>
        </p:txBody>
      </p:sp>
      <p:sp>
        <p:nvSpPr>
          <p:cNvPr id="27" name="Text 24"/>
          <p:cNvSpPr/>
          <p:nvPr/>
        </p:nvSpPr>
        <p:spPr>
          <a:xfrm>
            <a:off x="8046720" y="3703320"/>
            <a:ext cx="2011680" cy="914400"/>
          </a:xfrm>
          <a:prstGeom prst="rect">
            <a:avLst/>
          </a:prstGeom>
          <a:noFill/>
          <a:ln/>
        </p:spPr>
        <p:txBody>
          <a:bodyPr wrap="square" lIns="0" tIns="0" rIns="0" bIns="0" rtlCol="0" anchor="ctr"/>
          <a:lstStyle/>
          <a:p>
            <a:pPr marL="0" indent="0" algn="ctr">
              <a:buNone/>
            </a:pPr>
            <a:r>
              <a:rPr lang="en-US" sz="1150" b="1" dirty="0">
                <a:solidFill>
                  <a:srgbClr val="67E8F9"/>
                </a:solidFill>
                <a:latin typeface="Pretendard" pitchFamily="34" charset="0"/>
                <a:ea typeface="Pretendard" pitchFamily="34" charset="-122"/>
                <a:cs typeface="Pretendard" pitchFamily="34" charset="-120"/>
              </a:rPr>
              <a:t>Peer 병합</a:t>
            </a:r>
            <a:endParaRPr lang="en-US" sz="1150" dirty="0"/>
          </a:p>
        </p:txBody>
      </p:sp>
      <p:sp>
        <p:nvSpPr>
          <p:cNvPr id="28" name="Text 25"/>
          <p:cNvSpPr/>
          <p:nvPr/>
        </p:nvSpPr>
        <p:spPr>
          <a:xfrm>
            <a:off x="6537960" y="4709160"/>
            <a:ext cx="1188720" cy="548640"/>
          </a:xfrm>
          <a:prstGeom prst="rect">
            <a:avLst/>
          </a:prstGeom>
          <a:noFill/>
          <a:ln/>
        </p:spPr>
        <p:txBody>
          <a:bodyPr wrap="square" lIns="0" tIns="0" rIns="0" bIns="0" rtlCol="0" anchor="ctr"/>
          <a:lstStyle/>
          <a:p>
            <a:pPr marL="0" indent="0">
              <a:lnSpc>
                <a:spcPct val="125000"/>
              </a:lnSpc>
              <a:buNone/>
            </a:pPr>
            <a:r>
              <a:rPr lang="en-US" sz="1000" dirty="0">
                <a:solidFill>
                  <a:srgbClr val="9FADC2"/>
                </a:solidFill>
                <a:latin typeface="Pretendard" pitchFamily="34" charset="0"/>
                <a:ea typeface="Pretendard" pitchFamily="34" charset="-122"/>
                <a:cs typeface="Pretendard" pitchFamily="34" charset="-120"/>
              </a:rPr>
              <a:t>동일한 메타데이터</a:t>
            </a:r>
            <a:endParaRPr lang="en-US" sz="1000" dirty="0"/>
          </a:p>
          <a:p>
            <a:pPr marL="0" indent="0">
              <a:lnSpc>
                <a:spcPct val="125000"/>
              </a:lnSpc>
              <a:buNone/>
            </a:pPr>
            <a:r>
              <a:rPr lang="en-US" sz="1000" dirty="0">
                <a:solidFill>
                  <a:srgbClr val="9FADC2"/>
                </a:solidFill>
                <a:latin typeface="Pretendard" pitchFamily="34" charset="0"/>
                <a:ea typeface="Pretendard" pitchFamily="34" charset="-122"/>
                <a:cs typeface="Pretendard" pitchFamily="34" charset="-120"/>
              </a:rPr>
              <a:t>토큰 제한 이내</a:t>
            </a:r>
            <a:endParaRPr lang="en-US" sz="1000" dirty="0"/>
          </a:p>
        </p:txBody>
      </p:sp>
      <p:sp>
        <p:nvSpPr>
          <p:cNvPr id="29" name="Shape 26"/>
          <p:cNvSpPr/>
          <p:nvPr/>
        </p:nvSpPr>
        <p:spPr>
          <a:xfrm>
            <a:off x="9052560" y="4617720"/>
            <a:ext cx="0" cy="347472"/>
          </a:xfrm>
          <a:prstGeom prst="line">
            <a:avLst/>
          </a:prstGeom>
          <a:noFill/>
          <a:ln w="19050">
            <a:solidFill>
              <a:srgbClr val="0E7490"/>
            </a:solidFill>
            <a:prstDash val="solid"/>
            <a:tailEnd type="triangle"/>
          </a:ln>
        </p:spPr>
        <p:txBody>
          <a:bodyPr/>
          <a:lstStyle/>
          <a:p>
            <a:endParaRPr lang="ko-KR" altLang="en-US"/>
          </a:p>
        </p:txBody>
      </p:sp>
      <p:sp>
        <p:nvSpPr>
          <p:cNvPr id="30" name="Shape 27"/>
          <p:cNvSpPr/>
          <p:nvPr/>
        </p:nvSpPr>
        <p:spPr>
          <a:xfrm>
            <a:off x="7818120" y="4983480"/>
            <a:ext cx="2468880" cy="530352"/>
          </a:xfrm>
          <a:prstGeom prst="roundRect">
            <a:avLst>
              <a:gd name="adj" fmla="val 10345"/>
            </a:avLst>
          </a:prstGeom>
          <a:solidFill>
            <a:srgbClr val="161D2E"/>
          </a:solidFill>
          <a:ln w="12700">
            <a:solidFill>
              <a:srgbClr val="263049"/>
            </a:solidFill>
            <a:prstDash val="solid"/>
          </a:ln>
        </p:spPr>
        <p:txBody>
          <a:bodyPr/>
          <a:lstStyle/>
          <a:p>
            <a:endParaRPr lang="ko-KR" altLang="en-US"/>
          </a:p>
        </p:txBody>
      </p:sp>
      <p:sp>
        <p:nvSpPr>
          <p:cNvPr id="31" name="Text 28"/>
          <p:cNvSpPr/>
          <p:nvPr/>
        </p:nvSpPr>
        <p:spPr>
          <a:xfrm>
            <a:off x="7882128" y="4983480"/>
            <a:ext cx="2340864" cy="530352"/>
          </a:xfrm>
          <a:prstGeom prst="rect">
            <a:avLst/>
          </a:prstGeom>
          <a:noFill/>
          <a:ln/>
        </p:spPr>
        <p:txBody>
          <a:bodyPr wrap="square" lIns="0" tIns="0" rIns="0" bIns="0" rtlCol="0" anchor="ctr"/>
          <a:lstStyle/>
          <a:p>
            <a:pPr marL="0" indent="0" algn="ctr">
              <a:buNone/>
            </a:pPr>
            <a:r>
              <a:rPr lang="en-US" sz="1150" b="1" dirty="0">
                <a:solidFill>
                  <a:srgbClr val="F1F5F9"/>
                </a:solidFill>
                <a:latin typeface="Pretendard" pitchFamily="34" charset="0"/>
                <a:ea typeface="Pretendard" pitchFamily="34" charset="-122"/>
                <a:cs typeface="Pretendard" pitchFamily="34" charset="-120"/>
              </a:rPr>
              <a:t>인접 청크 병합</a:t>
            </a:r>
            <a:endParaRPr lang="en-US" sz="1150" dirty="0"/>
          </a:p>
        </p:txBody>
      </p:sp>
      <p:sp>
        <p:nvSpPr>
          <p:cNvPr id="32" name="Shape 29"/>
          <p:cNvSpPr/>
          <p:nvPr/>
        </p:nvSpPr>
        <p:spPr>
          <a:xfrm>
            <a:off x="9052560" y="5513832"/>
            <a:ext cx="0" cy="274320"/>
          </a:xfrm>
          <a:prstGeom prst="line">
            <a:avLst/>
          </a:prstGeom>
          <a:noFill/>
          <a:ln w="19050">
            <a:solidFill>
              <a:srgbClr val="0E7490"/>
            </a:solidFill>
            <a:prstDash val="solid"/>
            <a:tailEnd type="triangle"/>
          </a:ln>
        </p:spPr>
        <p:txBody>
          <a:bodyPr/>
          <a:lstStyle/>
          <a:p>
            <a:endParaRPr lang="ko-KR" altLang="en-US"/>
          </a:p>
        </p:txBody>
      </p:sp>
      <p:sp>
        <p:nvSpPr>
          <p:cNvPr id="33" name="Shape 30"/>
          <p:cNvSpPr/>
          <p:nvPr/>
        </p:nvSpPr>
        <p:spPr>
          <a:xfrm>
            <a:off x="7818120" y="5806440"/>
            <a:ext cx="2468880" cy="530352"/>
          </a:xfrm>
          <a:prstGeom prst="roundRect">
            <a:avLst>
              <a:gd name="adj" fmla="val 10345"/>
            </a:avLst>
          </a:prstGeom>
          <a:solidFill>
            <a:srgbClr val="0F2A3A"/>
          </a:solidFill>
          <a:ln w="12700">
            <a:solidFill>
              <a:srgbClr val="155E75"/>
            </a:solidFill>
            <a:prstDash val="solid"/>
          </a:ln>
        </p:spPr>
        <p:txBody>
          <a:bodyPr/>
          <a:lstStyle/>
          <a:p>
            <a:endParaRPr lang="ko-KR" altLang="en-US"/>
          </a:p>
        </p:txBody>
      </p:sp>
      <p:sp>
        <p:nvSpPr>
          <p:cNvPr id="34" name="Text 31"/>
          <p:cNvSpPr/>
          <p:nvPr/>
        </p:nvSpPr>
        <p:spPr>
          <a:xfrm>
            <a:off x="7882128" y="5806440"/>
            <a:ext cx="2340864" cy="530352"/>
          </a:xfrm>
          <a:prstGeom prst="rect">
            <a:avLst/>
          </a:prstGeom>
          <a:noFill/>
          <a:ln/>
        </p:spPr>
        <p:txBody>
          <a:bodyPr wrap="square" lIns="0" tIns="0" rIns="0" bIns="0" rtlCol="0" anchor="ctr"/>
          <a:lstStyle/>
          <a:p>
            <a:pPr marL="0" indent="0" algn="ctr">
              <a:buNone/>
            </a:pPr>
            <a:r>
              <a:rPr lang="en-US" sz="1150" b="1" dirty="0">
                <a:solidFill>
                  <a:srgbClr val="67E8F9"/>
                </a:solidFill>
                <a:latin typeface="Pretendard" pitchFamily="34" charset="0"/>
                <a:ea typeface="Pretendard" pitchFamily="34" charset="-122"/>
                <a:cs typeface="Pretendard" pitchFamily="34" charset="-120"/>
              </a:rPr>
              <a:t>최종 청크</a:t>
            </a:r>
            <a:endParaRPr lang="en-US" sz="1150" dirty="0"/>
          </a:p>
        </p:txBody>
      </p:sp>
      <p:sp>
        <p:nvSpPr>
          <p:cNvPr id="35" name="Shape 32"/>
          <p:cNvSpPr/>
          <p:nvPr/>
        </p:nvSpPr>
        <p:spPr>
          <a:xfrm>
            <a:off x="10058400" y="4160520"/>
            <a:ext cx="685800" cy="0"/>
          </a:xfrm>
          <a:prstGeom prst="line">
            <a:avLst/>
          </a:prstGeom>
          <a:noFill/>
          <a:ln w="19050">
            <a:solidFill>
              <a:srgbClr val="0E7490"/>
            </a:solidFill>
            <a:prstDash val="solid"/>
          </a:ln>
        </p:spPr>
        <p:txBody>
          <a:bodyPr/>
          <a:lstStyle/>
          <a:p>
            <a:endParaRPr lang="ko-KR" altLang="en-US"/>
          </a:p>
        </p:txBody>
      </p:sp>
      <p:sp>
        <p:nvSpPr>
          <p:cNvPr id="36" name="Shape 33"/>
          <p:cNvSpPr/>
          <p:nvPr/>
        </p:nvSpPr>
        <p:spPr>
          <a:xfrm>
            <a:off x="10744200" y="4160520"/>
            <a:ext cx="0" cy="1911096"/>
          </a:xfrm>
          <a:prstGeom prst="line">
            <a:avLst/>
          </a:prstGeom>
          <a:noFill/>
          <a:ln w="19050">
            <a:solidFill>
              <a:srgbClr val="0E7490"/>
            </a:solidFill>
            <a:prstDash val="solid"/>
          </a:ln>
        </p:spPr>
        <p:txBody>
          <a:bodyPr/>
          <a:lstStyle/>
          <a:p>
            <a:endParaRPr lang="ko-KR" altLang="en-US"/>
          </a:p>
        </p:txBody>
      </p:sp>
      <p:sp>
        <p:nvSpPr>
          <p:cNvPr id="37" name="Shape 34"/>
          <p:cNvSpPr/>
          <p:nvPr/>
        </p:nvSpPr>
        <p:spPr>
          <a:xfrm flipH="1">
            <a:off x="10305288" y="6071616"/>
            <a:ext cx="438912" cy="0"/>
          </a:xfrm>
          <a:prstGeom prst="line">
            <a:avLst/>
          </a:prstGeom>
          <a:noFill/>
          <a:ln w="19050">
            <a:solidFill>
              <a:srgbClr val="0E7490"/>
            </a:solidFill>
            <a:prstDash val="solid"/>
            <a:tailEnd type="triangle"/>
          </a:ln>
        </p:spPr>
        <p:txBody>
          <a:bodyPr/>
          <a:lstStyle/>
          <a:p>
            <a:endParaRPr lang="ko-KR" altLang="en-US"/>
          </a:p>
        </p:txBody>
      </p:sp>
      <p:sp>
        <p:nvSpPr>
          <p:cNvPr id="38" name="Text 35"/>
          <p:cNvSpPr/>
          <p:nvPr/>
        </p:nvSpPr>
        <p:spPr>
          <a:xfrm>
            <a:off x="10104120" y="4224528"/>
            <a:ext cx="1463040" cy="274320"/>
          </a:xfrm>
          <a:prstGeom prst="rect">
            <a:avLst/>
          </a:prstGeom>
          <a:noFill/>
          <a:ln/>
        </p:spPr>
        <p:txBody>
          <a:bodyPr wrap="square" lIns="0" tIns="0" rIns="0" bIns="0" rtlCol="0" anchor="ctr"/>
          <a:lstStyle/>
          <a:p>
            <a:pPr marL="0" indent="0">
              <a:buNone/>
            </a:pPr>
            <a:r>
              <a:rPr lang="en-US" sz="950" dirty="0">
                <a:solidFill>
                  <a:srgbClr val="9FADC2"/>
                </a:solidFill>
                <a:latin typeface="Pretendard" pitchFamily="34" charset="0"/>
                <a:ea typeface="Pretendard" pitchFamily="34" charset="-122"/>
                <a:cs typeface="Pretendard" pitchFamily="34" charset="-120"/>
              </a:rPr>
              <a:t>병합 대상 아님</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APPENDIX ④</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HybridChunker 한계점 — 제목 계층 손실</a:t>
            </a:r>
            <a:endParaRPr lang="en-US" sz="2700" dirty="0"/>
          </a:p>
        </p:txBody>
      </p:sp>
      <p:sp>
        <p:nvSpPr>
          <p:cNvPr id="5" name="Text 2"/>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37</a:t>
            </a:r>
            <a:endParaRPr lang="en-US" sz="1050" dirty="0"/>
          </a:p>
        </p:txBody>
      </p:sp>
      <p:sp>
        <p:nvSpPr>
          <p:cNvPr id="6" name="Shape 3"/>
          <p:cNvSpPr/>
          <p:nvPr/>
        </p:nvSpPr>
        <p:spPr>
          <a:xfrm>
            <a:off x="566928" y="1554480"/>
            <a:ext cx="3383280" cy="685800"/>
          </a:xfrm>
          <a:prstGeom prst="roundRect">
            <a:avLst>
              <a:gd name="adj" fmla="val 8000"/>
            </a:avLst>
          </a:prstGeom>
          <a:solidFill>
            <a:srgbClr val="161D2E"/>
          </a:solidFill>
          <a:ln w="12700">
            <a:solidFill>
              <a:srgbClr val="263049"/>
            </a:solidFill>
            <a:prstDash val="solid"/>
          </a:ln>
        </p:spPr>
        <p:txBody>
          <a:bodyPr/>
          <a:lstStyle/>
          <a:p>
            <a:endParaRPr lang="ko-KR" altLang="en-US"/>
          </a:p>
        </p:txBody>
      </p:sp>
      <p:sp>
        <p:nvSpPr>
          <p:cNvPr id="7" name="Text 4"/>
          <p:cNvSpPr/>
          <p:nvPr/>
        </p:nvSpPr>
        <p:spPr>
          <a:xfrm>
            <a:off x="630936" y="1554480"/>
            <a:ext cx="3255264" cy="685800"/>
          </a:xfrm>
          <a:prstGeom prst="rect">
            <a:avLst/>
          </a:prstGeom>
          <a:noFill/>
          <a:ln/>
        </p:spPr>
        <p:txBody>
          <a:bodyPr wrap="square" lIns="0" tIns="0" rIns="0" bIns="0" rtlCol="0" anchor="ctr"/>
          <a:lstStyle/>
          <a:p>
            <a:pPr marL="0" indent="0" algn="ctr">
              <a:buNone/>
            </a:pPr>
            <a:r>
              <a:rPr lang="en-US" sz="1250" b="1" dirty="0">
                <a:solidFill>
                  <a:srgbClr val="F1F5F9"/>
                </a:solidFill>
                <a:latin typeface="Pretendard" pitchFamily="34" charset="0"/>
                <a:ea typeface="Pretendard" pitchFamily="34" charset="-122"/>
                <a:cs typeface="Pretendard" pitchFamily="34" charset="-120"/>
              </a:rPr>
              <a:t>입력 계층 구조 의존</a:t>
            </a:r>
            <a:endParaRPr lang="en-US" sz="1250" dirty="0"/>
          </a:p>
        </p:txBody>
      </p:sp>
      <p:sp>
        <p:nvSpPr>
          <p:cNvPr id="8" name="Shape 5"/>
          <p:cNvSpPr/>
          <p:nvPr/>
        </p:nvSpPr>
        <p:spPr>
          <a:xfrm>
            <a:off x="4023360" y="1897380"/>
            <a:ext cx="411480" cy="0"/>
          </a:xfrm>
          <a:prstGeom prst="line">
            <a:avLst/>
          </a:prstGeom>
          <a:noFill/>
          <a:ln w="19050">
            <a:solidFill>
              <a:srgbClr val="0E7490"/>
            </a:solidFill>
            <a:prstDash val="solid"/>
            <a:tailEnd type="triangle"/>
          </a:ln>
        </p:spPr>
        <p:txBody>
          <a:bodyPr/>
          <a:lstStyle/>
          <a:p>
            <a:endParaRPr lang="ko-KR" altLang="en-US"/>
          </a:p>
        </p:txBody>
      </p:sp>
      <p:sp>
        <p:nvSpPr>
          <p:cNvPr id="9" name="Shape 6"/>
          <p:cNvSpPr/>
          <p:nvPr/>
        </p:nvSpPr>
        <p:spPr>
          <a:xfrm>
            <a:off x="4480560" y="1554480"/>
            <a:ext cx="3383280" cy="685800"/>
          </a:xfrm>
          <a:prstGeom prst="roundRect">
            <a:avLst>
              <a:gd name="adj" fmla="val 8000"/>
            </a:avLst>
          </a:prstGeom>
          <a:solidFill>
            <a:srgbClr val="351717"/>
          </a:solidFill>
          <a:ln w="12700">
            <a:solidFill>
              <a:srgbClr val="7F1D1D"/>
            </a:solidFill>
            <a:prstDash val="solid"/>
          </a:ln>
        </p:spPr>
        <p:txBody>
          <a:bodyPr/>
          <a:lstStyle/>
          <a:p>
            <a:endParaRPr lang="ko-KR" altLang="en-US"/>
          </a:p>
        </p:txBody>
      </p:sp>
      <p:sp>
        <p:nvSpPr>
          <p:cNvPr id="10" name="Text 7"/>
          <p:cNvSpPr/>
          <p:nvPr/>
        </p:nvSpPr>
        <p:spPr>
          <a:xfrm>
            <a:off x="4544568" y="1554480"/>
            <a:ext cx="3255264" cy="685800"/>
          </a:xfrm>
          <a:prstGeom prst="rect">
            <a:avLst/>
          </a:prstGeom>
          <a:noFill/>
          <a:ln/>
        </p:spPr>
        <p:txBody>
          <a:bodyPr wrap="square" lIns="0" tIns="0" rIns="0" bIns="0" rtlCol="0" anchor="ctr"/>
          <a:lstStyle/>
          <a:p>
            <a:pPr marL="0" indent="0" algn="ctr">
              <a:buNone/>
            </a:pPr>
            <a:r>
              <a:rPr lang="en-US" sz="1250" b="1" dirty="0">
                <a:solidFill>
                  <a:srgbClr val="F87171"/>
                </a:solidFill>
                <a:latin typeface="Pretendard" pitchFamily="34" charset="0"/>
                <a:ea typeface="Pretendard" pitchFamily="34" charset="-122"/>
                <a:cs typeface="Pretendard" pitchFamily="34" charset="-120"/>
              </a:rPr>
              <a:t>부정확한 Heading 인식</a:t>
            </a:r>
            <a:endParaRPr lang="en-US" sz="1250" dirty="0"/>
          </a:p>
        </p:txBody>
      </p:sp>
      <p:sp>
        <p:nvSpPr>
          <p:cNvPr id="11" name="Shape 8"/>
          <p:cNvSpPr/>
          <p:nvPr/>
        </p:nvSpPr>
        <p:spPr>
          <a:xfrm>
            <a:off x="7936992" y="1897380"/>
            <a:ext cx="411480" cy="0"/>
          </a:xfrm>
          <a:prstGeom prst="line">
            <a:avLst/>
          </a:prstGeom>
          <a:noFill/>
          <a:ln w="19050">
            <a:solidFill>
              <a:srgbClr val="0E7490"/>
            </a:solidFill>
            <a:prstDash val="solid"/>
            <a:tailEnd type="triangle"/>
          </a:ln>
        </p:spPr>
        <p:txBody>
          <a:bodyPr/>
          <a:lstStyle/>
          <a:p>
            <a:endParaRPr lang="ko-KR" altLang="en-US"/>
          </a:p>
        </p:txBody>
      </p:sp>
      <p:sp>
        <p:nvSpPr>
          <p:cNvPr id="12" name="Shape 9"/>
          <p:cNvSpPr/>
          <p:nvPr/>
        </p:nvSpPr>
        <p:spPr>
          <a:xfrm>
            <a:off x="8394192" y="1554480"/>
            <a:ext cx="3236976" cy="685800"/>
          </a:xfrm>
          <a:prstGeom prst="roundRect">
            <a:avLst>
              <a:gd name="adj" fmla="val 8000"/>
            </a:avLst>
          </a:prstGeom>
          <a:solidFill>
            <a:srgbClr val="351717"/>
          </a:solidFill>
          <a:ln w="12700">
            <a:solidFill>
              <a:srgbClr val="7F1D1D"/>
            </a:solidFill>
            <a:prstDash val="solid"/>
          </a:ln>
        </p:spPr>
        <p:txBody>
          <a:bodyPr/>
          <a:lstStyle/>
          <a:p>
            <a:endParaRPr lang="ko-KR" altLang="en-US"/>
          </a:p>
        </p:txBody>
      </p:sp>
      <p:sp>
        <p:nvSpPr>
          <p:cNvPr id="13" name="Text 10"/>
          <p:cNvSpPr/>
          <p:nvPr/>
        </p:nvSpPr>
        <p:spPr>
          <a:xfrm>
            <a:off x="8458200" y="1554480"/>
            <a:ext cx="3108960" cy="685800"/>
          </a:xfrm>
          <a:prstGeom prst="rect">
            <a:avLst/>
          </a:prstGeom>
          <a:noFill/>
          <a:ln/>
        </p:spPr>
        <p:txBody>
          <a:bodyPr wrap="square" lIns="0" tIns="0" rIns="0" bIns="0" rtlCol="0" anchor="ctr"/>
          <a:lstStyle/>
          <a:p>
            <a:pPr marL="0" indent="0" algn="ctr">
              <a:buNone/>
            </a:pPr>
            <a:r>
              <a:rPr lang="en-US" sz="1150" b="1" dirty="0">
                <a:solidFill>
                  <a:srgbClr val="F87171"/>
                </a:solidFill>
                <a:latin typeface="Pretendard" pitchFamily="34" charset="0"/>
                <a:ea typeface="Pretendard" pitchFamily="34" charset="-122"/>
                <a:cs typeface="Pretendard" pitchFamily="34" charset="-120"/>
              </a:rPr>
              <a:t>청크 문맥 손실 · 잘못된 병합 판단</a:t>
            </a:r>
            <a:endParaRPr lang="en-US" sz="1150" dirty="0"/>
          </a:p>
        </p:txBody>
      </p:sp>
      <p:sp>
        <p:nvSpPr>
          <p:cNvPr id="14" name="Shape 11"/>
          <p:cNvSpPr/>
          <p:nvPr/>
        </p:nvSpPr>
        <p:spPr>
          <a:xfrm>
            <a:off x="566928" y="2514600"/>
            <a:ext cx="3538728" cy="2286000"/>
          </a:xfrm>
          <a:prstGeom prst="roundRect">
            <a:avLst>
              <a:gd name="adj" fmla="val 3200"/>
            </a:avLst>
          </a:prstGeom>
          <a:solidFill>
            <a:srgbClr val="1B2436"/>
          </a:solidFill>
          <a:ln w="12700">
            <a:solidFill>
              <a:srgbClr val="263049"/>
            </a:solidFill>
            <a:prstDash val="solid"/>
          </a:ln>
        </p:spPr>
        <p:txBody>
          <a:bodyPr/>
          <a:lstStyle/>
          <a:p>
            <a:endParaRPr lang="ko-KR" altLang="en-US"/>
          </a:p>
        </p:txBody>
      </p:sp>
      <p:sp>
        <p:nvSpPr>
          <p:cNvPr id="15" name="Text 12"/>
          <p:cNvSpPr/>
          <p:nvPr/>
        </p:nvSpPr>
        <p:spPr>
          <a:xfrm>
            <a:off x="804672" y="2679192"/>
            <a:ext cx="3063240" cy="292608"/>
          </a:xfrm>
          <a:prstGeom prst="rect">
            <a:avLst/>
          </a:prstGeom>
          <a:noFill/>
          <a:ln/>
        </p:spPr>
        <p:txBody>
          <a:bodyPr wrap="square" lIns="0" tIns="0" rIns="0" bIns="0" rtlCol="0" anchor="ctr"/>
          <a:lstStyle/>
          <a:p>
            <a:pPr marL="0" indent="0">
              <a:buNone/>
            </a:pPr>
            <a:r>
              <a:rPr lang="en-US" sz="1200" b="1" dirty="0">
                <a:solidFill>
                  <a:srgbClr val="67E8F9"/>
                </a:solidFill>
                <a:latin typeface="Pretendard" pitchFamily="34" charset="0"/>
                <a:ea typeface="Pretendard" pitchFamily="34" charset="-122"/>
                <a:cs typeface="Pretendard" pitchFamily="34" charset="-120"/>
              </a:rPr>
              <a:t>PDF 내용</a:t>
            </a:r>
            <a:endParaRPr lang="en-US" sz="1200" dirty="0"/>
          </a:p>
        </p:txBody>
      </p:sp>
      <p:sp>
        <p:nvSpPr>
          <p:cNvPr id="16" name="Text 13"/>
          <p:cNvSpPr/>
          <p:nvPr/>
        </p:nvSpPr>
        <p:spPr>
          <a:xfrm>
            <a:off x="804672" y="3044952"/>
            <a:ext cx="3063240" cy="1325880"/>
          </a:xfrm>
          <a:prstGeom prst="rect">
            <a:avLst/>
          </a:prstGeom>
          <a:noFill/>
          <a:ln/>
        </p:spPr>
        <p:txBody>
          <a:bodyPr wrap="square" lIns="0" tIns="0" rIns="0" bIns="0" rtlCol="0" anchor="t"/>
          <a:lstStyle/>
          <a:p>
            <a:pPr marL="0" indent="0">
              <a:lnSpc>
                <a:spcPct val="130000"/>
              </a:lnSpc>
              <a:buNone/>
            </a:pPr>
            <a:r>
              <a:rPr lang="en-US" sz="950" dirty="0">
                <a:solidFill>
                  <a:srgbClr val="F1F5F9"/>
                </a:solidFill>
                <a:latin typeface="Consolas" pitchFamily="34" charset="0"/>
                <a:ea typeface="Consolas" pitchFamily="34" charset="-122"/>
                <a:cs typeface="Consolas" pitchFamily="34" charset="-120"/>
              </a:rPr>
              <a:t>로그인</a:t>
            </a:r>
            <a:endParaRPr lang="en-US" sz="950" dirty="0"/>
          </a:p>
          <a:p>
            <a:pPr marL="0" indent="0">
              <a:lnSpc>
                <a:spcPct val="130000"/>
              </a:lnSpc>
              <a:buNone/>
            </a:pPr>
            <a:r>
              <a:rPr lang="en-US" sz="950" dirty="0">
                <a:solidFill>
                  <a:srgbClr val="F1F5F9"/>
                </a:solidFill>
                <a:latin typeface="Consolas" pitchFamily="34" charset="0"/>
                <a:ea typeface="Consolas" pitchFamily="34" charset="-122"/>
                <a:cs typeface="Consolas" pitchFamily="34" charset="-120"/>
              </a:rPr>
              <a:t>  상세 기능</a:t>
            </a:r>
            <a:endParaRPr lang="en-US" sz="950" dirty="0"/>
          </a:p>
          <a:p>
            <a:pPr marL="0" indent="0">
              <a:lnSpc>
                <a:spcPct val="130000"/>
              </a:lnSpc>
              <a:buNone/>
            </a:pPr>
            <a:r>
              <a:rPr lang="en-US" sz="950" dirty="0">
                <a:solidFill>
                  <a:srgbClr val="F1F5F9"/>
                </a:solidFill>
                <a:latin typeface="Consolas" pitchFamily="34" charset="0"/>
                <a:ea typeface="Consolas" pitchFamily="34" charset="-122"/>
                <a:cs typeface="Consolas" pitchFamily="34" charset="-120"/>
              </a:rPr>
              <a:t>    1. 아이디와 비밀번호를 입력한다</a:t>
            </a:r>
            <a:endParaRPr lang="en-US" sz="950" dirty="0"/>
          </a:p>
        </p:txBody>
      </p:sp>
      <p:sp>
        <p:nvSpPr>
          <p:cNvPr id="17" name="Shape 14"/>
          <p:cNvSpPr/>
          <p:nvPr/>
        </p:nvSpPr>
        <p:spPr>
          <a:xfrm>
            <a:off x="4343400" y="2514600"/>
            <a:ext cx="3538728" cy="2286000"/>
          </a:xfrm>
          <a:prstGeom prst="roundRect">
            <a:avLst>
              <a:gd name="adj" fmla="val 3200"/>
            </a:avLst>
          </a:prstGeom>
          <a:solidFill>
            <a:srgbClr val="1B2436"/>
          </a:solidFill>
          <a:ln w="12700">
            <a:solidFill>
              <a:srgbClr val="263049"/>
            </a:solidFill>
            <a:prstDash val="solid"/>
          </a:ln>
        </p:spPr>
        <p:txBody>
          <a:bodyPr/>
          <a:lstStyle/>
          <a:p>
            <a:endParaRPr lang="ko-KR" altLang="en-US"/>
          </a:p>
        </p:txBody>
      </p:sp>
      <p:sp>
        <p:nvSpPr>
          <p:cNvPr id="18" name="Text 15"/>
          <p:cNvSpPr/>
          <p:nvPr/>
        </p:nvSpPr>
        <p:spPr>
          <a:xfrm>
            <a:off x="4581144" y="2679192"/>
            <a:ext cx="3063240" cy="292608"/>
          </a:xfrm>
          <a:prstGeom prst="rect">
            <a:avLst/>
          </a:prstGeom>
          <a:noFill/>
          <a:ln/>
        </p:spPr>
        <p:txBody>
          <a:bodyPr wrap="square" lIns="0" tIns="0" rIns="0" bIns="0" rtlCol="0" anchor="ctr"/>
          <a:lstStyle/>
          <a:p>
            <a:pPr marL="0" indent="0">
              <a:buNone/>
            </a:pPr>
            <a:r>
              <a:rPr lang="en-US" sz="1200" b="1" dirty="0">
                <a:solidFill>
                  <a:srgbClr val="67E8F9"/>
                </a:solidFill>
                <a:latin typeface="Pretendard" pitchFamily="34" charset="0"/>
                <a:ea typeface="Pretendard" pitchFamily="34" charset="-122"/>
                <a:cs typeface="Pretendard" pitchFamily="34" charset="-120"/>
              </a:rPr>
              <a:t>파싱된 결과</a:t>
            </a:r>
            <a:endParaRPr lang="en-US" sz="1200" dirty="0"/>
          </a:p>
        </p:txBody>
      </p:sp>
      <p:sp>
        <p:nvSpPr>
          <p:cNvPr id="19" name="Text 16"/>
          <p:cNvSpPr/>
          <p:nvPr/>
        </p:nvSpPr>
        <p:spPr>
          <a:xfrm>
            <a:off x="4581144" y="3044952"/>
            <a:ext cx="3063240" cy="1325880"/>
          </a:xfrm>
          <a:prstGeom prst="rect">
            <a:avLst/>
          </a:prstGeom>
          <a:noFill/>
          <a:ln/>
        </p:spPr>
        <p:txBody>
          <a:bodyPr wrap="square" lIns="0" tIns="0" rIns="0" bIns="0" rtlCol="0" anchor="t"/>
          <a:lstStyle/>
          <a:p>
            <a:pPr marL="0" indent="0">
              <a:lnSpc>
                <a:spcPct val="130000"/>
              </a:lnSpc>
              <a:buNone/>
            </a:pPr>
            <a:r>
              <a:rPr lang="en-US" sz="950" dirty="0">
                <a:solidFill>
                  <a:srgbClr val="F1F5F9"/>
                </a:solidFill>
                <a:latin typeface="Consolas" pitchFamily="34" charset="0"/>
                <a:ea typeface="Consolas" pitchFamily="34" charset="-122"/>
                <a:cs typeface="Consolas" pitchFamily="34" charset="-120"/>
              </a:rPr>
              <a:t>{ "text": "로그인",</a:t>
            </a:r>
            <a:endParaRPr lang="en-US" sz="950" dirty="0"/>
          </a:p>
          <a:p>
            <a:pPr marL="0" indent="0">
              <a:lnSpc>
                <a:spcPct val="130000"/>
              </a:lnSpc>
              <a:buNone/>
            </a:pPr>
            <a:r>
              <a:rPr lang="en-US" sz="950" dirty="0">
                <a:solidFill>
                  <a:srgbClr val="F1F5F9"/>
                </a:solidFill>
                <a:latin typeface="Consolas" pitchFamily="34" charset="0"/>
                <a:ea typeface="Consolas" pitchFamily="34" charset="-122"/>
                <a:cs typeface="Consolas" pitchFamily="34" charset="-120"/>
              </a:rPr>
              <a:t>  "label": "section_header",</a:t>
            </a:r>
            <a:endParaRPr lang="en-US" sz="950" dirty="0"/>
          </a:p>
          <a:p>
            <a:pPr marL="0" indent="0">
              <a:lnSpc>
                <a:spcPct val="130000"/>
              </a:lnSpc>
              <a:buNone/>
            </a:pPr>
            <a:r>
              <a:rPr lang="en-US" sz="950" dirty="0">
                <a:solidFill>
                  <a:srgbClr val="F1F5F9"/>
                </a:solidFill>
                <a:latin typeface="Consolas" pitchFamily="34" charset="0"/>
                <a:ea typeface="Consolas" pitchFamily="34" charset="-122"/>
                <a:cs typeface="Consolas" pitchFamily="34" charset="-120"/>
              </a:rPr>
              <a:t>  "level": 1 }</a:t>
            </a:r>
            <a:endParaRPr lang="en-US" sz="950" dirty="0"/>
          </a:p>
          <a:p>
            <a:pPr marL="0" indent="0">
              <a:lnSpc>
                <a:spcPct val="130000"/>
              </a:lnSpc>
              <a:buNone/>
            </a:pPr>
            <a:r>
              <a:rPr lang="en-US" sz="950" dirty="0">
                <a:solidFill>
                  <a:srgbClr val="F1F5F9"/>
                </a:solidFill>
                <a:latin typeface="Consolas" pitchFamily="34" charset="0"/>
                <a:ea typeface="Consolas" pitchFamily="34" charset="-122"/>
                <a:cs typeface="Consolas" pitchFamily="34" charset="-120"/>
              </a:rPr>
              <a:t>{ "text": "상세 기능",</a:t>
            </a:r>
            <a:endParaRPr lang="en-US" sz="950" dirty="0"/>
          </a:p>
          <a:p>
            <a:pPr marL="0" indent="0">
              <a:lnSpc>
                <a:spcPct val="130000"/>
              </a:lnSpc>
              <a:buNone/>
            </a:pPr>
            <a:r>
              <a:rPr lang="en-US" sz="950" dirty="0">
                <a:solidFill>
                  <a:srgbClr val="F1F5F9"/>
                </a:solidFill>
                <a:latin typeface="Consolas" pitchFamily="34" charset="0"/>
                <a:ea typeface="Consolas" pitchFamily="34" charset="-122"/>
                <a:cs typeface="Consolas" pitchFamily="34" charset="-120"/>
              </a:rPr>
              <a:t>  "label": "section_header",</a:t>
            </a:r>
            <a:endParaRPr lang="en-US" sz="950" dirty="0"/>
          </a:p>
          <a:p>
            <a:pPr marL="0" indent="0">
              <a:lnSpc>
                <a:spcPct val="130000"/>
              </a:lnSpc>
              <a:buNone/>
            </a:pPr>
            <a:r>
              <a:rPr lang="en-US" sz="950" dirty="0">
                <a:solidFill>
                  <a:srgbClr val="F1F5F9"/>
                </a:solidFill>
                <a:latin typeface="Consolas" pitchFamily="34" charset="0"/>
                <a:ea typeface="Consolas" pitchFamily="34" charset="-122"/>
                <a:cs typeface="Consolas" pitchFamily="34" charset="-120"/>
              </a:rPr>
              <a:t>  "level": 1 }</a:t>
            </a:r>
            <a:endParaRPr lang="en-US" sz="950" dirty="0"/>
          </a:p>
        </p:txBody>
      </p:sp>
      <p:sp>
        <p:nvSpPr>
          <p:cNvPr id="20" name="Text 17"/>
          <p:cNvSpPr/>
          <p:nvPr/>
        </p:nvSpPr>
        <p:spPr>
          <a:xfrm>
            <a:off x="4581144" y="4297680"/>
            <a:ext cx="3063240" cy="411480"/>
          </a:xfrm>
          <a:prstGeom prst="rect">
            <a:avLst/>
          </a:prstGeom>
          <a:noFill/>
          <a:ln/>
        </p:spPr>
        <p:txBody>
          <a:bodyPr wrap="square" lIns="0" tIns="0" rIns="0" bIns="0" rtlCol="0" anchor="t"/>
          <a:lstStyle/>
          <a:p>
            <a:pPr marL="0" indent="0">
              <a:lnSpc>
                <a:spcPct val="120000"/>
              </a:lnSpc>
              <a:buNone/>
            </a:pPr>
            <a:r>
              <a:rPr lang="en-US" sz="1000" dirty="0">
                <a:solidFill>
                  <a:srgbClr val="F87171"/>
                </a:solidFill>
                <a:latin typeface="Pretendard" pitchFamily="34" charset="0"/>
                <a:ea typeface="Pretendard" pitchFamily="34" charset="-122"/>
                <a:cs typeface="Pretendard" pitchFamily="34" charset="-120"/>
              </a:rPr>
              <a:t>상하 관계를 구분하지 못하고 동일한 Level로 저장됨</a:t>
            </a:r>
            <a:endParaRPr lang="en-US" sz="1000" dirty="0"/>
          </a:p>
        </p:txBody>
      </p:sp>
      <p:sp>
        <p:nvSpPr>
          <p:cNvPr id="21" name="Shape 18"/>
          <p:cNvSpPr/>
          <p:nvPr/>
        </p:nvSpPr>
        <p:spPr>
          <a:xfrm>
            <a:off x="8119872" y="2514600"/>
            <a:ext cx="3538728" cy="2286000"/>
          </a:xfrm>
          <a:prstGeom prst="roundRect">
            <a:avLst>
              <a:gd name="adj" fmla="val 3200"/>
            </a:avLst>
          </a:prstGeom>
          <a:solidFill>
            <a:srgbClr val="1B2436"/>
          </a:solidFill>
          <a:ln w="12700">
            <a:solidFill>
              <a:srgbClr val="263049"/>
            </a:solidFill>
            <a:prstDash val="solid"/>
          </a:ln>
        </p:spPr>
        <p:txBody>
          <a:bodyPr/>
          <a:lstStyle/>
          <a:p>
            <a:endParaRPr lang="ko-KR" altLang="en-US"/>
          </a:p>
        </p:txBody>
      </p:sp>
      <p:sp>
        <p:nvSpPr>
          <p:cNvPr id="22" name="Text 19"/>
          <p:cNvSpPr/>
          <p:nvPr/>
        </p:nvSpPr>
        <p:spPr>
          <a:xfrm>
            <a:off x="8357616" y="2679192"/>
            <a:ext cx="3063240" cy="292608"/>
          </a:xfrm>
          <a:prstGeom prst="rect">
            <a:avLst/>
          </a:prstGeom>
          <a:noFill/>
          <a:ln/>
        </p:spPr>
        <p:txBody>
          <a:bodyPr wrap="square" lIns="0" tIns="0" rIns="0" bIns="0" rtlCol="0" anchor="ctr"/>
          <a:lstStyle/>
          <a:p>
            <a:pPr marL="0" indent="0">
              <a:buNone/>
            </a:pPr>
            <a:r>
              <a:rPr lang="en-US" sz="1200" b="1" dirty="0">
                <a:solidFill>
                  <a:srgbClr val="67E8F9"/>
                </a:solidFill>
                <a:latin typeface="Pretendard" pitchFamily="34" charset="0"/>
                <a:ea typeface="Pretendard" pitchFamily="34" charset="-122"/>
                <a:cs typeface="Pretendard" pitchFamily="34" charset="-120"/>
              </a:rPr>
              <a:t>실제 청킹 결과</a:t>
            </a:r>
            <a:endParaRPr lang="en-US" sz="1200" dirty="0"/>
          </a:p>
        </p:txBody>
      </p:sp>
      <p:sp>
        <p:nvSpPr>
          <p:cNvPr id="23" name="Text 20"/>
          <p:cNvSpPr/>
          <p:nvPr/>
        </p:nvSpPr>
        <p:spPr>
          <a:xfrm>
            <a:off x="8357616" y="3044952"/>
            <a:ext cx="3063240" cy="1325880"/>
          </a:xfrm>
          <a:prstGeom prst="rect">
            <a:avLst/>
          </a:prstGeom>
          <a:noFill/>
          <a:ln/>
        </p:spPr>
        <p:txBody>
          <a:bodyPr wrap="square" lIns="0" tIns="0" rIns="0" bIns="0" rtlCol="0" anchor="t"/>
          <a:lstStyle/>
          <a:p>
            <a:pPr marL="0" indent="0">
              <a:lnSpc>
                <a:spcPct val="130000"/>
              </a:lnSpc>
              <a:buNone/>
            </a:pPr>
            <a:r>
              <a:rPr lang="en-US" sz="950" dirty="0">
                <a:solidFill>
                  <a:srgbClr val="F1F5F9"/>
                </a:solidFill>
                <a:latin typeface="Consolas" pitchFamily="34" charset="0"/>
                <a:ea typeface="Consolas" pitchFamily="34" charset="-122"/>
                <a:cs typeface="Consolas" pitchFamily="34" charset="-120"/>
              </a:rPr>
              <a:t>{ "chunk_id": "chunk-000033",</a:t>
            </a:r>
            <a:endParaRPr lang="en-US" sz="950" dirty="0"/>
          </a:p>
          <a:p>
            <a:pPr marL="0" indent="0">
              <a:lnSpc>
                <a:spcPct val="130000"/>
              </a:lnSpc>
              <a:buNone/>
            </a:pPr>
            <a:r>
              <a:rPr lang="en-US" sz="950" dirty="0">
                <a:solidFill>
                  <a:srgbClr val="F1F5F9"/>
                </a:solidFill>
                <a:latin typeface="Consolas" pitchFamily="34" charset="0"/>
                <a:ea typeface="Consolas" pitchFamily="34" charset="-122"/>
                <a:cs typeface="Consolas" pitchFamily="34" charset="-120"/>
              </a:rPr>
              <a:t>  "headings": ["상세 기능"],</a:t>
            </a:r>
            <a:endParaRPr lang="en-US" sz="950" dirty="0"/>
          </a:p>
          <a:p>
            <a:pPr marL="0" indent="0">
              <a:lnSpc>
                <a:spcPct val="130000"/>
              </a:lnSpc>
              <a:buNone/>
            </a:pPr>
            <a:r>
              <a:rPr lang="en-US" sz="950" dirty="0">
                <a:solidFill>
                  <a:srgbClr val="F1F5F9"/>
                </a:solidFill>
                <a:latin typeface="Consolas" pitchFamily="34" charset="0"/>
                <a:ea typeface="Consolas" pitchFamily="34" charset="-122"/>
                <a:cs typeface="Consolas" pitchFamily="34" charset="-120"/>
              </a:rPr>
              <a:t>  "text": "상세 기능\n아이디와…",</a:t>
            </a:r>
            <a:endParaRPr lang="en-US" sz="950" dirty="0"/>
          </a:p>
          <a:p>
            <a:pPr marL="0" indent="0">
              <a:lnSpc>
                <a:spcPct val="130000"/>
              </a:lnSpc>
              <a:buNone/>
            </a:pPr>
            <a:r>
              <a:rPr lang="en-US" sz="950" dirty="0">
                <a:solidFill>
                  <a:srgbClr val="F1F5F9"/>
                </a:solidFill>
                <a:latin typeface="Consolas" pitchFamily="34" charset="0"/>
                <a:ea typeface="Consolas" pitchFamily="34" charset="-122"/>
                <a:cs typeface="Consolas" pitchFamily="34" charset="-120"/>
              </a:rPr>
              <a:t>  "raw_text": "아이디와 비밀번호를</a:t>
            </a:r>
            <a:endParaRPr lang="en-US" sz="950" dirty="0"/>
          </a:p>
          <a:p>
            <a:pPr marL="0" indent="0">
              <a:lnSpc>
                <a:spcPct val="130000"/>
              </a:lnSpc>
              <a:buNone/>
            </a:pPr>
            <a:r>
              <a:rPr lang="en-US" sz="950" dirty="0">
                <a:solidFill>
                  <a:srgbClr val="F1F5F9"/>
                </a:solidFill>
                <a:latin typeface="Consolas" pitchFamily="34" charset="0"/>
                <a:ea typeface="Consolas" pitchFamily="34" charset="-122"/>
                <a:cs typeface="Consolas" pitchFamily="34" charset="-120"/>
              </a:rPr>
              <a:t>   입력한다" }</a:t>
            </a:r>
            <a:endParaRPr lang="en-US" sz="950" dirty="0"/>
          </a:p>
        </p:txBody>
      </p:sp>
      <p:sp>
        <p:nvSpPr>
          <p:cNvPr id="24" name="Text 21"/>
          <p:cNvSpPr/>
          <p:nvPr/>
        </p:nvSpPr>
        <p:spPr>
          <a:xfrm>
            <a:off x="8357616" y="4297680"/>
            <a:ext cx="3063240" cy="411480"/>
          </a:xfrm>
          <a:prstGeom prst="rect">
            <a:avLst/>
          </a:prstGeom>
          <a:noFill/>
          <a:ln/>
        </p:spPr>
        <p:txBody>
          <a:bodyPr wrap="square" lIns="0" tIns="0" rIns="0" bIns="0" rtlCol="0" anchor="t"/>
          <a:lstStyle/>
          <a:p>
            <a:pPr marL="0" indent="0">
              <a:lnSpc>
                <a:spcPct val="120000"/>
              </a:lnSpc>
              <a:buNone/>
            </a:pPr>
            <a:r>
              <a:rPr lang="en-US" sz="1000" dirty="0">
                <a:solidFill>
                  <a:srgbClr val="F87171"/>
                </a:solidFill>
                <a:latin typeface="Pretendard" pitchFamily="34" charset="0"/>
                <a:ea typeface="Pretendard" pitchFamily="34" charset="-122"/>
                <a:cs typeface="Pretendard" pitchFamily="34" charset="-120"/>
              </a:rPr>
              <a:t>더 상위 섹션인 「로그인」이 청크 내에서 손실됨</a:t>
            </a:r>
            <a:endParaRPr lang="en-US" sz="1000" dirty="0"/>
          </a:p>
        </p:txBody>
      </p:sp>
      <p:sp>
        <p:nvSpPr>
          <p:cNvPr id="25" name="Shape 22"/>
          <p:cNvSpPr/>
          <p:nvPr/>
        </p:nvSpPr>
        <p:spPr>
          <a:xfrm>
            <a:off x="566928" y="5074920"/>
            <a:ext cx="11064240" cy="914400"/>
          </a:xfrm>
          <a:prstGeom prst="roundRect">
            <a:avLst>
              <a:gd name="adj" fmla="val 8000"/>
            </a:avLst>
          </a:prstGeom>
          <a:solidFill>
            <a:srgbClr val="0F2A3A"/>
          </a:solidFill>
          <a:ln w="12700">
            <a:solidFill>
              <a:srgbClr val="155E75"/>
            </a:solidFill>
            <a:prstDash val="solid"/>
          </a:ln>
        </p:spPr>
        <p:txBody>
          <a:bodyPr/>
          <a:lstStyle/>
          <a:p>
            <a:endParaRPr lang="ko-KR" altLang="en-US"/>
          </a:p>
        </p:txBody>
      </p:sp>
      <p:sp>
        <p:nvSpPr>
          <p:cNvPr id="26" name="Text 23"/>
          <p:cNvSpPr/>
          <p:nvPr/>
        </p:nvSpPr>
        <p:spPr>
          <a:xfrm>
            <a:off x="868680" y="5212080"/>
            <a:ext cx="1828800" cy="274320"/>
          </a:xfrm>
          <a:prstGeom prst="rect">
            <a:avLst/>
          </a:prstGeom>
          <a:noFill/>
          <a:ln/>
        </p:spPr>
        <p:txBody>
          <a:bodyPr wrap="square" lIns="0" tIns="0" rIns="0" bIns="0" rtlCol="0" anchor="ctr"/>
          <a:lstStyle/>
          <a:p>
            <a:pPr marL="0" indent="0">
              <a:buNone/>
            </a:pPr>
            <a:r>
              <a:rPr lang="en-US" sz="1200" b="1" dirty="0">
                <a:solidFill>
                  <a:srgbClr val="67E8F9"/>
                </a:solidFill>
                <a:latin typeface="Pretendard" pitchFamily="34" charset="0"/>
                <a:ea typeface="Pretendard" pitchFamily="34" charset="-122"/>
                <a:cs typeface="Pretendard" pitchFamily="34" charset="-120"/>
              </a:rPr>
              <a:t>개선 방향</a:t>
            </a:r>
            <a:endParaRPr lang="en-US" sz="1200" dirty="0"/>
          </a:p>
        </p:txBody>
      </p:sp>
      <p:sp>
        <p:nvSpPr>
          <p:cNvPr id="27" name="Text 24"/>
          <p:cNvSpPr/>
          <p:nvPr/>
        </p:nvSpPr>
        <p:spPr>
          <a:xfrm>
            <a:off x="2743200" y="5230368"/>
            <a:ext cx="8595360" cy="594360"/>
          </a:xfrm>
          <a:prstGeom prst="rect">
            <a:avLst/>
          </a:prstGeom>
          <a:noFill/>
          <a:ln/>
        </p:spPr>
        <p:txBody>
          <a:bodyPr wrap="square" lIns="0" tIns="0" rIns="0" bIns="0" rtlCol="0" anchor="ctr"/>
          <a:lstStyle/>
          <a:p>
            <a:pPr marL="0" indent="0">
              <a:buNone/>
            </a:pPr>
            <a:r>
              <a:rPr lang="en-US" sz="1250" dirty="0">
                <a:solidFill>
                  <a:srgbClr val="F1F5F9"/>
                </a:solidFill>
                <a:latin typeface="Pretendard" pitchFamily="34" charset="0"/>
                <a:ea typeface="Pretendard" pitchFamily="34" charset="-122"/>
                <a:cs typeface="Pretendard" pitchFamily="34" charset="-120"/>
              </a:rPr>
              <a:t>글자만 보고 제목 단계를 정하지 않는다 — 위치와 글꼴 크기 · 굵기까지 함께 본다 (연구 근거는 부록 ⑤)</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APPENDIX ⑤</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청킹 개선 방향의 연구 근거</a:t>
            </a:r>
            <a:endParaRPr lang="en-US" sz="2700" dirty="0"/>
          </a:p>
        </p:txBody>
      </p:sp>
      <p:sp>
        <p:nvSpPr>
          <p:cNvPr id="5" name="Text 2"/>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38</a:t>
            </a:r>
            <a:endParaRPr lang="en-US" sz="1050" dirty="0"/>
          </a:p>
        </p:txBody>
      </p:sp>
      <p:sp>
        <p:nvSpPr>
          <p:cNvPr id="6" name="Shape 3"/>
          <p:cNvSpPr/>
          <p:nvPr/>
        </p:nvSpPr>
        <p:spPr>
          <a:xfrm>
            <a:off x="566928" y="1600200"/>
            <a:ext cx="5440680" cy="4206240"/>
          </a:xfrm>
          <a:prstGeom prst="roundRect">
            <a:avLst>
              <a:gd name="adj" fmla="val 1739"/>
            </a:avLst>
          </a:prstGeom>
          <a:solidFill>
            <a:srgbClr val="161D2E"/>
          </a:solidFill>
          <a:ln w="12700">
            <a:solidFill>
              <a:srgbClr val="263049"/>
            </a:solidFill>
            <a:prstDash val="solid"/>
          </a:ln>
        </p:spPr>
        <p:txBody>
          <a:bodyPr/>
          <a:lstStyle/>
          <a:p>
            <a:endParaRPr lang="ko-KR" altLang="en-US"/>
          </a:p>
        </p:txBody>
      </p:sp>
      <p:sp>
        <p:nvSpPr>
          <p:cNvPr id="7" name="Text 4"/>
          <p:cNvSpPr/>
          <p:nvPr/>
        </p:nvSpPr>
        <p:spPr>
          <a:xfrm>
            <a:off x="868680" y="1828800"/>
            <a:ext cx="4846320" cy="365760"/>
          </a:xfrm>
          <a:prstGeom prst="rect">
            <a:avLst/>
          </a:prstGeom>
          <a:noFill/>
          <a:ln/>
        </p:spPr>
        <p:txBody>
          <a:bodyPr wrap="square" lIns="0" tIns="0" rIns="0" bIns="0" rtlCol="0" anchor="ctr"/>
          <a:lstStyle/>
          <a:p>
            <a:pPr marL="0" indent="0">
              <a:buNone/>
            </a:pPr>
            <a:r>
              <a:rPr lang="en-US" sz="1300" b="1" dirty="0">
                <a:solidFill>
                  <a:srgbClr val="F1F5F9"/>
                </a:solidFill>
                <a:latin typeface="Pretendard" pitchFamily="34" charset="0"/>
                <a:ea typeface="Pretendard" pitchFamily="34" charset="-122"/>
                <a:cs typeface="Pretendard" pitchFamily="34" charset="-120"/>
              </a:rPr>
              <a:t>① 문서 계층 구조 추출을 위한 멀티모달 방법</a:t>
            </a:r>
            <a:endParaRPr lang="en-US" sz="1300" dirty="0"/>
          </a:p>
        </p:txBody>
      </p:sp>
      <p:sp>
        <p:nvSpPr>
          <p:cNvPr id="8" name="Text 5"/>
          <p:cNvSpPr/>
          <p:nvPr/>
        </p:nvSpPr>
        <p:spPr>
          <a:xfrm>
            <a:off x="868680" y="2240280"/>
            <a:ext cx="4846320" cy="274320"/>
          </a:xfrm>
          <a:prstGeom prst="rect">
            <a:avLst/>
          </a:prstGeom>
          <a:noFill/>
          <a:ln/>
        </p:spPr>
        <p:txBody>
          <a:bodyPr wrap="square" lIns="0" tIns="0" rIns="0" bIns="0" rtlCol="0" anchor="ctr"/>
          <a:lstStyle/>
          <a:p>
            <a:pPr marL="0" indent="0">
              <a:buNone/>
            </a:pPr>
            <a:r>
              <a:rPr lang="en-US" sz="1100" dirty="0">
                <a:solidFill>
                  <a:srgbClr val="BAC6D8"/>
                </a:solidFill>
                <a:latin typeface="Pretendard" pitchFamily="34" charset="0"/>
                <a:ea typeface="Pretendard" pitchFamily="34" charset="-122"/>
                <a:cs typeface="Pretendard" pitchFamily="34" charset="-120"/>
              </a:rPr>
              <a:t>정답 부모 계층을 1순위로 맞춘 비율 (MedForm)</a:t>
            </a:r>
            <a:endParaRPr lang="en-US" sz="11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868680" y="2606040"/>
          <a:ext cx="4892040" cy="914400"/>
        </p:xfrm>
        <a:graphic>
          <a:graphicData uri="http://schemas.openxmlformats.org/drawingml/2006/table">
            <a:tbl>
              <a:tblPr/>
              <a:tblGrid>
                <a:gridCol w="28803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457200">
                <a:tc>
                  <a:txBody>
                    <a:bodyPr/>
                    <a:lstStyle/>
                    <a:p>
                      <a:pPr marL="0" indent="0" algn="ctr">
                        <a:buNone/>
                      </a:pPr>
                      <a:r>
                        <a:rPr lang="en-US" sz="1050" b="1" dirty="0">
                          <a:solidFill>
                            <a:srgbClr val="67E8F9"/>
                          </a:solidFill>
                          <a:latin typeface="Pretendard" pitchFamily="34" charset="0"/>
                          <a:ea typeface="Pretendard" pitchFamily="34" charset="-122"/>
                          <a:cs typeface="Pretendard" pitchFamily="34" charset="-120"/>
                        </a:rPr>
                        <a:t>사용 정보</a:t>
                      </a:r>
                      <a:endParaRPr lang="en-US" sz="10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tc>
                  <a:txBody>
                    <a:bodyPr/>
                    <a:lstStyle/>
                    <a:p>
                      <a:pPr marL="0" indent="0" algn="ctr">
                        <a:buNone/>
                      </a:pPr>
                      <a:r>
                        <a:rPr lang="en-US" sz="1050" b="1" dirty="0">
                          <a:solidFill>
                            <a:srgbClr val="67E8F9"/>
                          </a:solidFill>
                          <a:latin typeface="Pretendard" pitchFamily="34" charset="0"/>
                          <a:ea typeface="Pretendard" pitchFamily="34" charset="-122"/>
                          <a:cs typeface="Pretendard" pitchFamily="34" charset="-120"/>
                        </a:rPr>
                        <a:t>적중률</a:t>
                      </a:r>
                      <a:endParaRPr lang="en-US" sz="10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extLst>
                  <a:ext uri="{0D108BD9-81ED-4DB2-BD59-A6C34878D82A}">
                    <a16:rowId xmlns:a16="http://schemas.microsoft.com/office/drawing/2014/main" val="10000"/>
                  </a:ext>
                </a:extLst>
              </a:tr>
              <a:tr h="457200">
                <a:tc>
                  <a:txBody>
                    <a:bodyPr/>
                    <a:lstStyle/>
                    <a:p>
                      <a:pPr marL="0" indent="0">
                        <a:buNone/>
                      </a:pPr>
                      <a:r>
                        <a:rPr lang="en-US" sz="1100" dirty="0">
                          <a:solidFill>
                            <a:srgbClr val="BAC6D8"/>
                          </a:solidFill>
                          <a:latin typeface="Pretendard" pitchFamily="34" charset="0"/>
                          <a:ea typeface="Pretendard" pitchFamily="34" charset="-122"/>
                          <a:cs typeface="Pretendard" pitchFamily="34" charset="-120"/>
                        </a:rPr>
                        <a:t>텍스트</a:t>
                      </a:r>
                      <a:endParaRPr lang="en-US" sz="11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BAC6D8"/>
                          </a:solidFill>
                          <a:latin typeface="Consolas" pitchFamily="34" charset="0"/>
                          <a:ea typeface="Consolas" pitchFamily="34" charset="-122"/>
                          <a:cs typeface="Consolas" pitchFamily="34" charset="-120"/>
                        </a:rPr>
                        <a:t>56.96%</a:t>
                      </a:r>
                      <a:endParaRPr lang="en-US" sz="1200" dirty="0">
                        <a:latin typeface="Consolas" charset="0"/>
                        <a:ea typeface="Consolas" charset="0"/>
                        <a:cs typeface="Consolas"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1"/>
                  </a:ext>
                </a:extLst>
              </a:tr>
              <a:tr h="457200">
                <a:tc>
                  <a:txBody>
                    <a:bodyPr/>
                    <a:lstStyle/>
                    <a:p>
                      <a:pPr marL="0" indent="0">
                        <a:buNone/>
                      </a:pPr>
                      <a:r>
                        <a:rPr lang="en-US" sz="1100" dirty="0">
                          <a:solidFill>
                            <a:srgbClr val="BAC6D8"/>
                          </a:solidFill>
                          <a:latin typeface="Pretendard" pitchFamily="34" charset="0"/>
                          <a:ea typeface="Pretendard" pitchFamily="34" charset="-122"/>
                          <a:cs typeface="Pretendard" pitchFamily="34" charset="-120"/>
                        </a:rPr>
                        <a:t>텍스트 + 위치</a:t>
                      </a:r>
                      <a:endParaRPr lang="en-US" sz="11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BAC6D8"/>
                          </a:solidFill>
                          <a:latin typeface="Consolas" pitchFamily="34" charset="0"/>
                          <a:ea typeface="Consolas" pitchFamily="34" charset="-122"/>
                          <a:cs typeface="Consolas" pitchFamily="34" charset="-120"/>
                        </a:rPr>
                        <a:t>84.85%</a:t>
                      </a:r>
                      <a:endParaRPr lang="en-US" sz="1200" dirty="0">
                        <a:latin typeface="Consolas" charset="0"/>
                        <a:ea typeface="Consolas" charset="0"/>
                        <a:cs typeface="Consolas"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2"/>
                  </a:ext>
                </a:extLst>
              </a:tr>
              <a:tr h="457200">
                <a:tc>
                  <a:txBody>
                    <a:bodyPr/>
                    <a:lstStyle/>
                    <a:p>
                      <a:pPr marL="0" indent="0">
                        <a:buNone/>
                      </a:pPr>
                      <a:r>
                        <a:rPr lang="en-US" sz="1100" dirty="0">
                          <a:solidFill>
                            <a:srgbClr val="BAC6D8"/>
                          </a:solidFill>
                          <a:latin typeface="Pretendard" pitchFamily="34" charset="0"/>
                          <a:ea typeface="Pretendard" pitchFamily="34" charset="-122"/>
                          <a:cs typeface="Pretendard" pitchFamily="34" charset="-120"/>
                        </a:rPr>
                        <a:t>텍스트 + 위치 + 시각</a:t>
                      </a:r>
                      <a:endParaRPr lang="en-US" sz="11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b="1" dirty="0">
                          <a:solidFill>
                            <a:srgbClr val="22D3EE"/>
                          </a:solidFill>
                          <a:latin typeface="Consolas" pitchFamily="34" charset="0"/>
                          <a:ea typeface="Consolas" pitchFamily="34" charset="-122"/>
                          <a:cs typeface="Consolas" pitchFamily="34" charset="-120"/>
                        </a:rPr>
                        <a:t>88.41%</a:t>
                      </a:r>
                      <a:endParaRPr lang="en-US" sz="1200" dirty="0">
                        <a:latin typeface="Consolas" charset="0"/>
                        <a:ea typeface="Consolas" charset="0"/>
                        <a:cs typeface="Consolas"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0F2A3A"/>
                    </a:solidFill>
                  </a:tcPr>
                </a:tc>
                <a:extLst>
                  <a:ext uri="{0D108BD9-81ED-4DB2-BD59-A6C34878D82A}">
                    <a16:rowId xmlns:a16="http://schemas.microsoft.com/office/drawing/2014/main" val="10003"/>
                  </a:ext>
                </a:extLst>
              </a:tr>
            </a:tbl>
          </a:graphicData>
        </a:graphic>
      </p:graphicFrame>
      <p:sp>
        <p:nvSpPr>
          <p:cNvPr id="10" name="Text 6"/>
          <p:cNvSpPr/>
          <p:nvPr/>
        </p:nvSpPr>
        <p:spPr>
          <a:xfrm>
            <a:off x="868680" y="4526280"/>
            <a:ext cx="4892040" cy="457200"/>
          </a:xfrm>
          <a:prstGeom prst="rect">
            <a:avLst/>
          </a:prstGeom>
          <a:noFill/>
          <a:ln/>
        </p:spPr>
        <p:txBody>
          <a:bodyPr wrap="square" lIns="0" tIns="0" rIns="0" bIns="0" rtlCol="0" anchor="t"/>
          <a:lstStyle/>
          <a:p>
            <a:pPr marL="0" indent="0">
              <a:lnSpc>
                <a:spcPct val="125000"/>
              </a:lnSpc>
              <a:buNone/>
            </a:pPr>
            <a:r>
              <a:rPr lang="en-US" sz="1100" dirty="0">
                <a:solidFill>
                  <a:srgbClr val="F1F5F9"/>
                </a:solidFill>
                <a:latin typeface="Pretendard" pitchFamily="34" charset="0"/>
                <a:ea typeface="Pretendard" pitchFamily="34" charset="-122"/>
                <a:cs typeface="Pretendard" pitchFamily="34" charset="-120"/>
              </a:rPr>
              <a:t>신호를 더할수록 계층 판정이 정확해진다 — Heading 계층 보정의 근거</a:t>
            </a:r>
            <a:endParaRPr lang="en-US" sz="1100" dirty="0"/>
          </a:p>
        </p:txBody>
      </p:sp>
      <p:sp>
        <p:nvSpPr>
          <p:cNvPr id="11" name="Text 7"/>
          <p:cNvSpPr/>
          <p:nvPr/>
        </p:nvSpPr>
        <p:spPr>
          <a:xfrm>
            <a:off x="868680" y="5257800"/>
            <a:ext cx="4892040" cy="274320"/>
          </a:xfrm>
          <a:prstGeom prst="rect">
            <a:avLst/>
          </a:prstGeom>
          <a:noFill/>
          <a:ln/>
        </p:spPr>
        <p:txBody>
          <a:bodyPr wrap="square" lIns="0" tIns="0" rIns="0" bIns="0" rtlCol="0" anchor="ctr"/>
          <a:lstStyle/>
          <a:p>
            <a:pPr marL="0" indent="0">
              <a:buNone/>
            </a:pPr>
            <a:r>
              <a:rPr lang="en-US" sz="1000" dirty="0">
                <a:solidFill>
                  <a:srgbClr val="9FADC2"/>
                </a:solidFill>
                <a:latin typeface="Pretendard" pitchFamily="34" charset="0"/>
                <a:ea typeface="Pretendard" pitchFamily="34" charset="-122"/>
                <a:cs typeface="Pretendard" pitchFamily="34" charset="-120"/>
              </a:rPr>
              <a:t>Wang et al., DocStruct, Findings of EMNLP, 2020</a:t>
            </a:r>
            <a:endParaRPr lang="en-US" sz="1000" dirty="0"/>
          </a:p>
        </p:txBody>
      </p:sp>
      <p:sp>
        <p:nvSpPr>
          <p:cNvPr id="12" name="Shape 8"/>
          <p:cNvSpPr/>
          <p:nvPr/>
        </p:nvSpPr>
        <p:spPr>
          <a:xfrm>
            <a:off x="6190488" y="1600200"/>
            <a:ext cx="5440680" cy="4206240"/>
          </a:xfrm>
          <a:prstGeom prst="roundRect">
            <a:avLst>
              <a:gd name="adj" fmla="val 1739"/>
            </a:avLst>
          </a:prstGeom>
          <a:solidFill>
            <a:srgbClr val="161D2E"/>
          </a:solidFill>
          <a:ln w="12700">
            <a:solidFill>
              <a:srgbClr val="263049"/>
            </a:solidFill>
            <a:prstDash val="solid"/>
          </a:ln>
        </p:spPr>
        <p:txBody>
          <a:bodyPr/>
          <a:lstStyle/>
          <a:p>
            <a:endParaRPr lang="ko-KR" altLang="en-US"/>
          </a:p>
        </p:txBody>
      </p:sp>
      <p:sp>
        <p:nvSpPr>
          <p:cNvPr id="13" name="Text 9"/>
          <p:cNvSpPr/>
          <p:nvPr/>
        </p:nvSpPr>
        <p:spPr>
          <a:xfrm>
            <a:off x="6492240" y="1828800"/>
            <a:ext cx="4846320" cy="365760"/>
          </a:xfrm>
          <a:prstGeom prst="rect">
            <a:avLst/>
          </a:prstGeom>
          <a:noFill/>
          <a:ln/>
        </p:spPr>
        <p:txBody>
          <a:bodyPr wrap="square" lIns="0" tIns="0" rIns="0" bIns="0" rtlCol="0" anchor="ctr"/>
          <a:lstStyle/>
          <a:p>
            <a:pPr marL="0" indent="0">
              <a:buNone/>
            </a:pPr>
            <a:r>
              <a:rPr lang="en-US" sz="1300" b="1" dirty="0">
                <a:solidFill>
                  <a:srgbClr val="F1F5F9"/>
                </a:solidFill>
                <a:latin typeface="Pretendard" pitchFamily="34" charset="0"/>
                <a:ea typeface="Pretendard" pitchFamily="34" charset="-122"/>
                <a:cs typeface="Pretendard" pitchFamily="34" charset="-120"/>
              </a:rPr>
              <a:t>② 구조 인식 기반 표 청킹</a:t>
            </a:r>
            <a:endParaRPr lang="en-US" sz="1300" dirty="0"/>
          </a:p>
        </p:txBody>
      </p:sp>
      <p:sp>
        <p:nvSpPr>
          <p:cNvPr id="14" name="Text 10"/>
          <p:cNvSpPr/>
          <p:nvPr/>
        </p:nvSpPr>
        <p:spPr>
          <a:xfrm>
            <a:off x="6492240" y="2240280"/>
            <a:ext cx="4846320" cy="274320"/>
          </a:xfrm>
          <a:prstGeom prst="rect">
            <a:avLst/>
          </a:prstGeom>
          <a:noFill/>
          <a:ln/>
        </p:spPr>
        <p:txBody>
          <a:bodyPr wrap="square" lIns="0" tIns="0" rIns="0" bIns="0" rtlCol="0" anchor="ctr"/>
          <a:lstStyle/>
          <a:p>
            <a:pPr marL="0" indent="0">
              <a:buNone/>
            </a:pPr>
            <a:r>
              <a:rPr lang="en-US" sz="1100" dirty="0">
                <a:solidFill>
                  <a:srgbClr val="BAC6D8"/>
                </a:solidFill>
                <a:latin typeface="Pretendard" pitchFamily="34" charset="0"/>
                <a:ea typeface="Pretendard" pitchFamily="34" charset="-122"/>
                <a:cs typeface="Pretendard" pitchFamily="34" charset="-120"/>
              </a:rPr>
              <a:t>Recall@1 — 첫 검색 결과에 정답이 포함된 비율</a:t>
            </a:r>
            <a:endParaRPr lang="en-US" sz="1100" dirty="0"/>
          </a:p>
        </p:txBody>
      </p:sp>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6492240" y="2606040"/>
          <a:ext cx="4892040" cy="914400"/>
        </p:xfrm>
        <a:graphic>
          <a:graphicData uri="http://schemas.openxmlformats.org/drawingml/2006/table">
            <a:tbl>
              <a:tblPr/>
              <a:tblGrid>
                <a:gridCol w="25146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457200">
                <a:tc>
                  <a:txBody>
                    <a:bodyPr/>
                    <a:lstStyle/>
                    <a:p>
                      <a:pPr marL="0" indent="0" algn="ctr">
                        <a:buNone/>
                      </a:pPr>
                      <a:r>
                        <a:rPr lang="en-US" sz="1050" b="1" dirty="0">
                          <a:solidFill>
                            <a:srgbClr val="67E8F9"/>
                          </a:solidFill>
                          <a:latin typeface="Pretendard" pitchFamily="34" charset="0"/>
                          <a:ea typeface="Pretendard" pitchFamily="34" charset="-122"/>
                          <a:cs typeface="Pretendard" pitchFamily="34" charset="-120"/>
                        </a:rPr>
                        <a:t>방식</a:t>
                      </a:r>
                      <a:endParaRPr lang="en-US" sz="10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tc>
                  <a:txBody>
                    <a:bodyPr/>
                    <a:lstStyle/>
                    <a:p>
                      <a:pPr marL="0" indent="0" algn="ctr">
                        <a:buNone/>
                      </a:pPr>
                      <a:r>
                        <a:rPr lang="en-US" sz="1050" b="1" dirty="0">
                          <a:solidFill>
                            <a:srgbClr val="67E8F9"/>
                          </a:solidFill>
                          <a:latin typeface="Pretendard" pitchFamily="34" charset="0"/>
                          <a:ea typeface="Pretendard" pitchFamily="34" charset="-122"/>
                          <a:cs typeface="Pretendard" pitchFamily="34" charset="-120"/>
                        </a:rPr>
                        <a:t>Recall@1</a:t>
                      </a:r>
                      <a:endParaRPr lang="en-US" sz="10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tc>
                  <a:txBody>
                    <a:bodyPr/>
                    <a:lstStyle/>
                    <a:p>
                      <a:pPr marL="0" indent="0" algn="ctr">
                        <a:buNone/>
                      </a:pPr>
                      <a:r>
                        <a:rPr lang="en-US" sz="1050" b="1" dirty="0">
                          <a:solidFill>
                            <a:srgbClr val="67E8F9"/>
                          </a:solidFill>
                          <a:latin typeface="Pretendard" pitchFamily="34" charset="0"/>
                          <a:ea typeface="Pretendard" pitchFamily="34" charset="-122"/>
                          <a:cs typeface="Pretendard" pitchFamily="34" charset="-120"/>
                        </a:rPr>
                        <a:t>MRR</a:t>
                      </a:r>
                      <a:endParaRPr lang="en-US" sz="105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extLst>
                  <a:ext uri="{0D108BD9-81ED-4DB2-BD59-A6C34878D82A}">
                    <a16:rowId xmlns:a16="http://schemas.microsoft.com/office/drawing/2014/main" val="10000"/>
                  </a:ext>
                </a:extLst>
              </a:tr>
              <a:tr h="457200">
                <a:tc>
                  <a:txBody>
                    <a:bodyPr/>
                    <a:lstStyle/>
                    <a:p>
                      <a:pPr marL="0" indent="0">
                        <a:buNone/>
                      </a:pPr>
                      <a:r>
                        <a:rPr lang="en-US" sz="1100" dirty="0">
                          <a:solidFill>
                            <a:srgbClr val="BAC6D8"/>
                          </a:solidFill>
                          <a:latin typeface="Pretendard" pitchFamily="34" charset="0"/>
                          <a:ea typeface="Pretendard" pitchFamily="34" charset="-122"/>
                          <a:cs typeface="Pretendard" pitchFamily="34" charset="-120"/>
                        </a:rPr>
                        <a:t>일반 Recursive</a:t>
                      </a:r>
                      <a:endParaRPr lang="en-US" sz="11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BAC6D8"/>
                          </a:solidFill>
                          <a:latin typeface="Consolas" pitchFamily="34" charset="0"/>
                          <a:ea typeface="Consolas" pitchFamily="34" charset="-122"/>
                          <a:cs typeface="Consolas" pitchFamily="34" charset="-120"/>
                        </a:rPr>
                        <a:t>0.347</a:t>
                      </a:r>
                      <a:endParaRPr lang="en-US" sz="1200" dirty="0">
                        <a:latin typeface="Consolas" charset="0"/>
                        <a:ea typeface="Consolas" charset="0"/>
                        <a:cs typeface="Consolas"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BAC6D8"/>
                          </a:solidFill>
                          <a:latin typeface="Consolas" pitchFamily="34" charset="0"/>
                          <a:ea typeface="Consolas" pitchFamily="34" charset="-122"/>
                          <a:cs typeface="Consolas" pitchFamily="34" charset="-120"/>
                        </a:rPr>
                        <a:t>0.3576</a:t>
                      </a:r>
                      <a:endParaRPr lang="en-US" sz="1200" dirty="0">
                        <a:latin typeface="Consolas" charset="0"/>
                        <a:ea typeface="Consolas" charset="0"/>
                        <a:cs typeface="Consolas"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1"/>
                  </a:ext>
                </a:extLst>
              </a:tr>
              <a:tr h="457200">
                <a:tc>
                  <a:txBody>
                    <a:bodyPr/>
                    <a:lstStyle/>
                    <a:p>
                      <a:pPr marL="0" indent="0">
                        <a:buNone/>
                      </a:pPr>
                      <a:r>
                        <a:rPr lang="en-US" sz="1100" dirty="0">
                          <a:solidFill>
                            <a:srgbClr val="BAC6D8"/>
                          </a:solidFill>
                          <a:latin typeface="Pretendard" pitchFamily="34" charset="0"/>
                          <a:ea typeface="Pretendard" pitchFamily="34" charset="-122"/>
                          <a:cs typeface="Pretendard" pitchFamily="34" charset="-120"/>
                        </a:rPr>
                        <a:t>헤더:값 형태 + Recursive</a:t>
                      </a:r>
                      <a:endParaRPr lang="en-US" sz="11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BAC6D8"/>
                          </a:solidFill>
                          <a:latin typeface="Consolas" pitchFamily="34" charset="0"/>
                          <a:ea typeface="Consolas" pitchFamily="34" charset="-122"/>
                          <a:cs typeface="Consolas" pitchFamily="34" charset="-120"/>
                        </a:rPr>
                        <a:t>0.32</a:t>
                      </a:r>
                      <a:endParaRPr lang="en-US" sz="1200" dirty="0">
                        <a:latin typeface="Consolas" charset="0"/>
                        <a:ea typeface="Consolas" charset="0"/>
                        <a:cs typeface="Consolas"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dirty="0">
                          <a:solidFill>
                            <a:srgbClr val="BAC6D8"/>
                          </a:solidFill>
                          <a:latin typeface="Consolas" pitchFamily="34" charset="0"/>
                          <a:ea typeface="Consolas" pitchFamily="34" charset="-122"/>
                          <a:cs typeface="Consolas" pitchFamily="34" charset="-120"/>
                        </a:rPr>
                        <a:t>0.3296</a:t>
                      </a:r>
                      <a:endParaRPr lang="en-US" sz="1200" dirty="0">
                        <a:latin typeface="Consolas" charset="0"/>
                        <a:ea typeface="Consolas" charset="0"/>
                        <a:cs typeface="Consolas"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2"/>
                  </a:ext>
                </a:extLst>
              </a:tr>
              <a:tr h="457200">
                <a:tc>
                  <a:txBody>
                    <a:bodyPr/>
                    <a:lstStyle/>
                    <a:p>
                      <a:pPr marL="0" indent="0">
                        <a:buNone/>
                      </a:pPr>
                      <a:r>
                        <a:rPr lang="en-US" sz="1100" dirty="0">
                          <a:solidFill>
                            <a:srgbClr val="BAC6D8"/>
                          </a:solidFill>
                          <a:latin typeface="Pretendard" pitchFamily="34" charset="0"/>
                          <a:ea typeface="Pretendard" pitchFamily="34" charset="-122"/>
                          <a:cs typeface="Pretendard" pitchFamily="34" charset="-120"/>
                        </a:rPr>
                        <a:t>구조 보존 STC</a:t>
                      </a:r>
                      <a:endParaRPr lang="en-US" sz="1100" dirty="0">
                        <a:latin typeface="Pretendard" charset="0"/>
                        <a:ea typeface="Pretendard" charset="0"/>
                        <a:cs typeface="Pretendard"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200" b="1" dirty="0">
                          <a:solidFill>
                            <a:srgbClr val="22D3EE"/>
                          </a:solidFill>
                          <a:latin typeface="Consolas" pitchFamily="34" charset="0"/>
                          <a:ea typeface="Consolas" pitchFamily="34" charset="-122"/>
                          <a:cs typeface="Consolas" pitchFamily="34" charset="-120"/>
                        </a:rPr>
                        <a:t>0.539</a:t>
                      </a:r>
                      <a:endParaRPr lang="en-US" sz="1200" dirty="0">
                        <a:latin typeface="Consolas" charset="0"/>
                        <a:ea typeface="Consolas" charset="0"/>
                        <a:cs typeface="Consolas"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0F2A3A"/>
                    </a:solidFill>
                  </a:tcPr>
                </a:tc>
                <a:tc>
                  <a:txBody>
                    <a:bodyPr/>
                    <a:lstStyle/>
                    <a:p>
                      <a:pPr marL="0" indent="0" algn="ctr">
                        <a:buNone/>
                      </a:pPr>
                      <a:r>
                        <a:rPr lang="en-US" sz="1200" b="1" dirty="0">
                          <a:solidFill>
                            <a:srgbClr val="22D3EE"/>
                          </a:solidFill>
                          <a:latin typeface="Consolas" pitchFamily="34" charset="0"/>
                          <a:ea typeface="Consolas" pitchFamily="34" charset="-122"/>
                          <a:cs typeface="Consolas" pitchFamily="34" charset="-120"/>
                        </a:rPr>
                        <a:t>0.5945</a:t>
                      </a:r>
                      <a:endParaRPr lang="en-US" sz="1200" dirty="0">
                        <a:latin typeface="Consolas" charset="0"/>
                        <a:ea typeface="Consolas" charset="0"/>
                        <a:cs typeface="Consolas" charset="0"/>
                      </a:endParaRPr>
                    </a:p>
                  </a:txBody>
                  <a:tcPr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0F2A3A"/>
                    </a:solidFill>
                  </a:tcPr>
                </a:tc>
                <a:extLst>
                  <a:ext uri="{0D108BD9-81ED-4DB2-BD59-A6C34878D82A}">
                    <a16:rowId xmlns:a16="http://schemas.microsoft.com/office/drawing/2014/main" val="10003"/>
                  </a:ext>
                </a:extLst>
              </a:tr>
            </a:tbl>
          </a:graphicData>
        </a:graphic>
      </p:graphicFrame>
      <p:sp>
        <p:nvSpPr>
          <p:cNvPr id="16" name="Text 11"/>
          <p:cNvSpPr/>
          <p:nvPr/>
        </p:nvSpPr>
        <p:spPr>
          <a:xfrm>
            <a:off x="6492240" y="4526280"/>
            <a:ext cx="4892040" cy="640080"/>
          </a:xfrm>
          <a:prstGeom prst="rect">
            <a:avLst/>
          </a:prstGeom>
          <a:noFill/>
          <a:ln/>
        </p:spPr>
        <p:txBody>
          <a:bodyPr wrap="square" lIns="0" tIns="0" rIns="0" bIns="0" rtlCol="0" anchor="t"/>
          <a:lstStyle/>
          <a:p>
            <a:pPr marL="0" indent="0">
              <a:lnSpc>
                <a:spcPct val="125000"/>
              </a:lnSpc>
              <a:buNone/>
            </a:pPr>
            <a:r>
              <a:rPr lang="en-US" sz="1100" dirty="0">
                <a:solidFill>
                  <a:srgbClr val="F1F5F9"/>
                </a:solidFill>
                <a:latin typeface="Pretendard" pitchFamily="34" charset="0"/>
                <a:ea typeface="Pretendard" pitchFamily="34" charset="-122"/>
                <a:cs typeface="Pretendard" pitchFamily="34" charset="-120"/>
              </a:rPr>
              <a:t>헤더:값으로 바꾸는 것만으로는 개선되지 않았고, 행·필드 경계를 실제 청킹 경계로 보존했을 때 올랐다</a:t>
            </a:r>
            <a:endParaRPr lang="en-US" sz="1100" dirty="0"/>
          </a:p>
        </p:txBody>
      </p:sp>
      <p:sp>
        <p:nvSpPr>
          <p:cNvPr id="17" name="Text 12"/>
          <p:cNvSpPr/>
          <p:nvPr/>
        </p:nvSpPr>
        <p:spPr>
          <a:xfrm>
            <a:off x="6492240" y="5257800"/>
            <a:ext cx="4892040" cy="274320"/>
          </a:xfrm>
          <a:prstGeom prst="rect">
            <a:avLst/>
          </a:prstGeom>
          <a:noFill/>
          <a:ln/>
        </p:spPr>
        <p:txBody>
          <a:bodyPr wrap="square" lIns="0" tIns="0" rIns="0" bIns="0" rtlCol="0" anchor="ctr"/>
          <a:lstStyle/>
          <a:p>
            <a:pPr marL="0" indent="0">
              <a:buNone/>
            </a:pPr>
            <a:r>
              <a:rPr lang="en-US" sz="1000" dirty="0">
                <a:solidFill>
                  <a:srgbClr val="9FADC2"/>
                </a:solidFill>
                <a:latin typeface="Pretendard" pitchFamily="34" charset="0"/>
                <a:ea typeface="Pretendard" pitchFamily="34" charset="-122"/>
                <a:cs typeface="Pretendard" pitchFamily="34" charset="-120"/>
              </a:rPr>
              <a:t>Guttal 외, 구조 인식 기반 표 청킹, arXiv, 2026</a:t>
            </a:r>
            <a:endParaRPr lang="en-US" sz="1000" dirty="0"/>
          </a:p>
        </p:txBody>
      </p:sp>
      <p:sp>
        <p:nvSpPr>
          <p:cNvPr id="18" name="Text 13"/>
          <p:cNvSpPr/>
          <p:nvPr/>
        </p:nvSpPr>
        <p:spPr>
          <a:xfrm>
            <a:off x="566928" y="6035040"/>
            <a:ext cx="11064240" cy="274320"/>
          </a:xfrm>
          <a:prstGeom prst="rect">
            <a:avLst/>
          </a:prstGeom>
          <a:noFill/>
          <a:ln/>
        </p:spPr>
        <p:txBody>
          <a:bodyPr wrap="square" lIns="0" tIns="0" rIns="0" bIns="0" rtlCol="0" anchor="ctr"/>
          <a:lstStyle/>
          <a:p>
            <a:pPr marL="0" indent="0" algn="ctr">
              <a:buNone/>
            </a:pPr>
            <a:r>
              <a:rPr lang="en-US" sz="1050" dirty="0">
                <a:solidFill>
                  <a:srgbClr val="9FADC2"/>
                </a:solidFill>
                <a:latin typeface="Pretendard" pitchFamily="34" charset="0"/>
                <a:ea typeface="Pretendard" pitchFamily="34" charset="-122"/>
                <a:cs typeface="Pretendard" pitchFamily="34" charset="-120"/>
              </a:rPr>
              <a:t>MRR — 정답이 검색 결과의 몇 번째에 등장하는지를 종합적으로 평가한 지표     ·     ② 수치는 밀집 + 희소 하이브리드 검색 설정 기준</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APPENDIX ⑥</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무엇이 어디에 매달리는가</a:t>
            </a:r>
            <a:endParaRPr lang="en-US" sz="2700" dirty="0"/>
          </a:p>
        </p:txBody>
      </p:sp>
      <p:sp>
        <p:nvSpPr>
          <p:cNvPr id="5" name="Text 2"/>
          <p:cNvSpPr/>
          <p:nvPr/>
        </p:nvSpPr>
        <p:spPr>
          <a:xfrm>
            <a:off x="566928" y="1243584"/>
            <a:ext cx="11064240" cy="320040"/>
          </a:xfrm>
          <a:prstGeom prst="rect">
            <a:avLst/>
          </a:prstGeom>
          <a:noFill/>
          <a:ln/>
        </p:spPr>
        <p:txBody>
          <a:bodyPr wrap="square" lIns="0" tIns="0" rIns="0" bIns="0" rtlCol="0" anchor="ctr"/>
          <a:lstStyle/>
          <a:p>
            <a:pPr marL="0" indent="0">
              <a:buNone/>
            </a:pPr>
            <a:r>
              <a:rPr lang="en-US" sz="1300" dirty="0">
                <a:solidFill>
                  <a:srgbClr val="BAC6D8"/>
                </a:solidFill>
                <a:latin typeface="Pretendard Light" pitchFamily="34" charset="0"/>
                <a:ea typeface="Pretendard Light" pitchFamily="34" charset="-122"/>
                <a:cs typeface="Pretendard Light" pitchFamily="34" charset="-120"/>
              </a:rPr>
              <a:t>이 시스템에서 가장 자주 틀리는 지점 — 소유 주체가 셋(계정 · 팀 · 프로젝트)이다</a:t>
            </a:r>
            <a:endParaRPr lang="en-US" sz="1300" dirty="0"/>
          </a:p>
        </p:txBody>
      </p:sp>
      <p:sp>
        <p:nvSpPr>
          <p:cNvPr id="6" name="Text 3"/>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39</a:t>
            </a:r>
            <a:endParaRPr lang="en-US" sz="10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66928" y="1965960"/>
          <a:ext cx="1106424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6126480">
                  <a:extLst>
                    <a:ext uri="{9D8B030D-6E8A-4147-A177-3AD203B41FA5}">
                      <a16:colId xmlns:a16="http://schemas.microsoft.com/office/drawing/2014/main" val="20002"/>
                    </a:ext>
                  </a:extLst>
                </a:gridCol>
              </a:tblGrid>
              <a:tr h="475488">
                <a:tc>
                  <a:txBody>
                    <a:bodyPr/>
                    <a:lstStyle/>
                    <a:p>
                      <a:pPr marL="0" indent="0">
                        <a:buNone/>
                      </a:pPr>
                      <a:r>
                        <a:rPr lang="en-US" sz="1100" b="1" dirty="0">
                          <a:solidFill>
                            <a:srgbClr val="67E8F9"/>
                          </a:solidFill>
                          <a:latin typeface="Pretendard" pitchFamily="34" charset="0"/>
                          <a:ea typeface="Pretendard" pitchFamily="34" charset="-122"/>
                          <a:cs typeface="Pretendard" pitchFamily="34" charset="-120"/>
                        </a:rPr>
                        <a:t>무엇</a:t>
                      </a:r>
                      <a:endParaRPr lang="en-US" sz="110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tc>
                  <a:txBody>
                    <a:bodyPr/>
                    <a:lstStyle/>
                    <a:p>
                      <a:pPr marL="0" indent="0">
                        <a:buNone/>
                      </a:pPr>
                      <a:r>
                        <a:rPr lang="en-US" sz="1100" b="1" dirty="0">
                          <a:solidFill>
                            <a:srgbClr val="67E8F9"/>
                          </a:solidFill>
                          <a:latin typeface="Pretendard" pitchFamily="34" charset="0"/>
                          <a:ea typeface="Pretendard" pitchFamily="34" charset="-122"/>
                          <a:cs typeface="Pretendard" pitchFamily="34" charset="-120"/>
                        </a:rPr>
                        <a:t>매달리는 곳</a:t>
                      </a:r>
                      <a:endParaRPr lang="en-US" sz="110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tc>
                  <a:txBody>
                    <a:bodyPr/>
                    <a:lstStyle/>
                    <a:p>
                      <a:pPr marL="0" indent="0">
                        <a:buNone/>
                      </a:pPr>
                      <a:r>
                        <a:rPr lang="en-US" sz="1100" b="1" dirty="0">
                          <a:solidFill>
                            <a:srgbClr val="67E8F9"/>
                          </a:solidFill>
                          <a:latin typeface="Pretendard" pitchFamily="34" charset="0"/>
                          <a:ea typeface="Pretendard" pitchFamily="34" charset="-122"/>
                          <a:cs typeface="Pretendard" pitchFamily="34" charset="-120"/>
                        </a:rPr>
                        <a:t>왜</a:t>
                      </a:r>
                      <a:endParaRPr lang="en-US" sz="110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extLst>
                  <a:ext uri="{0D108BD9-81ED-4DB2-BD59-A6C34878D82A}">
                    <a16:rowId xmlns:a16="http://schemas.microsoft.com/office/drawing/2014/main" val="10000"/>
                  </a:ext>
                </a:extLst>
              </a:tr>
              <a:tr h="475488">
                <a:tc>
                  <a:txBody>
                    <a:bodyPr/>
                    <a:lstStyle/>
                    <a:p>
                      <a:pPr marL="0" indent="0">
                        <a:buNone/>
                      </a:pPr>
                      <a:r>
                        <a:rPr lang="en-US" sz="1150" b="1" dirty="0">
                          <a:solidFill>
                            <a:srgbClr val="F1F5F9"/>
                          </a:solidFill>
                          <a:latin typeface="Pretendard" pitchFamily="34" charset="0"/>
                          <a:ea typeface="Pretendard" pitchFamily="34" charset="-122"/>
                          <a:cs typeface="Pretendard" pitchFamily="34" charset="-120"/>
                        </a:rPr>
                        <a:t>커넥터 연결</a:t>
                      </a:r>
                      <a:endParaRPr lang="en-US" sz="11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150" b="1" dirty="0">
                          <a:solidFill>
                            <a:srgbClr val="BAC6D8"/>
                          </a:solidFill>
                          <a:latin typeface="Pretendard" pitchFamily="34" charset="0"/>
                          <a:ea typeface="Pretendard" pitchFamily="34" charset="-122"/>
                          <a:cs typeface="Pretendard" pitchFamily="34" charset="-120"/>
                        </a:rPr>
                        <a:t>계정</a:t>
                      </a:r>
                      <a:endParaRPr lang="en-US" sz="11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buNone/>
                      </a:pPr>
                      <a:r>
                        <a:rPr lang="en-US" sz="1100" dirty="0">
                          <a:solidFill>
                            <a:srgbClr val="BAC6D8"/>
                          </a:solidFill>
                          <a:latin typeface="Pretendard" pitchFamily="34" charset="0"/>
                          <a:ea typeface="Pretendard" pitchFamily="34" charset="-122"/>
                          <a:cs typeface="Pretendard" pitchFamily="34" charset="-120"/>
                        </a:rPr>
                        <a:t>OAuth는 사람이 승인한다</a:t>
                      </a:r>
                      <a:endParaRPr lang="en-US" sz="110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1"/>
                  </a:ext>
                </a:extLst>
              </a:tr>
              <a:tr h="475488">
                <a:tc>
                  <a:txBody>
                    <a:bodyPr/>
                    <a:lstStyle/>
                    <a:p>
                      <a:pPr marL="0" indent="0">
                        <a:buNone/>
                      </a:pPr>
                      <a:r>
                        <a:rPr lang="en-US" sz="1150" b="1" dirty="0">
                          <a:solidFill>
                            <a:srgbClr val="F1F5F9"/>
                          </a:solidFill>
                          <a:latin typeface="Pretendard" pitchFamily="34" charset="0"/>
                          <a:ea typeface="Pretendard" pitchFamily="34" charset="-122"/>
                          <a:cs typeface="Pretendard" pitchFamily="34" charset="-120"/>
                        </a:rPr>
                        <a:t>Drive 폴더</a:t>
                      </a:r>
                      <a:endParaRPr lang="en-US" sz="11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150" b="1" dirty="0">
                          <a:solidFill>
                            <a:srgbClr val="22D3EE"/>
                          </a:solidFill>
                          <a:latin typeface="Pretendard" pitchFamily="34" charset="0"/>
                          <a:ea typeface="Pretendard" pitchFamily="34" charset="-122"/>
                          <a:cs typeface="Pretendard" pitchFamily="34" charset="-120"/>
                        </a:rPr>
                        <a:t>팀</a:t>
                      </a:r>
                      <a:endParaRPr lang="en-US" sz="11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0F2A3A"/>
                    </a:solidFill>
                  </a:tcPr>
                </a:tc>
                <a:tc>
                  <a:txBody>
                    <a:bodyPr/>
                    <a:lstStyle/>
                    <a:p>
                      <a:pPr marL="0" indent="0">
                        <a:buNone/>
                      </a:pPr>
                      <a:r>
                        <a:rPr lang="en-US" sz="1100" dirty="0">
                          <a:solidFill>
                            <a:srgbClr val="BAC6D8"/>
                          </a:solidFill>
                          <a:latin typeface="Pretendard" pitchFamily="34" charset="0"/>
                          <a:ea typeface="Pretendard" pitchFamily="34" charset="-122"/>
                          <a:cs typeface="Pretendard" pitchFamily="34" charset="-120"/>
                        </a:rPr>
                        <a:t>폴더는 경로일 뿐이고 프로젝트를 만들지 않는다</a:t>
                      </a:r>
                      <a:endParaRPr lang="en-US" sz="110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2"/>
                  </a:ext>
                </a:extLst>
              </a:tr>
              <a:tr h="475488">
                <a:tc>
                  <a:txBody>
                    <a:bodyPr/>
                    <a:lstStyle/>
                    <a:p>
                      <a:pPr marL="0" indent="0">
                        <a:buNone/>
                      </a:pPr>
                      <a:r>
                        <a:rPr lang="en-US" sz="1150" b="1" dirty="0">
                          <a:solidFill>
                            <a:srgbClr val="F1F5F9"/>
                          </a:solidFill>
                          <a:latin typeface="Pretendard" pitchFamily="34" charset="0"/>
                          <a:ea typeface="Pretendard" pitchFamily="34" charset="-122"/>
                          <a:cs typeface="Pretendard" pitchFamily="34" charset="-120"/>
                        </a:rPr>
                        <a:t>문서</a:t>
                      </a:r>
                      <a:endParaRPr lang="en-US" sz="11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150" b="1" dirty="0">
                          <a:solidFill>
                            <a:srgbClr val="22D3EE"/>
                          </a:solidFill>
                          <a:latin typeface="Pretendard" pitchFamily="34" charset="0"/>
                          <a:ea typeface="Pretendard" pitchFamily="34" charset="-122"/>
                          <a:cs typeface="Pretendard" pitchFamily="34" charset="-120"/>
                        </a:rPr>
                        <a:t>팀</a:t>
                      </a:r>
                      <a:endParaRPr lang="en-US" sz="11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0F2A3A"/>
                    </a:solidFill>
                  </a:tcPr>
                </a:tc>
                <a:tc>
                  <a:txBody>
                    <a:bodyPr/>
                    <a:lstStyle/>
                    <a:p>
                      <a:pPr marL="0" indent="0">
                        <a:buNone/>
                      </a:pPr>
                      <a:r>
                        <a:rPr lang="en-US" sz="1100" dirty="0">
                          <a:solidFill>
                            <a:srgbClr val="BAC6D8"/>
                          </a:solidFill>
                          <a:latin typeface="Pretendard" pitchFamily="34" charset="0"/>
                          <a:ea typeface="Pretendard" pitchFamily="34" charset="-122"/>
                          <a:cs typeface="Pretendard" pitchFamily="34" charset="-120"/>
                        </a:rPr>
                        <a:t>등록 시점에는 어느 프로젝트의 것인지 모른다</a:t>
                      </a:r>
                      <a:endParaRPr lang="en-US" sz="110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3"/>
                  </a:ext>
                </a:extLst>
              </a:tr>
              <a:tr h="475488">
                <a:tc>
                  <a:txBody>
                    <a:bodyPr/>
                    <a:lstStyle/>
                    <a:p>
                      <a:pPr marL="0" indent="0">
                        <a:buNone/>
                      </a:pPr>
                      <a:r>
                        <a:rPr lang="en-US" sz="1150" b="1" dirty="0">
                          <a:solidFill>
                            <a:srgbClr val="F1F5F9"/>
                          </a:solidFill>
                          <a:latin typeface="Pretendard" pitchFamily="34" charset="0"/>
                          <a:ea typeface="Pretendard" pitchFamily="34" charset="-122"/>
                          <a:cs typeface="Pretendard" pitchFamily="34" charset="-120"/>
                        </a:rPr>
                        <a:t>Jira 프로젝트</a:t>
                      </a:r>
                      <a:endParaRPr lang="en-US" sz="11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150" b="1" dirty="0">
                          <a:solidFill>
                            <a:srgbClr val="BAC6D8"/>
                          </a:solidFill>
                          <a:latin typeface="Pretendard" pitchFamily="34" charset="0"/>
                          <a:ea typeface="Pretendard" pitchFamily="34" charset="-122"/>
                          <a:cs typeface="Pretendard" pitchFamily="34" charset="-120"/>
                        </a:rPr>
                        <a:t>프로젝트</a:t>
                      </a:r>
                      <a:endParaRPr lang="en-US" sz="11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buNone/>
                      </a:pPr>
                      <a:r>
                        <a:rPr lang="en-US" sz="1100" dirty="0">
                          <a:solidFill>
                            <a:srgbClr val="BAC6D8"/>
                          </a:solidFill>
                          <a:latin typeface="Pretendard" pitchFamily="34" charset="0"/>
                          <a:ea typeface="Pretendard" pitchFamily="34" charset="-122"/>
                          <a:cs typeface="Pretendard" pitchFamily="34" charset="-120"/>
                        </a:rPr>
                        <a:t>프로젝트 하나에 Jira 하나 (1:1)</a:t>
                      </a:r>
                      <a:endParaRPr lang="en-US" sz="110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4"/>
                  </a:ext>
                </a:extLst>
              </a:tr>
              <a:tr h="475488">
                <a:tc>
                  <a:txBody>
                    <a:bodyPr/>
                    <a:lstStyle/>
                    <a:p>
                      <a:pPr marL="0" indent="0">
                        <a:buNone/>
                      </a:pPr>
                      <a:r>
                        <a:rPr lang="en-US" sz="1150" b="1" dirty="0">
                          <a:solidFill>
                            <a:srgbClr val="F1F5F9"/>
                          </a:solidFill>
                          <a:latin typeface="Pretendard" pitchFamily="34" charset="0"/>
                          <a:ea typeface="Pretendard" pitchFamily="34" charset="-122"/>
                          <a:cs typeface="Pretendard" pitchFamily="34" charset="-120"/>
                        </a:rPr>
                        <a:t>기준 문서</a:t>
                      </a:r>
                      <a:endParaRPr lang="en-US" sz="11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150" b="1" dirty="0">
                          <a:solidFill>
                            <a:srgbClr val="BAC6D8"/>
                          </a:solidFill>
                          <a:latin typeface="Pretendard" pitchFamily="34" charset="0"/>
                          <a:ea typeface="Pretendard" pitchFamily="34" charset="-122"/>
                          <a:cs typeface="Pretendard" pitchFamily="34" charset="-120"/>
                        </a:rPr>
                        <a:t>프로젝트</a:t>
                      </a:r>
                      <a:endParaRPr lang="en-US" sz="115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buNone/>
                      </a:pPr>
                      <a:r>
                        <a:rPr lang="en-US" sz="1100" dirty="0">
                          <a:solidFill>
                            <a:srgbClr val="BAC6D8"/>
                          </a:solidFill>
                          <a:latin typeface="Pretendard" pitchFamily="34" charset="0"/>
                          <a:ea typeface="Pretendard" pitchFamily="34" charset="-122"/>
                          <a:cs typeface="Pretendard" pitchFamily="34" charset="-120"/>
                        </a:rPr>
                        <a:t>프로젝트당 한 건 — 부분 유니크 인덱스로 강제</a:t>
                      </a:r>
                      <a:endParaRPr lang="en-US" sz="1100" dirty="0">
                        <a:latin typeface="Pretendard" charset="0"/>
                        <a:ea typeface="Pretendard" charset="0"/>
                        <a:cs typeface="Pretendard" charset="0"/>
                      </a:endParaRPr>
                    </a:p>
                  </a:txBody>
                  <a:tcPr marL="109728" marR="109728" marT="109728" marB="109728"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5"/>
                  </a:ext>
                </a:extLst>
              </a:tr>
            </a:tbl>
          </a:graphicData>
        </a:graphic>
      </p:graphicFrame>
      <p:sp>
        <p:nvSpPr>
          <p:cNvPr id="8" name="Text 4"/>
          <p:cNvSpPr/>
          <p:nvPr/>
        </p:nvSpPr>
        <p:spPr>
          <a:xfrm>
            <a:off x="566928" y="5120640"/>
            <a:ext cx="11064240" cy="320040"/>
          </a:xfrm>
          <a:prstGeom prst="rect">
            <a:avLst/>
          </a:prstGeom>
          <a:noFill/>
          <a:ln/>
        </p:spPr>
        <p:txBody>
          <a:bodyPr wrap="square" lIns="0" tIns="0" rIns="0" bIns="0" rtlCol="0" anchor="ctr"/>
          <a:lstStyle/>
          <a:p>
            <a:pPr marL="0" indent="0">
              <a:buNone/>
            </a:pPr>
            <a:r>
              <a:rPr lang="en-US" sz="1250" b="1" dirty="0">
                <a:solidFill>
                  <a:srgbClr val="67E8F9"/>
                </a:solidFill>
                <a:latin typeface="Pretendard" pitchFamily="34" charset="0"/>
                <a:ea typeface="Pretendard" pitchFamily="34" charset="-122"/>
                <a:cs typeface="Pretendard" pitchFamily="34" charset="-120"/>
              </a:rPr>
              <a:t>권한 검사는 소유자가 아니라 팀 기준이다 — 조회 · 수정이 모두 team_id로 걸린다</a:t>
            </a:r>
            <a:endParaRPr lang="en-US" sz="1250" dirty="0"/>
          </a:p>
        </p:txBody>
      </p:sp>
      <p:sp>
        <p:nvSpPr>
          <p:cNvPr id="9" name="Text 5"/>
          <p:cNvSpPr/>
          <p:nvPr/>
        </p:nvSpPr>
        <p:spPr>
          <a:xfrm>
            <a:off x="566928" y="5468112"/>
            <a:ext cx="11064240" cy="320040"/>
          </a:xfrm>
          <a:prstGeom prst="rect">
            <a:avLst/>
          </a:prstGeom>
          <a:noFill/>
          <a:ln/>
        </p:spPr>
        <p:txBody>
          <a:bodyPr wrap="square" lIns="0" tIns="0" rIns="0" bIns="0" rtlCol="0" anchor="ctr"/>
          <a:lstStyle/>
          <a:p>
            <a:pPr marL="0" indent="0">
              <a:buNone/>
            </a:pPr>
            <a:r>
              <a:rPr lang="en-US" sz="1100" dirty="0">
                <a:solidFill>
                  <a:srgbClr val="9FADC2"/>
                </a:solidFill>
                <a:latin typeface="Pretendard" pitchFamily="34" charset="0"/>
                <a:ea typeface="Pretendard" pitchFamily="34" charset="-122"/>
                <a:cs typeface="Pretendard" pitchFamily="34" charset="-120"/>
              </a:rPr>
              <a:t>팀장 · 팀원의 역할 구분은 아직 구현하지 않았다 — 지금은 같은 팀 계정이면 같은 문서와 프로젝트를 본다</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APPENDIX ⑦</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업무량 계산 규칙과 예외 처리</a:t>
            </a:r>
            <a:endParaRPr lang="en-US" sz="2700" dirty="0"/>
          </a:p>
        </p:txBody>
      </p:sp>
      <p:sp>
        <p:nvSpPr>
          <p:cNvPr id="5" name="Text 2"/>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40</a:t>
            </a:r>
            <a:endParaRPr lang="en-US" sz="1050" dirty="0"/>
          </a:p>
        </p:txBody>
      </p:sp>
      <p:sp>
        <p:nvSpPr>
          <p:cNvPr id="6" name="Shape 3"/>
          <p:cNvSpPr/>
          <p:nvPr/>
        </p:nvSpPr>
        <p:spPr>
          <a:xfrm>
            <a:off x="566928" y="1691640"/>
            <a:ext cx="11064240" cy="1371600"/>
          </a:xfrm>
          <a:prstGeom prst="roundRect">
            <a:avLst>
              <a:gd name="adj" fmla="val 5333"/>
            </a:avLst>
          </a:prstGeom>
          <a:solidFill>
            <a:srgbClr val="161D2E"/>
          </a:solidFill>
          <a:ln w="12700">
            <a:solidFill>
              <a:srgbClr val="263049"/>
            </a:solidFill>
            <a:prstDash val="solid"/>
          </a:ln>
        </p:spPr>
        <p:txBody>
          <a:bodyPr/>
          <a:lstStyle/>
          <a:p>
            <a:endParaRPr lang="ko-KR" altLang="en-US"/>
          </a:p>
        </p:txBody>
      </p:sp>
      <p:sp>
        <p:nvSpPr>
          <p:cNvPr id="7" name="Text 4"/>
          <p:cNvSpPr/>
          <p:nvPr/>
        </p:nvSpPr>
        <p:spPr>
          <a:xfrm>
            <a:off x="868680" y="1847088"/>
            <a:ext cx="2743200" cy="274320"/>
          </a:xfrm>
          <a:prstGeom prst="rect">
            <a:avLst/>
          </a:prstGeom>
          <a:noFill/>
          <a:ln/>
        </p:spPr>
        <p:txBody>
          <a:bodyPr wrap="square" lIns="0" tIns="0" rIns="0" bIns="0" rtlCol="0" anchor="ctr"/>
          <a:lstStyle/>
          <a:p>
            <a:pPr marL="0" indent="0">
              <a:buNone/>
            </a:pPr>
            <a:r>
              <a:rPr lang="en-US" sz="1050" b="1" kern="0" spc="100" dirty="0">
                <a:solidFill>
                  <a:srgbClr val="22D3EE"/>
                </a:solidFill>
                <a:latin typeface="Consolas" pitchFamily="34" charset="0"/>
                <a:ea typeface="Consolas" pitchFamily="34" charset="-122"/>
                <a:cs typeface="Consolas" pitchFamily="34" charset="-120"/>
              </a:rPr>
              <a:t>계산식</a:t>
            </a:r>
            <a:endParaRPr lang="en-US" sz="1050" dirty="0"/>
          </a:p>
        </p:txBody>
      </p:sp>
      <p:sp>
        <p:nvSpPr>
          <p:cNvPr id="8" name="Text 5"/>
          <p:cNvSpPr/>
          <p:nvPr/>
        </p:nvSpPr>
        <p:spPr>
          <a:xfrm>
            <a:off x="868680" y="2176272"/>
            <a:ext cx="822960" cy="274320"/>
          </a:xfrm>
          <a:prstGeom prst="rect">
            <a:avLst/>
          </a:prstGeom>
          <a:noFill/>
          <a:ln/>
        </p:spPr>
        <p:txBody>
          <a:bodyPr wrap="square" lIns="0" tIns="0" rIns="0" bIns="0" rtlCol="0" anchor="ctr"/>
          <a:lstStyle/>
          <a:p>
            <a:pPr marL="0" indent="0">
              <a:buNone/>
            </a:pPr>
            <a:r>
              <a:rPr lang="en-US" sz="1100" b="1" dirty="0">
                <a:solidFill>
                  <a:srgbClr val="22D3EE"/>
                </a:solidFill>
                <a:latin typeface="Consolas" pitchFamily="34" charset="0"/>
                <a:ea typeface="Consolas" pitchFamily="34" charset="-122"/>
                <a:cs typeface="Consolas" pitchFamily="34" charset="-120"/>
              </a:rPr>
              <a:t>용량</a:t>
            </a:r>
            <a:endParaRPr lang="en-US" sz="1100" dirty="0"/>
          </a:p>
        </p:txBody>
      </p:sp>
      <p:sp>
        <p:nvSpPr>
          <p:cNvPr id="9" name="Text 6"/>
          <p:cNvSpPr/>
          <p:nvPr/>
        </p:nvSpPr>
        <p:spPr>
          <a:xfrm>
            <a:off x="1737360" y="2176272"/>
            <a:ext cx="9601200" cy="274320"/>
          </a:xfrm>
          <a:prstGeom prst="rect">
            <a:avLst/>
          </a:prstGeom>
          <a:noFill/>
          <a:ln/>
        </p:spPr>
        <p:txBody>
          <a:bodyPr wrap="square" lIns="0" tIns="0" rIns="0" bIns="0" rtlCol="0" anchor="ctr"/>
          <a:lstStyle/>
          <a:p>
            <a:pPr marL="0" indent="0">
              <a:buNone/>
            </a:pPr>
            <a:r>
              <a:rPr lang="en-US" sz="1100" dirty="0">
                <a:solidFill>
                  <a:srgbClr val="F1F5F9"/>
                </a:solidFill>
                <a:latin typeface="Pretendard" pitchFamily="34" charset="0"/>
                <a:ea typeface="Pretendard" pitchFamily="34" charset="-122"/>
                <a:cs typeface="Pretendard" pitchFamily="34" charset="-120"/>
              </a:rPr>
              <a:t>(주 근무시간 ÷ 5) × 기간 안의 근무일 수 − 기간과 겹치는 승인된 부재 − 고정 일정</a:t>
            </a:r>
            <a:endParaRPr lang="en-US" sz="1100" dirty="0"/>
          </a:p>
        </p:txBody>
      </p:sp>
      <p:sp>
        <p:nvSpPr>
          <p:cNvPr id="10" name="Text 7"/>
          <p:cNvSpPr/>
          <p:nvPr/>
        </p:nvSpPr>
        <p:spPr>
          <a:xfrm>
            <a:off x="868680" y="2468880"/>
            <a:ext cx="822960" cy="274320"/>
          </a:xfrm>
          <a:prstGeom prst="rect">
            <a:avLst/>
          </a:prstGeom>
          <a:noFill/>
          <a:ln/>
        </p:spPr>
        <p:txBody>
          <a:bodyPr wrap="square" lIns="0" tIns="0" rIns="0" bIns="0" rtlCol="0" anchor="ctr"/>
          <a:lstStyle/>
          <a:p>
            <a:pPr marL="0" indent="0">
              <a:buNone/>
            </a:pPr>
            <a:r>
              <a:rPr lang="en-US" sz="1100" b="1" dirty="0">
                <a:solidFill>
                  <a:srgbClr val="22D3EE"/>
                </a:solidFill>
                <a:latin typeface="Consolas" pitchFamily="34" charset="0"/>
                <a:ea typeface="Consolas" pitchFamily="34" charset="-122"/>
                <a:cs typeface="Consolas" pitchFamily="34" charset="-120"/>
              </a:rPr>
              <a:t>할당</a:t>
            </a:r>
            <a:endParaRPr lang="en-US" sz="1100" dirty="0"/>
          </a:p>
        </p:txBody>
      </p:sp>
      <p:sp>
        <p:nvSpPr>
          <p:cNvPr id="11" name="Text 8"/>
          <p:cNvSpPr/>
          <p:nvPr/>
        </p:nvSpPr>
        <p:spPr>
          <a:xfrm>
            <a:off x="1737360" y="2468880"/>
            <a:ext cx="9601200" cy="274320"/>
          </a:xfrm>
          <a:prstGeom prst="rect">
            <a:avLst/>
          </a:prstGeom>
          <a:noFill/>
          <a:ln/>
        </p:spPr>
        <p:txBody>
          <a:bodyPr wrap="square" lIns="0" tIns="0" rIns="0" bIns="0" rtlCol="0" anchor="ctr"/>
          <a:lstStyle/>
          <a:p>
            <a:pPr marL="0" indent="0">
              <a:buNone/>
            </a:pPr>
            <a:r>
              <a:rPr lang="en-US" sz="1100" dirty="0">
                <a:solidFill>
                  <a:srgbClr val="F1F5F9"/>
                </a:solidFill>
                <a:latin typeface="Pretendard" pitchFamily="34" charset="0"/>
                <a:ea typeface="Pretendard" pitchFamily="34" charset="-122"/>
                <a:cs typeface="Pretendard" pitchFamily="34" charset="-120"/>
              </a:rPr>
              <a:t>기간 안에 마감이 있거나, 마감 없이 이미 진행 중인 일의 남은 추정 시간 합</a:t>
            </a:r>
            <a:endParaRPr lang="en-US" sz="1100" dirty="0"/>
          </a:p>
        </p:txBody>
      </p:sp>
      <p:sp>
        <p:nvSpPr>
          <p:cNvPr id="12" name="Text 9"/>
          <p:cNvSpPr/>
          <p:nvPr/>
        </p:nvSpPr>
        <p:spPr>
          <a:xfrm>
            <a:off x="868680" y="2761488"/>
            <a:ext cx="822960" cy="274320"/>
          </a:xfrm>
          <a:prstGeom prst="rect">
            <a:avLst/>
          </a:prstGeom>
          <a:noFill/>
          <a:ln/>
        </p:spPr>
        <p:txBody>
          <a:bodyPr wrap="square" lIns="0" tIns="0" rIns="0" bIns="0" rtlCol="0" anchor="ctr"/>
          <a:lstStyle/>
          <a:p>
            <a:pPr marL="0" indent="0">
              <a:buNone/>
            </a:pPr>
            <a:r>
              <a:rPr lang="en-US" sz="1100" b="1" dirty="0">
                <a:solidFill>
                  <a:srgbClr val="22D3EE"/>
                </a:solidFill>
                <a:latin typeface="Consolas" pitchFamily="34" charset="0"/>
                <a:ea typeface="Consolas" pitchFamily="34" charset="-122"/>
                <a:cs typeface="Consolas" pitchFamily="34" charset="-120"/>
              </a:rPr>
              <a:t>부하율</a:t>
            </a:r>
            <a:endParaRPr lang="en-US" sz="1100" dirty="0"/>
          </a:p>
        </p:txBody>
      </p:sp>
      <p:sp>
        <p:nvSpPr>
          <p:cNvPr id="13" name="Text 10"/>
          <p:cNvSpPr/>
          <p:nvPr/>
        </p:nvSpPr>
        <p:spPr>
          <a:xfrm>
            <a:off x="1737360" y="2761488"/>
            <a:ext cx="9601200" cy="274320"/>
          </a:xfrm>
          <a:prstGeom prst="rect">
            <a:avLst/>
          </a:prstGeom>
          <a:noFill/>
          <a:ln/>
        </p:spPr>
        <p:txBody>
          <a:bodyPr wrap="square" lIns="0" tIns="0" rIns="0" bIns="0" rtlCol="0" anchor="ctr"/>
          <a:lstStyle/>
          <a:p>
            <a:pPr marL="0" indent="0">
              <a:buNone/>
            </a:pPr>
            <a:r>
              <a:rPr lang="en-US" sz="1100" dirty="0">
                <a:solidFill>
                  <a:srgbClr val="F1F5F9"/>
                </a:solidFill>
                <a:latin typeface="Pretendard" pitchFamily="34" charset="0"/>
                <a:ea typeface="Pretendard" pitchFamily="34" charset="-122"/>
                <a:cs typeface="Pretendard" pitchFamily="34" charset="-120"/>
              </a:rPr>
              <a:t>할당 ÷ 용량 × 100</a:t>
            </a:r>
            <a:endParaRPr lang="en-US" sz="1100" dirty="0"/>
          </a:p>
        </p:txBody>
      </p:sp>
      <p:sp>
        <p:nvSpPr>
          <p:cNvPr id="14" name="Text 11"/>
          <p:cNvSpPr/>
          <p:nvPr/>
        </p:nvSpPr>
        <p:spPr>
          <a:xfrm>
            <a:off x="566928" y="3291840"/>
            <a:ext cx="5486400" cy="310896"/>
          </a:xfrm>
          <a:prstGeom prst="rect">
            <a:avLst/>
          </a:prstGeom>
          <a:noFill/>
          <a:ln/>
        </p:spPr>
        <p:txBody>
          <a:bodyPr wrap="square" lIns="0" tIns="0" rIns="0" bIns="0" rtlCol="0" anchor="ctr"/>
          <a:lstStyle/>
          <a:p>
            <a:pPr marL="0" indent="0">
              <a:buNone/>
            </a:pPr>
            <a:r>
              <a:rPr lang="en-US" sz="1350" b="1" dirty="0">
                <a:solidFill>
                  <a:srgbClr val="67E8F9"/>
                </a:solidFill>
                <a:latin typeface="Pretendard" pitchFamily="34" charset="0"/>
                <a:ea typeface="Pretendard" pitchFamily="34" charset="-122"/>
                <a:cs typeface="Pretendard" pitchFamily="34" charset="-120"/>
              </a:rPr>
              <a:t>계산하지 않고 막는 세 가지</a:t>
            </a:r>
            <a:endParaRPr lang="en-US" sz="1350" dirty="0"/>
          </a:p>
        </p:txBody>
      </p:sp>
      <p:sp>
        <p:nvSpPr>
          <p:cNvPr id="15" name="Shape 12"/>
          <p:cNvSpPr/>
          <p:nvPr/>
        </p:nvSpPr>
        <p:spPr>
          <a:xfrm>
            <a:off x="566928" y="3703320"/>
            <a:ext cx="3538728" cy="1600200"/>
          </a:xfrm>
          <a:prstGeom prst="roundRect">
            <a:avLst>
              <a:gd name="adj" fmla="val 4571"/>
            </a:avLst>
          </a:prstGeom>
          <a:solidFill>
            <a:srgbClr val="161D2E"/>
          </a:solidFill>
          <a:ln w="12700">
            <a:solidFill>
              <a:srgbClr val="263049"/>
            </a:solidFill>
            <a:prstDash val="solid"/>
          </a:ln>
        </p:spPr>
        <p:txBody>
          <a:bodyPr/>
          <a:lstStyle/>
          <a:p>
            <a:endParaRPr lang="ko-KR" altLang="en-US"/>
          </a:p>
        </p:txBody>
      </p:sp>
      <p:sp>
        <p:nvSpPr>
          <p:cNvPr id="16" name="Text 13"/>
          <p:cNvSpPr/>
          <p:nvPr/>
        </p:nvSpPr>
        <p:spPr>
          <a:xfrm>
            <a:off x="822960" y="3858768"/>
            <a:ext cx="3026664" cy="274320"/>
          </a:xfrm>
          <a:prstGeom prst="rect">
            <a:avLst/>
          </a:prstGeom>
          <a:noFill/>
          <a:ln/>
        </p:spPr>
        <p:txBody>
          <a:bodyPr wrap="square" lIns="0" tIns="0" rIns="0" bIns="0" rtlCol="0" anchor="ctr"/>
          <a:lstStyle/>
          <a:p>
            <a:pPr marL="0" indent="0">
              <a:buNone/>
            </a:pPr>
            <a:r>
              <a:rPr lang="en-US" sz="1050" b="1" dirty="0">
                <a:solidFill>
                  <a:srgbClr val="FBBF24"/>
                </a:solidFill>
                <a:latin typeface="Consolas" pitchFamily="34" charset="0"/>
                <a:ea typeface="Consolas" pitchFamily="34" charset="-122"/>
                <a:cs typeface="Consolas" pitchFamily="34" charset="-120"/>
              </a:rPr>
              <a:t>NO_SCHEDULE</a:t>
            </a:r>
            <a:endParaRPr lang="en-US" sz="1050" dirty="0"/>
          </a:p>
        </p:txBody>
      </p:sp>
      <p:sp>
        <p:nvSpPr>
          <p:cNvPr id="17" name="Text 14"/>
          <p:cNvSpPr/>
          <p:nvPr/>
        </p:nvSpPr>
        <p:spPr>
          <a:xfrm>
            <a:off x="822960" y="4169664"/>
            <a:ext cx="3026664" cy="292608"/>
          </a:xfrm>
          <a:prstGeom prst="rect">
            <a:avLst/>
          </a:prstGeom>
          <a:noFill/>
          <a:ln/>
        </p:spPr>
        <p:txBody>
          <a:bodyPr wrap="square" lIns="0" tIns="0" rIns="0" bIns="0" rtlCol="0" anchor="ctr"/>
          <a:lstStyle/>
          <a:p>
            <a:pPr marL="0" indent="0">
              <a:buNone/>
            </a:pPr>
            <a:r>
              <a:rPr lang="en-US" sz="1250" b="1" dirty="0">
                <a:solidFill>
                  <a:srgbClr val="F1F5F9"/>
                </a:solidFill>
                <a:latin typeface="Pretendard" pitchFamily="34" charset="0"/>
                <a:ea typeface="Pretendard" pitchFamily="34" charset="-122"/>
                <a:cs typeface="Pretendard" pitchFamily="34" charset="-120"/>
              </a:rPr>
              <a:t>주 근무시간을 모른다</a:t>
            </a:r>
            <a:endParaRPr lang="en-US" sz="1250" dirty="0"/>
          </a:p>
        </p:txBody>
      </p:sp>
      <p:sp>
        <p:nvSpPr>
          <p:cNvPr id="18" name="Text 15"/>
          <p:cNvSpPr/>
          <p:nvPr/>
        </p:nvSpPr>
        <p:spPr>
          <a:xfrm>
            <a:off x="822960" y="4498848"/>
            <a:ext cx="3026664" cy="685800"/>
          </a:xfrm>
          <a:prstGeom prst="rect">
            <a:avLst/>
          </a:prstGeom>
          <a:noFill/>
          <a:ln/>
        </p:spPr>
        <p:txBody>
          <a:bodyPr wrap="square" lIns="0" tIns="0" rIns="0" bIns="0" rtlCol="0" anchor="t"/>
          <a:lstStyle/>
          <a:p>
            <a:pPr marL="0" indent="0">
              <a:lnSpc>
                <a:spcPct val="125000"/>
              </a:lnSpc>
              <a:buNone/>
            </a:pPr>
            <a:r>
              <a:rPr lang="en-US" sz="1100" dirty="0">
                <a:solidFill>
                  <a:srgbClr val="BAC6D8"/>
                </a:solidFill>
                <a:latin typeface="Pretendard" pitchFamily="34" charset="0"/>
                <a:ea typeface="Pretendard" pitchFamily="34" charset="-122"/>
                <a:cs typeface="Pretendard" pitchFamily="34" charset="-120"/>
              </a:rPr>
              <a:t>40시간으로 가정하면 그 사람 부하가 낮게 나와 먼저 배정된다</a:t>
            </a:r>
            <a:endParaRPr lang="en-US" sz="1100" dirty="0"/>
          </a:p>
        </p:txBody>
      </p:sp>
      <p:sp>
        <p:nvSpPr>
          <p:cNvPr id="19" name="Shape 16"/>
          <p:cNvSpPr/>
          <p:nvPr/>
        </p:nvSpPr>
        <p:spPr>
          <a:xfrm>
            <a:off x="4325112" y="3703320"/>
            <a:ext cx="3538728" cy="1600200"/>
          </a:xfrm>
          <a:prstGeom prst="roundRect">
            <a:avLst>
              <a:gd name="adj" fmla="val 4571"/>
            </a:avLst>
          </a:prstGeom>
          <a:solidFill>
            <a:srgbClr val="161D2E"/>
          </a:solidFill>
          <a:ln w="12700">
            <a:solidFill>
              <a:srgbClr val="263049"/>
            </a:solidFill>
            <a:prstDash val="solid"/>
          </a:ln>
        </p:spPr>
        <p:txBody>
          <a:bodyPr/>
          <a:lstStyle/>
          <a:p>
            <a:endParaRPr lang="ko-KR" altLang="en-US"/>
          </a:p>
        </p:txBody>
      </p:sp>
      <p:sp>
        <p:nvSpPr>
          <p:cNvPr id="20" name="Text 17"/>
          <p:cNvSpPr/>
          <p:nvPr/>
        </p:nvSpPr>
        <p:spPr>
          <a:xfrm>
            <a:off x="4581144" y="3858768"/>
            <a:ext cx="3026664" cy="274320"/>
          </a:xfrm>
          <a:prstGeom prst="rect">
            <a:avLst/>
          </a:prstGeom>
          <a:noFill/>
          <a:ln/>
        </p:spPr>
        <p:txBody>
          <a:bodyPr wrap="square" lIns="0" tIns="0" rIns="0" bIns="0" rtlCol="0" anchor="ctr"/>
          <a:lstStyle/>
          <a:p>
            <a:pPr marL="0" indent="0">
              <a:buNone/>
            </a:pPr>
            <a:r>
              <a:rPr lang="en-US" sz="1050" b="1" dirty="0">
                <a:solidFill>
                  <a:srgbClr val="FBBF24"/>
                </a:solidFill>
                <a:latin typeface="Consolas" pitchFamily="34" charset="0"/>
                <a:ea typeface="Consolas" pitchFamily="34" charset="-122"/>
                <a:cs typeface="Consolas" pitchFamily="34" charset="-120"/>
              </a:rPr>
              <a:t>ON_LEAVE</a:t>
            </a:r>
            <a:endParaRPr lang="en-US" sz="1050" dirty="0"/>
          </a:p>
        </p:txBody>
      </p:sp>
      <p:sp>
        <p:nvSpPr>
          <p:cNvPr id="21" name="Text 18"/>
          <p:cNvSpPr/>
          <p:nvPr/>
        </p:nvSpPr>
        <p:spPr>
          <a:xfrm>
            <a:off x="4581144" y="4169664"/>
            <a:ext cx="3026664" cy="292608"/>
          </a:xfrm>
          <a:prstGeom prst="rect">
            <a:avLst/>
          </a:prstGeom>
          <a:noFill/>
          <a:ln/>
        </p:spPr>
        <p:txBody>
          <a:bodyPr wrap="square" lIns="0" tIns="0" rIns="0" bIns="0" rtlCol="0" anchor="ctr"/>
          <a:lstStyle/>
          <a:p>
            <a:pPr marL="0" indent="0">
              <a:buNone/>
            </a:pPr>
            <a:r>
              <a:rPr lang="en-US" sz="1250" b="1" dirty="0">
                <a:solidFill>
                  <a:srgbClr val="F1F5F9"/>
                </a:solidFill>
                <a:latin typeface="Pretendard" pitchFamily="34" charset="0"/>
                <a:ea typeface="Pretendard" pitchFamily="34" charset="-122"/>
                <a:cs typeface="Pretendard" pitchFamily="34" charset="-120"/>
              </a:rPr>
              <a:t>기간 전체가 부재다</a:t>
            </a:r>
            <a:endParaRPr lang="en-US" sz="1250" dirty="0"/>
          </a:p>
        </p:txBody>
      </p:sp>
      <p:sp>
        <p:nvSpPr>
          <p:cNvPr id="22" name="Text 19"/>
          <p:cNvSpPr/>
          <p:nvPr/>
        </p:nvSpPr>
        <p:spPr>
          <a:xfrm>
            <a:off x="4581144" y="4498848"/>
            <a:ext cx="3026664" cy="685800"/>
          </a:xfrm>
          <a:prstGeom prst="rect">
            <a:avLst/>
          </a:prstGeom>
          <a:noFill/>
          <a:ln/>
        </p:spPr>
        <p:txBody>
          <a:bodyPr wrap="square" lIns="0" tIns="0" rIns="0" bIns="0" rtlCol="0" anchor="t"/>
          <a:lstStyle/>
          <a:p>
            <a:pPr marL="0" indent="0">
              <a:lnSpc>
                <a:spcPct val="125000"/>
              </a:lnSpc>
              <a:buNone/>
            </a:pPr>
            <a:r>
              <a:rPr lang="en-US" sz="1100" dirty="0">
                <a:solidFill>
                  <a:srgbClr val="BAC6D8"/>
                </a:solidFill>
                <a:latin typeface="Pretendard" pitchFamily="34" charset="0"/>
                <a:ea typeface="Pretendard" pitchFamily="34" charset="-122"/>
                <a:cs typeface="Pretendard" pitchFamily="34" charset="-120"/>
              </a:rPr>
              <a:t>용량이 0이라 부하율을 낼 수 없다</a:t>
            </a:r>
            <a:endParaRPr lang="en-US" sz="1100" dirty="0"/>
          </a:p>
        </p:txBody>
      </p:sp>
      <p:sp>
        <p:nvSpPr>
          <p:cNvPr id="23" name="Shape 20"/>
          <p:cNvSpPr/>
          <p:nvPr/>
        </p:nvSpPr>
        <p:spPr>
          <a:xfrm>
            <a:off x="8083296" y="3703320"/>
            <a:ext cx="3538728" cy="1600200"/>
          </a:xfrm>
          <a:prstGeom prst="roundRect">
            <a:avLst>
              <a:gd name="adj" fmla="val 4571"/>
            </a:avLst>
          </a:prstGeom>
          <a:solidFill>
            <a:srgbClr val="161D2E"/>
          </a:solidFill>
          <a:ln w="12700">
            <a:solidFill>
              <a:srgbClr val="263049"/>
            </a:solidFill>
            <a:prstDash val="solid"/>
          </a:ln>
        </p:spPr>
        <p:txBody>
          <a:bodyPr/>
          <a:lstStyle/>
          <a:p>
            <a:endParaRPr lang="ko-KR" altLang="en-US"/>
          </a:p>
        </p:txBody>
      </p:sp>
      <p:sp>
        <p:nvSpPr>
          <p:cNvPr id="24" name="Text 21"/>
          <p:cNvSpPr/>
          <p:nvPr/>
        </p:nvSpPr>
        <p:spPr>
          <a:xfrm>
            <a:off x="8339328" y="3858768"/>
            <a:ext cx="3026664" cy="274320"/>
          </a:xfrm>
          <a:prstGeom prst="rect">
            <a:avLst/>
          </a:prstGeom>
          <a:noFill/>
          <a:ln/>
        </p:spPr>
        <p:txBody>
          <a:bodyPr wrap="square" lIns="0" tIns="0" rIns="0" bIns="0" rtlCol="0" anchor="ctr"/>
          <a:lstStyle/>
          <a:p>
            <a:pPr marL="0" indent="0">
              <a:buNone/>
            </a:pPr>
            <a:r>
              <a:rPr lang="en-US" sz="1050" b="1" dirty="0">
                <a:solidFill>
                  <a:srgbClr val="FBBF24"/>
                </a:solidFill>
                <a:latin typeface="Consolas" pitchFamily="34" charset="0"/>
                <a:ea typeface="Consolas" pitchFamily="34" charset="-122"/>
                <a:cs typeface="Consolas" pitchFamily="34" charset="-120"/>
              </a:rPr>
              <a:t>NO_EFFECTIVE_CAPACITY</a:t>
            </a:r>
            <a:endParaRPr lang="en-US" sz="1050" dirty="0"/>
          </a:p>
        </p:txBody>
      </p:sp>
      <p:sp>
        <p:nvSpPr>
          <p:cNvPr id="25" name="Text 22"/>
          <p:cNvSpPr/>
          <p:nvPr/>
        </p:nvSpPr>
        <p:spPr>
          <a:xfrm>
            <a:off x="8339328" y="4169664"/>
            <a:ext cx="3026664" cy="292608"/>
          </a:xfrm>
          <a:prstGeom prst="rect">
            <a:avLst/>
          </a:prstGeom>
          <a:noFill/>
          <a:ln/>
        </p:spPr>
        <p:txBody>
          <a:bodyPr wrap="square" lIns="0" tIns="0" rIns="0" bIns="0" rtlCol="0" anchor="ctr"/>
          <a:lstStyle/>
          <a:p>
            <a:pPr marL="0" indent="0">
              <a:buNone/>
            </a:pPr>
            <a:r>
              <a:rPr lang="en-US" sz="1250" b="1" dirty="0">
                <a:solidFill>
                  <a:srgbClr val="F1F5F9"/>
                </a:solidFill>
                <a:latin typeface="Pretendard" pitchFamily="34" charset="0"/>
                <a:ea typeface="Pretendard" pitchFamily="34" charset="-122"/>
                <a:cs typeface="Pretendard" pitchFamily="34" charset="-120"/>
              </a:rPr>
              <a:t>쓸 수 있는 시간이 0이다</a:t>
            </a:r>
            <a:endParaRPr lang="en-US" sz="1250" dirty="0"/>
          </a:p>
        </p:txBody>
      </p:sp>
      <p:sp>
        <p:nvSpPr>
          <p:cNvPr id="26" name="Text 23"/>
          <p:cNvSpPr/>
          <p:nvPr/>
        </p:nvSpPr>
        <p:spPr>
          <a:xfrm>
            <a:off x="8339328" y="4498848"/>
            <a:ext cx="3026664" cy="685800"/>
          </a:xfrm>
          <a:prstGeom prst="rect">
            <a:avLst/>
          </a:prstGeom>
          <a:noFill/>
          <a:ln/>
        </p:spPr>
        <p:txBody>
          <a:bodyPr wrap="square" lIns="0" tIns="0" rIns="0" bIns="0" rtlCol="0" anchor="t"/>
          <a:lstStyle/>
          <a:p>
            <a:pPr marL="0" indent="0">
              <a:lnSpc>
                <a:spcPct val="125000"/>
              </a:lnSpc>
              <a:buNone/>
            </a:pPr>
            <a:r>
              <a:rPr lang="en-US" sz="1100" dirty="0">
                <a:solidFill>
                  <a:srgbClr val="BAC6D8"/>
                </a:solidFill>
                <a:latin typeface="Pretendard" pitchFamily="34" charset="0"/>
                <a:ea typeface="Pretendard" pitchFamily="34" charset="-122"/>
                <a:cs typeface="Pretendard" pitchFamily="34" charset="-120"/>
              </a:rPr>
              <a:t>고정 일정 등으로 용량이 남지 않았다</a:t>
            </a:r>
            <a:endParaRPr lang="en-US" sz="1100" dirty="0"/>
          </a:p>
        </p:txBody>
      </p:sp>
      <p:sp>
        <p:nvSpPr>
          <p:cNvPr id="27" name="Text 24"/>
          <p:cNvSpPr/>
          <p:nvPr/>
        </p:nvSpPr>
        <p:spPr>
          <a:xfrm>
            <a:off x="566928" y="5486400"/>
            <a:ext cx="11064240" cy="320040"/>
          </a:xfrm>
          <a:prstGeom prst="rect">
            <a:avLst/>
          </a:prstGeom>
          <a:noFill/>
          <a:ln/>
        </p:spPr>
        <p:txBody>
          <a:bodyPr wrap="square" lIns="0" tIns="0" rIns="0" bIns="0" rtlCol="0" anchor="ctr"/>
          <a:lstStyle/>
          <a:p>
            <a:pPr marL="0" indent="0">
              <a:buNone/>
            </a:pPr>
            <a:r>
              <a:rPr lang="en-US" sz="1100" dirty="0">
                <a:solidFill>
                  <a:srgbClr val="9FADC2"/>
                </a:solidFill>
                <a:latin typeface="Pretendard" pitchFamily="34" charset="0"/>
                <a:ea typeface="Pretendard" pitchFamily="34" charset="-122"/>
                <a:cs typeface="Pretendard" pitchFamily="34" charset="-120"/>
              </a:rPr>
              <a:t>한계 — 공휴일 캘린더가 없어 월~금을 근무일로 본다  ·  난이도 · 스트레스처럼 데이터로 확인할 수 없는 것은 계수로 섞지 않는다</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APPENDIX ⑧</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업무 추출에서 감수한 판단</a:t>
            </a:r>
            <a:endParaRPr lang="en-US" sz="2700" dirty="0"/>
          </a:p>
        </p:txBody>
      </p:sp>
      <p:sp>
        <p:nvSpPr>
          <p:cNvPr id="5" name="Text 2"/>
          <p:cNvSpPr/>
          <p:nvPr/>
        </p:nvSpPr>
        <p:spPr>
          <a:xfrm>
            <a:off x="566928" y="1243584"/>
            <a:ext cx="11064240" cy="320040"/>
          </a:xfrm>
          <a:prstGeom prst="rect">
            <a:avLst/>
          </a:prstGeom>
          <a:noFill/>
          <a:ln/>
        </p:spPr>
        <p:txBody>
          <a:bodyPr wrap="square" lIns="0" tIns="0" rIns="0" bIns="0" rtlCol="0" anchor="ctr"/>
          <a:lstStyle/>
          <a:p>
            <a:pPr marL="0" indent="0">
              <a:buNone/>
            </a:pPr>
            <a:r>
              <a:rPr lang="en-US" sz="1300" dirty="0">
                <a:solidFill>
                  <a:srgbClr val="BAC6D8"/>
                </a:solidFill>
                <a:latin typeface="Pretendard Light" pitchFamily="34" charset="0"/>
                <a:ea typeface="Pretendard Light" pitchFamily="34" charset="-122"/>
                <a:cs typeface="Pretendard Light" pitchFamily="34" charset="-120"/>
              </a:rPr>
              <a:t>2026-08-05 실측 — 단계마다 모델과 추론 강도를 다르게 뒀다</a:t>
            </a:r>
            <a:endParaRPr lang="en-US" sz="1300" dirty="0"/>
          </a:p>
        </p:txBody>
      </p:sp>
      <p:sp>
        <p:nvSpPr>
          <p:cNvPr id="6" name="Text 3"/>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41</a:t>
            </a:r>
            <a:endParaRPr lang="en-US" sz="1050" dirty="0"/>
          </a:p>
        </p:txBody>
      </p:sp>
      <p:sp>
        <p:nvSpPr>
          <p:cNvPr id="7" name="Text 4"/>
          <p:cNvSpPr/>
          <p:nvPr/>
        </p:nvSpPr>
        <p:spPr>
          <a:xfrm>
            <a:off x="566928" y="1737360"/>
            <a:ext cx="5669280" cy="274320"/>
          </a:xfrm>
          <a:prstGeom prst="rect">
            <a:avLst/>
          </a:prstGeom>
          <a:noFill/>
          <a:ln/>
        </p:spPr>
        <p:txBody>
          <a:bodyPr wrap="square" lIns="0" tIns="0" rIns="0" bIns="0" rtlCol="0" anchor="ctr"/>
          <a:lstStyle/>
          <a:p>
            <a:pPr marL="0" indent="0">
              <a:buNone/>
            </a:pPr>
            <a:r>
              <a:rPr lang="en-US" sz="1150" dirty="0">
                <a:solidFill>
                  <a:srgbClr val="BAC6D8"/>
                </a:solidFill>
                <a:latin typeface="Pretendard" pitchFamily="34" charset="0"/>
                <a:ea typeface="Pretendard" pitchFamily="34" charset="-122"/>
                <a:cs typeface="Pretendard" pitchFamily="34" charset="-120"/>
              </a:rPr>
              <a:t>검색어 3개를 만드는 데 걸린 시간과 출력량 — 같은 프롬프트</a:t>
            </a:r>
            <a:endParaRPr lang="en-US" sz="115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66928" y="2103120"/>
          <a:ext cx="5669280" cy="914400"/>
        </p:xfrm>
        <a:graphic>
          <a:graphicData uri="http://schemas.openxmlformats.org/drawingml/2006/table">
            <a:tbl>
              <a:tblPr/>
              <a:tblGrid>
                <a:gridCol w="25603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438912">
                <a:tc>
                  <a:txBody>
                    <a:bodyPr/>
                    <a:lstStyle/>
                    <a:p>
                      <a:pPr marL="0" indent="0" algn="ctr">
                        <a:buNone/>
                      </a:pPr>
                      <a:r>
                        <a:rPr lang="en-US" sz="1100" b="1" dirty="0">
                          <a:solidFill>
                            <a:srgbClr val="67E8F9"/>
                          </a:solidFill>
                          <a:latin typeface="Pretendard" pitchFamily="34" charset="0"/>
                          <a:ea typeface="Pretendard" pitchFamily="34" charset="-122"/>
                          <a:cs typeface="Pretendard" pitchFamily="34" charset="-120"/>
                        </a:rPr>
                        <a:t>모델</a:t>
                      </a:r>
                      <a:endParaRPr lang="en-US" sz="1100" dirty="0">
                        <a:latin typeface="Pretendard" charset="0"/>
                        <a:ea typeface="Pretendard" charset="0"/>
                        <a:cs typeface="Pretendard" charset="0"/>
                      </a:endParaRPr>
                    </a:p>
                  </a:txBody>
                  <a:tcPr marT="91440" marB="91440"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tc>
                  <a:txBody>
                    <a:bodyPr/>
                    <a:lstStyle/>
                    <a:p>
                      <a:pPr marL="0" indent="0" algn="ctr">
                        <a:buNone/>
                      </a:pPr>
                      <a:r>
                        <a:rPr lang="en-US" sz="1100" b="1" dirty="0">
                          <a:solidFill>
                            <a:srgbClr val="67E8F9"/>
                          </a:solidFill>
                          <a:latin typeface="Pretendard" pitchFamily="34" charset="0"/>
                          <a:ea typeface="Pretendard" pitchFamily="34" charset="-122"/>
                          <a:cs typeface="Pretendard" pitchFamily="34" charset="-120"/>
                        </a:rPr>
                        <a:t>소요</a:t>
                      </a:r>
                      <a:endParaRPr lang="en-US" sz="1100" dirty="0">
                        <a:latin typeface="Pretendard" charset="0"/>
                        <a:ea typeface="Pretendard" charset="0"/>
                        <a:cs typeface="Pretendard" charset="0"/>
                      </a:endParaRPr>
                    </a:p>
                  </a:txBody>
                  <a:tcPr marT="91440" marB="91440"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tc>
                  <a:txBody>
                    <a:bodyPr/>
                    <a:lstStyle/>
                    <a:p>
                      <a:pPr marL="0" indent="0" algn="ctr">
                        <a:buNone/>
                      </a:pPr>
                      <a:r>
                        <a:rPr lang="en-US" sz="1100" b="1" dirty="0">
                          <a:solidFill>
                            <a:srgbClr val="67E8F9"/>
                          </a:solidFill>
                          <a:latin typeface="Pretendard" pitchFamily="34" charset="0"/>
                          <a:ea typeface="Pretendard" pitchFamily="34" charset="-122"/>
                          <a:cs typeface="Pretendard" pitchFamily="34" charset="-120"/>
                        </a:rPr>
                        <a:t>출력 토큰</a:t>
                      </a:r>
                      <a:endParaRPr lang="en-US" sz="1100" dirty="0">
                        <a:latin typeface="Pretendard" charset="0"/>
                        <a:ea typeface="Pretendard" charset="0"/>
                        <a:cs typeface="Pretendard" charset="0"/>
                      </a:endParaRPr>
                    </a:p>
                  </a:txBody>
                  <a:tcPr marT="91440" marB="91440"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B2436"/>
                    </a:solidFill>
                  </a:tcPr>
                </a:tc>
                <a:extLst>
                  <a:ext uri="{0D108BD9-81ED-4DB2-BD59-A6C34878D82A}">
                    <a16:rowId xmlns:a16="http://schemas.microsoft.com/office/drawing/2014/main" val="10000"/>
                  </a:ext>
                </a:extLst>
              </a:tr>
              <a:tr h="438912">
                <a:tc>
                  <a:txBody>
                    <a:bodyPr/>
                    <a:lstStyle/>
                    <a:p>
                      <a:pPr marL="0" indent="0">
                        <a:buNone/>
                      </a:pPr>
                      <a:r>
                        <a:rPr lang="en-US" sz="1150" b="1" dirty="0">
                          <a:solidFill>
                            <a:srgbClr val="22D3EE"/>
                          </a:solidFill>
                          <a:latin typeface="Consolas" pitchFamily="34" charset="0"/>
                          <a:ea typeface="Consolas" pitchFamily="34" charset="-122"/>
                          <a:cs typeface="Consolas" pitchFamily="34" charset="-120"/>
                        </a:rPr>
                        <a:t>gpt-5.6-luna</a:t>
                      </a:r>
                      <a:endParaRPr lang="en-US" sz="1150" dirty="0">
                        <a:latin typeface="Consolas" charset="0"/>
                        <a:ea typeface="Consolas" charset="0"/>
                        <a:cs typeface="Consolas" charset="0"/>
                      </a:endParaRPr>
                    </a:p>
                  </a:txBody>
                  <a:tcPr marT="91440" marB="91440"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0F2A3A"/>
                    </a:solidFill>
                  </a:tcPr>
                </a:tc>
                <a:tc>
                  <a:txBody>
                    <a:bodyPr/>
                    <a:lstStyle/>
                    <a:p>
                      <a:pPr marL="0" indent="0" algn="ctr">
                        <a:buNone/>
                      </a:pPr>
                      <a:r>
                        <a:rPr lang="en-US" sz="1150" b="1" dirty="0">
                          <a:solidFill>
                            <a:srgbClr val="22D3EE"/>
                          </a:solidFill>
                          <a:latin typeface="Consolas" pitchFamily="34" charset="0"/>
                          <a:ea typeface="Consolas" pitchFamily="34" charset="-122"/>
                          <a:cs typeface="Consolas" pitchFamily="34" charset="-120"/>
                        </a:rPr>
                        <a:t>2.8초</a:t>
                      </a:r>
                      <a:endParaRPr lang="en-US" sz="1150" dirty="0">
                        <a:latin typeface="Consolas" charset="0"/>
                        <a:ea typeface="Consolas" charset="0"/>
                        <a:cs typeface="Consolas" charset="0"/>
                      </a:endParaRPr>
                    </a:p>
                  </a:txBody>
                  <a:tcPr marT="91440" marB="91440"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0F2A3A"/>
                    </a:solidFill>
                  </a:tcPr>
                </a:tc>
                <a:tc>
                  <a:txBody>
                    <a:bodyPr/>
                    <a:lstStyle/>
                    <a:p>
                      <a:pPr marL="0" indent="0" algn="ctr">
                        <a:buNone/>
                      </a:pPr>
                      <a:r>
                        <a:rPr lang="en-US" sz="1150" b="1" dirty="0">
                          <a:solidFill>
                            <a:srgbClr val="22D3EE"/>
                          </a:solidFill>
                          <a:latin typeface="Consolas" pitchFamily="34" charset="0"/>
                          <a:ea typeface="Consolas" pitchFamily="34" charset="-122"/>
                          <a:cs typeface="Consolas" pitchFamily="34" charset="-120"/>
                        </a:rPr>
                        <a:t>192</a:t>
                      </a:r>
                      <a:endParaRPr lang="en-US" sz="1150" dirty="0">
                        <a:latin typeface="Consolas" charset="0"/>
                        <a:ea typeface="Consolas" charset="0"/>
                        <a:cs typeface="Consolas" charset="0"/>
                      </a:endParaRPr>
                    </a:p>
                  </a:txBody>
                  <a:tcPr marT="91440" marB="91440"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0F2A3A"/>
                    </a:solidFill>
                  </a:tcPr>
                </a:tc>
                <a:extLst>
                  <a:ext uri="{0D108BD9-81ED-4DB2-BD59-A6C34878D82A}">
                    <a16:rowId xmlns:a16="http://schemas.microsoft.com/office/drawing/2014/main" val="10001"/>
                  </a:ext>
                </a:extLst>
              </a:tr>
              <a:tr h="438912">
                <a:tc>
                  <a:txBody>
                    <a:bodyPr/>
                    <a:lstStyle/>
                    <a:p>
                      <a:pPr marL="0" indent="0">
                        <a:buNone/>
                      </a:pPr>
                      <a:r>
                        <a:rPr lang="en-US" sz="1150" dirty="0">
                          <a:solidFill>
                            <a:srgbClr val="BAC6D8"/>
                          </a:solidFill>
                          <a:latin typeface="Consolas" pitchFamily="34" charset="0"/>
                          <a:ea typeface="Consolas" pitchFamily="34" charset="-122"/>
                          <a:cs typeface="Consolas" pitchFamily="34" charset="-120"/>
                        </a:rPr>
                        <a:t>gpt-5.6-terra</a:t>
                      </a:r>
                      <a:endParaRPr lang="en-US" sz="1150" dirty="0">
                        <a:latin typeface="Consolas" charset="0"/>
                        <a:ea typeface="Consolas" charset="0"/>
                        <a:cs typeface="Consolas" charset="0"/>
                      </a:endParaRPr>
                    </a:p>
                  </a:txBody>
                  <a:tcPr marT="91440" marB="91440"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150" dirty="0">
                          <a:solidFill>
                            <a:srgbClr val="BAC6D8"/>
                          </a:solidFill>
                          <a:latin typeface="Consolas" pitchFamily="34" charset="0"/>
                          <a:ea typeface="Consolas" pitchFamily="34" charset="-122"/>
                          <a:cs typeface="Consolas" pitchFamily="34" charset="-120"/>
                        </a:rPr>
                        <a:t>2.9초</a:t>
                      </a:r>
                      <a:endParaRPr lang="en-US" sz="1150" dirty="0">
                        <a:latin typeface="Consolas" charset="0"/>
                        <a:ea typeface="Consolas" charset="0"/>
                        <a:cs typeface="Consolas" charset="0"/>
                      </a:endParaRPr>
                    </a:p>
                  </a:txBody>
                  <a:tcPr marT="91440" marB="91440"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150" dirty="0">
                          <a:solidFill>
                            <a:srgbClr val="BAC6D8"/>
                          </a:solidFill>
                          <a:latin typeface="Consolas" pitchFamily="34" charset="0"/>
                          <a:ea typeface="Consolas" pitchFamily="34" charset="-122"/>
                          <a:cs typeface="Consolas" pitchFamily="34" charset="-120"/>
                        </a:rPr>
                        <a:t>135</a:t>
                      </a:r>
                      <a:endParaRPr lang="en-US" sz="1150" dirty="0">
                        <a:latin typeface="Consolas" charset="0"/>
                        <a:ea typeface="Consolas" charset="0"/>
                        <a:cs typeface="Consolas" charset="0"/>
                      </a:endParaRPr>
                    </a:p>
                  </a:txBody>
                  <a:tcPr marT="91440" marB="91440"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2"/>
                  </a:ext>
                </a:extLst>
              </a:tr>
              <a:tr h="438912">
                <a:tc>
                  <a:txBody>
                    <a:bodyPr/>
                    <a:lstStyle/>
                    <a:p>
                      <a:pPr marL="0" indent="0">
                        <a:buNone/>
                      </a:pPr>
                      <a:r>
                        <a:rPr lang="en-US" sz="1150" dirty="0">
                          <a:solidFill>
                            <a:srgbClr val="BAC6D8"/>
                          </a:solidFill>
                          <a:latin typeface="Consolas" pitchFamily="34" charset="0"/>
                          <a:ea typeface="Consolas" pitchFamily="34" charset="-122"/>
                          <a:cs typeface="Consolas" pitchFamily="34" charset="-120"/>
                        </a:rPr>
                        <a:t>gpt-5.6-sol</a:t>
                      </a:r>
                      <a:endParaRPr lang="en-US" sz="1150" dirty="0">
                        <a:latin typeface="Consolas" charset="0"/>
                        <a:ea typeface="Consolas" charset="0"/>
                        <a:cs typeface="Consolas" charset="0"/>
                      </a:endParaRPr>
                    </a:p>
                  </a:txBody>
                  <a:tcPr marT="91440" marB="91440"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150" dirty="0">
                          <a:solidFill>
                            <a:srgbClr val="BAC6D8"/>
                          </a:solidFill>
                          <a:latin typeface="Consolas" pitchFamily="34" charset="0"/>
                          <a:ea typeface="Consolas" pitchFamily="34" charset="-122"/>
                          <a:cs typeface="Consolas" pitchFamily="34" charset="-120"/>
                        </a:rPr>
                        <a:t>53.3초</a:t>
                      </a:r>
                      <a:endParaRPr lang="en-US" sz="1150" dirty="0">
                        <a:latin typeface="Consolas" charset="0"/>
                        <a:ea typeface="Consolas" charset="0"/>
                        <a:cs typeface="Consolas" charset="0"/>
                      </a:endParaRPr>
                    </a:p>
                  </a:txBody>
                  <a:tcPr marT="91440" marB="91440"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tc>
                  <a:txBody>
                    <a:bodyPr/>
                    <a:lstStyle/>
                    <a:p>
                      <a:pPr marL="0" indent="0" algn="ctr">
                        <a:buNone/>
                      </a:pPr>
                      <a:r>
                        <a:rPr lang="en-US" sz="1150" dirty="0">
                          <a:solidFill>
                            <a:srgbClr val="BAC6D8"/>
                          </a:solidFill>
                          <a:latin typeface="Consolas" pitchFamily="34" charset="0"/>
                          <a:ea typeface="Consolas" pitchFamily="34" charset="-122"/>
                          <a:cs typeface="Consolas" pitchFamily="34" charset="-120"/>
                        </a:rPr>
                        <a:t>4,883</a:t>
                      </a:r>
                      <a:endParaRPr lang="en-US" sz="1150" dirty="0">
                        <a:latin typeface="Consolas" charset="0"/>
                        <a:ea typeface="Consolas" charset="0"/>
                        <a:cs typeface="Consolas" charset="0"/>
                      </a:endParaRPr>
                    </a:p>
                  </a:txBody>
                  <a:tcPr marT="91440" marB="91440" anchor="ctr">
                    <a:lnL w="9525" cap="flat" cmpd="sng" algn="ctr">
                      <a:solidFill>
                        <a:srgbClr val="263049"/>
                      </a:solidFill>
                      <a:prstDash val="solid"/>
                      <a:round/>
                      <a:headEnd type="none" w="med" len="med"/>
                      <a:tailEnd type="none" w="med" len="med"/>
                    </a:lnL>
                    <a:lnR w="9525" cap="flat" cmpd="sng" algn="ctr">
                      <a:solidFill>
                        <a:srgbClr val="263049"/>
                      </a:solidFill>
                      <a:prstDash val="solid"/>
                      <a:round/>
                      <a:headEnd type="none" w="med" len="med"/>
                      <a:tailEnd type="none" w="med" len="med"/>
                    </a:lnR>
                    <a:lnT w="9525" cap="flat" cmpd="sng" algn="ctr">
                      <a:solidFill>
                        <a:srgbClr val="263049"/>
                      </a:solidFill>
                      <a:prstDash val="solid"/>
                      <a:round/>
                      <a:headEnd type="none" w="med" len="med"/>
                      <a:tailEnd type="none" w="med" len="med"/>
                    </a:lnT>
                    <a:lnB w="9525" cap="flat" cmpd="sng" algn="ctr">
                      <a:solidFill>
                        <a:srgbClr val="263049"/>
                      </a:solidFill>
                      <a:prstDash val="solid"/>
                      <a:round/>
                      <a:headEnd type="none" w="med" len="med"/>
                      <a:tailEnd type="none" w="med" len="med"/>
                    </a:lnB>
                    <a:solidFill>
                      <a:srgbClr val="161D2E"/>
                    </a:solidFill>
                  </a:tcPr>
                </a:tc>
                <a:extLst>
                  <a:ext uri="{0D108BD9-81ED-4DB2-BD59-A6C34878D82A}">
                    <a16:rowId xmlns:a16="http://schemas.microsoft.com/office/drawing/2014/main" val="10003"/>
                  </a:ext>
                </a:extLst>
              </a:tr>
            </a:tbl>
          </a:graphicData>
        </a:graphic>
      </p:graphicFrame>
      <p:sp>
        <p:nvSpPr>
          <p:cNvPr id="9" name="Text 5"/>
          <p:cNvSpPr/>
          <p:nvPr/>
        </p:nvSpPr>
        <p:spPr>
          <a:xfrm>
            <a:off x="566928" y="3977640"/>
            <a:ext cx="5669280" cy="1097280"/>
          </a:xfrm>
          <a:prstGeom prst="rect">
            <a:avLst/>
          </a:prstGeom>
          <a:noFill/>
          <a:ln/>
        </p:spPr>
        <p:txBody>
          <a:bodyPr wrap="square" lIns="0" tIns="0" rIns="0" bIns="0" rtlCol="0" anchor="t"/>
          <a:lstStyle/>
          <a:p>
            <a:pPr marL="0" indent="0">
              <a:lnSpc>
                <a:spcPct val="130000"/>
              </a:lnSpc>
              <a:buNone/>
            </a:pPr>
            <a:r>
              <a:rPr lang="en-US" sz="1100" dirty="0">
                <a:solidFill>
                  <a:srgbClr val="BAC6D8"/>
                </a:solidFill>
                <a:latin typeface="Pretendard" pitchFamily="34" charset="0"/>
                <a:ea typeface="Pretendard" pitchFamily="34" charset="-122"/>
                <a:cs typeface="Pretendard" pitchFamily="34" charset="-120"/>
              </a:rPr>
              <a:t>sol은 출력 단가가 luna의 25배다 — 이 단계를 sol로 돌리면 검색어를 만드는 값만 한 번에 $0.6이 나간다</a:t>
            </a:r>
            <a:endParaRPr lang="en-US" sz="1100" dirty="0"/>
          </a:p>
          <a:p>
            <a:pPr marL="0" indent="0">
              <a:lnSpc>
                <a:spcPct val="130000"/>
              </a:lnSpc>
              <a:buNone/>
            </a:pPr>
            <a:r>
              <a:rPr lang="en-US" sz="1100" dirty="0">
                <a:solidFill>
                  <a:srgbClr val="BAC6D8"/>
                </a:solidFill>
                <a:latin typeface="Pretendard" pitchFamily="34" charset="0"/>
                <a:ea typeface="Pretendard" pitchFamily="34" charset="-122"/>
                <a:cs typeface="Pretendard" pitchFamily="34" charset="-120"/>
              </a:rPr>
              <a:t>추론 강도도 low 2.9초 · xhigh 5.6초였는데 xhigh 결과가 더 나빴다 — 질의가 여러 문장 덩어리로 나와 검색에 불리했다</a:t>
            </a:r>
            <a:endParaRPr lang="en-US" sz="1100" dirty="0"/>
          </a:p>
        </p:txBody>
      </p:sp>
      <p:sp>
        <p:nvSpPr>
          <p:cNvPr id="10" name="Text 6"/>
          <p:cNvSpPr/>
          <p:nvPr/>
        </p:nvSpPr>
        <p:spPr>
          <a:xfrm>
            <a:off x="566928" y="5166360"/>
            <a:ext cx="5669280" cy="292608"/>
          </a:xfrm>
          <a:prstGeom prst="rect">
            <a:avLst/>
          </a:prstGeom>
          <a:noFill/>
          <a:ln/>
        </p:spPr>
        <p:txBody>
          <a:bodyPr wrap="square" lIns="0" tIns="0" rIns="0" bIns="0" rtlCol="0" anchor="ctr"/>
          <a:lstStyle/>
          <a:p>
            <a:pPr marL="0" indent="0">
              <a:buNone/>
            </a:pPr>
            <a:r>
              <a:rPr lang="en-US" sz="1250" b="1" dirty="0">
                <a:solidFill>
                  <a:srgbClr val="67E8F9"/>
                </a:solidFill>
                <a:latin typeface="Pretendard" pitchFamily="34" charset="0"/>
                <a:ea typeface="Pretendard" pitchFamily="34" charset="-122"/>
                <a:cs typeface="Pretendard" pitchFamily="34" charset="-120"/>
              </a:rPr>
              <a:t>판단이 필요한 최종 정리에만 추론을 쓴다</a:t>
            </a:r>
            <a:endParaRPr lang="en-US" sz="1250" dirty="0"/>
          </a:p>
        </p:txBody>
      </p:sp>
      <p:sp>
        <p:nvSpPr>
          <p:cNvPr id="11" name="Shape 7"/>
          <p:cNvSpPr/>
          <p:nvPr/>
        </p:nvSpPr>
        <p:spPr>
          <a:xfrm>
            <a:off x="6537960" y="1691640"/>
            <a:ext cx="5093208" cy="4069080"/>
          </a:xfrm>
          <a:prstGeom prst="roundRect">
            <a:avLst>
              <a:gd name="adj" fmla="val 1798"/>
            </a:avLst>
          </a:prstGeom>
          <a:solidFill>
            <a:srgbClr val="161D2E"/>
          </a:solidFill>
          <a:ln w="12700">
            <a:solidFill>
              <a:srgbClr val="263049"/>
            </a:solidFill>
            <a:prstDash val="solid"/>
          </a:ln>
        </p:spPr>
        <p:txBody>
          <a:bodyPr/>
          <a:lstStyle/>
          <a:p>
            <a:endParaRPr lang="ko-KR" altLang="en-US"/>
          </a:p>
        </p:txBody>
      </p:sp>
      <p:sp>
        <p:nvSpPr>
          <p:cNvPr id="12" name="Text 8"/>
          <p:cNvSpPr/>
          <p:nvPr/>
        </p:nvSpPr>
        <p:spPr>
          <a:xfrm>
            <a:off x="6812280" y="1874520"/>
            <a:ext cx="4544568" cy="310896"/>
          </a:xfrm>
          <a:prstGeom prst="rect">
            <a:avLst/>
          </a:prstGeom>
          <a:noFill/>
          <a:ln/>
        </p:spPr>
        <p:txBody>
          <a:bodyPr wrap="square" lIns="0" tIns="0" rIns="0" bIns="0" rtlCol="0" anchor="ctr"/>
          <a:lstStyle/>
          <a:p>
            <a:pPr marL="0" indent="0">
              <a:buNone/>
            </a:pPr>
            <a:r>
              <a:rPr lang="en-US" sz="1350" b="1" dirty="0">
                <a:solidFill>
                  <a:srgbClr val="67E8F9"/>
                </a:solidFill>
                <a:latin typeface="Pretendard" pitchFamily="34" charset="0"/>
                <a:ea typeface="Pretendard" pitchFamily="34" charset="-122"/>
                <a:cs typeface="Pretendard" pitchFamily="34" charset="-120"/>
              </a:rPr>
              <a:t>실패해서 바꾼 것</a:t>
            </a:r>
            <a:endParaRPr lang="en-US" sz="1350" dirty="0"/>
          </a:p>
        </p:txBody>
      </p:sp>
      <p:sp>
        <p:nvSpPr>
          <p:cNvPr id="13" name="Text 9"/>
          <p:cNvSpPr/>
          <p:nvPr/>
        </p:nvSpPr>
        <p:spPr>
          <a:xfrm>
            <a:off x="6812280" y="2286000"/>
            <a:ext cx="256032" cy="274320"/>
          </a:xfrm>
          <a:prstGeom prst="rect">
            <a:avLst/>
          </a:prstGeom>
          <a:noFill/>
          <a:ln/>
        </p:spPr>
        <p:txBody>
          <a:bodyPr wrap="square" lIns="0" tIns="0" rIns="0" bIns="0" rtlCol="0" anchor="ctr"/>
          <a:lstStyle/>
          <a:p>
            <a:pPr marL="0" indent="0">
              <a:buNone/>
            </a:pPr>
            <a:r>
              <a:rPr lang="en-US" sz="1150" b="1" dirty="0">
                <a:solidFill>
                  <a:srgbClr val="FBBF24"/>
                </a:solidFill>
                <a:latin typeface="Consolas" pitchFamily="34" charset="0"/>
                <a:ea typeface="Consolas" pitchFamily="34" charset="-122"/>
                <a:cs typeface="Consolas" pitchFamily="34" charset="-120"/>
              </a:rPr>
              <a:t>1</a:t>
            </a:r>
            <a:endParaRPr lang="en-US" sz="1150" dirty="0"/>
          </a:p>
        </p:txBody>
      </p:sp>
      <p:sp>
        <p:nvSpPr>
          <p:cNvPr id="14" name="Text 10"/>
          <p:cNvSpPr/>
          <p:nvPr/>
        </p:nvSpPr>
        <p:spPr>
          <a:xfrm>
            <a:off x="7141464" y="2286000"/>
            <a:ext cx="4215384" cy="274320"/>
          </a:xfrm>
          <a:prstGeom prst="rect">
            <a:avLst/>
          </a:prstGeom>
          <a:noFill/>
          <a:ln/>
        </p:spPr>
        <p:txBody>
          <a:bodyPr wrap="square" lIns="0" tIns="0" rIns="0" bIns="0" rtlCol="0" anchor="ctr"/>
          <a:lstStyle/>
          <a:p>
            <a:pPr marL="0" indent="0">
              <a:buNone/>
            </a:pPr>
            <a:r>
              <a:rPr lang="en-US" sz="1200" b="1" dirty="0">
                <a:solidFill>
                  <a:srgbClr val="F1F5F9"/>
                </a:solidFill>
                <a:latin typeface="Pretendard" pitchFamily="34" charset="0"/>
                <a:ea typeface="Pretendard" pitchFamily="34" charset="-122"/>
                <a:cs typeface="Pretendard" pitchFamily="34" charset="-120"/>
              </a:rPr>
              <a:t>파일명만 주니 과업이 한 건도 안 잡혔다</a:t>
            </a:r>
            <a:endParaRPr lang="en-US" sz="1200" dirty="0"/>
          </a:p>
        </p:txBody>
      </p:sp>
      <p:sp>
        <p:nvSpPr>
          <p:cNvPr id="15" name="Text 11"/>
          <p:cNvSpPr/>
          <p:nvPr/>
        </p:nvSpPr>
        <p:spPr>
          <a:xfrm>
            <a:off x="7141464" y="2578608"/>
            <a:ext cx="4215384" cy="777240"/>
          </a:xfrm>
          <a:prstGeom prst="rect">
            <a:avLst/>
          </a:prstGeom>
          <a:noFill/>
          <a:ln/>
        </p:spPr>
        <p:txBody>
          <a:bodyPr wrap="square" lIns="0" tIns="0" rIns="0" bIns="0" rtlCol="0" anchor="t"/>
          <a:lstStyle/>
          <a:p>
            <a:pPr marL="0" indent="0">
              <a:lnSpc>
                <a:spcPct val="125000"/>
              </a:lnSpc>
              <a:buNone/>
            </a:pPr>
            <a:r>
              <a:rPr lang="en-US" sz="1050" dirty="0">
                <a:solidFill>
                  <a:srgbClr val="BAC6D8"/>
                </a:solidFill>
                <a:latin typeface="Pretendard" pitchFamily="34" charset="0"/>
                <a:ea typeface="Pretendard" pitchFamily="34" charset="-122"/>
                <a:cs typeface="Pretendard" pitchFamily="34" charset="-120"/>
              </a:rPr>
              <a:t>「사업 수행 범위에 포함된 업무 영역」 같은 일반 문장이 만들어지고, 그 벡터는 관리 보일러플레이트에 가장 가까웠다 → 문서 첫머리 12청크를 앵커로 함께 준다</a:t>
            </a:r>
            <a:endParaRPr lang="en-US" sz="1050" dirty="0"/>
          </a:p>
        </p:txBody>
      </p:sp>
      <p:sp>
        <p:nvSpPr>
          <p:cNvPr id="16" name="Shape 12"/>
          <p:cNvSpPr/>
          <p:nvPr/>
        </p:nvSpPr>
        <p:spPr>
          <a:xfrm>
            <a:off x="6812280" y="3328416"/>
            <a:ext cx="4544568" cy="0"/>
          </a:xfrm>
          <a:prstGeom prst="line">
            <a:avLst/>
          </a:prstGeom>
          <a:noFill/>
          <a:ln w="12700">
            <a:solidFill>
              <a:srgbClr val="263049"/>
            </a:solidFill>
            <a:prstDash val="solid"/>
          </a:ln>
        </p:spPr>
        <p:txBody>
          <a:bodyPr/>
          <a:lstStyle/>
          <a:p>
            <a:endParaRPr lang="ko-KR" altLang="en-US"/>
          </a:p>
        </p:txBody>
      </p:sp>
      <p:sp>
        <p:nvSpPr>
          <p:cNvPr id="17" name="Text 13"/>
          <p:cNvSpPr/>
          <p:nvPr/>
        </p:nvSpPr>
        <p:spPr>
          <a:xfrm>
            <a:off x="6812280" y="3456432"/>
            <a:ext cx="256032" cy="274320"/>
          </a:xfrm>
          <a:prstGeom prst="rect">
            <a:avLst/>
          </a:prstGeom>
          <a:noFill/>
          <a:ln/>
        </p:spPr>
        <p:txBody>
          <a:bodyPr wrap="square" lIns="0" tIns="0" rIns="0" bIns="0" rtlCol="0" anchor="ctr"/>
          <a:lstStyle/>
          <a:p>
            <a:pPr marL="0" indent="0">
              <a:buNone/>
            </a:pPr>
            <a:r>
              <a:rPr lang="en-US" sz="1150" b="1" dirty="0">
                <a:solidFill>
                  <a:srgbClr val="FBBF24"/>
                </a:solidFill>
                <a:latin typeface="Consolas" pitchFamily="34" charset="0"/>
                <a:ea typeface="Consolas" pitchFamily="34" charset="-122"/>
                <a:cs typeface="Consolas" pitchFamily="34" charset="-120"/>
              </a:rPr>
              <a:t>2</a:t>
            </a:r>
            <a:endParaRPr lang="en-US" sz="1150" dirty="0"/>
          </a:p>
        </p:txBody>
      </p:sp>
      <p:sp>
        <p:nvSpPr>
          <p:cNvPr id="18" name="Text 14"/>
          <p:cNvSpPr/>
          <p:nvPr/>
        </p:nvSpPr>
        <p:spPr>
          <a:xfrm>
            <a:off x="7141464" y="3456432"/>
            <a:ext cx="4215384" cy="274320"/>
          </a:xfrm>
          <a:prstGeom prst="rect">
            <a:avLst/>
          </a:prstGeom>
          <a:noFill/>
          <a:ln/>
        </p:spPr>
        <p:txBody>
          <a:bodyPr wrap="square" lIns="0" tIns="0" rIns="0" bIns="0" rtlCol="0" anchor="ctr"/>
          <a:lstStyle/>
          <a:p>
            <a:pPr marL="0" indent="0">
              <a:buNone/>
            </a:pPr>
            <a:r>
              <a:rPr lang="en-US" sz="1200" b="1" dirty="0">
                <a:solidFill>
                  <a:srgbClr val="F1F5F9"/>
                </a:solidFill>
                <a:latin typeface="Pretendard" pitchFamily="34" charset="0"/>
                <a:ea typeface="Pretendard" pitchFamily="34" charset="-122"/>
                <a:cs typeface="Pretendard" pitchFamily="34" charset="-120"/>
              </a:rPr>
              <a:t>UUID로 근거를 인용하게 했더니 추출이 통째로 죽었다</a:t>
            </a:r>
            <a:endParaRPr lang="en-US" sz="1200" dirty="0"/>
          </a:p>
        </p:txBody>
      </p:sp>
      <p:sp>
        <p:nvSpPr>
          <p:cNvPr id="19" name="Text 15"/>
          <p:cNvSpPr/>
          <p:nvPr/>
        </p:nvSpPr>
        <p:spPr>
          <a:xfrm>
            <a:off x="7141464" y="3749040"/>
            <a:ext cx="4215384" cy="777240"/>
          </a:xfrm>
          <a:prstGeom prst="rect">
            <a:avLst/>
          </a:prstGeom>
          <a:noFill/>
          <a:ln/>
        </p:spPr>
        <p:txBody>
          <a:bodyPr wrap="square" lIns="0" tIns="0" rIns="0" bIns="0" rtlCol="0" anchor="t"/>
          <a:lstStyle/>
          <a:p>
            <a:pPr marL="0" indent="0">
              <a:lnSpc>
                <a:spcPct val="125000"/>
              </a:lnSpc>
              <a:buNone/>
            </a:pPr>
            <a:r>
              <a:rPr lang="en-US" sz="1050" dirty="0">
                <a:solidFill>
                  <a:srgbClr val="BAC6D8"/>
                </a:solidFill>
                <a:latin typeface="Pretendard" pitchFamily="34" charset="0"/>
                <a:ea typeface="Pretendard" pitchFamily="34" charset="-122"/>
                <a:cs typeface="Pretendard" pitchFamily="34" charset="-120"/>
              </a:rPr>
              <a:t>36자 중 한 글자만 틀려도 실패했다 → E1 · E2 같은 짧은 번호로 인용하고 서버가 chunk_id로 되돌린다</a:t>
            </a:r>
            <a:endParaRPr lang="en-US" sz="1050" dirty="0"/>
          </a:p>
        </p:txBody>
      </p:sp>
      <p:sp>
        <p:nvSpPr>
          <p:cNvPr id="20" name="Shape 16"/>
          <p:cNvSpPr/>
          <p:nvPr/>
        </p:nvSpPr>
        <p:spPr>
          <a:xfrm>
            <a:off x="6812280" y="4498848"/>
            <a:ext cx="4544568" cy="0"/>
          </a:xfrm>
          <a:prstGeom prst="line">
            <a:avLst/>
          </a:prstGeom>
          <a:noFill/>
          <a:ln w="12700">
            <a:solidFill>
              <a:srgbClr val="263049"/>
            </a:solidFill>
            <a:prstDash val="solid"/>
          </a:ln>
        </p:spPr>
        <p:txBody>
          <a:bodyPr/>
          <a:lstStyle/>
          <a:p>
            <a:endParaRPr lang="ko-KR" altLang="en-US"/>
          </a:p>
        </p:txBody>
      </p:sp>
      <p:sp>
        <p:nvSpPr>
          <p:cNvPr id="21" name="Text 17"/>
          <p:cNvSpPr/>
          <p:nvPr/>
        </p:nvSpPr>
        <p:spPr>
          <a:xfrm>
            <a:off x="6812280" y="4626864"/>
            <a:ext cx="256032" cy="274320"/>
          </a:xfrm>
          <a:prstGeom prst="rect">
            <a:avLst/>
          </a:prstGeom>
          <a:noFill/>
          <a:ln/>
        </p:spPr>
        <p:txBody>
          <a:bodyPr wrap="square" lIns="0" tIns="0" rIns="0" bIns="0" rtlCol="0" anchor="ctr"/>
          <a:lstStyle/>
          <a:p>
            <a:pPr marL="0" indent="0">
              <a:buNone/>
            </a:pPr>
            <a:r>
              <a:rPr lang="en-US" sz="1150" b="1" dirty="0">
                <a:solidFill>
                  <a:srgbClr val="FBBF24"/>
                </a:solidFill>
                <a:latin typeface="Consolas" pitchFamily="34" charset="0"/>
                <a:ea typeface="Consolas" pitchFamily="34" charset="-122"/>
                <a:cs typeface="Consolas" pitchFamily="34" charset="-120"/>
              </a:rPr>
              <a:t>3</a:t>
            </a:r>
            <a:endParaRPr lang="en-US" sz="1150" dirty="0"/>
          </a:p>
        </p:txBody>
      </p:sp>
      <p:sp>
        <p:nvSpPr>
          <p:cNvPr id="22" name="Text 18"/>
          <p:cNvSpPr/>
          <p:nvPr/>
        </p:nvSpPr>
        <p:spPr>
          <a:xfrm>
            <a:off x="7141464" y="4626864"/>
            <a:ext cx="4215384" cy="274320"/>
          </a:xfrm>
          <a:prstGeom prst="rect">
            <a:avLst/>
          </a:prstGeom>
          <a:noFill/>
          <a:ln/>
        </p:spPr>
        <p:txBody>
          <a:bodyPr wrap="square" lIns="0" tIns="0" rIns="0" bIns="0" rtlCol="0" anchor="ctr"/>
          <a:lstStyle/>
          <a:p>
            <a:pPr marL="0" indent="0">
              <a:buNone/>
            </a:pPr>
            <a:r>
              <a:rPr lang="en-US" sz="1200" b="1" dirty="0">
                <a:solidFill>
                  <a:srgbClr val="F1F5F9"/>
                </a:solidFill>
                <a:latin typeface="Pretendard" pitchFamily="34" charset="0"/>
                <a:ea typeface="Pretendard" pitchFamily="34" charset="-122"/>
                <a:cs typeface="Pretendard" pitchFamily="34" charset="-120"/>
              </a:rPr>
              <a:t>근거 메타데이터가 프롬프트를 잡아먹었다</a:t>
            </a:r>
            <a:endParaRPr lang="en-US" sz="1200" dirty="0"/>
          </a:p>
        </p:txBody>
      </p:sp>
      <p:sp>
        <p:nvSpPr>
          <p:cNvPr id="23" name="Text 19"/>
          <p:cNvSpPr/>
          <p:nvPr/>
        </p:nvSpPr>
        <p:spPr>
          <a:xfrm>
            <a:off x="7141464" y="4919472"/>
            <a:ext cx="4215384" cy="777240"/>
          </a:xfrm>
          <a:prstGeom prst="rect">
            <a:avLst/>
          </a:prstGeom>
          <a:noFill/>
          <a:ln/>
        </p:spPr>
        <p:txBody>
          <a:bodyPr wrap="square" lIns="0" tIns="0" rIns="0" bIns="0" rtlCol="0" anchor="t"/>
          <a:lstStyle/>
          <a:p>
            <a:pPr marL="0" indent="0">
              <a:lnSpc>
                <a:spcPct val="125000"/>
              </a:lnSpc>
              <a:buNone/>
            </a:pPr>
            <a:r>
              <a:rPr lang="en-US" sz="1050" dirty="0">
                <a:solidFill>
                  <a:srgbClr val="BAC6D8"/>
                </a:solidFill>
                <a:latin typeface="Pretendard" pitchFamily="34" charset="0"/>
                <a:ea typeface="Pretendard" pitchFamily="34" charset="-122"/>
                <a:cs typeface="Pretendard" pitchFamily="34" charset="-120"/>
              </a:rPr>
              <a:t>bbox 좌표 · 해시 · 임시 파일명이 평균 927자 · 최대 7,622자였다 → 모델과 화면이 쓰는 필드만 남겼다</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APPENDIX ⑨</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검색 품질을 어떻게 잴 것인가</a:t>
            </a:r>
            <a:endParaRPr lang="en-US" sz="2700" dirty="0"/>
          </a:p>
        </p:txBody>
      </p:sp>
      <p:sp>
        <p:nvSpPr>
          <p:cNvPr id="5" name="Text 2"/>
          <p:cNvSpPr/>
          <p:nvPr/>
        </p:nvSpPr>
        <p:spPr>
          <a:xfrm>
            <a:off x="566928" y="1243584"/>
            <a:ext cx="11064240" cy="320040"/>
          </a:xfrm>
          <a:prstGeom prst="rect">
            <a:avLst/>
          </a:prstGeom>
          <a:noFill/>
          <a:ln/>
        </p:spPr>
        <p:txBody>
          <a:bodyPr wrap="square" lIns="0" tIns="0" rIns="0" bIns="0" rtlCol="0" anchor="ctr"/>
          <a:lstStyle/>
          <a:p>
            <a:pPr marL="0" indent="0">
              <a:buNone/>
            </a:pPr>
            <a:r>
              <a:rPr lang="en-US" sz="1300" dirty="0">
                <a:solidFill>
                  <a:srgbClr val="BAC6D8"/>
                </a:solidFill>
                <a:latin typeface="Pretendard Light" pitchFamily="34" charset="0"/>
                <a:ea typeface="Pretendard Light" pitchFamily="34" charset="-122"/>
                <a:cs typeface="Pretendard Light" pitchFamily="34" charset="-120"/>
              </a:rPr>
              <a:t>아직 측정하지 않았다 — 다음 단계에서 이 방법으로 잰다</a:t>
            </a:r>
            <a:endParaRPr lang="en-US" sz="1300" dirty="0"/>
          </a:p>
        </p:txBody>
      </p:sp>
      <p:sp>
        <p:nvSpPr>
          <p:cNvPr id="6" name="Text 3"/>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42</a:t>
            </a:r>
            <a:endParaRPr lang="en-US" sz="1050" dirty="0"/>
          </a:p>
        </p:txBody>
      </p:sp>
      <p:sp>
        <p:nvSpPr>
          <p:cNvPr id="7" name="Shape 4"/>
          <p:cNvSpPr/>
          <p:nvPr/>
        </p:nvSpPr>
        <p:spPr>
          <a:xfrm>
            <a:off x="566928" y="1874520"/>
            <a:ext cx="3538728" cy="2743200"/>
          </a:xfrm>
          <a:prstGeom prst="roundRect">
            <a:avLst>
              <a:gd name="adj" fmla="val 2667"/>
            </a:avLst>
          </a:prstGeom>
          <a:solidFill>
            <a:srgbClr val="161D2E"/>
          </a:solidFill>
          <a:ln w="12700">
            <a:solidFill>
              <a:srgbClr val="263049"/>
            </a:solidFill>
            <a:prstDash val="solid"/>
          </a:ln>
        </p:spPr>
        <p:txBody>
          <a:bodyPr/>
          <a:lstStyle/>
          <a:p>
            <a:endParaRPr lang="ko-KR" altLang="en-US"/>
          </a:p>
        </p:txBody>
      </p:sp>
      <p:sp>
        <p:nvSpPr>
          <p:cNvPr id="8" name="Text 5"/>
          <p:cNvSpPr/>
          <p:nvPr/>
        </p:nvSpPr>
        <p:spPr>
          <a:xfrm>
            <a:off x="841248" y="2148840"/>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1</a:t>
            </a:r>
            <a:endParaRPr lang="en-US" sz="1400" dirty="0"/>
          </a:p>
        </p:txBody>
      </p:sp>
      <p:sp>
        <p:nvSpPr>
          <p:cNvPr id="9" name="Text 6"/>
          <p:cNvSpPr/>
          <p:nvPr/>
        </p:nvSpPr>
        <p:spPr>
          <a:xfrm>
            <a:off x="1371600" y="2148840"/>
            <a:ext cx="2459736" cy="384048"/>
          </a:xfrm>
          <a:prstGeom prst="rect">
            <a:avLst/>
          </a:prstGeom>
          <a:noFill/>
          <a:ln/>
        </p:spPr>
        <p:txBody>
          <a:bodyPr wrap="square" lIns="0" tIns="0" rIns="0" bIns="0" rtlCol="0" anchor="ctr"/>
          <a:lstStyle/>
          <a:p>
            <a:pPr marL="0" indent="0">
              <a:buNone/>
            </a:pPr>
            <a:r>
              <a:rPr lang="en-US" sz="1350" b="1" dirty="0">
                <a:solidFill>
                  <a:srgbClr val="67E8F9"/>
                </a:solidFill>
                <a:latin typeface="Pretendard" pitchFamily="34" charset="0"/>
                <a:ea typeface="Pretendard" pitchFamily="34" charset="-122"/>
                <a:cs typeface="Pretendard" pitchFamily="34" charset="-120"/>
              </a:rPr>
              <a:t>질의 세트를 만든다</a:t>
            </a:r>
            <a:endParaRPr lang="en-US" sz="1350" dirty="0"/>
          </a:p>
        </p:txBody>
      </p:sp>
      <p:sp>
        <p:nvSpPr>
          <p:cNvPr id="10" name="Text 7"/>
          <p:cNvSpPr/>
          <p:nvPr/>
        </p:nvSpPr>
        <p:spPr>
          <a:xfrm>
            <a:off x="841248" y="2743200"/>
            <a:ext cx="2990088" cy="1737360"/>
          </a:xfrm>
          <a:prstGeom prst="rect">
            <a:avLst/>
          </a:prstGeom>
          <a:noFill/>
          <a:ln/>
        </p:spPr>
        <p:txBody>
          <a:bodyPr wrap="square" lIns="0" tIns="0" rIns="0" bIns="0" rtlCol="0" anchor="t"/>
          <a:lstStyle/>
          <a:p>
            <a:pPr marL="177800" indent="-177800">
              <a:lnSpc>
                <a:spcPct val="115000"/>
              </a:lnSpc>
              <a:spcAft>
                <a:spcPts val="1000"/>
              </a:spcAft>
              <a:buSzPct val="100000"/>
              <a:buChar char="–"/>
            </a:pPr>
            <a:r>
              <a:rPr lang="en-US" sz="1100" dirty="0">
                <a:solidFill>
                  <a:srgbClr val="BAC6D8"/>
                </a:solidFill>
                <a:latin typeface="Pretendard" pitchFamily="34" charset="0"/>
                <a:ea typeface="Pretendard" pitchFamily="34" charset="-122"/>
                <a:cs typeface="Pretendard" pitchFamily="34" charset="-120"/>
              </a:rPr>
              <a:t>대상 문서(제안요청서 · SRS) 샘플에서 실제로 물을 만한 질문을 뽑는다</a:t>
            </a:r>
            <a:endParaRPr lang="en-US" sz="1100" dirty="0"/>
          </a:p>
          <a:p>
            <a:pPr marL="177800" indent="-177800">
              <a:lnSpc>
                <a:spcPct val="115000"/>
              </a:lnSpc>
              <a:spcAft>
                <a:spcPts val="1000"/>
              </a:spcAft>
              <a:buSzPct val="100000"/>
              <a:buChar char="–"/>
            </a:pPr>
            <a:r>
              <a:rPr lang="en-US" sz="1100" dirty="0">
                <a:solidFill>
                  <a:srgbClr val="BAC6D8"/>
                </a:solidFill>
                <a:latin typeface="Pretendard" pitchFamily="34" charset="0"/>
                <a:ea typeface="Pretendard" pitchFamily="34" charset="-122"/>
                <a:cs typeface="Pretendard" pitchFamily="34" charset="-120"/>
              </a:rPr>
              <a:t>「완료 기준은 무엇인가」처럼 업무 추출 4단계가 찾는 것과 같은 종류로 만든다</a:t>
            </a:r>
            <a:endParaRPr lang="en-US" sz="1100" dirty="0"/>
          </a:p>
        </p:txBody>
      </p:sp>
      <p:sp>
        <p:nvSpPr>
          <p:cNvPr id="11" name="Shape 8"/>
          <p:cNvSpPr/>
          <p:nvPr/>
        </p:nvSpPr>
        <p:spPr>
          <a:xfrm>
            <a:off x="4325112" y="1874520"/>
            <a:ext cx="3538728" cy="2743200"/>
          </a:xfrm>
          <a:prstGeom prst="roundRect">
            <a:avLst>
              <a:gd name="adj" fmla="val 2667"/>
            </a:avLst>
          </a:prstGeom>
          <a:solidFill>
            <a:srgbClr val="161D2E"/>
          </a:solidFill>
          <a:ln w="12700">
            <a:solidFill>
              <a:srgbClr val="263049"/>
            </a:solidFill>
            <a:prstDash val="solid"/>
          </a:ln>
        </p:spPr>
        <p:txBody>
          <a:bodyPr/>
          <a:lstStyle/>
          <a:p>
            <a:endParaRPr lang="ko-KR" altLang="en-US"/>
          </a:p>
        </p:txBody>
      </p:sp>
      <p:sp>
        <p:nvSpPr>
          <p:cNvPr id="12" name="Text 9"/>
          <p:cNvSpPr/>
          <p:nvPr/>
        </p:nvSpPr>
        <p:spPr>
          <a:xfrm>
            <a:off x="4599432" y="2148840"/>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2</a:t>
            </a:r>
            <a:endParaRPr lang="en-US" sz="1400" dirty="0"/>
          </a:p>
        </p:txBody>
      </p:sp>
      <p:sp>
        <p:nvSpPr>
          <p:cNvPr id="13" name="Text 10"/>
          <p:cNvSpPr/>
          <p:nvPr/>
        </p:nvSpPr>
        <p:spPr>
          <a:xfrm>
            <a:off x="5129784" y="2148840"/>
            <a:ext cx="2459736" cy="384048"/>
          </a:xfrm>
          <a:prstGeom prst="rect">
            <a:avLst/>
          </a:prstGeom>
          <a:noFill/>
          <a:ln/>
        </p:spPr>
        <p:txBody>
          <a:bodyPr wrap="square" lIns="0" tIns="0" rIns="0" bIns="0" rtlCol="0" anchor="ctr"/>
          <a:lstStyle/>
          <a:p>
            <a:pPr marL="0" indent="0">
              <a:buNone/>
            </a:pPr>
            <a:r>
              <a:rPr lang="en-US" sz="1350" b="1" dirty="0">
                <a:solidFill>
                  <a:srgbClr val="67E8F9"/>
                </a:solidFill>
                <a:latin typeface="Pretendard" pitchFamily="34" charset="0"/>
                <a:ea typeface="Pretendard" pitchFamily="34" charset="-122"/>
                <a:cs typeface="Pretendard" pitchFamily="34" charset="-120"/>
              </a:rPr>
              <a:t>정답 청크를 정한다</a:t>
            </a:r>
            <a:endParaRPr lang="en-US" sz="1350" dirty="0"/>
          </a:p>
        </p:txBody>
      </p:sp>
      <p:sp>
        <p:nvSpPr>
          <p:cNvPr id="14" name="Text 11"/>
          <p:cNvSpPr/>
          <p:nvPr/>
        </p:nvSpPr>
        <p:spPr>
          <a:xfrm>
            <a:off x="4599432" y="2743200"/>
            <a:ext cx="2990088" cy="1737360"/>
          </a:xfrm>
          <a:prstGeom prst="rect">
            <a:avLst/>
          </a:prstGeom>
          <a:noFill/>
          <a:ln/>
        </p:spPr>
        <p:txBody>
          <a:bodyPr wrap="square" lIns="0" tIns="0" rIns="0" bIns="0" rtlCol="0" anchor="t"/>
          <a:lstStyle/>
          <a:p>
            <a:pPr marL="177800" indent="-177800">
              <a:lnSpc>
                <a:spcPct val="115000"/>
              </a:lnSpc>
              <a:spcAft>
                <a:spcPts val="1000"/>
              </a:spcAft>
              <a:buSzPct val="100000"/>
              <a:buChar char="–"/>
            </a:pPr>
            <a:r>
              <a:rPr lang="en-US" sz="1100" dirty="0">
                <a:solidFill>
                  <a:srgbClr val="BAC6D8"/>
                </a:solidFill>
                <a:latin typeface="Pretendard" pitchFamily="34" charset="0"/>
                <a:ea typeface="Pretendard" pitchFamily="34" charset="-122"/>
                <a:cs typeface="Pretendard" pitchFamily="34" charset="-120"/>
              </a:rPr>
              <a:t>각 질의에 대해 답이 실제로 들어 있는 청크를 사람이 지정한다</a:t>
            </a:r>
            <a:endParaRPr lang="en-US" sz="1100" dirty="0"/>
          </a:p>
          <a:p>
            <a:pPr marL="177800" indent="-177800">
              <a:lnSpc>
                <a:spcPct val="115000"/>
              </a:lnSpc>
              <a:spcAft>
                <a:spcPts val="1000"/>
              </a:spcAft>
              <a:buSzPct val="100000"/>
              <a:buChar char="–"/>
            </a:pPr>
            <a:r>
              <a:rPr lang="en-US" sz="1100" dirty="0">
                <a:solidFill>
                  <a:srgbClr val="BAC6D8"/>
                </a:solidFill>
                <a:latin typeface="Pretendard" pitchFamily="34" charset="0"/>
                <a:ea typeface="Pretendard" pitchFamily="34" charset="-122"/>
                <a:cs typeface="Pretendard" pitchFamily="34" charset="-120"/>
              </a:rPr>
              <a:t>한 질의에 정답이 여럿일 수 있으므로 집합으로 둔다</a:t>
            </a:r>
            <a:endParaRPr lang="en-US" sz="1100" dirty="0"/>
          </a:p>
        </p:txBody>
      </p:sp>
      <p:sp>
        <p:nvSpPr>
          <p:cNvPr id="15" name="Shape 12"/>
          <p:cNvSpPr/>
          <p:nvPr/>
        </p:nvSpPr>
        <p:spPr>
          <a:xfrm>
            <a:off x="8083296" y="1874520"/>
            <a:ext cx="3538728" cy="2743200"/>
          </a:xfrm>
          <a:prstGeom prst="roundRect">
            <a:avLst>
              <a:gd name="adj" fmla="val 2667"/>
            </a:avLst>
          </a:prstGeom>
          <a:solidFill>
            <a:srgbClr val="161D2E"/>
          </a:solidFill>
          <a:ln w="12700">
            <a:solidFill>
              <a:srgbClr val="263049"/>
            </a:solidFill>
            <a:prstDash val="solid"/>
          </a:ln>
        </p:spPr>
        <p:txBody>
          <a:bodyPr/>
          <a:lstStyle/>
          <a:p>
            <a:endParaRPr lang="ko-KR" altLang="en-US"/>
          </a:p>
        </p:txBody>
      </p:sp>
      <p:sp>
        <p:nvSpPr>
          <p:cNvPr id="16" name="Text 13"/>
          <p:cNvSpPr/>
          <p:nvPr/>
        </p:nvSpPr>
        <p:spPr>
          <a:xfrm>
            <a:off x="8357616" y="2148840"/>
            <a:ext cx="384048" cy="384048"/>
          </a:xfrm>
          <a:prstGeom prst="rect">
            <a:avLst/>
          </a:prstGeom>
          <a:solidFill>
            <a:srgbClr val="22D3EE"/>
          </a:solidFill>
          <a:ln/>
        </p:spPr>
        <p:txBody>
          <a:bodyPr wrap="square" lIns="0" tIns="0" rIns="0" bIns="0" rtlCol="0" anchor="ctr"/>
          <a:lstStyle/>
          <a:p>
            <a:pPr marL="0" indent="0" algn="ctr">
              <a:buNone/>
            </a:pPr>
            <a:r>
              <a:rPr lang="en-US" sz="1400" b="1" dirty="0">
                <a:solidFill>
                  <a:srgbClr val="0D1321"/>
                </a:solidFill>
                <a:latin typeface="Consolas" pitchFamily="34" charset="0"/>
                <a:ea typeface="Consolas" pitchFamily="34" charset="-122"/>
                <a:cs typeface="Consolas" pitchFamily="34" charset="-120"/>
              </a:rPr>
              <a:t>3</a:t>
            </a:r>
            <a:endParaRPr lang="en-US" sz="1400" dirty="0"/>
          </a:p>
        </p:txBody>
      </p:sp>
      <p:sp>
        <p:nvSpPr>
          <p:cNvPr id="17" name="Text 14"/>
          <p:cNvSpPr/>
          <p:nvPr/>
        </p:nvSpPr>
        <p:spPr>
          <a:xfrm>
            <a:off x="8887968" y="2148840"/>
            <a:ext cx="2459736" cy="384048"/>
          </a:xfrm>
          <a:prstGeom prst="rect">
            <a:avLst/>
          </a:prstGeom>
          <a:noFill/>
          <a:ln/>
        </p:spPr>
        <p:txBody>
          <a:bodyPr wrap="square" lIns="0" tIns="0" rIns="0" bIns="0" rtlCol="0" anchor="ctr"/>
          <a:lstStyle/>
          <a:p>
            <a:pPr marL="0" indent="0">
              <a:buNone/>
            </a:pPr>
            <a:r>
              <a:rPr lang="en-US" sz="1350" b="1" dirty="0">
                <a:solidFill>
                  <a:srgbClr val="67E8F9"/>
                </a:solidFill>
                <a:latin typeface="Pretendard" pitchFamily="34" charset="0"/>
                <a:ea typeface="Pretendard" pitchFamily="34" charset="-122"/>
                <a:cs typeface="Pretendard" pitchFamily="34" charset="-120"/>
              </a:rPr>
              <a:t>상위에 오는지 센다</a:t>
            </a:r>
            <a:endParaRPr lang="en-US" sz="1350" dirty="0"/>
          </a:p>
        </p:txBody>
      </p:sp>
      <p:sp>
        <p:nvSpPr>
          <p:cNvPr id="18" name="Text 15"/>
          <p:cNvSpPr/>
          <p:nvPr/>
        </p:nvSpPr>
        <p:spPr>
          <a:xfrm>
            <a:off x="8357616" y="2743200"/>
            <a:ext cx="2990088" cy="1737360"/>
          </a:xfrm>
          <a:prstGeom prst="rect">
            <a:avLst/>
          </a:prstGeom>
          <a:noFill/>
          <a:ln/>
        </p:spPr>
        <p:txBody>
          <a:bodyPr wrap="square" lIns="0" tIns="0" rIns="0" bIns="0" rtlCol="0" anchor="t"/>
          <a:lstStyle/>
          <a:p>
            <a:pPr marL="177800" indent="-177800">
              <a:lnSpc>
                <a:spcPct val="115000"/>
              </a:lnSpc>
              <a:spcAft>
                <a:spcPts val="1000"/>
              </a:spcAft>
              <a:buSzPct val="100000"/>
              <a:buChar char="–"/>
            </a:pPr>
            <a:r>
              <a:rPr lang="en-US" sz="1100" dirty="0">
                <a:solidFill>
                  <a:srgbClr val="BAC6D8"/>
                </a:solidFill>
                <a:latin typeface="Pretendard" pitchFamily="34" charset="0"/>
                <a:ea typeface="Pretendard" pitchFamily="34" charset="-122"/>
                <a:cs typeface="Pretendard" pitchFamily="34" charset="-120"/>
              </a:rPr>
              <a:t>검색 결과 상위 k건에 정답이 들어오는 비율(Recall@k)</a:t>
            </a:r>
            <a:endParaRPr lang="en-US" sz="1100" dirty="0"/>
          </a:p>
          <a:p>
            <a:pPr marL="177800" indent="-177800">
              <a:lnSpc>
                <a:spcPct val="115000"/>
              </a:lnSpc>
              <a:spcAft>
                <a:spcPts val="1000"/>
              </a:spcAft>
              <a:buSzPct val="100000"/>
              <a:buChar char="–"/>
            </a:pPr>
            <a:r>
              <a:rPr lang="en-US" sz="1100" dirty="0">
                <a:solidFill>
                  <a:srgbClr val="BAC6D8"/>
                </a:solidFill>
                <a:latin typeface="Pretendard" pitchFamily="34" charset="0"/>
                <a:ea typeface="Pretendard" pitchFamily="34" charset="-122"/>
                <a:cs typeface="Pretendard" pitchFamily="34" charset="-120"/>
              </a:rPr>
              <a:t>정답이 몇 번째에 나오는지(MRR)</a:t>
            </a:r>
            <a:endParaRPr lang="en-US" sz="1100" dirty="0"/>
          </a:p>
          <a:p>
            <a:pPr marL="177800" indent="-177800">
              <a:lnSpc>
                <a:spcPct val="115000"/>
              </a:lnSpc>
              <a:spcAft>
                <a:spcPts val="1000"/>
              </a:spcAft>
              <a:buSzPct val="100000"/>
              <a:buChar char="–"/>
            </a:pPr>
            <a:r>
              <a:rPr lang="en-US" sz="1100" dirty="0">
                <a:solidFill>
                  <a:srgbClr val="BAC6D8"/>
                </a:solidFill>
                <a:latin typeface="Pretendard" pitchFamily="34" charset="0"/>
                <a:ea typeface="Pretendard" pitchFamily="34" charset="-122"/>
                <a:cs typeface="Pretendard" pitchFamily="34" charset="-120"/>
              </a:rPr>
              <a:t>청킹 방식을 바꿔 가며 같은 질의 세트로 비교한다</a:t>
            </a:r>
            <a:endParaRPr lang="en-US" sz="1100" dirty="0"/>
          </a:p>
        </p:txBody>
      </p:sp>
      <p:sp>
        <p:nvSpPr>
          <p:cNvPr id="19" name="Shape 16"/>
          <p:cNvSpPr/>
          <p:nvPr/>
        </p:nvSpPr>
        <p:spPr>
          <a:xfrm>
            <a:off x="566928" y="4892040"/>
            <a:ext cx="11064240" cy="1005840"/>
          </a:xfrm>
          <a:prstGeom prst="roundRect">
            <a:avLst>
              <a:gd name="adj" fmla="val 7273"/>
            </a:avLst>
          </a:prstGeom>
          <a:solidFill>
            <a:srgbClr val="0F2A3A"/>
          </a:solidFill>
          <a:ln w="12700">
            <a:solidFill>
              <a:srgbClr val="155E75"/>
            </a:solidFill>
            <a:prstDash val="solid"/>
          </a:ln>
        </p:spPr>
        <p:txBody>
          <a:bodyPr/>
          <a:lstStyle/>
          <a:p>
            <a:endParaRPr lang="ko-KR" altLang="en-US"/>
          </a:p>
        </p:txBody>
      </p:sp>
      <p:sp>
        <p:nvSpPr>
          <p:cNvPr id="20" name="Text 17"/>
          <p:cNvSpPr/>
          <p:nvPr/>
        </p:nvSpPr>
        <p:spPr>
          <a:xfrm>
            <a:off x="868680" y="5074920"/>
            <a:ext cx="10424160" cy="640080"/>
          </a:xfrm>
          <a:prstGeom prst="rect">
            <a:avLst/>
          </a:prstGeom>
          <a:noFill/>
          <a:ln/>
        </p:spPr>
        <p:txBody>
          <a:bodyPr wrap="square" lIns="0" tIns="0" rIns="0" bIns="0" rtlCol="0" anchor="ctr"/>
          <a:lstStyle/>
          <a:p>
            <a:pPr marL="0" indent="0">
              <a:buNone/>
            </a:pPr>
            <a:r>
              <a:rPr lang="en-US" sz="1300" b="1" dirty="0">
                <a:solidFill>
                  <a:srgbClr val="67E8F9"/>
                </a:solidFill>
                <a:latin typeface="Pretendard" pitchFamily="34" charset="0"/>
                <a:ea typeface="Pretendard" pitchFamily="34" charset="-122"/>
                <a:cs typeface="Pretendard" pitchFamily="34" charset="-120"/>
              </a:rPr>
              <a:t>지금 말할 수 있는 것은 「청크가 깨지지 않는다」까지다 — 「더 잘 찾는다」는 이 절차를 거친 뒤에 말한다</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bg_dk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822960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onsolas" pitchFamily="34" charset="0"/>
                <a:ea typeface="Consolas" pitchFamily="34" charset="-122"/>
                <a:cs typeface="Consolas" pitchFamily="34" charset="-120"/>
              </a:rPr>
              <a:t>APPENDIX ⑩</a:t>
            </a:r>
            <a:endParaRPr lang="en-US" sz="1100" dirty="0"/>
          </a:p>
        </p:txBody>
      </p:sp>
      <p:sp>
        <p:nvSpPr>
          <p:cNvPr id="4" name="Text 1"/>
          <p:cNvSpPr/>
          <p:nvPr/>
        </p:nvSpPr>
        <p:spPr>
          <a:xfrm>
            <a:off x="548640" y="585216"/>
            <a:ext cx="11064240" cy="603504"/>
          </a:xfrm>
          <a:prstGeom prst="rect">
            <a:avLst/>
          </a:prstGeom>
          <a:noFill/>
          <a:ln/>
        </p:spPr>
        <p:txBody>
          <a:bodyPr wrap="square" lIns="0" tIns="0" rIns="0" bIns="0" rtlCol="0" anchor="ctr"/>
          <a:lstStyle/>
          <a:p>
            <a:pPr marL="0" indent="0">
              <a:buNone/>
            </a:pPr>
            <a:r>
              <a:rPr lang="en-US" sz="2700" b="1" dirty="0">
                <a:solidFill>
                  <a:srgbClr val="F1F5F9"/>
                </a:solidFill>
                <a:latin typeface="Pretendard" pitchFamily="34" charset="0"/>
                <a:ea typeface="Pretendard" pitchFamily="34" charset="-122"/>
                <a:cs typeface="Pretendard" pitchFamily="34" charset="-120"/>
              </a:rPr>
              <a:t>문제 정의 통계 원본</a:t>
            </a:r>
            <a:endParaRPr lang="en-US" sz="2700" dirty="0"/>
          </a:p>
        </p:txBody>
      </p:sp>
      <p:sp>
        <p:nvSpPr>
          <p:cNvPr id="5" name="Text 2"/>
          <p:cNvSpPr/>
          <p:nvPr/>
        </p:nvSpPr>
        <p:spPr>
          <a:xfrm>
            <a:off x="566928" y="1243584"/>
            <a:ext cx="11064240" cy="320040"/>
          </a:xfrm>
          <a:prstGeom prst="rect">
            <a:avLst/>
          </a:prstGeom>
          <a:noFill/>
          <a:ln/>
        </p:spPr>
        <p:txBody>
          <a:bodyPr wrap="square" lIns="0" tIns="0" rIns="0" bIns="0" rtlCol="0" anchor="ctr"/>
          <a:lstStyle/>
          <a:p>
            <a:pPr marL="0" indent="0">
              <a:buNone/>
            </a:pPr>
            <a:r>
              <a:rPr lang="en-US" sz="1300" dirty="0">
                <a:solidFill>
                  <a:srgbClr val="BAC6D8"/>
                </a:solidFill>
                <a:latin typeface="Pretendard Light" pitchFamily="34" charset="0"/>
                <a:ea typeface="Pretendard Light" pitchFamily="34" charset="-122"/>
                <a:cs typeface="Pretendard Light" pitchFamily="34" charset="-120"/>
              </a:rPr>
              <a:t>발표 6페이지에 쓴 수치의 표본과 출처</a:t>
            </a:r>
            <a:endParaRPr lang="en-US" sz="1300" dirty="0"/>
          </a:p>
        </p:txBody>
      </p:sp>
      <p:sp>
        <p:nvSpPr>
          <p:cNvPr id="6" name="Text 3"/>
          <p:cNvSpPr/>
          <p:nvPr/>
        </p:nvSpPr>
        <p:spPr>
          <a:xfrm>
            <a:off x="11231575" y="6382512"/>
            <a:ext cx="548640" cy="274320"/>
          </a:xfrm>
          <a:prstGeom prst="rect">
            <a:avLst/>
          </a:prstGeom>
          <a:noFill/>
          <a:ln/>
        </p:spPr>
        <p:txBody>
          <a:bodyPr wrap="square" lIns="0" tIns="0" rIns="0" bIns="0" rtlCol="0" anchor="ctr"/>
          <a:lstStyle/>
          <a:p>
            <a:pPr marL="0" indent="0" algn="r">
              <a:buNone/>
            </a:pPr>
            <a:r>
              <a:rPr lang="en-US" sz="1050" dirty="0">
                <a:solidFill>
                  <a:srgbClr val="9FADC2"/>
                </a:solidFill>
                <a:latin typeface="Consolas" pitchFamily="34" charset="0"/>
                <a:ea typeface="Consolas" pitchFamily="34" charset="-122"/>
                <a:cs typeface="Consolas" pitchFamily="34" charset="-120"/>
              </a:rPr>
              <a:t>43</a:t>
            </a:r>
            <a:endParaRPr lang="en-US" sz="1050" dirty="0"/>
          </a:p>
        </p:txBody>
      </p:sp>
      <p:sp>
        <p:nvSpPr>
          <p:cNvPr id="7" name="Shape 4"/>
          <p:cNvSpPr/>
          <p:nvPr/>
        </p:nvSpPr>
        <p:spPr>
          <a:xfrm>
            <a:off x="566928" y="1828800"/>
            <a:ext cx="5468112" cy="3200400"/>
          </a:xfrm>
          <a:prstGeom prst="roundRect">
            <a:avLst>
              <a:gd name="adj" fmla="val 2286"/>
            </a:avLst>
          </a:prstGeom>
          <a:solidFill>
            <a:srgbClr val="161D2E"/>
          </a:solidFill>
          <a:ln w="12700">
            <a:solidFill>
              <a:srgbClr val="263049"/>
            </a:solidFill>
            <a:prstDash val="solid"/>
          </a:ln>
        </p:spPr>
        <p:txBody>
          <a:bodyPr/>
          <a:lstStyle/>
          <a:p>
            <a:endParaRPr lang="ko-KR" altLang="en-US"/>
          </a:p>
        </p:txBody>
      </p:sp>
      <p:sp>
        <p:nvSpPr>
          <p:cNvPr id="8" name="Text 5"/>
          <p:cNvSpPr/>
          <p:nvPr/>
        </p:nvSpPr>
        <p:spPr>
          <a:xfrm>
            <a:off x="841248" y="2057400"/>
            <a:ext cx="4919472" cy="329184"/>
          </a:xfrm>
          <a:prstGeom prst="rect">
            <a:avLst/>
          </a:prstGeom>
          <a:noFill/>
          <a:ln/>
        </p:spPr>
        <p:txBody>
          <a:bodyPr wrap="square" lIns="0" tIns="0" rIns="0" bIns="0" rtlCol="0" anchor="ctr"/>
          <a:lstStyle/>
          <a:p>
            <a:pPr marL="0" indent="0">
              <a:buNone/>
            </a:pPr>
            <a:r>
              <a:rPr lang="en-US" sz="1350" b="1" dirty="0">
                <a:solidFill>
                  <a:srgbClr val="67E8F9"/>
                </a:solidFill>
                <a:latin typeface="Pretendard" pitchFamily="34" charset="0"/>
                <a:ea typeface="Pretendard" pitchFamily="34" charset="-122"/>
                <a:cs typeface="Pretendard" pitchFamily="34" charset="-120"/>
              </a:rPr>
              <a:t>① 회사 생활에서 가장 애매한 문제</a:t>
            </a:r>
            <a:endParaRPr lang="en-US" sz="1350" dirty="0"/>
          </a:p>
        </p:txBody>
      </p:sp>
      <p:sp>
        <p:nvSpPr>
          <p:cNvPr id="9" name="Text 6"/>
          <p:cNvSpPr/>
          <p:nvPr/>
        </p:nvSpPr>
        <p:spPr>
          <a:xfrm>
            <a:off x="841248" y="2432304"/>
            <a:ext cx="4919472" cy="274320"/>
          </a:xfrm>
          <a:prstGeom prst="rect">
            <a:avLst/>
          </a:prstGeom>
          <a:noFill/>
          <a:ln/>
        </p:spPr>
        <p:txBody>
          <a:bodyPr wrap="square" lIns="0" tIns="0" rIns="0" bIns="0" rtlCol="0" anchor="ctr"/>
          <a:lstStyle/>
          <a:p>
            <a:pPr marL="0" indent="0">
              <a:buNone/>
            </a:pPr>
            <a:r>
              <a:rPr lang="en-US" sz="1100" dirty="0">
                <a:solidFill>
                  <a:srgbClr val="9FADC2"/>
                </a:solidFill>
                <a:latin typeface="Pretendard" pitchFamily="34" charset="0"/>
                <a:ea typeface="Pretendard" pitchFamily="34" charset="-122"/>
                <a:cs typeface="Pretendard" pitchFamily="34" charset="-120"/>
              </a:rPr>
              <a:t>이지서베이 · 직장인 598명</a:t>
            </a:r>
            <a:endParaRPr lang="en-US" sz="1100" dirty="0"/>
          </a:p>
        </p:txBody>
      </p:sp>
      <p:sp>
        <p:nvSpPr>
          <p:cNvPr id="10" name="Text 7"/>
          <p:cNvSpPr/>
          <p:nvPr/>
        </p:nvSpPr>
        <p:spPr>
          <a:xfrm>
            <a:off x="841248" y="2834640"/>
            <a:ext cx="2743200" cy="365760"/>
          </a:xfrm>
          <a:prstGeom prst="rect">
            <a:avLst/>
          </a:prstGeom>
          <a:noFill/>
          <a:ln/>
        </p:spPr>
        <p:txBody>
          <a:bodyPr wrap="square" lIns="0" tIns="0" rIns="0" bIns="0" rtlCol="0" anchor="ctr"/>
          <a:lstStyle/>
          <a:p>
            <a:pPr marL="0" indent="0">
              <a:buNone/>
            </a:pPr>
            <a:r>
              <a:rPr lang="en-US" sz="1200" b="1" dirty="0">
                <a:solidFill>
                  <a:srgbClr val="F1F5F9"/>
                </a:solidFill>
                <a:latin typeface="Pretendard" pitchFamily="34" charset="0"/>
                <a:ea typeface="Pretendard" pitchFamily="34" charset="-122"/>
                <a:cs typeface="Pretendard" pitchFamily="34" charset="-120"/>
              </a:rPr>
              <a:t>업무 분담</a:t>
            </a:r>
            <a:endParaRPr lang="en-US" sz="1200" dirty="0"/>
          </a:p>
        </p:txBody>
      </p:sp>
      <p:sp>
        <p:nvSpPr>
          <p:cNvPr id="11" name="Text 8"/>
          <p:cNvSpPr/>
          <p:nvPr/>
        </p:nvSpPr>
        <p:spPr>
          <a:xfrm>
            <a:off x="3657600" y="2834640"/>
            <a:ext cx="2103120" cy="365760"/>
          </a:xfrm>
          <a:prstGeom prst="rect">
            <a:avLst/>
          </a:prstGeom>
          <a:noFill/>
          <a:ln/>
        </p:spPr>
        <p:txBody>
          <a:bodyPr wrap="square" lIns="0" tIns="0" rIns="0" bIns="0" rtlCol="0" anchor="ctr"/>
          <a:lstStyle/>
          <a:p>
            <a:pPr marL="0" indent="0">
              <a:buNone/>
            </a:pPr>
            <a:r>
              <a:rPr lang="en-US" sz="1400" b="1" dirty="0">
                <a:solidFill>
                  <a:srgbClr val="22D3EE"/>
                </a:solidFill>
                <a:latin typeface="Consolas" pitchFamily="34" charset="0"/>
                <a:ea typeface="Consolas" pitchFamily="34" charset="-122"/>
                <a:cs typeface="Consolas" pitchFamily="34" charset="-120"/>
              </a:rPr>
              <a:t>73.4%</a:t>
            </a:r>
            <a:endParaRPr lang="en-US" sz="1400" dirty="0"/>
          </a:p>
        </p:txBody>
      </p:sp>
      <p:sp>
        <p:nvSpPr>
          <p:cNvPr id="12" name="Text 9"/>
          <p:cNvSpPr/>
          <p:nvPr/>
        </p:nvSpPr>
        <p:spPr>
          <a:xfrm>
            <a:off x="841248" y="3291840"/>
            <a:ext cx="2743200" cy="365760"/>
          </a:xfrm>
          <a:prstGeom prst="rect">
            <a:avLst/>
          </a:prstGeom>
          <a:noFill/>
          <a:ln/>
        </p:spPr>
        <p:txBody>
          <a:bodyPr wrap="square" lIns="0" tIns="0" rIns="0" bIns="0" rtlCol="0" anchor="ctr"/>
          <a:lstStyle/>
          <a:p>
            <a:pPr marL="0" indent="0">
              <a:buNone/>
            </a:pPr>
            <a:r>
              <a:rPr lang="en-US" sz="1200" dirty="0">
                <a:solidFill>
                  <a:srgbClr val="BAC6D8"/>
                </a:solidFill>
                <a:latin typeface="Pretendard" pitchFamily="34" charset="0"/>
                <a:ea typeface="Pretendard" pitchFamily="34" charset="-122"/>
                <a:cs typeface="Pretendard" pitchFamily="34" charset="-120"/>
              </a:rPr>
              <a:t>출퇴근</a:t>
            </a:r>
            <a:endParaRPr lang="en-US" sz="1200" dirty="0"/>
          </a:p>
        </p:txBody>
      </p:sp>
      <p:sp>
        <p:nvSpPr>
          <p:cNvPr id="13" name="Text 10"/>
          <p:cNvSpPr/>
          <p:nvPr/>
        </p:nvSpPr>
        <p:spPr>
          <a:xfrm>
            <a:off x="3657600" y="3291840"/>
            <a:ext cx="2103120" cy="365760"/>
          </a:xfrm>
          <a:prstGeom prst="rect">
            <a:avLst/>
          </a:prstGeom>
          <a:noFill/>
          <a:ln/>
        </p:spPr>
        <p:txBody>
          <a:bodyPr wrap="square" lIns="0" tIns="0" rIns="0" bIns="0" rtlCol="0" anchor="ctr"/>
          <a:lstStyle/>
          <a:p>
            <a:pPr marL="0" indent="0">
              <a:buNone/>
            </a:pPr>
            <a:r>
              <a:rPr lang="en-US" sz="1200" dirty="0">
                <a:solidFill>
                  <a:srgbClr val="BAC6D8"/>
                </a:solidFill>
                <a:latin typeface="Consolas" pitchFamily="34" charset="0"/>
                <a:ea typeface="Consolas" pitchFamily="34" charset="-122"/>
                <a:cs typeface="Consolas" pitchFamily="34" charset="-120"/>
              </a:rPr>
              <a:t>8.9%</a:t>
            </a:r>
            <a:endParaRPr lang="en-US" sz="1200" dirty="0"/>
          </a:p>
        </p:txBody>
      </p:sp>
      <p:sp>
        <p:nvSpPr>
          <p:cNvPr id="14" name="Text 11"/>
          <p:cNvSpPr/>
          <p:nvPr/>
        </p:nvSpPr>
        <p:spPr>
          <a:xfrm>
            <a:off x="841248" y="3749040"/>
            <a:ext cx="2743200" cy="365760"/>
          </a:xfrm>
          <a:prstGeom prst="rect">
            <a:avLst/>
          </a:prstGeom>
          <a:noFill/>
          <a:ln/>
        </p:spPr>
        <p:txBody>
          <a:bodyPr wrap="square" lIns="0" tIns="0" rIns="0" bIns="0" rtlCol="0" anchor="ctr"/>
          <a:lstStyle/>
          <a:p>
            <a:pPr marL="0" indent="0">
              <a:buNone/>
            </a:pPr>
            <a:r>
              <a:rPr lang="en-US" sz="1200" dirty="0">
                <a:solidFill>
                  <a:srgbClr val="BAC6D8"/>
                </a:solidFill>
                <a:latin typeface="Pretendard" pitchFamily="34" charset="0"/>
                <a:ea typeface="Pretendard" pitchFamily="34" charset="-122"/>
                <a:cs typeface="Pretendard" pitchFamily="34" charset="-120"/>
              </a:rPr>
              <a:t>회식</a:t>
            </a:r>
            <a:endParaRPr lang="en-US" sz="1200" dirty="0"/>
          </a:p>
        </p:txBody>
      </p:sp>
      <p:sp>
        <p:nvSpPr>
          <p:cNvPr id="15" name="Text 12"/>
          <p:cNvSpPr/>
          <p:nvPr/>
        </p:nvSpPr>
        <p:spPr>
          <a:xfrm>
            <a:off x="3657600" y="3749040"/>
            <a:ext cx="2103120" cy="365760"/>
          </a:xfrm>
          <a:prstGeom prst="rect">
            <a:avLst/>
          </a:prstGeom>
          <a:noFill/>
          <a:ln/>
        </p:spPr>
        <p:txBody>
          <a:bodyPr wrap="square" lIns="0" tIns="0" rIns="0" bIns="0" rtlCol="0" anchor="ctr"/>
          <a:lstStyle/>
          <a:p>
            <a:pPr marL="0" indent="0">
              <a:buNone/>
            </a:pPr>
            <a:r>
              <a:rPr lang="en-US" sz="1200" dirty="0">
                <a:solidFill>
                  <a:srgbClr val="BAC6D8"/>
                </a:solidFill>
                <a:latin typeface="Consolas" pitchFamily="34" charset="0"/>
                <a:ea typeface="Consolas" pitchFamily="34" charset="-122"/>
                <a:cs typeface="Consolas" pitchFamily="34" charset="-120"/>
              </a:rPr>
              <a:t>7.4%</a:t>
            </a:r>
            <a:endParaRPr lang="en-US" sz="1200" dirty="0"/>
          </a:p>
        </p:txBody>
      </p:sp>
      <p:sp>
        <p:nvSpPr>
          <p:cNvPr id="16" name="Text 13"/>
          <p:cNvSpPr/>
          <p:nvPr/>
        </p:nvSpPr>
        <p:spPr>
          <a:xfrm>
            <a:off x="841248" y="4526280"/>
            <a:ext cx="4919472" cy="274320"/>
          </a:xfrm>
          <a:prstGeom prst="rect">
            <a:avLst/>
          </a:prstGeom>
          <a:noFill/>
          <a:ln/>
        </p:spPr>
        <p:txBody>
          <a:bodyPr wrap="square" lIns="0" tIns="0" rIns="0" bIns="0" rtlCol="0" anchor="ctr"/>
          <a:lstStyle/>
          <a:p>
            <a:pPr marL="0" indent="0">
              <a:buNone/>
            </a:pPr>
            <a:r>
              <a:rPr lang="en-US" sz="1000" dirty="0">
                <a:solidFill>
                  <a:srgbClr val="9FADC2"/>
                </a:solidFill>
                <a:latin typeface="Pretendard" pitchFamily="34" charset="0"/>
                <a:ea typeface="Pretendard" pitchFamily="34" charset="-122"/>
                <a:cs typeface="Pretendard" pitchFamily="34" charset="-120"/>
              </a:rPr>
              <a:t>한국경제 보도</a:t>
            </a:r>
            <a:endParaRPr lang="en-US" sz="1000" dirty="0"/>
          </a:p>
        </p:txBody>
      </p:sp>
      <p:sp>
        <p:nvSpPr>
          <p:cNvPr id="17" name="Shape 14"/>
          <p:cNvSpPr/>
          <p:nvPr/>
        </p:nvSpPr>
        <p:spPr>
          <a:xfrm>
            <a:off x="6163056" y="1828800"/>
            <a:ext cx="5468112" cy="3200400"/>
          </a:xfrm>
          <a:prstGeom prst="roundRect">
            <a:avLst>
              <a:gd name="adj" fmla="val 2286"/>
            </a:avLst>
          </a:prstGeom>
          <a:solidFill>
            <a:srgbClr val="161D2E"/>
          </a:solidFill>
          <a:ln w="12700">
            <a:solidFill>
              <a:srgbClr val="263049"/>
            </a:solidFill>
            <a:prstDash val="solid"/>
          </a:ln>
        </p:spPr>
        <p:txBody>
          <a:bodyPr/>
          <a:lstStyle/>
          <a:p>
            <a:endParaRPr lang="ko-KR" altLang="en-US"/>
          </a:p>
        </p:txBody>
      </p:sp>
      <p:sp>
        <p:nvSpPr>
          <p:cNvPr id="18" name="Text 15"/>
          <p:cNvSpPr/>
          <p:nvPr/>
        </p:nvSpPr>
        <p:spPr>
          <a:xfrm>
            <a:off x="6437376" y="2057400"/>
            <a:ext cx="4919472" cy="329184"/>
          </a:xfrm>
          <a:prstGeom prst="rect">
            <a:avLst/>
          </a:prstGeom>
          <a:noFill/>
          <a:ln/>
        </p:spPr>
        <p:txBody>
          <a:bodyPr wrap="square" lIns="0" tIns="0" rIns="0" bIns="0" rtlCol="0" anchor="ctr"/>
          <a:lstStyle/>
          <a:p>
            <a:pPr marL="0" indent="0">
              <a:buNone/>
            </a:pPr>
            <a:r>
              <a:rPr lang="en-US" sz="1350" b="1" dirty="0">
                <a:solidFill>
                  <a:srgbClr val="67E8F9"/>
                </a:solidFill>
                <a:latin typeface="Pretendard" pitchFamily="34" charset="0"/>
                <a:ea typeface="Pretendard" pitchFamily="34" charset="-122"/>
                <a:cs typeface="Pretendard" pitchFamily="34" charset="-120"/>
              </a:rPr>
              <a:t>② 업무 분배가 공정하다고 느끼는가</a:t>
            </a:r>
            <a:endParaRPr lang="en-US" sz="1350" dirty="0"/>
          </a:p>
        </p:txBody>
      </p:sp>
      <p:sp>
        <p:nvSpPr>
          <p:cNvPr id="19" name="Text 16"/>
          <p:cNvSpPr/>
          <p:nvPr/>
        </p:nvSpPr>
        <p:spPr>
          <a:xfrm>
            <a:off x="6437376" y="2432304"/>
            <a:ext cx="4919472" cy="274320"/>
          </a:xfrm>
          <a:prstGeom prst="rect">
            <a:avLst/>
          </a:prstGeom>
          <a:noFill/>
          <a:ln/>
        </p:spPr>
        <p:txBody>
          <a:bodyPr wrap="square" lIns="0" tIns="0" rIns="0" bIns="0" rtlCol="0" anchor="ctr"/>
          <a:lstStyle/>
          <a:p>
            <a:pPr marL="0" indent="0">
              <a:buNone/>
            </a:pPr>
            <a:r>
              <a:rPr lang="en-US" sz="1100" dirty="0">
                <a:solidFill>
                  <a:srgbClr val="9FADC2"/>
                </a:solidFill>
                <a:latin typeface="Pretendard" pitchFamily="34" charset="0"/>
                <a:ea typeface="Pretendard" pitchFamily="34" charset="-122"/>
                <a:cs typeface="Pretendard" pitchFamily="34" charset="-120"/>
              </a:rPr>
              <a:t>커리어 · 직장인 406명</a:t>
            </a:r>
            <a:endParaRPr lang="en-US" sz="1100" dirty="0"/>
          </a:p>
        </p:txBody>
      </p:sp>
      <p:sp>
        <p:nvSpPr>
          <p:cNvPr id="20" name="Text 17"/>
          <p:cNvSpPr/>
          <p:nvPr/>
        </p:nvSpPr>
        <p:spPr>
          <a:xfrm>
            <a:off x="6437376" y="2834640"/>
            <a:ext cx="2743200" cy="365760"/>
          </a:xfrm>
          <a:prstGeom prst="rect">
            <a:avLst/>
          </a:prstGeom>
          <a:noFill/>
          <a:ln/>
        </p:spPr>
        <p:txBody>
          <a:bodyPr wrap="square" lIns="0" tIns="0" rIns="0" bIns="0" rtlCol="0" anchor="ctr"/>
          <a:lstStyle/>
          <a:p>
            <a:pPr marL="0" indent="0">
              <a:buNone/>
            </a:pPr>
            <a:r>
              <a:rPr lang="en-US" sz="1200" b="1" dirty="0">
                <a:solidFill>
                  <a:srgbClr val="F1F5F9"/>
                </a:solidFill>
                <a:latin typeface="Pretendard" pitchFamily="34" charset="0"/>
                <a:ea typeface="Pretendard" pitchFamily="34" charset="-122"/>
                <a:cs typeface="Pretendard" pitchFamily="34" charset="-120"/>
              </a:rPr>
              <a:t>공정하다</a:t>
            </a:r>
            <a:endParaRPr lang="en-US" sz="1200" dirty="0"/>
          </a:p>
        </p:txBody>
      </p:sp>
      <p:sp>
        <p:nvSpPr>
          <p:cNvPr id="21" name="Text 18"/>
          <p:cNvSpPr/>
          <p:nvPr/>
        </p:nvSpPr>
        <p:spPr>
          <a:xfrm>
            <a:off x="9235440" y="2834640"/>
            <a:ext cx="2103120" cy="365760"/>
          </a:xfrm>
          <a:prstGeom prst="rect">
            <a:avLst/>
          </a:prstGeom>
          <a:noFill/>
          <a:ln/>
        </p:spPr>
        <p:txBody>
          <a:bodyPr wrap="square" lIns="0" tIns="0" rIns="0" bIns="0" rtlCol="0" anchor="ctr"/>
          <a:lstStyle/>
          <a:p>
            <a:pPr marL="0" indent="0">
              <a:buNone/>
            </a:pPr>
            <a:r>
              <a:rPr lang="en-US" sz="1400" b="1" dirty="0">
                <a:solidFill>
                  <a:srgbClr val="22D3EE"/>
                </a:solidFill>
                <a:latin typeface="Consolas" pitchFamily="34" charset="0"/>
                <a:ea typeface="Consolas" pitchFamily="34" charset="-122"/>
                <a:cs typeface="Consolas" pitchFamily="34" charset="-120"/>
              </a:rPr>
              <a:t>7.9%</a:t>
            </a:r>
            <a:endParaRPr lang="en-US" sz="1400" dirty="0"/>
          </a:p>
        </p:txBody>
      </p:sp>
      <p:sp>
        <p:nvSpPr>
          <p:cNvPr id="22" name="Text 19"/>
          <p:cNvSpPr/>
          <p:nvPr/>
        </p:nvSpPr>
        <p:spPr>
          <a:xfrm>
            <a:off x="6437376" y="3291840"/>
            <a:ext cx="2743200" cy="365760"/>
          </a:xfrm>
          <a:prstGeom prst="rect">
            <a:avLst/>
          </a:prstGeom>
          <a:noFill/>
          <a:ln/>
        </p:spPr>
        <p:txBody>
          <a:bodyPr wrap="square" lIns="0" tIns="0" rIns="0" bIns="0" rtlCol="0" anchor="ctr"/>
          <a:lstStyle/>
          <a:p>
            <a:pPr marL="0" indent="0">
              <a:buNone/>
            </a:pPr>
            <a:r>
              <a:rPr lang="en-US" sz="1200" dirty="0">
                <a:solidFill>
                  <a:srgbClr val="BAC6D8"/>
                </a:solidFill>
                <a:latin typeface="Pretendard" pitchFamily="34" charset="0"/>
                <a:ea typeface="Pretendard" pitchFamily="34" charset="-122"/>
                <a:cs typeface="Pretendard" pitchFamily="34" charset="-120"/>
              </a:rPr>
              <a:t>때때로 다르다</a:t>
            </a:r>
            <a:endParaRPr lang="en-US" sz="1200" dirty="0"/>
          </a:p>
        </p:txBody>
      </p:sp>
      <p:sp>
        <p:nvSpPr>
          <p:cNvPr id="23" name="Text 20"/>
          <p:cNvSpPr/>
          <p:nvPr/>
        </p:nvSpPr>
        <p:spPr>
          <a:xfrm>
            <a:off x="9235440" y="3291840"/>
            <a:ext cx="2103120" cy="365760"/>
          </a:xfrm>
          <a:prstGeom prst="rect">
            <a:avLst/>
          </a:prstGeom>
          <a:noFill/>
          <a:ln/>
        </p:spPr>
        <p:txBody>
          <a:bodyPr wrap="square" lIns="0" tIns="0" rIns="0" bIns="0" rtlCol="0" anchor="ctr"/>
          <a:lstStyle/>
          <a:p>
            <a:pPr marL="0" indent="0">
              <a:buNone/>
            </a:pPr>
            <a:r>
              <a:rPr lang="en-US" sz="1200" dirty="0">
                <a:solidFill>
                  <a:srgbClr val="BAC6D8"/>
                </a:solidFill>
                <a:latin typeface="Consolas" pitchFamily="34" charset="0"/>
                <a:ea typeface="Consolas" pitchFamily="34" charset="-122"/>
                <a:cs typeface="Consolas" pitchFamily="34" charset="-120"/>
              </a:rPr>
              <a:t>52.0%</a:t>
            </a:r>
            <a:endParaRPr lang="en-US" sz="1200" dirty="0"/>
          </a:p>
        </p:txBody>
      </p:sp>
      <p:sp>
        <p:nvSpPr>
          <p:cNvPr id="24" name="Text 21"/>
          <p:cNvSpPr/>
          <p:nvPr/>
        </p:nvSpPr>
        <p:spPr>
          <a:xfrm>
            <a:off x="6437376" y="3749040"/>
            <a:ext cx="2743200" cy="365760"/>
          </a:xfrm>
          <a:prstGeom prst="rect">
            <a:avLst/>
          </a:prstGeom>
          <a:noFill/>
          <a:ln/>
        </p:spPr>
        <p:txBody>
          <a:bodyPr wrap="square" lIns="0" tIns="0" rIns="0" bIns="0" rtlCol="0" anchor="ctr"/>
          <a:lstStyle/>
          <a:p>
            <a:pPr marL="0" indent="0">
              <a:buNone/>
            </a:pPr>
            <a:r>
              <a:rPr lang="en-US" sz="1200" dirty="0">
                <a:solidFill>
                  <a:srgbClr val="BAC6D8"/>
                </a:solidFill>
                <a:latin typeface="Pretendard" pitchFamily="34" charset="0"/>
                <a:ea typeface="Pretendard" pitchFamily="34" charset="-122"/>
                <a:cs typeface="Pretendard" pitchFamily="34" charset="-120"/>
              </a:rPr>
              <a:t>공정하지 않다</a:t>
            </a:r>
            <a:endParaRPr lang="en-US" sz="1200" dirty="0"/>
          </a:p>
        </p:txBody>
      </p:sp>
      <p:sp>
        <p:nvSpPr>
          <p:cNvPr id="25" name="Text 22"/>
          <p:cNvSpPr/>
          <p:nvPr/>
        </p:nvSpPr>
        <p:spPr>
          <a:xfrm>
            <a:off x="9235440" y="3749040"/>
            <a:ext cx="2103120" cy="365760"/>
          </a:xfrm>
          <a:prstGeom prst="rect">
            <a:avLst/>
          </a:prstGeom>
          <a:noFill/>
          <a:ln/>
        </p:spPr>
        <p:txBody>
          <a:bodyPr wrap="square" lIns="0" tIns="0" rIns="0" bIns="0" rtlCol="0" anchor="ctr"/>
          <a:lstStyle/>
          <a:p>
            <a:pPr marL="0" indent="0">
              <a:buNone/>
            </a:pPr>
            <a:r>
              <a:rPr lang="en-US" sz="1200" dirty="0">
                <a:solidFill>
                  <a:srgbClr val="BAC6D8"/>
                </a:solidFill>
                <a:latin typeface="Consolas" pitchFamily="34" charset="0"/>
                <a:ea typeface="Consolas" pitchFamily="34" charset="-122"/>
                <a:cs typeface="Consolas" pitchFamily="34" charset="-120"/>
              </a:rPr>
              <a:t>약 40%</a:t>
            </a:r>
            <a:endParaRPr lang="en-US" sz="1200" dirty="0"/>
          </a:p>
        </p:txBody>
      </p:sp>
      <p:sp>
        <p:nvSpPr>
          <p:cNvPr id="26" name="Text 23"/>
          <p:cNvSpPr/>
          <p:nvPr/>
        </p:nvSpPr>
        <p:spPr>
          <a:xfrm>
            <a:off x="6437376" y="4315968"/>
            <a:ext cx="4919472" cy="502920"/>
          </a:xfrm>
          <a:prstGeom prst="rect">
            <a:avLst/>
          </a:prstGeom>
          <a:noFill/>
          <a:ln/>
        </p:spPr>
        <p:txBody>
          <a:bodyPr wrap="square" lIns="0" tIns="0" rIns="0" bIns="0" rtlCol="0" anchor="t"/>
          <a:lstStyle/>
          <a:p>
            <a:pPr marL="0" indent="0">
              <a:lnSpc>
                <a:spcPct val="120000"/>
              </a:lnSpc>
              <a:buNone/>
            </a:pPr>
            <a:r>
              <a:rPr lang="en-US" sz="1000" dirty="0">
                <a:solidFill>
                  <a:srgbClr val="9FADC2"/>
                </a:solidFill>
                <a:latin typeface="Pretendard" pitchFamily="34" charset="0"/>
                <a:ea typeface="Pretendard" pitchFamily="34" charset="-122"/>
                <a:cs typeface="Pretendard" pitchFamily="34" charset="-120"/>
              </a:rPr>
              <a:t>불공정 이유 1위 「팀장과의 관계」 46.0% (능력별 28.8% · 연차별 23.9%) — 매거진한경 보도</a:t>
            </a:r>
            <a:endParaRPr lang="en-US" sz="1000" dirty="0"/>
          </a:p>
        </p:txBody>
      </p:sp>
      <p:sp>
        <p:nvSpPr>
          <p:cNvPr id="27" name="Text 24"/>
          <p:cNvSpPr/>
          <p:nvPr/>
        </p:nvSpPr>
        <p:spPr>
          <a:xfrm>
            <a:off x="566928" y="5257800"/>
            <a:ext cx="11064240" cy="320040"/>
          </a:xfrm>
          <a:prstGeom prst="rect">
            <a:avLst/>
          </a:prstGeom>
          <a:noFill/>
          <a:ln/>
        </p:spPr>
        <p:txBody>
          <a:bodyPr wrap="square" lIns="0" tIns="0" rIns="0" bIns="0" rtlCol="0" anchor="ctr"/>
          <a:lstStyle/>
          <a:p>
            <a:pPr marL="0" indent="0">
              <a:buNone/>
            </a:pPr>
            <a:r>
              <a:rPr lang="en-US" sz="1150" dirty="0">
                <a:solidFill>
                  <a:srgbClr val="9FADC2"/>
                </a:solidFill>
                <a:latin typeface="Pretendard" pitchFamily="34" charset="0"/>
                <a:ea typeface="Pretendard" pitchFamily="34" charset="-122"/>
                <a:cs typeface="Pretendard" pitchFamily="34" charset="-120"/>
              </a:rPr>
              <a:t>두 조사는 표본과 시점이 서로 다르다 — 합쳐서 하나의 모집단처럼 말하지 않는다</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TotalTime>
  <Words>8308</Words>
  <Application>Microsoft Office PowerPoint</Application>
  <PresentationFormat>와이드스크린</PresentationFormat>
  <Paragraphs>1469</Paragraphs>
  <Slides>43</Slides>
  <Notes>43</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43</vt:i4>
      </vt:variant>
    </vt:vector>
  </HeadingPairs>
  <TitlesOfParts>
    <vt:vector size="48" baseType="lpstr">
      <vt:lpstr>Pretendard Light</vt:lpstr>
      <vt:lpstr>Arial</vt:lpstr>
      <vt:lpstr>Pretendard</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Office</cp:lastModifiedBy>
  <cp:revision>3</cp:revision>
  <dcterms:created xsi:type="dcterms:W3CDTF">2026-08-06T02:45:49Z</dcterms:created>
  <dcterms:modified xsi:type="dcterms:W3CDTF">2026-08-06T04:48:20Z</dcterms:modified>
</cp:coreProperties>
</file>