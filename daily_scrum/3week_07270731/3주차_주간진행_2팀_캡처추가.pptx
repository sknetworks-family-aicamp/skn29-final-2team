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50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안녕하세요, 2팀 HALIL입니다.</a:t>
            </a:r>
          </a:p>
          <a:p>
            <a:r>
              <a:t>저희는 PM이 업무를 누구에게 맡길지 정할 때 그 판단의 근거를 만들어주는 AI 코파일럿을 개발하고 있습니다.</a:t>
            </a:r>
          </a:p>
          <a:p>
            <a:r>
              <a:t>오늘은 세 가지를 말씀드리겠습니다. 이번 주에 채운 구간, 문서 파싱에서 방향을 바꾼 이야기, 지금 막혀 있는 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[65초]</a:t>
            </a:r>
          </a:p>
          <a:p>
            <a:r>
              <a:t>여섯 단계입니다. (1번부터 짚으며) 도구를 연결하고, 읽을 문서를 등록하고, 파싱해서 구조를 만들고, 업무를 뽑아내고, 업무량을 계산해 담당자를 추천하고, PM이 검토해 결정합니다.</a:t>
            </a:r>
          </a:p>
          <a:p>
            <a:r>
              <a:t>이번 주에 앞의 두 단계를 완성했고 세 번째에 착수했습니다. 파란색이 완료, 노란색이 진행 중입니다.</a:t>
            </a:r>
          </a:p>
          <a:p/>
          <a:p>
            <a:r>
              <a:t>★ (빨간 점선을 가리키며) — 슬라이드에 글이 없으니 반드시 말로</a:t>
            </a:r>
          </a:p>
          <a:p>
            <a:r>
              <a:t>2번과 3번 사이가 아직 끊겨 있습니다. 어떤 문서를 읽을지까지는 저장되는데 원문을 아직 내려받지 않습니다. 그래서 등록된 문서가 파싱으로 넘어가지 못합니다. 이 얘기는 마지막에 다시 하겠습니다.</a:t>
            </a:r>
          </a:p>
          <a:p/>
          <a:p>
            <a:r>
              <a:t>오늘은 2번까지 완성한 것과 3번이 어디까지 왔는지를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[65초]</a:t>
            </a:r>
          </a:p>
          <a:p>
            <a:r>
              <a:t>(캡처를 가리키며) 오른쪽이 실제 동작하는 화면입니다. People DB, Jira, Google Drive 세 개가 모두 연결된 상태입니다.</a:t>
            </a:r>
          </a:p>
          <a:p/>
          <a:p>
            <a:r>
              <a:t>1) Drive와 Jira를 OAuth로 연결합니다. 토큰은 호출 직전 자동 갱신하고 만료되면 재연결하라고 알려줍니다.</a:t>
            </a:r>
          </a:p>
          <a:p>
            <a:r>
              <a:t>2) 폴더 트리를 타고 들어가며 읽을 폴더와 탐색 깊이, 문서 역할을 지정합니다.</a:t>
            </a:r>
          </a:p>
          <a:p>
            <a:r>
              <a:t>3) 그 선택이 프로젝트와 문서로 저장됩니다.</a:t>
            </a:r>
          </a:p>
          <a:p/>
          <a:p>
            <a:r>
              <a:t>★ 여기서 속도를 줄일 것 — 이 장의 핵심</a:t>
            </a:r>
          </a:p>
          <a:p>
            <a:r>
              <a:t>판단을 하나 바꿨습니다. 처음엔 프로젝트를 먼저 만들고 폴더를 붙이는 순서였습니다. 테이블 관계상 그게 맞았거든요. 그런데 문서를 읽어서 프로젝트를 파악하는 게 목적인데 사람이 프로젝트를 먼저 정의해야 한다면 자동화할 게 없습니다.</a:t>
            </a:r>
          </a:p>
          <a:p>
            <a:r>
              <a:t>그래서 폴더를 고르는 행위 자체가 프로젝트를 만드는 행위가 되도록 바꿨습니다. 이름은 폴더명을 쓰고 기획서를 파싱한 뒤 갱신합니다.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[80초] — 가장 긴 장. 1~2번은 빠르게, 3~4번에 시간을 쓸 것</a:t>
            </a:r>
          </a:p>
          <a:p/>
          <a:p>
            <a:r>
              <a:t>1) 여러 파싱 모델을 놓고 성능과 결과물을 비교했습니다.</a:t>
            </a:r>
          </a:p>
          <a:p>
            <a:r>
              <a:t>2) 그 과정에서 Docling SDK를 알게 됐습니다. 하나의 파싱 모델이 아니라 여러 처리 단계를 조합해 파싱 워크플로우를 구성하는 SDK입니다. 문서 형식마다 다르게 대응할 수 있다고 판단해 이걸 중심으로 가기로 했습니다.</a:t>
            </a:r>
          </a:p>
          <a:p>
            <a:r>
              <a:t>3) 파싱 결과가 믿을 만한지 확인하는 검증 레이어를 설계했습니다. 원본과 출력물을 놓고 네 가지를 봅니다 — 내용이 정확히 추출됐는지, 빠진 게 없는지, 구조가 유지됐는지, 표가 제대로 변환됐는지.</a:t>
            </a:r>
          </a:p>
          <a:p>
            <a:r>
              <a:t>4) 여기서 멘토링 피드백을 받았습니다. 검증 로직을 늘리기 전에 Docling 파라미터부터 충분히 조정해 보라는 것이었습니다.</a:t>
            </a:r>
          </a:p>
          <a:p/>
          <a:p>
            <a:r>
              <a:t>(파란 박스) 그래서 지금은 파라미터를 바꿔가며 결과를 비교하고 있습니다. Docling 설정만으로 해결되는 문제와 별도 검증 로직이 꼭 필요한 문제를 구분하는 단계입니다. 검증 구조가 불필요하게 복잡해지지 않도록 경량 검증 레이어로 다시 설계하고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[30초] — 읽지 말고 훑을 것. 30초 안에 끊기</a:t>
            </a:r>
          </a:p>
          <a:p/>
          <a:p>
            <a:r>
              <a:t>DB는 ORM 중심 구조를 직접 SQL로 정리했고 벡터 저장소를 pgvector로 바꿨습니다. 계정과 권한은 가입 경로로 팀장·팀원을 구분하도록 정리했고, 사용자 화면과 운영자 콘솔도 진행됐습니다.</a:t>
            </a:r>
          </a:p>
          <a:p>
            <a:r>
              <a:t>인력 데이터는 직원 57명 기준으로 조직·스킬·근무일정·부재까지 입력을 마쳤습니다. 추천 로직이 붙으면 바로 쓸 수 있는 상태입니다.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[40초]</a:t>
            </a:r>
          </a:p>
          <a:p>
            <a:r>
              <a:t>(좌우 박스를 가리키며) 정리하면 지금 막힌 지점은 여기입니다. 문서 등록은 완료됐고 파싱도 진행 중인데 두 작업이 아직 서로 붙어 있지 않습니다. 원문 다운로드가 없어서입니다.</a:t>
            </a:r>
          </a:p>
          <a:p/>
          <a:p>
            <a:r>
              <a:t>다음 주는 두 갈래로 갑니다.</a:t>
            </a:r>
          </a:p>
          <a:p>
            <a:r>
              <a:t>파싱 — Docling 파라미터 테스트 결과를 정리하고 문서 유형별 설정을 확정한 뒤 경량 검증 레이어를 구현합니다.</a:t>
            </a:r>
          </a:p>
          <a:p>
            <a:r>
              <a:t>플랫폼 — 원문 다운로드부터 만들어 Block·Chunk·지식 모델까지 연결하고, 그 위에 업무량 계산과 담당자 추천을 올립니다.</a:t>
            </a:r>
          </a:p>
          <a:p/>
          <a:p>
            <a:r>
              <a:t>8월 6일 중간발표까지 하나의 종단 시나리오가 끊기지 않고 실행되는 것이 목표입니다.</a:t>
            </a:r>
          </a:p>
          <a:p>
            <a:r>
              <a:t>이상입니다.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SKN29 FAMILY AI 캠프 · 2팀 HALIL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3152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주간 진행 내역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31520" y="37673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프로젝트 운영 코파일럿 — PM이 업무를 배정할 때 확인할 수 있는 판단 근거를 만드는 시스템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4407408"/>
            <a:ext cx="2926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45537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27 – 07. 31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397C4AC3-378C-E696-2A1F-FAA84748F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88" y="27432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위치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31520" y="8961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흐름에서 이번 주가 채운 구간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80467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87552" y="305409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188720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87552" y="3383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" y="37033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 · Jira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 rot="5400000">
            <a:off x="2432304" y="3456432"/>
            <a:ext cx="128016" cy="128016"/>
          </a:xfrm>
          <a:prstGeom prst="triangl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615184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798064" y="305409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999232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98064" y="3383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등록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98064" y="37033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범위 저장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25696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08576" y="305409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809744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08576" y="3383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파싱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08576" y="37033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보존 · 청킹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 rot="5400000">
            <a:off x="6053328" y="3456432"/>
            <a:ext cx="128016" cy="128016"/>
          </a:xfrm>
          <a:prstGeom prst="triangl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236208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419088" y="3054096"/>
            <a:ext cx="128016" cy="128016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620256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19088" y="3383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추출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19088" y="37033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모델 · Task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 rot="5400000">
            <a:off x="7863840" y="3456432"/>
            <a:ext cx="128016" cy="128016"/>
          </a:xfrm>
          <a:prstGeom prst="triangl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8046720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229600" y="3054096"/>
            <a:ext cx="128016" cy="128016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430768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229600" y="3383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업무량 · 추천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29600" y="37033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계산 · 후보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 rot="5400000">
            <a:off x="9674352" y="3456432"/>
            <a:ext cx="128016" cy="128016"/>
          </a:xfrm>
          <a:prstGeom prst="triangl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85723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0040112" y="3054096"/>
            <a:ext cx="128016" cy="128016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10241280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0040112" y="33832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검토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0040112" y="370332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재검증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306824" y="2670048"/>
            <a:ext cx="0" cy="1700784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841248" y="4590288"/>
            <a:ext cx="137160" cy="1371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1078992" y="4517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1554480" y="459028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1792224" y="4517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2560320" y="4590288"/>
            <a:ext cx="137160" cy="137160"/>
          </a:xfrm>
          <a:prstGeom prst="ellipse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2798064" y="4517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미착수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88" y="27432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①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31520" y="8961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Connector</a:t>
            </a:r>
            <a:r>
              <a:rPr lang="ko-KR" altLang="en-US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 연결 </a:t>
            </a:r>
            <a:r>
              <a:rPr lang="en-US" altLang="ko-KR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– Google, Jira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31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89888" y="213055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 · Jira OAuth 연결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89888" y="24963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직전 토큰 자동 갱신, 만료 시 재연결 안내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389888" y="31912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범위 선택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89888" y="35570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트리 탐색 → 폴더 · 탐색 깊이 · 문서 역할 지정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389888" y="42519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결과 저장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89888" y="461772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문서로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재저장해도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보존</a:t>
            </a:r>
            <a:endParaRPr lang="en-US" sz="1400" dirty="0"/>
          </a:p>
        </p:txBody>
      </p:sp>
      <p:pic>
        <p:nvPicPr>
          <p:cNvPr id="14" name="Picture 13" descr="shot_connec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130552"/>
            <a:ext cx="4023360" cy="274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②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31520" y="8961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파싱 — Docling 도입과 검증 방식 전환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822960" y="2395728"/>
            <a:ext cx="914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49808" y="224942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49808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7797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모델 비교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16382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파싱 모델의 성능과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결과물을 테스트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75888" y="224942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675888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27797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Docling SDK 채택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0" y="316382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모델이 아니라 처리 단계를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조합해 워크플로우를 구성하는 SDK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01968" y="224942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601968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27797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레이어 설계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0" y="316382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정확도, 누락, 구조 유지,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변환을 원본과 비교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528048" y="2249424"/>
            <a:ext cx="292608" cy="292608"/>
          </a:xfrm>
          <a:prstGeom prst="ellipse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528048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509760" y="27797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피드백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509760" y="3163824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로직을 늘리기 전에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Docling 파라미터부터 조정하라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1520" y="4343400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1143000" y="45537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하고 있는 것 — 검증 레이어 재설계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43000" y="4901184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Docling 설정만으로 해결되는 문제와 별도 검증 로직이 필요한 문제를 구분하고 있다.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구조가 불필요하게 복잡해지지 않도록, 꼭 필요한 기능만 남긴 경량 검증 레이어로 다시 설계 중이다.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영역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31520" y="8961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진행 상황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3152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10896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진행 내용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78408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2084832"/>
            <a:ext cx="10698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31520" y="235915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데이터 기반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08960" y="23774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ORM 중심 구조를 직접 SQL 구조로 정리, 벡터 저장소를 pgvector로 전환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784080" y="2340864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784080" y="234086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정비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889504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31089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권한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108960" y="312724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경로로 팀장 · 팀원 판정, 초대 코드 기반 계정–직원 연결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784080" y="309067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784080" y="30906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363931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31520" y="38587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화면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108960" y="387705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 · 온보딩 · 설정 · 문서 등록, 온보딩 4개 화면 API 실연동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784080" y="384048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784080" y="384048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개선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1520" y="43891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31520" y="460857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콘솔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108960" y="462686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설계 후 /ops 7개 화면 구현, 계정 · 감사 · 정책 API 연동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784080" y="4590288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784080" y="45902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확장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1520" y="5138928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731520" y="53583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· 기록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3108960" y="53766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중간발표 To-Do를 코드 · DB 실측 기준으로 갱신, 기능별 작업기록 시작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784080" y="5340096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9784080" y="534009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정리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1520" y="5888736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669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31520" y="8961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막힌 지점과 다음 주 과제</a:t>
            </a:r>
            <a:endParaRPr lang="en-US" sz="29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98293F8-0CBE-BBDA-F6E3-F4A8DAFDE709}"/>
              </a:ext>
            </a:extLst>
          </p:cNvPr>
          <p:cNvGrpSpPr/>
          <p:nvPr/>
        </p:nvGrpSpPr>
        <p:grpSpPr>
          <a:xfrm>
            <a:off x="2301240" y="1821180"/>
            <a:ext cx="7589520" cy="859536"/>
            <a:chOff x="1929384" y="1911096"/>
            <a:chExt cx="7589520" cy="859536"/>
          </a:xfrm>
        </p:grpSpPr>
        <p:sp>
          <p:nvSpPr>
            <p:cNvPr id="5" name="Shape 2"/>
            <p:cNvSpPr/>
            <p:nvPr/>
          </p:nvSpPr>
          <p:spPr>
            <a:xfrm>
              <a:off x="1929384" y="1911096"/>
              <a:ext cx="3017520" cy="859536"/>
            </a:xfrm>
            <a:prstGeom prst="roundRect">
              <a:avLst>
                <a:gd name="adj" fmla="val 9574"/>
              </a:avLst>
            </a:prstGeom>
            <a:solidFill>
              <a:srgbClr val="2C4E77"/>
            </a:solidFill>
            <a:ln w="12700">
              <a:solidFill>
                <a:srgbClr val="2C4E7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2203704" y="2048256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문서 등록</a:t>
              </a:r>
              <a:endParaRPr lang="en-US" sz="14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2203704" y="2340864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BFDBF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완료 — 무엇을 읽을지까지</a:t>
              </a:r>
              <a:endParaRPr lang="en-US" sz="105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5221224" y="2340864"/>
              <a:ext cx="1005840" cy="0"/>
            </a:xfrm>
            <a:prstGeom prst="line">
              <a:avLst/>
            </a:prstGeom>
            <a:noFill/>
            <a:ln w="31750">
              <a:solidFill>
                <a:srgbClr val="EF4444"/>
              </a:solidFill>
              <a:prstDash val="dash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5468112" y="2121408"/>
              <a:ext cx="512064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9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501384" y="1911096"/>
              <a:ext cx="3017520" cy="859536"/>
            </a:xfrm>
            <a:prstGeom prst="roundRect">
              <a:avLst>
                <a:gd name="adj" fmla="val 9574"/>
              </a:avLst>
            </a:prstGeom>
            <a:solidFill>
              <a:srgbClr val="2C4E77"/>
            </a:solidFill>
            <a:ln w="12700">
              <a:solidFill>
                <a:srgbClr val="2C4E7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6775704" y="2048256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문서 파싱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775704" y="2340864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BFDBF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진행 중 — Docling 파라미터 조정</a:t>
              </a:r>
              <a:endParaRPr lang="en-US" sz="1050" dirty="0"/>
            </a:p>
          </p:txBody>
        </p:sp>
      </p:grpSp>
      <p:sp>
        <p:nvSpPr>
          <p:cNvPr id="14" name="Text 11"/>
          <p:cNvSpPr/>
          <p:nvPr/>
        </p:nvSpPr>
        <p:spPr>
          <a:xfrm>
            <a:off x="731520" y="33101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712464"/>
            <a:ext cx="5120640" cy="0"/>
          </a:xfrm>
          <a:prstGeom prst="line">
            <a:avLst/>
          </a:prstGeom>
          <a:noFill/>
          <a:ln w="12700">
            <a:solidFill>
              <a:srgbClr val="3E63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31520" y="3995928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69264" y="38770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Docling 파라미터별 테스트 결과 정리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1520" y="4507992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69264" y="43891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유형별 적절한 설정 조합 확정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1520" y="5020056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69264" y="49011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· 누락 판단 기준 구체화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31520" y="5532120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69264" y="54132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검증 레이어 설계 · 구현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263640" y="33101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63640" y="3712464"/>
            <a:ext cx="5120640" cy="0"/>
          </a:xfrm>
          <a:prstGeom prst="line">
            <a:avLst/>
          </a:prstGeom>
          <a:noFill/>
          <a:ln w="12700">
            <a:solidFill>
              <a:srgbClr val="3E63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263640" y="3995928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501384" y="38770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 원문 다운로드 · 로컬 저장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63640" y="4507992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501384" y="43891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 · Chunk · 지식 모델 연결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63640" y="5020056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501384" y="49011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추출 · 업무량 계산 · 담당자 추천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5532120"/>
            <a:ext cx="91440" cy="91440"/>
          </a:xfrm>
          <a:prstGeom prst="ellipse">
            <a:avLst/>
          </a:prstGeom>
          <a:solidFill>
            <a:srgbClr val="7FA6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501384" y="54132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권한 · 감사 로그 종단 테스트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31520" y="6144768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6일 중간발표 — 하나의 종단 시나리오가 끊기지 않고 실행되는 것이 목표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927</Words>
  <Application>Microsoft Office PowerPoint</Application>
  <PresentationFormat>와이드스크린</PresentationFormat>
  <Paragraphs>108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3</cp:revision>
  <dcterms:created xsi:type="dcterms:W3CDTF">2026-07-31T06:11:46Z</dcterms:created>
  <dcterms:modified xsi:type="dcterms:W3CDTF">2026-07-31T06:35:08Z</dcterms:modified>
</cp:coreProperties>
</file>